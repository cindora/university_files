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4" r:id="rId5"/>
    <p:sldId id="273" r:id="rId6"/>
    <p:sldId id="275" r:id="rId7"/>
    <p:sldId id="277" r:id="rId8"/>
    <p:sldId id="278" r:id="rId9"/>
    <p:sldId id="279" r:id="rId10"/>
    <p:sldId id="28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3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Лабораторная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№</a:t>
            </a:r>
            <a:r>
              <a:rPr lang="ru-RU" dirty="0"/>
              <a:t>4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Множественный регрессионный анализ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регр</a:t>
            </a:r>
            <a:r>
              <a:rPr lang="ru-RU" dirty="0"/>
              <a:t>е</a:t>
            </a:r>
            <a:r>
              <a:rPr dirty="0" err="1"/>
              <a:t>ссионный</a:t>
            </a:r>
            <a:r>
              <a:rPr dirty="0"/>
              <a:t> </a:t>
            </a:r>
            <a:r>
              <a:rPr dirty="0" err="1"/>
              <a:t>анализ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pPr>
              <a:defRPr sz="2400"/>
            </a:pPr>
            <a:r>
              <a:rPr lang="ru-RU" dirty="0"/>
              <a:t>Помогает понять и предсказать зависимость одной переменной (отклика Y) от нескольких независимых факторов (X1, X2, ...)</a:t>
            </a:r>
            <a:r>
              <a:rPr dirty="0" err="1"/>
              <a:t>Пример</a:t>
            </a:r>
            <a:r>
              <a:rPr dirty="0"/>
              <a:t>: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зарплата</a:t>
            </a:r>
            <a:r>
              <a:rPr dirty="0"/>
              <a:t> (y)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опыта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(x).</a:t>
            </a:r>
            <a:endParaRPr lang="ru-RU" dirty="0"/>
          </a:p>
          <a:p>
            <a:pPr>
              <a:defRPr sz="2400"/>
            </a:pPr>
            <a:endParaRPr lang="ru-RU" dirty="0"/>
          </a:p>
          <a:p>
            <a:pPr>
              <a:defRPr sz="2400"/>
            </a:pPr>
            <a:r>
              <a:rPr lang="ru-RU" dirty="0"/>
              <a:t>Пример: Если Y — урожайность, а X1 — количество удобрений, X2 — осадки, то:</a:t>
            </a:r>
          </a:p>
          <a:p>
            <a:pPr marL="0" indent="0">
              <a:buNone/>
              <a:defRPr sz="2400"/>
            </a:pPr>
            <a:r>
              <a:rPr lang="ru-RU" dirty="0"/>
              <a:t>     Y = c0 + c1X1 + c2X2 + c3*X1² + ..., </a:t>
            </a:r>
          </a:p>
          <a:p>
            <a:pPr marL="0" indent="0">
              <a:buNone/>
              <a:defRPr sz="2400"/>
            </a:pPr>
            <a:r>
              <a:rPr lang="ru-RU" dirty="0"/>
              <a:t>     где c — коэффициенты, которые оцениваются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3012209-253C-4A63-B2C7-F147A7C28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116348-F5FF-4912-8572-CE94177E1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47008"/>
            <a:ext cx="8365307" cy="3408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3012209-253C-4A63-B2C7-F147A7C28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sz="2400" dirty="0"/>
              <a:t>N – число наблюдений (число комбинаций уровней факторов); </a:t>
            </a:r>
          </a:p>
          <a:p>
            <a:r>
              <a:rPr lang="ru-RU" sz="2400" dirty="0"/>
              <a:t>n – количество независимых факторов; </a:t>
            </a:r>
          </a:p>
          <a:p>
            <a:r>
              <a:rPr lang="ru-RU" sz="2400" dirty="0" err="1"/>
              <a:t>xji</a:t>
            </a:r>
            <a:r>
              <a:rPr lang="ru-RU" sz="2400" dirty="0"/>
              <a:t> – значение фактора i в наблюдении j; </a:t>
            </a:r>
          </a:p>
          <a:p>
            <a:r>
              <a:rPr lang="ru-RU" sz="2400" dirty="0" err="1"/>
              <a:t>vj</a:t>
            </a:r>
            <a:r>
              <a:rPr lang="ru-RU" sz="2400" dirty="0"/>
              <a:t> – число повторных наблюдений функции отклика при j-й комбинации значений факторов; </a:t>
            </a:r>
          </a:p>
          <a:p>
            <a:r>
              <a:rPr lang="ru-RU" sz="2400" dirty="0" err="1"/>
              <a:t>yj</a:t>
            </a:r>
            <a:r>
              <a:rPr lang="ru-RU" sz="2400" dirty="0"/>
              <a:t>(l) – значение функции отклика в l-м повторном наблюдении при j-й комбинации значений факторов; </a:t>
            </a:r>
          </a:p>
          <a:p>
            <a:r>
              <a:rPr lang="ru-RU" sz="2400" dirty="0" err="1"/>
              <a:t>Ysj</a:t>
            </a:r>
            <a:r>
              <a:rPr lang="ru-RU" sz="2400" dirty="0"/>
              <a:t> – среднее значение функции отклика при j-й комбинации значений факторов; </a:t>
            </a:r>
          </a:p>
          <a:p>
            <a:r>
              <a:rPr lang="ru-RU" sz="2400" dirty="0"/>
              <a:t>Sj2 - выборочная дисперсия функции отклика при j-й комбинации значений факторов; </a:t>
            </a:r>
          </a:p>
          <a:p>
            <a:r>
              <a:rPr lang="ru-RU" sz="2400" dirty="0" err="1"/>
              <a:t>Ypj</a:t>
            </a:r>
            <a:r>
              <a:rPr lang="ru-RU" sz="2400" dirty="0"/>
              <a:t> – значения функции отклика, моделируемые моделью для j-й комбинации значений факторов.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9525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данных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3012209-253C-4A63-B2C7-F147A7C28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61B7B7-42B3-4DFE-BE35-CBDBE5570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638"/>
            <a:ext cx="9011478" cy="311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8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>
            <a:extLst>
              <a:ext uri="{FF2B5EF4-FFF2-40B4-BE49-F238E27FC236}">
                <a16:creationId xmlns:a16="http://schemas.microsoft.com/office/drawing/2014/main" id="{D48D07CB-5033-448B-8A6E-14BAEA423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5004" y="1657807"/>
            <a:ext cx="3557190" cy="107342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2400" dirty="0"/>
              <a:t> </a:t>
            </a:r>
            <a:r>
              <a:rPr lang="ru-RU" sz="2000" dirty="0"/>
              <a:t>Для поиска лучших               коэффициентов С используется метод наименьших квадратов.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8008534-C7EB-439F-839D-3A0BC6655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55514"/>
            <a:ext cx="5735005" cy="613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6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</a:t>
            </a:r>
            <a:r>
              <a:rPr lang="ru-RU" dirty="0" err="1"/>
              <a:t>Кохрена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wrap="square">
            <a:normAutofit fontScale="85000" lnSpcReduction="20000"/>
          </a:bodyPr>
          <a:lstStyle/>
          <a:p>
            <a:endParaRPr dirty="0"/>
          </a:p>
          <a:p>
            <a:pPr>
              <a:defRPr sz="2400"/>
            </a:pPr>
            <a:r>
              <a:rPr lang="ru-RU" sz="2900" dirty="0"/>
              <a:t>Проверяет данные на стабильность</a:t>
            </a:r>
          </a:p>
          <a:p>
            <a:pPr>
              <a:defRPr sz="2400"/>
            </a:pPr>
            <a:r>
              <a:rPr lang="ru-RU" sz="2900" dirty="0"/>
              <a:t>C = максимальная дисперсия / сумма всех дисперсий (по строкам в твоей таблице)</a:t>
            </a:r>
          </a:p>
          <a:p>
            <a:pPr marL="0" indent="0">
              <a:buNone/>
              <a:defRPr sz="2400"/>
            </a:pPr>
            <a:endParaRPr lang="ru-RU" sz="2900" dirty="0"/>
          </a:p>
          <a:p>
            <a:pPr>
              <a:defRPr sz="2400"/>
            </a:pPr>
            <a:endParaRPr lang="ru-RU" sz="2900" dirty="0"/>
          </a:p>
          <a:p>
            <a:r>
              <a:rPr lang="ru-RU" sz="2900" dirty="0"/>
              <a:t>Если C &lt; критического (из таблиц, для α=0.05, зависит от числа групп и повторений): Дисперсии однородны — данные стабильны</a:t>
            </a:r>
          </a:p>
          <a:p>
            <a:r>
              <a:rPr lang="ru-RU" sz="2900" dirty="0"/>
              <a:t>Если C &gt; критического: Дисперсии не равны (одна слишком большая) — гипотеза об однородности отвергается. Нужно исправить данные</a:t>
            </a:r>
          </a:p>
          <a:p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6361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</a:t>
            </a:r>
            <a:r>
              <a:rPr lang="ru-RU" dirty="0" err="1"/>
              <a:t>Бартлетта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wrap="square">
            <a:normAutofit fontScale="85000" lnSpcReduction="20000"/>
          </a:bodyPr>
          <a:lstStyle/>
          <a:p>
            <a:endParaRPr dirty="0"/>
          </a:p>
          <a:p>
            <a:pPr>
              <a:defRPr sz="2400"/>
            </a:pPr>
            <a:r>
              <a:rPr lang="ru-RU" sz="2900" dirty="0"/>
              <a:t>Проверяет данные на стабильность. В отличии от </a:t>
            </a:r>
            <a:r>
              <a:rPr lang="ru-RU" sz="2900" dirty="0" err="1"/>
              <a:t>Кохрена</a:t>
            </a:r>
            <a:r>
              <a:rPr lang="ru-RU" sz="2900" dirty="0"/>
              <a:t>, проверяет равны ли дисперсии во всех группах сразу (не только максимум)</a:t>
            </a:r>
          </a:p>
          <a:p>
            <a:pPr>
              <a:defRPr sz="2400"/>
            </a:pPr>
            <a:endParaRPr lang="ru-RU" sz="2900" dirty="0"/>
          </a:p>
          <a:p>
            <a:pPr>
              <a:defRPr sz="2400"/>
            </a:pPr>
            <a:endParaRPr lang="ru-RU" sz="2900" dirty="0"/>
          </a:p>
          <a:p>
            <a:r>
              <a:rPr lang="ru-RU" sz="2800" dirty="0"/>
              <a:t>Если p-</a:t>
            </a:r>
            <a:r>
              <a:rPr lang="ru-RU" sz="2800" dirty="0" err="1"/>
              <a:t>value</a:t>
            </a:r>
            <a:r>
              <a:rPr lang="ru-RU" sz="2800" dirty="0"/>
              <a:t> &gt; 0.05 (или статистика B &lt; критического χ²): Дисперсии равны — гипотеза об однородности принимается. Данные годятся для анализа</a:t>
            </a:r>
          </a:p>
          <a:p>
            <a:endParaRPr lang="ru-RU" sz="2800" dirty="0"/>
          </a:p>
          <a:p>
            <a:r>
              <a:rPr lang="ru-RU" sz="2800" dirty="0"/>
              <a:t>Если p-</a:t>
            </a:r>
            <a:r>
              <a:rPr lang="ru-RU" sz="2800" dirty="0" err="1"/>
              <a:t>value</a:t>
            </a:r>
            <a:r>
              <a:rPr lang="ru-RU" sz="2800" dirty="0"/>
              <a:t> &lt; 0.05 (B &gt; критического): Дисперсии не равны — отвергаем гипотезу. Это значит, вариации зависят от факторов, и нужно корректировать данные</a:t>
            </a:r>
          </a:p>
          <a:p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07890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Фишера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wrap="square">
            <a:normAutofit/>
          </a:bodyPr>
          <a:lstStyle/>
          <a:p>
            <a:endParaRPr dirty="0"/>
          </a:p>
          <a:p>
            <a:pPr>
              <a:defRPr sz="2400"/>
            </a:pPr>
            <a:r>
              <a:rPr lang="ru-RU" sz="2900" dirty="0"/>
              <a:t>Проверяет насколько модель адекватна данным</a:t>
            </a:r>
          </a:p>
          <a:p>
            <a:pPr>
              <a:defRPr sz="2400"/>
            </a:pPr>
            <a:r>
              <a:rPr lang="en-US" dirty="0"/>
              <a:t>Fe = Dey / </a:t>
            </a:r>
            <a:r>
              <a:rPr lang="en-US" dirty="0" err="1"/>
              <a:t>Dsy</a:t>
            </a:r>
            <a:endParaRPr lang="en-US" dirty="0"/>
          </a:p>
          <a:p>
            <a:pPr marL="0" indent="0">
              <a:buNone/>
              <a:defRPr sz="2400"/>
            </a:pPr>
            <a:r>
              <a:rPr lang="ru-RU" dirty="0" err="1"/>
              <a:t>Dey</a:t>
            </a:r>
            <a:r>
              <a:rPr lang="ru-RU" dirty="0"/>
              <a:t> (остаточная дисперсия модели): Измеряет, насколько предсказанные значения (</a:t>
            </a:r>
            <a:r>
              <a:rPr lang="ru-RU" dirty="0" err="1"/>
              <a:t>Yp</a:t>
            </a:r>
            <a:r>
              <a:rPr lang="ru-RU" dirty="0"/>
              <a:t>) отличаются от наблюдаемых средних (</a:t>
            </a:r>
            <a:r>
              <a:rPr lang="ru-RU" dirty="0" err="1"/>
              <a:t>Ysr</a:t>
            </a:r>
            <a:r>
              <a:rPr lang="ru-RU" dirty="0"/>
              <a:t>).</a:t>
            </a:r>
          </a:p>
          <a:p>
            <a:pPr marL="0" indent="0">
              <a:buNone/>
              <a:defRPr sz="2400"/>
            </a:pPr>
            <a:r>
              <a:rPr lang="ru-RU" dirty="0" err="1"/>
              <a:t>Dsy</a:t>
            </a:r>
            <a:r>
              <a:rPr lang="ru-RU" dirty="0"/>
              <a:t> (дисперсия воспроизводимости): Средний разброс внутри повторных измерений</a:t>
            </a:r>
          </a:p>
          <a:p>
            <a:pPr>
              <a:defRPr sz="2400"/>
            </a:pPr>
            <a:endParaRPr lang="ru-RU" sz="2900" dirty="0"/>
          </a:p>
          <a:p>
            <a:pPr>
              <a:defRPr sz="2400"/>
            </a:pPr>
            <a:endParaRPr lang="ru-RU" sz="2900" dirty="0"/>
          </a:p>
          <a:p>
            <a:pPr>
              <a:defRPr sz="2400"/>
            </a:pPr>
            <a:endParaRPr lang="ru-RU" sz="2900" dirty="0"/>
          </a:p>
          <a:p>
            <a:pPr marL="0" indent="0">
              <a:buNone/>
            </a:pP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12486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Критерий Фишера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wrap="square">
            <a:normAutofit/>
          </a:bodyPr>
          <a:lstStyle/>
          <a:p>
            <a:endParaRPr dirty="0"/>
          </a:p>
          <a:p>
            <a:pPr>
              <a:defRPr sz="2400"/>
            </a:pPr>
            <a:r>
              <a:rPr lang="ru-RU" dirty="0" err="1"/>
              <a:t>Fe</a:t>
            </a:r>
            <a:r>
              <a:rPr lang="ru-RU" dirty="0"/>
              <a:t> &lt; 1: Модель адекватна, но данные шумные — другие модели тоже могут подойти. Нет нужды отвергать модель</a:t>
            </a:r>
          </a:p>
          <a:p>
            <a:pPr>
              <a:defRPr sz="2400"/>
            </a:pPr>
            <a:r>
              <a:rPr lang="ru-RU" dirty="0"/>
              <a:t> 1 &lt; </a:t>
            </a:r>
            <a:r>
              <a:rPr lang="ru-RU" dirty="0" err="1"/>
              <a:t>Fe</a:t>
            </a:r>
            <a:r>
              <a:rPr lang="ru-RU" dirty="0"/>
              <a:t> &lt; </a:t>
            </a:r>
            <a:r>
              <a:rPr lang="ru-RU" dirty="0" err="1"/>
              <a:t>Fc</a:t>
            </a:r>
            <a:r>
              <a:rPr lang="ru-RU" dirty="0"/>
              <a:t>: Модель адекватна — ошибки разумны, она объясняет данные лучше случайности. Принимаем гипотезу об адекватности.</a:t>
            </a:r>
          </a:p>
          <a:p>
            <a:pPr>
              <a:defRPr sz="2400"/>
            </a:pPr>
            <a:r>
              <a:rPr lang="ru-RU" dirty="0" err="1"/>
              <a:t>Fe</a:t>
            </a:r>
            <a:r>
              <a:rPr lang="ru-RU" dirty="0"/>
              <a:t> &gt; </a:t>
            </a:r>
            <a:r>
              <a:rPr lang="ru-RU" dirty="0" err="1"/>
              <a:t>Fc</a:t>
            </a:r>
            <a:r>
              <a:rPr lang="ru-RU" dirty="0"/>
              <a:t>: Модель неадекватна — не захватывает суть, ошибки слишком большие. </a:t>
            </a:r>
            <a:r>
              <a:rPr lang="ru-RU"/>
              <a:t>Отвергаем</a:t>
            </a:r>
          </a:p>
          <a:p>
            <a:pPr>
              <a:defRPr sz="2400"/>
            </a:pPr>
            <a:endParaRPr lang="ru-RU" dirty="0"/>
          </a:p>
          <a:p>
            <a:pPr>
              <a:defRPr sz="2400"/>
            </a:pPr>
            <a:endParaRPr lang="ru-RU" sz="2900" dirty="0"/>
          </a:p>
          <a:p>
            <a:pPr>
              <a:defRPr sz="2400"/>
            </a:pPr>
            <a:endParaRPr lang="ru-RU" sz="2900" dirty="0"/>
          </a:p>
          <a:p>
            <a:pPr>
              <a:defRPr sz="2400"/>
            </a:pPr>
            <a:endParaRPr lang="ru-RU" sz="2900" dirty="0"/>
          </a:p>
          <a:p>
            <a:pPr marL="0" indent="0">
              <a:buNone/>
            </a:pP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19968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449</Words>
  <Application>Microsoft Office PowerPoint</Application>
  <PresentationFormat>Экран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Лабораторная работа №4</vt:lpstr>
      <vt:lpstr>регрессионный анализ</vt:lpstr>
      <vt:lpstr>Пример данных</vt:lpstr>
      <vt:lpstr>Пример данных</vt:lpstr>
      <vt:lpstr>Пример данных</vt:lpstr>
      <vt:lpstr>Презентация PowerPoint</vt:lpstr>
      <vt:lpstr>Критерий Кохрена</vt:lpstr>
      <vt:lpstr>Критерий Бартлетта</vt:lpstr>
      <vt:lpstr>Критерий Фишера</vt:lpstr>
      <vt:lpstr>Критерий Фишера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№4</dc:title>
  <dc:subject/>
  <dc:creator>Ekaterina</dc:creator>
  <cp:keywords/>
  <dc:description>generated using python-pptx</dc:description>
  <cp:lastModifiedBy>Екатерина Н. Вахромеева</cp:lastModifiedBy>
  <cp:revision>7</cp:revision>
  <dcterms:created xsi:type="dcterms:W3CDTF">2013-01-27T09:14:16Z</dcterms:created>
  <dcterms:modified xsi:type="dcterms:W3CDTF">2025-10-20T07:45:25Z</dcterms:modified>
  <cp:category/>
</cp:coreProperties>
</file>