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53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48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83B5C9-D380-3743-88F4-E7AD48C3B6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E9A89A3-B15E-396A-E004-C8A93883A4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C5FF67E-B3C2-E773-F263-B27E8A0E5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9D3D6-3BF1-434F-8EA1-4859F9B7B2E2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D9879F-D6CD-29BB-25DF-A6E93B471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1EC00AE-B657-E803-9CA9-ED3A56444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CD24-A6B5-4006-B17D-E89264516F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2779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AC78B5-1379-4936-46DA-D1CCE407F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5DCE280-FC29-63C1-C3E5-AF163F441F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85B8FB5-11FF-AA86-627C-D8D3EEBC3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9D3D6-3BF1-434F-8EA1-4859F9B7B2E2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950A61F-9358-8E77-6272-A0C2DC10C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76FC098-4294-5022-0793-872725F08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CD24-A6B5-4006-B17D-E89264516F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0148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11CC7B-8315-C551-E348-EAF5B2375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685B3DA-2AB0-7284-3841-1EA872CD3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4306F50-3C87-94CC-31BC-44269C3B3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9D3D6-3BF1-434F-8EA1-4859F9B7B2E2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A5C236-BEE4-1E86-AA03-82739166E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AF10C85-A331-6C32-A2ED-A7F5DB7D0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CD24-A6B5-4006-B17D-E89264516F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789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86C768-E5D3-B3E2-AF00-56B363605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C2A871-2C05-0D1D-4A86-FC43F41D8C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ECD2E7C-D394-C3E7-7C7A-6B1541155B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0A86D56-C730-E7AE-C8CB-11C1757E6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9D3D6-3BF1-434F-8EA1-4859F9B7B2E2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2AC9129-B966-CB26-EAE6-637428546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0AA3595-9D88-AC68-B431-91EDF0BA6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CD24-A6B5-4006-B17D-E89264516F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5150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C9B1D0-E425-DD3F-8F0E-81DD4908A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F017D63-F55D-6574-33E6-707EC95DF7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27C8673-FA66-4F5A-1F85-DE948882F7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3DE154C-F7EA-FC4A-491A-9E82A03B4D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E0E738A-DA3F-B212-B694-5C8770874A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EF1DEC2-8E22-DDA0-3044-E9727A7BF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9D3D6-3BF1-434F-8EA1-4859F9B7B2E2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0DEC92D-7EB0-8C80-23D1-F1CA963B3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09F1209-18FA-8DBC-88EC-BA575AEE0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CD24-A6B5-4006-B17D-E89264516F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5003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30CBBB-E81F-D98E-DE5F-F1E244D1E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E1149BA-7CF7-53F7-C364-4200316A4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9D3D6-3BF1-434F-8EA1-4859F9B7B2E2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DBCA4D5-230C-5888-89F2-C58782FE9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7066480-A1A8-C8E9-4517-08F1582E4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CD24-A6B5-4006-B17D-E89264516F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5186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7E683C6-A956-705C-1216-872677F4D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9D3D6-3BF1-434F-8EA1-4859F9B7B2E2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2A3484D-10F2-B841-6F78-0126A71D5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FC783A4-A021-A61D-F606-4B2083A4B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CD24-A6B5-4006-B17D-E89264516F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7774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C6C690-C824-0687-B39D-330ED8BE4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60B5F7-FEBE-2DF9-87FB-5AC8C63FA0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9A7BCD6-54B4-69F6-C944-60DB9A6384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FD220EB-34BA-139B-EEA8-58466AEC5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9D3D6-3BF1-434F-8EA1-4859F9B7B2E2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5C323A5-5257-BEC9-29CE-9E497C77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166275B-31C9-16B2-EE45-87A135CF8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CD24-A6B5-4006-B17D-E89264516F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3227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1E072B-9BD7-7EDC-7D12-74CC5192B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59BC862-2D34-F4D6-3A77-C02EF60FC8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1A59191-C378-79FA-2886-435B0EDF7D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67E47CE-92F0-2C45-977D-0AFB114A3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9D3D6-3BF1-434F-8EA1-4859F9B7B2E2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4ABB23C-D921-09CE-FE4B-69A885977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0E94E55-83F7-B6BC-FE9C-DA015D14E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CD24-A6B5-4006-B17D-E89264516F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373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5FBEA2-AAE3-ACF5-052D-A5A6E8761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E2A0CD4-C5D6-C979-A555-64A0F90507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2ABA8C1-4C1E-3762-50EE-ED7ECC9EC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9D3D6-3BF1-434F-8EA1-4859F9B7B2E2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203F312-E1E7-40F6-792F-A2CA6E440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8F5320A-CD9C-C8DD-0A68-BF9CB939F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CD24-A6B5-4006-B17D-E89264516F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2304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1D80484-B4AA-D9DD-A2A2-AEA4066239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FB676FB-E631-40E6-4FAA-64F9F1AE95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4A6025-AD12-0129-03E2-E440B013E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9D3D6-3BF1-434F-8EA1-4859F9B7B2E2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D7244AD-E909-10B5-4689-AB92C091A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CAC1BA4-843F-A999-2858-BBD247D4B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CD24-A6B5-4006-B17D-E89264516F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5533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A6C102-32FC-6451-94D3-CAEF28869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1792099-45D1-19BD-7E94-2E57296439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B596C20-1D5A-609D-D712-9FE17EE655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19D3D6-3BF1-434F-8EA1-4859F9B7B2E2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643D96E-0DFD-C74E-74D4-E5EB3577C2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C85AB50-39FB-7D24-3ABD-364B0F1F06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23CD24-A6B5-4006-B17D-E89264516F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8054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88867D-D984-D94A-BADB-D903CE2FA9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Тестирование методом белого ящика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CD099E3-66E7-1EFA-57C9-A1F21F5448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7159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C794FF-110E-8062-ED83-B814194FC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Тестирование методом белого ящика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F59A321-8558-42DF-BED0-EDF0E770E5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>
                <a:effectLst/>
              </a:rPr>
              <a:t>Тестирование, основанное на </a:t>
            </a:r>
            <a:r>
              <a:rPr lang="ru-RU" b="1" dirty="0">
                <a:effectLst/>
              </a:rPr>
              <a:t>анализе внутренней структуры</a:t>
            </a:r>
            <a:r>
              <a:rPr lang="ru-RU" dirty="0">
                <a:effectLst/>
              </a:rPr>
              <a:t> программы (кода, блок-схемы, путей).</a:t>
            </a:r>
          </a:p>
          <a:p>
            <a:pPr marL="0" indent="0">
              <a:buNone/>
            </a:pPr>
            <a:r>
              <a:rPr lang="ru-RU" b="1" dirty="0">
                <a:effectLst/>
              </a:rPr>
              <a:t>Проверяем:</a:t>
            </a:r>
            <a:r>
              <a:rPr lang="ru-RU" dirty="0">
                <a:effectLst/>
              </a:rPr>
              <a:t> </a:t>
            </a:r>
          </a:p>
          <a:p>
            <a:pPr marL="0" indent="0">
              <a:buNone/>
            </a:pPr>
            <a:r>
              <a:rPr lang="ru-RU" dirty="0">
                <a:effectLst/>
              </a:rPr>
              <a:t>• Все независимые пути в модуле проверены хотя бы один раз </a:t>
            </a:r>
          </a:p>
          <a:p>
            <a:pPr marL="0" indent="0">
              <a:buNone/>
            </a:pPr>
            <a:r>
              <a:rPr lang="ru-RU" dirty="0">
                <a:effectLst/>
              </a:rPr>
              <a:t>• Все логические решения (ветвления) проверены на </a:t>
            </a:r>
            <a:r>
              <a:rPr lang="ru-RU" b="1" dirty="0">
                <a:effectLst/>
              </a:rPr>
              <a:t>TRUE</a:t>
            </a:r>
            <a:r>
              <a:rPr lang="ru-RU" dirty="0">
                <a:effectLst/>
              </a:rPr>
              <a:t> и </a:t>
            </a:r>
            <a:r>
              <a:rPr lang="ru-RU" b="1" dirty="0">
                <a:effectLst/>
              </a:rPr>
              <a:t>FALSE</a:t>
            </a:r>
            <a:r>
              <a:rPr lang="ru-RU" dirty="0">
                <a:effectLst/>
              </a:rPr>
              <a:t> </a:t>
            </a:r>
          </a:p>
          <a:p>
            <a:pPr marL="0" indent="0">
              <a:buNone/>
            </a:pPr>
            <a:r>
              <a:rPr lang="ru-RU" dirty="0">
                <a:effectLst/>
              </a:rPr>
              <a:t>• Все циклы выполнены на границах и в пределах рабочих значений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97560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B58D70-FE83-9895-1712-A04EBE9B3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Преимущества и недостатки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339235-9D89-343F-2A60-673F465EA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dirty="0">
                <a:effectLst/>
              </a:rPr>
              <a:t>Преимущества:</a:t>
            </a:r>
            <a:r>
              <a:rPr lang="ru-RU" dirty="0">
                <a:effectLst/>
              </a:rPr>
              <a:t> </a:t>
            </a:r>
          </a:p>
          <a:p>
            <a:pPr marL="0" indent="0">
              <a:buNone/>
            </a:pPr>
            <a:r>
              <a:rPr lang="ru-RU" dirty="0">
                <a:effectLst/>
              </a:rPr>
              <a:t>• Тестирование можно начинать </a:t>
            </a:r>
            <a:r>
              <a:rPr lang="ru-RU" b="1" dirty="0">
                <a:effectLst/>
              </a:rPr>
              <a:t>на ранних этапах</a:t>
            </a:r>
            <a:r>
              <a:rPr lang="ru-RU" dirty="0">
                <a:effectLst/>
              </a:rPr>
              <a:t> разработки (не нужен интерфейс) </a:t>
            </a:r>
          </a:p>
          <a:p>
            <a:pPr marL="0" indent="0">
              <a:buNone/>
            </a:pPr>
            <a:r>
              <a:rPr lang="ru-RU" dirty="0">
                <a:effectLst/>
              </a:rPr>
              <a:t>• Максимально тщательное тестирование — большое покрытие путей выполнения</a:t>
            </a:r>
          </a:p>
          <a:p>
            <a:pPr marL="0" indent="0">
              <a:buNone/>
            </a:pPr>
            <a:endParaRPr lang="ru-RU" b="1" dirty="0">
              <a:effectLst/>
            </a:endParaRPr>
          </a:p>
          <a:p>
            <a:pPr marL="0" indent="0">
              <a:buNone/>
            </a:pPr>
            <a:r>
              <a:rPr lang="ru-RU" b="1" dirty="0">
                <a:effectLst/>
              </a:rPr>
              <a:t>Недостатки:</a:t>
            </a:r>
            <a:r>
              <a:rPr lang="ru-RU" dirty="0">
                <a:effectLst/>
              </a:rPr>
              <a:t> </a:t>
            </a:r>
          </a:p>
          <a:p>
            <a:pPr marL="0" indent="0">
              <a:buNone/>
            </a:pPr>
            <a:r>
              <a:rPr lang="ru-RU" dirty="0">
                <a:effectLst/>
              </a:rPr>
              <a:t>• Требуются </a:t>
            </a:r>
            <a:r>
              <a:rPr lang="ru-RU" b="1" dirty="0">
                <a:effectLst/>
              </a:rPr>
              <a:t>глубокие знания</a:t>
            </a:r>
            <a:r>
              <a:rPr lang="ru-RU" dirty="0">
                <a:effectLst/>
              </a:rPr>
              <a:t> внутреннего устройства программы </a:t>
            </a:r>
          </a:p>
          <a:p>
            <a:pPr marL="0" indent="0">
              <a:buNone/>
            </a:pPr>
            <a:r>
              <a:rPr lang="ru-RU" dirty="0">
                <a:effectLst/>
              </a:rPr>
              <a:t>• При частых изменениях кода поддержка </a:t>
            </a:r>
            <a:r>
              <a:rPr lang="ru-RU" dirty="0" err="1">
                <a:effectLst/>
              </a:rPr>
              <a:t>автотестов</a:t>
            </a:r>
            <a:r>
              <a:rPr lang="ru-RU" dirty="0">
                <a:effectLst/>
              </a:rPr>
              <a:t> становится очень трудоёмкой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600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979A14-DBA2-70FD-9EE6-7218A1992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Техники белого ящика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B2FAC4-AB17-A7BD-46CE-78B2AC672E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• </a:t>
            </a:r>
            <a:r>
              <a:rPr lang="en-US" dirty="0"/>
              <a:t>Statement coverage </a:t>
            </a:r>
            <a:r>
              <a:rPr lang="ru-RU" dirty="0"/>
              <a:t>- </a:t>
            </a:r>
            <a:r>
              <a:rPr lang="en-US" dirty="0"/>
              <a:t> </a:t>
            </a:r>
            <a:r>
              <a:rPr lang="ru-RU" dirty="0"/>
              <a:t>покрытие операторов в коде; </a:t>
            </a:r>
          </a:p>
          <a:p>
            <a:pPr marL="0" indent="0">
              <a:buNone/>
            </a:pPr>
            <a:r>
              <a:rPr lang="ru-RU" dirty="0"/>
              <a:t>• </a:t>
            </a:r>
            <a:r>
              <a:rPr lang="en-US" dirty="0"/>
              <a:t>Decision coverage </a:t>
            </a:r>
            <a:r>
              <a:rPr lang="ru-RU" dirty="0"/>
              <a:t>-</a:t>
            </a:r>
            <a:r>
              <a:rPr lang="en-US" dirty="0"/>
              <a:t> </a:t>
            </a:r>
            <a:r>
              <a:rPr lang="ru-RU" dirty="0"/>
              <a:t>покрытие решений; </a:t>
            </a:r>
          </a:p>
          <a:p>
            <a:pPr marL="0" indent="0">
              <a:buNone/>
            </a:pPr>
            <a:r>
              <a:rPr lang="ru-RU" dirty="0"/>
              <a:t>• </a:t>
            </a:r>
            <a:r>
              <a:rPr lang="en-US" dirty="0"/>
              <a:t>Condition coverage </a:t>
            </a:r>
            <a:r>
              <a:rPr lang="ru-RU" dirty="0"/>
              <a:t>-</a:t>
            </a:r>
            <a:r>
              <a:rPr lang="en-US" dirty="0"/>
              <a:t> </a:t>
            </a:r>
            <a:r>
              <a:rPr lang="ru-RU" dirty="0"/>
              <a:t>покрытие условий; </a:t>
            </a:r>
          </a:p>
          <a:p>
            <a:pPr marL="0" indent="0">
              <a:buNone/>
            </a:pPr>
            <a:r>
              <a:rPr lang="ru-RU" dirty="0"/>
              <a:t>• </a:t>
            </a:r>
            <a:r>
              <a:rPr lang="en-US" dirty="0"/>
              <a:t>Decision-condition coverage </a:t>
            </a:r>
            <a:r>
              <a:rPr lang="ru-RU" dirty="0"/>
              <a:t>-</a:t>
            </a:r>
            <a:r>
              <a:rPr lang="en-US" dirty="0"/>
              <a:t> </a:t>
            </a:r>
            <a:r>
              <a:rPr lang="ru-RU" dirty="0"/>
              <a:t>покрытие условий и решений; </a:t>
            </a:r>
          </a:p>
          <a:p>
            <a:pPr marL="0" indent="0">
              <a:buNone/>
            </a:pPr>
            <a:r>
              <a:rPr lang="ru-RU" dirty="0"/>
              <a:t>• </a:t>
            </a:r>
            <a:r>
              <a:rPr lang="en-US" dirty="0"/>
              <a:t>Multiple-condition coverage </a:t>
            </a:r>
            <a:r>
              <a:rPr lang="ru-RU" dirty="0"/>
              <a:t>-</a:t>
            </a:r>
            <a:r>
              <a:rPr lang="en-US" dirty="0"/>
              <a:t> </a:t>
            </a:r>
            <a:r>
              <a:rPr lang="ru-RU" dirty="0"/>
              <a:t>комбинаторное покрытие условий и решений </a:t>
            </a:r>
          </a:p>
          <a:p>
            <a:pPr marL="0" indent="0">
              <a:buNone/>
            </a:pPr>
            <a:r>
              <a:rPr lang="ru-RU" dirty="0"/>
              <a:t>• </a:t>
            </a:r>
            <a:r>
              <a:rPr lang="en-US" dirty="0"/>
              <a:t>Path coverage - </a:t>
            </a:r>
            <a:r>
              <a:rPr lang="ru-RU" dirty="0"/>
              <a:t>покрытие путей</a:t>
            </a:r>
          </a:p>
        </p:txBody>
      </p:sp>
    </p:spTree>
    <p:extLst>
      <p:ext uri="{BB962C8B-B14F-4D97-AF65-F5344CB8AC3E}">
        <p14:creationId xmlns:p14="http://schemas.microsoft.com/office/powerpoint/2010/main" val="3359430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D1E083-1D10-AD6F-CF7A-ECF248D9E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определения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6C76A80E-EB28-8FB9-54F6-6F54978E80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76668" y="1362884"/>
            <a:ext cx="5753927" cy="5381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082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9A76FD-5027-0C44-58D5-60DAE14E2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Тестирование циклов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C95353B-8C29-32D4-0310-FCA0246D5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 не выполняется </a:t>
            </a:r>
          </a:p>
          <a:p>
            <a:r>
              <a:rPr lang="ru-RU" dirty="0"/>
              <a:t> выполняется 1 раз </a:t>
            </a:r>
          </a:p>
          <a:p>
            <a:r>
              <a:rPr lang="ru-RU" dirty="0"/>
              <a:t> выполняется m раз (m&lt;n) </a:t>
            </a:r>
          </a:p>
          <a:p>
            <a:r>
              <a:rPr lang="ru-RU" dirty="0"/>
              <a:t> выполняется </a:t>
            </a:r>
            <a:r>
              <a:rPr lang="en-US" dirty="0"/>
              <a:t>n </a:t>
            </a:r>
            <a:r>
              <a:rPr lang="ru-RU" dirty="0"/>
              <a:t>раз </a:t>
            </a:r>
          </a:p>
        </p:txBody>
      </p:sp>
    </p:spTree>
    <p:extLst>
      <p:ext uri="{BB962C8B-B14F-4D97-AF65-F5344CB8AC3E}">
        <p14:creationId xmlns:p14="http://schemas.microsoft.com/office/powerpoint/2010/main" val="1726931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C0AC02-608F-5BEA-B154-C2A58C406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Покрытие кода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49B4DA-9229-2A95-D9B2-878A03093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Расчет тестового покрытия относительно исполняемого кода программного обеспечения проводится по формуле: 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en-US" dirty="0" err="1"/>
              <a:t>Tcov</a:t>
            </a:r>
            <a:r>
              <a:rPr lang="en-US" dirty="0"/>
              <a:t> = (</a:t>
            </a:r>
            <a:r>
              <a:rPr lang="en-US" dirty="0" err="1"/>
              <a:t>Ltc</a:t>
            </a:r>
            <a:r>
              <a:rPr lang="en-US" dirty="0"/>
              <a:t>/</a:t>
            </a:r>
            <a:r>
              <a:rPr lang="en-US" dirty="0" err="1"/>
              <a:t>Lcode</a:t>
            </a:r>
            <a:r>
              <a:rPr lang="en-US" dirty="0"/>
              <a:t>) * 100% 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где: </a:t>
            </a:r>
          </a:p>
          <a:p>
            <a:r>
              <a:rPr lang="en-US" dirty="0" err="1"/>
              <a:t>Tcov</a:t>
            </a:r>
            <a:r>
              <a:rPr lang="en-US" dirty="0"/>
              <a:t> - </a:t>
            </a:r>
            <a:r>
              <a:rPr lang="ru-RU" dirty="0"/>
              <a:t>тестовое покрытие </a:t>
            </a:r>
          </a:p>
          <a:p>
            <a:r>
              <a:rPr lang="ru-RU" dirty="0" err="1"/>
              <a:t>Ltc</a:t>
            </a:r>
            <a:r>
              <a:rPr lang="ru-RU" dirty="0"/>
              <a:t> - кол-ва строк кода, покрытых тестами </a:t>
            </a:r>
          </a:p>
          <a:p>
            <a:r>
              <a:rPr lang="ru-RU" dirty="0" err="1"/>
              <a:t>Lcode</a:t>
            </a:r>
            <a:r>
              <a:rPr lang="ru-RU" dirty="0"/>
              <a:t> - общее кол-во строк кода. </a:t>
            </a:r>
          </a:p>
        </p:txBody>
      </p:sp>
    </p:spTree>
    <p:extLst>
      <p:ext uri="{BB962C8B-B14F-4D97-AF65-F5344CB8AC3E}">
        <p14:creationId xmlns:p14="http://schemas.microsoft.com/office/powerpoint/2010/main" val="164955637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224</Words>
  <Application>Microsoft Office PowerPoint</Application>
  <PresentationFormat>Широкоэкранный</PresentationFormat>
  <Paragraphs>37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Тема Office</vt:lpstr>
      <vt:lpstr>Тестирование методом белого ящика</vt:lpstr>
      <vt:lpstr>Тестирование методом белого ящика</vt:lpstr>
      <vt:lpstr>Преимущества и недостатки</vt:lpstr>
      <vt:lpstr>Техники белого ящика</vt:lpstr>
      <vt:lpstr>Основные определения</vt:lpstr>
      <vt:lpstr>Тестирование циклов</vt:lpstr>
      <vt:lpstr>Покрытие кода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Тестирование методом белого ящика</dc:title>
  <dc:creator>Ekaterina V</dc:creator>
  <cp:lastModifiedBy>Екатерина Н. Вахромеева</cp:lastModifiedBy>
  <cp:revision>2</cp:revision>
  <dcterms:created xsi:type="dcterms:W3CDTF">2026-03-24T05:51:13Z</dcterms:created>
  <dcterms:modified xsi:type="dcterms:W3CDTF">2026-03-24T12:06:58Z</dcterms:modified>
</cp:coreProperties>
</file>