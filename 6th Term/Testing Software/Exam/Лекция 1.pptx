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66" r:id="rId15"/>
    <p:sldId id="267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20" autoAdjust="0"/>
  </p:normalViewPr>
  <p:slideViewPr>
    <p:cSldViewPr snapToGrid="0">
      <p:cViewPr varScale="1">
        <p:scale>
          <a:sx n="64" d="100"/>
          <a:sy n="64" d="100"/>
        </p:scale>
        <p:origin x="378" y="60"/>
      </p:cViewPr>
      <p:guideLst/>
    </p:cSldViewPr>
  </p:slideViewPr>
  <p:outlineViewPr>
    <p:cViewPr>
      <p:scale>
        <a:sx n="33" d="100"/>
        <a:sy n="33" d="100"/>
      </p:scale>
      <p:origin x="0" y="-24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005D4E-833D-4005-992B-77411A397679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25FB4D-E091-40F3-94D5-985FF5A3C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4400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5FB4D-E091-40F3-94D5-985FF5A3C68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634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5FB4D-E091-40F3-94D5-985FF5A3C68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9744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5FB4D-E091-40F3-94D5-985FF5A3C68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4252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5FB4D-E091-40F3-94D5-985FF5A3C68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7257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5FB4D-E091-40F3-94D5-985FF5A3C68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8261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5FB4D-E091-40F3-94D5-985FF5A3C68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6128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5FB4D-E091-40F3-94D5-985FF5A3C68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25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5FB4D-E091-40F3-94D5-985FF5A3C68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40728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5FB4D-E091-40F3-94D5-985FF5A3C68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33116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5FB4D-E091-40F3-94D5-985FF5A3C68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13804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5FB4D-E091-40F3-94D5-985FF5A3C68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7315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5FB4D-E091-40F3-94D5-985FF5A3C68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28326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5FB4D-E091-40F3-94D5-985FF5A3C688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83663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5FB4D-E091-40F3-94D5-985FF5A3C68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74697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5FB4D-E091-40F3-94D5-985FF5A3C688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2803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5FB4D-E091-40F3-94D5-985FF5A3C68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05652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5FB4D-E091-40F3-94D5-985FF5A3C688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37438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5FB4D-E091-40F3-94D5-985FF5A3C688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6962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5FB4D-E091-40F3-94D5-985FF5A3C688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0978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5FB4D-E091-40F3-94D5-985FF5A3C688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00395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5FB4D-E091-40F3-94D5-985FF5A3C688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1849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5FB4D-E091-40F3-94D5-985FF5A3C688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37510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5FB4D-E091-40F3-94D5-985FF5A3C688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70903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Выделите причины (условия) — 2–4 штуки из спецификации Выделите следствия (результаты, ошибки) Постройте полную таблицу (2^n комбинаций, Y/N для причин) Упростите (удалите невозможные комбинации) Из таблицы — тесты (3–8 штук) Запустите, скрин, гипотеза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5FB4D-E091-40F3-94D5-985FF5A3C688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30868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5EE83-035C-DF6A-0845-A55690D99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729FD0A-F3CA-E77C-F696-148959BC0E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FEE7B87-177B-7D2F-AD67-8E8643E36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F93694-F6F9-FBD5-78E6-2A77C4B7F9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5FB4D-E091-40F3-94D5-985FF5A3C688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350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9F067-024C-D358-D8F4-323213740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167FD90-6990-341E-6C79-524D849CA0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C666946-0603-C426-2F0F-D92865AD6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CA9D96-5805-53AB-A8BD-8B0C925B9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5FB4D-E091-40F3-94D5-985FF5A3C688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77316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4A588-3D35-799B-8064-3C3963A67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E77A372-81E9-A46B-034D-092A5F685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0673519-10D1-6B49-2F34-3530889BD1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BFA034-6175-8C6F-8466-6784C70376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5FB4D-E091-40F3-94D5-985FF5A3C688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0622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D4D57-6120-C813-576A-C5A0A6549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B63DD00-B1E5-771B-BD02-1D94BA831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DBD1FC9-824D-51EE-5464-6900D955B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308776-1A90-7E36-218B-2997E3FEB6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5FB4D-E091-40F3-94D5-985FF5A3C688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2324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257C9B-2A36-3D6B-D0A8-4A93DC1F6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5A255C1-3533-1C49-23C7-91AE853573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AC2ACB-57C5-9682-7D13-DB9D7A259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F4006-103A-4FB1-A9D8-2F9FBB3911A6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B62D6A-B3E2-BCE6-EFF7-A6248ABAB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E8D0E0-EE94-565E-8ED6-E9D99767E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BA952-44B3-4B71-8455-F980922BCB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895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85B2FC-A046-4BF9-E266-06689D0C3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96F708-1551-8FEC-25AB-3EE8DFC40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519E4F-A2F8-A30D-AFC8-0233CB042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F4006-103A-4FB1-A9D8-2F9FBB3911A6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136158-BC2B-8968-5C3A-53A9D3698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5D9F0D-CA89-0301-8164-A5F8A73FC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BA952-44B3-4B71-8455-F980922BCB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2288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772B5D-67E9-A2A0-7870-0B2F21BEB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5ED43A-0821-EB3C-14D6-D8EB09995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B46658-B350-BF21-8F2B-17621BB4F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F4006-103A-4FB1-A9D8-2F9FBB3911A6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E51697-37DC-A298-BF28-3E0AAF3B5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541F17-1301-744F-52A5-B15112946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BA952-44B3-4B71-8455-F980922BCB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411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273ECE-C883-EA48-2B10-D5E2FE94D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3A01F9-6151-35D7-AC81-D3D4504A3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C6EE34C-EE86-6624-FDFA-4ACE5BB04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FDEF2D-0CC8-02B7-2AF0-A94AE9F15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F4006-103A-4FB1-A9D8-2F9FBB3911A6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52F7451-DD37-54EE-D4B4-F0BC5C64F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3D2118C-1E54-41DB-CA56-AB9E795D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BA952-44B3-4B71-8455-F980922BCB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5554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7F31BE-C782-BF33-7386-D99C0BDA5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51975E-326D-70BB-7805-004A0ADEA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BF9778-BEFD-1D83-F868-A8D2F32A2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2FBFE96-70E2-6CD4-AB43-9C9E64B2C0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2864A8D-B318-9C8F-1F45-C17229B8E2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A655684-329B-94F4-1015-95E1FA702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F4006-103A-4FB1-A9D8-2F9FBB3911A6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8F5EC2F-0EE6-9618-7168-795FBA31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BA9DCB2-0AD3-28CD-38C8-1C0ED9CB5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BA952-44B3-4B71-8455-F980922BCB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5794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F8E6F7-09EF-0FF5-1A49-694B5382A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0020A02-F436-EE51-924D-63127B786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F4006-103A-4FB1-A9D8-2F9FBB3911A6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BC6B802-6245-0964-1A2C-FFF9851DA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B489CC0-8FD7-7B19-DE50-87D25AAA9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BA952-44B3-4B71-8455-F980922BCB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14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765990C-ECF9-A676-6632-522C6DB17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F4006-103A-4FB1-A9D8-2F9FBB3911A6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A497E9E-F606-34CD-066D-293D373F0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C15EE77-011F-E040-6A8A-091EA3C38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BA952-44B3-4B71-8455-F980922BCB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87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1EA420-0F03-A87A-CE69-4C6F5FCC1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753122-A4F9-D370-7775-20F50521E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36384B-AC07-7442-4B5E-DB129FD6F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207986-439E-0FC8-1D48-B3CA53707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F4006-103A-4FB1-A9D8-2F9FBB3911A6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075B8D-A745-8B95-811F-5234C13EA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C45027-E939-11C3-9E37-F559F5EC2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BA952-44B3-4B71-8455-F980922BCB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4472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FA75AF-1ED8-CC89-139B-C01AECA83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D75CEB5-2B74-EEF5-29EE-7689676CE6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5154BA9-4B77-A427-BF67-42477A350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13679D5-0AA9-D739-093F-7C19F5F94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F4006-103A-4FB1-A9D8-2F9FBB3911A6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A3C9B-6765-BE68-5EA7-73D6A5379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39F590-B9E8-6E52-2D9B-A0E612525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BA952-44B3-4B71-8455-F980922BCB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5663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F1FB80-F9FB-B534-07CF-4F4586FA7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14CC07E-2898-DBF5-39FA-C216BBF92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C909B1-7E48-77D2-C513-3B053DCA8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F4006-103A-4FB1-A9D8-2F9FBB3911A6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EBC474-1CED-39F3-06C4-A2B3B8E04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DD8CEE-176B-7282-3E5A-87BA3C6CC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BA952-44B3-4B71-8455-F980922BCB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4841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D71270C-3350-9E78-1F7B-AA3ABFA10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AA16C88-7C72-08A6-B3FB-972839143A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139811-9838-5C62-26E6-8527AF40C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F4006-103A-4FB1-A9D8-2F9FBB3911A6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EAA08E-F389-9407-79BD-3D56D8FEB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DAAD1B-25DE-6046-C432-10F7F055B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BA952-44B3-4B71-8455-F980922BCB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2467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0F40EF-688E-2BFF-4F0B-23FDD09BC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43677B-3844-50DB-9842-931E78CCA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F54827-53C0-032B-89CC-76A4A5D720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F4006-103A-4FB1-A9D8-2F9FBB3911A6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8E76E4-6070-022B-C1A9-96F0D0C475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A2743A-BBCE-9275-F5DF-05FB3B8F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0BA952-44B3-4B71-8455-F980922BCB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4160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8D7C19-004E-D290-490C-952D4C60BF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Тестирование ПО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4076149-3769-588E-1B03-AD3BB33B72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807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2AC501-7E18-1048-4A63-C893C488A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определения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F97926-A713-A830-FDDE-E87E9E620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Тестирование программного обеспечения (Software </a:t>
            </a:r>
            <a:r>
              <a:rPr lang="ru-RU" b="1" dirty="0" err="1"/>
              <a:t>Testing</a:t>
            </a:r>
            <a:r>
              <a:rPr lang="ru-RU" b="1" dirty="0"/>
              <a:t>)</a:t>
            </a:r>
            <a:r>
              <a:rPr lang="ru-RU" dirty="0"/>
              <a:t> — это процесс проверки, соответствует ли готовый (или частично готовый) продукт тому, что от него ожидают: требованиям, спецификациям, макетам, ожиданиям пользователей и бизнеса.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Тестирование — это </a:t>
            </a:r>
            <a:r>
              <a:rPr lang="ru-RU" b="1" dirty="0"/>
              <a:t>контроль качества (Quality Control, QC)</a:t>
            </a:r>
            <a:r>
              <a:rPr lang="ru-RU" dirty="0"/>
              <a:t> </a:t>
            </a:r>
          </a:p>
          <a:p>
            <a:pPr lvl="0"/>
            <a:r>
              <a:rPr lang="ru-RU" dirty="0"/>
              <a:t>Готов ли продукт к выпуску?</a:t>
            </a:r>
          </a:p>
          <a:p>
            <a:pPr lvl="0"/>
            <a:r>
              <a:rPr lang="ru-RU" dirty="0"/>
              <a:t>Соответствует ли продукт зафиксированным требованиям?</a:t>
            </a:r>
          </a:p>
          <a:p>
            <a:pPr lvl="0"/>
            <a:r>
              <a:rPr lang="ru-RU" dirty="0"/>
              <a:t>Есть ли в продукте дефекты?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7655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7F5B9-F9C0-FC54-16CF-40FED5EFB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F433C5-85DE-6AA8-EC9E-65BE7A5DD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определения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345DDA-BCFA-B0C9-453B-0A48182C9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b="1" dirty="0"/>
              <a:t>Обеспечение качества (Quality </a:t>
            </a:r>
            <a:r>
              <a:rPr lang="ru-RU" b="1" dirty="0" err="1"/>
              <a:t>Assurance</a:t>
            </a:r>
            <a:r>
              <a:rPr lang="ru-RU" b="1" dirty="0"/>
              <a:t> - QA) - </a:t>
            </a:r>
            <a:r>
              <a:rPr lang="ru-RU" dirty="0"/>
              <a:t>действия на протяжении жизненного цикла проекта, чтобы качество было высоким с самого начала (планирование процессов, </a:t>
            </a:r>
            <a:r>
              <a:rPr lang="ru-RU" dirty="0" err="1"/>
              <a:t>code</a:t>
            </a:r>
            <a:r>
              <a:rPr lang="ru-RU" dirty="0"/>
              <a:t> </a:t>
            </a:r>
            <a:r>
              <a:rPr lang="ru-RU" dirty="0" err="1"/>
              <a:t>review</a:t>
            </a:r>
            <a:r>
              <a:rPr lang="ru-RU" dirty="0"/>
              <a:t>, автоматизация, метрики и т.д.). </a:t>
            </a:r>
          </a:p>
          <a:p>
            <a:pPr algn="just"/>
            <a:endParaRPr lang="ru-RU" dirty="0"/>
          </a:p>
          <a:p>
            <a:pPr algn="just"/>
            <a:r>
              <a:rPr lang="ru-RU" dirty="0"/>
              <a:t>Тестировщик -  QC (проверка продукта)</a:t>
            </a:r>
          </a:p>
          <a:p>
            <a:pPr algn="just"/>
            <a:r>
              <a:rPr lang="ru-RU" dirty="0"/>
              <a:t>Инженер по QA -  QC + процессы обеспечения качества</a:t>
            </a:r>
          </a:p>
          <a:p>
            <a:pPr algn="just"/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1599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BBFD3-022D-0A42-B8B7-32FD4D7FB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57F3DF-ABF5-2C6C-7217-3761F000F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Модель качества ПО (ISO/IEC 25010:2023)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24FFF8-561B-B6F2-61AE-8976C350D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effectLst/>
              </a:rPr>
              <a:t>Functional Suitability (</a:t>
            </a:r>
            <a:r>
              <a:rPr lang="ru-RU" b="1" dirty="0">
                <a:effectLst/>
              </a:rPr>
              <a:t>Функциональная пригодность)</a:t>
            </a:r>
          </a:p>
          <a:p>
            <a:pPr marL="0" indent="0" algn="just">
              <a:buNone/>
            </a:pPr>
            <a:r>
              <a:rPr lang="ru-RU" dirty="0"/>
              <a:t>Функциями являются те, которые реализуют установленные или предполагаемые потребности.</a:t>
            </a:r>
          </a:p>
          <a:p>
            <a:pPr marL="0" indent="0" algn="just">
              <a:buNone/>
            </a:pPr>
            <a:endParaRPr lang="ru-RU" dirty="0"/>
          </a:p>
          <a:p>
            <a:pPr algn="just"/>
            <a:r>
              <a:rPr lang="ru-RU" b="1" dirty="0"/>
              <a:t>Надежность (</a:t>
            </a:r>
            <a:r>
              <a:rPr lang="ru-RU" b="1" dirty="0" err="1"/>
              <a:t>Reliability</a:t>
            </a:r>
            <a:r>
              <a:rPr lang="ru-RU" b="1" dirty="0"/>
              <a:t>)</a:t>
            </a:r>
          </a:p>
          <a:p>
            <a:pPr marL="0" indent="0" algn="just">
              <a:buNone/>
            </a:pPr>
            <a:r>
              <a:rPr lang="ru-RU" dirty="0"/>
              <a:t>Способность программного обеспечения сохранять свой уровень качества функционирования при установленных условиях за установленный период времени.</a:t>
            </a:r>
          </a:p>
          <a:p>
            <a:pPr algn="just"/>
            <a:endParaRPr lang="ru-RU" dirty="0"/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9173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D8BCA-86D0-D87D-2924-311A94FEB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95CC61-4DD8-BFA0-2BFE-F92E0D8E6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Модель качества ПО (ISO/IEC 25010:2023)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59F392-890F-10DE-51E7-96A04218A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</a:rPr>
              <a:t>Interaction Capability</a:t>
            </a:r>
            <a:r>
              <a:rPr lang="ru-RU" b="1" dirty="0">
                <a:effectLst/>
              </a:rPr>
              <a:t> (Способность к взаимодействию</a:t>
            </a:r>
          </a:p>
          <a:p>
            <a:pPr marL="0" indent="0">
              <a:buNone/>
            </a:pPr>
            <a:r>
              <a:rPr lang="ru-RU" dirty="0">
                <a:effectLst/>
              </a:rPr>
              <a:t>Способность к взаимодействию через интерфейс (ранее – юзабилити)</a:t>
            </a:r>
          </a:p>
          <a:p>
            <a:pPr marL="0" indent="0" algn="just">
              <a:buNone/>
            </a:pPr>
            <a:endParaRPr lang="ru-RU" dirty="0"/>
          </a:p>
          <a:p>
            <a:pPr algn="just"/>
            <a:r>
              <a:rPr lang="en-US" b="1" dirty="0">
                <a:effectLst/>
              </a:rPr>
              <a:t>Performance Efficiency (</a:t>
            </a:r>
            <a:r>
              <a:rPr lang="ru-RU" b="1" dirty="0">
                <a:effectLst/>
              </a:rPr>
              <a:t>Эффективность производительности)</a:t>
            </a:r>
            <a:endParaRPr lang="ru-RU" b="1" dirty="0"/>
          </a:p>
          <a:p>
            <a:pPr marL="0" indent="0" algn="just">
              <a:buNone/>
            </a:pPr>
            <a:r>
              <a:rPr lang="ru-RU" dirty="0"/>
              <a:t>Соотношению между уровнем качества функционирования программного обеспечения и объемом используемых ресурсов при установленных условиях.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7234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04A34-AA60-54D2-7B49-4BC94A2FA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41B6A2-425B-ABB7-751B-F5D9225A5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Модель качества ПО (ISO/IEC 25010:2023)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E4D60D-C62E-4175-EDF6-F8C7C02C2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 err="1"/>
              <a:t>Сопровождаемость</a:t>
            </a:r>
            <a:r>
              <a:rPr lang="ru-RU" b="1" dirty="0"/>
              <a:t> (</a:t>
            </a:r>
            <a:r>
              <a:rPr lang="ru-RU" dirty="0" err="1"/>
              <a:t>Maintainability</a:t>
            </a:r>
            <a:r>
              <a:rPr lang="ru-RU" dirty="0"/>
              <a:t>)</a:t>
            </a:r>
          </a:p>
          <a:p>
            <a:pPr marL="0" indent="0">
              <a:buNone/>
            </a:pPr>
            <a:r>
              <a:rPr lang="ru-RU" dirty="0"/>
              <a:t>Объем работ, требуемых для проведения конкретных изменений (модификаций).</a:t>
            </a:r>
          </a:p>
          <a:p>
            <a:pPr marL="0" indent="0" algn="just">
              <a:buNone/>
            </a:pPr>
            <a:endParaRPr lang="ru-RU" dirty="0"/>
          </a:p>
          <a:p>
            <a:r>
              <a:rPr lang="en-US" b="1" dirty="0">
                <a:effectLst/>
              </a:rPr>
              <a:t>Flexibility (</a:t>
            </a:r>
            <a:r>
              <a:rPr lang="ru-RU" b="1" dirty="0">
                <a:effectLst/>
              </a:rPr>
              <a:t>Гибкость)</a:t>
            </a:r>
          </a:p>
          <a:p>
            <a:pPr marL="0" indent="0">
              <a:buNone/>
            </a:pPr>
            <a:r>
              <a:rPr lang="ru-RU" dirty="0"/>
              <a:t>Способность программного обеспечения быть перенесенными из одного окружения в другое.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8799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C8B7D-C815-6BFA-2059-81860D6B2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D2556A-39EC-B27E-024D-41446603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Модель качества ПО (ISO/IEC 25010:2023)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889383-E5F0-190B-DBD5-B62874EA2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 err="1">
                <a:effectLst/>
              </a:rPr>
              <a:t>Compatibility</a:t>
            </a:r>
            <a:r>
              <a:rPr lang="ru-RU" b="1" dirty="0">
                <a:effectLst/>
              </a:rPr>
              <a:t> (Совместимость) </a:t>
            </a:r>
          </a:p>
          <a:p>
            <a:pPr marL="0" indent="0">
              <a:buNone/>
            </a:pPr>
            <a:r>
              <a:rPr lang="ru-RU" dirty="0">
                <a:effectLst/>
              </a:rPr>
              <a:t>Работа с другими системами, ОС, браузерами, устройствами</a:t>
            </a:r>
          </a:p>
          <a:p>
            <a:endParaRPr lang="ru-RU" dirty="0">
              <a:effectLst/>
            </a:endParaRPr>
          </a:p>
          <a:p>
            <a:r>
              <a:rPr lang="en-US" b="1" dirty="0">
                <a:effectLst/>
              </a:rPr>
              <a:t>Security (</a:t>
            </a:r>
            <a:r>
              <a:rPr lang="ru-RU" b="1" dirty="0">
                <a:effectLst/>
              </a:rPr>
              <a:t>Безопасность)</a:t>
            </a:r>
          </a:p>
          <a:p>
            <a:endParaRPr lang="ru-RU" dirty="0">
              <a:effectLst/>
            </a:endParaRPr>
          </a:p>
          <a:p>
            <a:r>
              <a:rPr lang="ru-RU" b="1" dirty="0">
                <a:effectLst/>
              </a:rPr>
              <a:t>Safety (Безопасность</a:t>
            </a:r>
            <a:r>
              <a:rPr lang="ru-RU" dirty="0">
                <a:effectLst/>
              </a:rPr>
              <a:t>) </a:t>
            </a:r>
          </a:p>
          <a:p>
            <a:pPr marL="0" indent="0">
              <a:buNone/>
            </a:pPr>
            <a:r>
              <a:rPr lang="ru-RU" dirty="0">
                <a:effectLst/>
              </a:rPr>
              <a:t>Предотвращает ли риски для здоровья, жизни, имущества, окружающей среды?</a:t>
            </a:r>
          </a:p>
          <a:p>
            <a:pPr marL="0" indent="0">
              <a:buNone/>
            </a:pPr>
            <a:endParaRPr lang="ru-RU" dirty="0">
              <a:effectLst/>
            </a:endParaRP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5668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B4F2-5CD7-0284-B56A-3047B6ADF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F2E9F8-B60A-BD02-E3F3-1B4BDA758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тестирования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DA3D9F-A9E0-B63E-17DC-239B0B093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ru-RU" dirty="0">
                <a:effectLst/>
              </a:rPr>
              <a:t>Предоставление информации для управления рисками </a:t>
            </a:r>
          </a:p>
          <a:p>
            <a:pPr algn="just"/>
            <a:r>
              <a:rPr lang="ru-RU" dirty="0">
                <a:effectLst/>
              </a:rPr>
              <a:t>Оценка качества продукта</a:t>
            </a:r>
          </a:p>
          <a:p>
            <a:pPr algn="just"/>
            <a:r>
              <a:rPr lang="ru-RU" dirty="0">
                <a:effectLst/>
              </a:rPr>
              <a:t> Проверка, оправдал ли продукт ожидания заинтересованной стороны</a:t>
            </a:r>
          </a:p>
          <a:p>
            <a:pPr lvl="0"/>
            <a:r>
              <a:rPr lang="ru-RU" dirty="0"/>
              <a:t>Оценка того, были ли дефекты корректно устранены без неблагоприятных побочных эффектов</a:t>
            </a:r>
          </a:p>
          <a:p>
            <a:pPr lvl="0"/>
            <a:r>
              <a:rPr lang="ru-RU" dirty="0"/>
              <a:t>Оценка корректной реализации изменений без неблагоприятных побочных эффектов</a:t>
            </a:r>
          </a:p>
          <a:p>
            <a:pPr lvl="0"/>
            <a:r>
              <a:rPr lang="ru-RU" dirty="0"/>
              <a:t>Оценка выполнения требований (нормативных, проектных, договорных)</a:t>
            </a:r>
          </a:p>
          <a:p>
            <a:pPr algn="just"/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9615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FF84B-DC9A-0A73-90CD-C3F9E2A73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8BC989-9B90-4D73-9099-788D6B0B5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Ошибки ПО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7123EE-C0AD-A4B4-2FC0-4A32916CB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/>
              <a:t>Ошибка</a:t>
            </a:r>
          </a:p>
          <a:p>
            <a:pPr algn="just"/>
            <a:endParaRPr lang="ru-RU" dirty="0"/>
          </a:p>
          <a:p>
            <a:pPr algn="just"/>
            <a:r>
              <a:rPr lang="ru-RU" dirty="0"/>
              <a:t>Дефект/баг</a:t>
            </a:r>
          </a:p>
          <a:p>
            <a:pPr marL="0" indent="0" algn="just">
              <a:buNone/>
            </a:pPr>
            <a:endParaRPr lang="ru-RU" dirty="0"/>
          </a:p>
          <a:p>
            <a:pPr algn="just"/>
            <a:r>
              <a:rPr lang="ru-RU" dirty="0"/>
              <a:t>Сбой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7437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06077-6653-314A-1C79-EB4680AA7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8D27DB-4D33-2E05-D88A-DCE6210AB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Источники сбоев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31E597-6829-607A-57F2-1EB4E4E4C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effectLst/>
              </a:rPr>
              <a:t>• Ошибки в требованиях / спецификации (самые дорогие) </a:t>
            </a:r>
          </a:p>
          <a:p>
            <a:pPr marL="0" indent="0">
              <a:buNone/>
            </a:pPr>
            <a:r>
              <a:rPr lang="ru-RU" dirty="0">
                <a:effectLst/>
              </a:rPr>
              <a:t>• Ошибки в дизайне / архитектуре </a:t>
            </a:r>
          </a:p>
          <a:p>
            <a:pPr marL="0" indent="0">
              <a:buNone/>
            </a:pPr>
            <a:r>
              <a:rPr lang="ru-RU" dirty="0">
                <a:effectLst/>
              </a:rPr>
              <a:t>• Ошибки в коде </a:t>
            </a:r>
          </a:p>
          <a:p>
            <a:pPr marL="0" indent="0">
              <a:buNone/>
            </a:pPr>
            <a:r>
              <a:rPr lang="ru-RU" dirty="0">
                <a:effectLst/>
              </a:rPr>
              <a:t>• Неправильное использование пользователем </a:t>
            </a:r>
          </a:p>
          <a:p>
            <a:pPr marL="0" indent="0">
              <a:buNone/>
            </a:pPr>
            <a:r>
              <a:rPr lang="ru-RU" dirty="0">
                <a:effectLst/>
              </a:rPr>
              <a:t>• Внешние факторы </a:t>
            </a:r>
          </a:p>
          <a:p>
            <a:pPr marL="0" indent="0">
              <a:buNone/>
            </a:pPr>
            <a:r>
              <a:rPr lang="ru-RU" dirty="0">
                <a:effectLst/>
              </a:rPr>
              <a:t>• Умышленные действия (взлом)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8655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9C4706-FF1A-3A53-C92F-D59227792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Тестовый дизайн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843CEE-99ED-9707-475D-15472E54C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effectLst/>
              </a:rPr>
              <a:t>Тестовый дизайн - процесс создания тестовых сценариев (тест-кейсов) на основе требований, спецификаций и выбранных техник тестирования.</a:t>
            </a:r>
          </a:p>
          <a:p>
            <a:r>
              <a:rPr lang="ru-RU" dirty="0"/>
              <a:t>Необходим для </a:t>
            </a:r>
            <a:r>
              <a:rPr lang="ru-RU" dirty="0">
                <a:effectLst/>
              </a:rPr>
              <a:t>покрытия максимум важных сценариев минимальным числом тестов </a:t>
            </a:r>
          </a:p>
          <a:p>
            <a:r>
              <a:rPr lang="ru-RU" dirty="0">
                <a:effectLst/>
              </a:rPr>
              <a:t>Чтобы не тестировать всё подряд </a:t>
            </a:r>
          </a:p>
          <a:p>
            <a:r>
              <a:rPr lang="ru-RU" dirty="0">
                <a:effectLst/>
              </a:rPr>
              <a:t>Чтобы системно проверить требования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7120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6E6EC3-F5C9-D3C4-BAA3-1E7A7837D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365125"/>
            <a:ext cx="10374296" cy="664685"/>
          </a:xfrm>
        </p:spPr>
        <p:txBody>
          <a:bodyPr>
            <a:normAutofit fontScale="90000"/>
          </a:bodyPr>
          <a:lstStyle/>
          <a:p>
            <a:r>
              <a:rPr lang="ru-RU" dirty="0"/>
              <a:t>Тест-кейс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23BE0E4F-5A06-6BD6-67E9-22499D623B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1634104"/>
              </p:ext>
            </p:extLst>
          </p:nvPr>
        </p:nvGraphicFramePr>
        <p:xfrm>
          <a:off x="1038687" y="1029810"/>
          <a:ext cx="9237428" cy="54748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9332">
                  <a:extLst>
                    <a:ext uri="{9D8B030D-6E8A-4147-A177-3AD203B41FA5}">
                      <a16:colId xmlns:a16="http://schemas.microsoft.com/office/drawing/2014/main" val="3051574229"/>
                    </a:ext>
                  </a:extLst>
                </a:gridCol>
                <a:gridCol w="3419048">
                  <a:extLst>
                    <a:ext uri="{9D8B030D-6E8A-4147-A177-3AD203B41FA5}">
                      <a16:colId xmlns:a16="http://schemas.microsoft.com/office/drawing/2014/main" val="3488294668"/>
                    </a:ext>
                  </a:extLst>
                </a:gridCol>
                <a:gridCol w="3419048">
                  <a:extLst>
                    <a:ext uri="{9D8B030D-6E8A-4147-A177-3AD203B41FA5}">
                      <a16:colId xmlns:a16="http://schemas.microsoft.com/office/drawing/2014/main" val="206373285"/>
                    </a:ext>
                  </a:extLst>
                </a:gridCol>
              </a:tblGrid>
              <a:tr h="2881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600" b="1" u="none" strike="noStrike" dirty="0">
                          <a:effectLst/>
                        </a:rPr>
                        <a:t>Поле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600" b="1" u="none" strike="noStrike">
                          <a:effectLst/>
                        </a:rPr>
                        <a:t>Что писать?</a:t>
                      </a:r>
                      <a:endParaRPr lang="ru-R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600" b="1" u="none" strike="noStrike" dirty="0">
                          <a:effectLst/>
                        </a:rPr>
                        <a:t>Пример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6505217"/>
                  </a:ext>
                </a:extLst>
              </a:tr>
              <a:tr h="8542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b="1" u="none" strike="noStrike" dirty="0">
                          <a:effectLst/>
                        </a:rPr>
                        <a:t>Идентификатор теста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Уникальный короткий код (V1, BV2, I9, T1 и т.д.)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V1, BV1, I7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7252635"/>
                  </a:ext>
                </a:extLst>
              </a:tr>
              <a:tr h="7982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b="1" u="none" strike="noStrike" dirty="0">
                          <a:effectLst/>
                        </a:rPr>
                        <a:t>Назначение теста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Зачем этот тест нужен (цель, что именно проверяем)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«Проверка скидки 25% для registered + SALE20»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035952"/>
                  </a:ext>
                </a:extLst>
              </a:tr>
              <a:tr h="966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b="1" u="none" strike="noStrike" dirty="0">
                          <a:effectLst/>
                        </a:rPr>
                        <a:t>Значение исходных данных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Конкретные входные параметры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price = 8000, user_type = "registered", promo = "SALE20"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2400238"/>
                  </a:ext>
                </a:extLst>
              </a:tr>
              <a:tr h="5654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b="1" u="none" strike="noStrike" dirty="0">
                          <a:effectLst/>
                        </a:rPr>
                        <a:t>Ожидаемый результат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Что должна выдать программа при корректной работе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«Итоговая цена: 6000.00 руб. (скидка 25.0%)»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290151"/>
                  </a:ext>
                </a:extLst>
              </a:tr>
              <a:tr h="10782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b="1" u="none" strike="noStrike" dirty="0">
                          <a:effectLst/>
                        </a:rPr>
                        <a:t>Реакция программы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Что реально выдала программа при запуске (заполняется после теста)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«Проходит» / «Ошибка: цена вне диапазона» / «Краш»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407345"/>
                  </a:ext>
                </a:extLst>
              </a:tr>
              <a:tr h="924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b="1" u="none" strike="noStrike" dirty="0">
                          <a:effectLst/>
                        </a:rPr>
                        <a:t>Вывод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Итог теста (проходит / не проходит / требует доработки)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«Проходит» / «Обнаружен дефект»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716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0442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3D3E4-75D4-E1C6-9606-6104AB024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85044-FB24-682B-49E3-BF6C85F1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365125"/>
            <a:ext cx="10374296" cy="664685"/>
          </a:xfrm>
        </p:spPr>
        <p:txBody>
          <a:bodyPr>
            <a:normAutofit fontScale="90000"/>
          </a:bodyPr>
          <a:lstStyle/>
          <a:p>
            <a:r>
              <a:rPr lang="ru-RU" dirty="0"/>
              <a:t>Тест-кейс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212B02C-F265-3BFB-FAE3-EFF0A8BBC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1E40DB-DF6E-1C2F-F362-AE2296D19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03" y="1825625"/>
            <a:ext cx="10870329" cy="347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01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99F15E-F518-B84B-A5E4-F31103AA9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черного ящика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8BC103-8D89-9086-F6D8-C1B777421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Видно только внешнее поведение системы</a:t>
            </a:r>
          </a:p>
          <a:p>
            <a:pPr marL="0" indent="0">
              <a:buNone/>
            </a:pPr>
            <a:r>
              <a:rPr lang="ru-RU" dirty="0"/>
              <a:t>Подаем входные данные – смотрим выходные данные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Техники тестирования «черным ящиком» </a:t>
            </a:r>
          </a:p>
          <a:p>
            <a:pPr marL="514350" indent="-514350">
              <a:buAutoNum type="arabicPeriod"/>
            </a:pPr>
            <a:r>
              <a:rPr lang="ru-RU" dirty="0"/>
              <a:t>Эквивалентное разбиение </a:t>
            </a:r>
          </a:p>
          <a:p>
            <a:pPr marL="514350" indent="-514350">
              <a:buAutoNum type="arabicPeriod"/>
            </a:pPr>
            <a:r>
              <a:rPr lang="ru-RU" dirty="0"/>
              <a:t>Анализ граничных значений </a:t>
            </a:r>
          </a:p>
          <a:p>
            <a:pPr marL="514350" indent="-514350">
              <a:buAutoNum type="arabicPeriod"/>
            </a:pPr>
            <a:r>
              <a:rPr lang="ru-RU" dirty="0"/>
              <a:t>Анализ причинно-следственных связей (таблицы переходов)</a:t>
            </a:r>
          </a:p>
        </p:txBody>
      </p:sp>
    </p:spTree>
    <p:extLst>
      <p:ext uri="{BB962C8B-B14F-4D97-AF65-F5344CB8AC3E}">
        <p14:creationId xmlns:p14="http://schemas.microsoft.com/office/powerpoint/2010/main" val="2149797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90CDE-B64E-2797-613D-440A2AEFC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Эквивалентное разбиение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5929BF7-F7F5-01C7-3995-67CAFF40AE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0422329"/>
              </p:ext>
            </p:extLst>
          </p:nvPr>
        </p:nvGraphicFramePr>
        <p:xfrm>
          <a:off x="669525" y="1770780"/>
          <a:ext cx="10515600" cy="2810097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895612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7698414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16333345"/>
                    </a:ext>
                  </a:extLst>
                </a:gridCol>
              </a:tblGrid>
              <a:tr h="1311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/>
                        <a:t>Входные условия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/>
                        <a:t>Правильные классы эквивалентности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Неправильные классы эквивалентности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9982990"/>
                  </a:ext>
                </a:extLst>
              </a:tr>
              <a:tr h="749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Правильные классы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Правильные входные данные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735848"/>
                  </a:ext>
                </a:extLst>
              </a:tr>
              <a:tr h="749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Неправильные классы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Все остальные входные условия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626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618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13C84-0769-7505-90D4-68CB1A4ED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2BAB5D-0F74-D2D2-C095-D9B52E2C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Эквивалентное разбиение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90DEADC7-075D-6052-FD14-4EE10D176D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6664917"/>
              </p:ext>
            </p:extLst>
          </p:nvPr>
        </p:nvGraphicFramePr>
        <p:xfrm>
          <a:off x="838200" y="1482571"/>
          <a:ext cx="10515600" cy="4324781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23927507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701866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46726903"/>
                    </a:ext>
                  </a:extLst>
                </a:gridCol>
              </a:tblGrid>
              <a:tr h="4480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Входное условие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Правильный класс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Неправильные классы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756706"/>
                  </a:ext>
                </a:extLst>
              </a:tr>
              <a:tr h="784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Область значений (например, целые числа от 1 до 999)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Один правильный класс: 1 &lt;= x &lt;= 999 x – целое число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 &lt; 1 x &gt; 999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630807"/>
                  </a:ext>
                </a:extLst>
              </a:tr>
              <a:tr h="784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Число значений (в корзину влезает 7 яблок)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Один правильный класс: числа от 1 до 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Ни одного яблока Больше 7 яблок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861952"/>
                  </a:ext>
                </a:extLst>
              </a:tr>
              <a:tr h="1120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Множество входных значений (на портале могут быть)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Правильный класс для каждого значения: </a:t>
                      </a:r>
                    </a:p>
                    <a:p>
                      <a:pPr>
                        <a:buNone/>
                      </a:pPr>
                      <a:r>
                        <a:rPr lang="ru-RU" dirty="0"/>
                        <a:t>• студент </a:t>
                      </a:r>
                    </a:p>
                    <a:p>
                      <a:pPr>
                        <a:buNone/>
                      </a:pPr>
                      <a:r>
                        <a:rPr lang="ru-RU" dirty="0"/>
                        <a:t>• преподаватель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Один неправильный класс: бухгалтер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138768"/>
                  </a:ext>
                </a:extLst>
              </a:tr>
              <a:tr h="1120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Ситуация «должно быть» (пароль начинается с заглавной буквы)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Один правильный класс: первый символ – заглавная буква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Один неправильный класс: первый символ не заглавная буква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801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8852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C762CE-38A5-9A97-D794-8B8E5D961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Пример. Спецификация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D9B369-5D50-00CD-8DB6-D09930365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>
                <a:effectLst/>
              </a:rPr>
              <a:t>Входные данные:</a:t>
            </a:r>
          </a:p>
          <a:p>
            <a:r>
              <a:rPr lang="en-US" dirty="0"/>
              <a:t>price — </a:t>
            </a:r>
            <a:r>
              <a:rPr lang="ru-RU" dirty="0"/>
              <a:t>цена товара (вещественное число, </a:t>
            </a:r>
            <a:r>
              <a:rPr lang="ru-RU" b="1" dirty="0"/>
              <a:t>1 ≤ </a:t>
            </a:r>
            <a:r>
              <a:rPr lang="en-US" b="1" dirty="0"/>
              <a:t>price ≤ 10000</a:t>
            </a:r>
            <a:r>
              <a:rPr lang="en-US" dirty="0"/>
              <a:t>)</a:t>
            </a:r>
          </a:p>
          <a:p>
            <a:r>
              <a:rPr lang="en-US" dirty="0" err="1"/>
              <a:t>user_type</a:t>
            </a:r>
            <a:r>
              <a:rPr lang="en-US" dirty="0"/>
              <a:t> — </a:t>
            </a:r>
            <a:r>
              <a:rPr lang="ru-RU" dirty="0"/>
              <a:t>тип пользователя (строка): "</a:t>
            </a:r>
            <a:r>
              <a:rPr lang="en-US" dirty="0"/>
              <a:t>guest" </a:t>
            </a:r>
            <a:r>
              <a:rPr lang="ru-RU" dirty="0"/>
              <a:t>или "</a:t>
            </a:r>
            <a:r>
              <a:rPr lang="en-US" dirty="0"/>
              <a:t>registered"</a:t>
            </a:r>
          </a:p>
          <a:p>
            <a:r>
              <a:rPr lang="en-US" dirty="0"/>
              <a:t>promo — </a:t>
            </a:r>
            <a:r>
              <a:rPr lang="ru-RU" dirty="0"/>
              <a:t>промокод (строка): "" (пустой), "</a:t>
            </a:r>
            <a:r>
              <a:rPr lang="en-US" dirty="0"/>
              <a:t>SALE10" </a:t>
            </a:r>
            <a:r>
              <a:rPr lang="ru-RU" dirty="0"/>
              <a:t>или "</a:t>
            </a:r>
            <a:r>
              <a:rPr lang="en-US" dirty="0"/>
              <a:t>SALE20"</a:t>
            </a:r>
          </a:p>
          <a:p>
            <a:pPr marL="0" indent="0">
              <a:buNone/>
            </a:pPr>
            <a:r>
              <a:rPr lang="ru-RU" dirty="0">
                <a:effectLst/>
              </a:rPr>
              <a:t>Правила расчёта:</a:t>
            </a:r>
          </a:p>
          <a:p>
            <a:r>
              <a:rPr lang="ru-RU" dirty="0"/>
              <a:t>Если </a:t>
            </a:r>
            <a:r>
              <a:rPr lang="en-US" dirty="0" err="1"/>
              <a:t>user_type</a:t>
            </a:r>
            <a:r>
              <a:rPr lang="en-US" dirty="0"/>
              <a:t> = "guest" → </a:t>
            </a:r>
            <a:r>
              <a:rPr lang="ru-RU" dirty="0"/>
              <a:t>скидка 0% (промокоды игнорируются)</a:t>
            </a:r>
          </a:p>
          <a:p>
            <a:r>
              <a:rPr lang="ru-RU" dirty="0"/>
              <a:t>Если </a:t>
            </a:r>
            <a:r>
              <a:rPr lang="en-US" dirty="0" err="1"/>
              <a:t>user_type</a:t>
            </a:r>
            <a:r>
              <a:rPr lang="en-US" dirty="0"/>
              <a:t> = "registered" → </a:t>
            </a:r>
            <a:r>
              <a:rPr lang="ru-RU" dirty="0"/>
              <a:t>базовая скидка 5%</a:t>
            </a:r>
          </a:p>
          <a:p>
            <a:r>
              <a:rPr lang="ru-RU" dirty="0"/>
              <a:t>Если </a:t>
            </a:r>
            <a:r>
              <a:rPr lang="en-US" dirty="0"/>
              <a:t>promo = "SALE10" </a:t>
            </a:r>
            <a:r>
              <a:rPr lang="ru-RU" dirty="0"/>
              <a:t>и </a:t>
            </a:r>
            <a:r>
              <a:rPr lang="en-US" dirty="0" err="1"/>
              <a:t>user_type</a:t>
            </a:r>
            <a:r>
              <a:rPr lang="en-US" dirty="0"/>
              <a:t> = "registered" → </a:t>
            </a:r>
            <a:r>
              <a:rPr lang="ru-RU" dirty="0"/>
              <a:t>дополнительно +10%</a:t>
            </a:r>
          </a:p>
          <a:p>
            <a:r>
              <a:rPr lang="ru-RU" dirty="0"/>
              <a:t>Если </a:t>
            </a:r>
            <a:r>
              <a:rPr lang="en-US" dirty="0"/>
              <a:t>promo = "SALE20" </a:t>
            </a:r>
            <a:r>
              <a:rPr lang="ru-RU" dirty="0"/>
              <a:t>и </a:t>
            </a:r>
            <a:r>
              <a:rPr lang="en-US" dirty="0" err="1"/>
              <a:t>user_type</a:t>
            </a:r>
            <a:r>
              <a:rPr lang="en-US" dirty="0"/>
              <a:t> = "registered" → </a:t>
            </a:r>
            <a:r>
              <a:rPr lang="ru-RU" dirty="0"/>
              <a:t>дополнительно +20%</a:t>
            </a:r>
          </a:p>
          <a:p>
            <a:r>
              <a:rPr lang="ru-RU" dirty="0"/>
              <a:t>Скидки </a:t>
            </a:r>
            <a:r>
              <a:rPr lang="ru-RU" b="1" dirty="0"/>
              <a:t>суммируются</a:t>
            </a:r>
            <a:r>
              <a:rPr lang="ru-RU" dirty="0"/>
              <a:t> (не перемножаются)</a:t>
            </a:r>
          </a:p>
          <a:p>
            <a:pPr marL="0" indent="0">
              <a:buNone/>
            </a:pPr>
            <a:r>
              <a:rPr lang="ru-RU" dirty="0">
                <a:effectLst/>
              </a:rPr>
              <a:t>Ожидаемый результат:</a:t>
            </a:r>
          </a:p>
          <a:p>
            <a:r>
              <a:rPr lang="ru-RU" dirty="0"/>
              <a:t>Строка вида: «Итоговая цена: </a:t>
            </a:r>
            <a:r>
              <a:rPr lang="en-US" dirty="0"/>
              <a:t>XXXX.XX </a:t>
            </a:r>
            <a:r>
              <a:rPr lang="ru-RU" dirty="0"/>
              <a:t>руб. (скидка </a:t>
            </a:r>
            <a:r>
              <a:rPr lang="en-US" dirty="0"/>
              <a:t>YY.Y%)»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4396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7D3A2-6503-F561-EB30-E482039DE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04A559-5099-CBBC-813A-E8F99F966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Пример. Ошибки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136CB0-C920-820A-1CAC-3D561D060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Если </a:t>
            </a:r>
            <a:r>
              <a:rPr lang="en-US" dirty="0"/>
              <a:t>price &lt; 1 </a:t>
            </a:r>
            <a:r>
              <a:rPr lang="ru-RU" dirty="0"/>
              <a:t>или </a:t>
            </a:r>
            <a:r>
              <a:rPr lang="en-US" dirty="0"/>
              <a:t>price &gt; 10000 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«</a:t>
            </a:r>
            <a:r>
              <a:rPr lang="ru-RU" dirty="0"/>
              <a:t>Ошибка: цена вне диапазона 1–10000»</a:t>
            </a:r>
          </a:p>
          <a:p>
            <a:r>
              <a:rPr lang="ru-RU" dirty="0"/>
              <a:t>Если </a:t>
            </a:r>
            <a:r>
              <a:rPr lang="en-US" dirty="0" err="1"/>
              <a:t>user_type</a:t>
            </a:r>
            <a:r>
              <a:rPr lang="en-US" dirty="0"/>
              <a:t> </a:t>
            </a:r>
            <a:r>
              <a:rPr lang="ru-RU" dirty="0"/>
              <a:t>не "</a:t>
            </a:r>
            <a:r>
              <a:rPr lang="en-US" dirty="0"/>
              <a:t>guest" </a:t>
            </a:r>
            <a:r>
              <a:rPr lang="ru-RU" dirty="0"/>
              <a:t>и не "</a:t>
            </a:r>
            <a:r>
              <a:rPr lang="en-US" dirty="0"/>
              <a:t>registered" 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«</a:t>
            </a:r>
            <a:r>
              <a:rPr lang="ru-RU" dirty="0"/>
              <a:t>Ошибка: неизвестный тип пользователя»</a:t>
            </a:r>
          </a:p>
          <a:p>
            <a:r>
              <a:rPr lang="ru-RU" dirty="0"/>
              <a:t>Если </a:t>
            </a:r>
            <a:r>
              <a:rPr lang="en-US" dirty="0"/>
              <a:t>promo </a:t>
            </a:r>
            <a:r>
              <a:rPr lang="ru-RU" dirty="0"/>
              <a:t>не "", не "</a:t>
            </a:r>
            <a:r>
              <a:rPr lang="en-US" dirty="0"/>
              <a:t>SALE10" </a:t>
            </a:r>
            <a:r>
              <a:rPr lang="ru-RU" dirty="0"/>
              <a:t>и не "</a:t>
            </a:r>
            <a:r>
              <a:rPr lang="en-US" dirty="0"/>
              <a:t>SALE20" 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«</a:t>
            </a:r>
            <a:r>
              <a:rPr lang="ru-RU" dirty="0"/>
              <a:t>Ошибка: неверный промокод»</a:t>
            </a:r>
          </a:p>
          <a:p>
            <a:r>
              <a:rPr lang="ru-RU" dirty="0"/>
              <a:t>Если </a:t>
            </a:r>
            <a:r>
              <a:rPr lang="en-US" dirty="0"/>
              <a:t>price </a:t>
            </a:r>
            <a:r>
              <a:rPr lang="ru-RU" dirty="0"/>
              <a:t>не число </a:t>
            </a:r>
          </a:p>
          <a:p>
            <a:pPr marL="0" indent="0">
              <a:buNone/>
            </a:pPr>
            <a:r>
              <a:rPr lang="ru-RU" dirty="0"/>
              <a:t> «Ошибка: цена должна быть числом»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7810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554D0-2775-9F96-03C6-274F8FC2E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Классы эквивалентности. Правильные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63412AE-4C4B-27F3-C102-4D21583507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4810926"/>
              </p:ext>
            </p:extLst>
          </p:nvPr>
        </p:nvGraphicFramePr>
        <p:xfrm>
          <a:off x="1197428" y="1690687"/>
          <a:ext cx="10156371" cy="43617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2767">
                  <a:extLst>
                    <a:ext uri="{9D8B030D-6E8A-4147-A177-3AD203B41FA5}">
                      <a16:colId xmlns:a16="http://schemas.microsoft.com/office/drawing/2014/main" val="169704011"/>
                    </a:ext>
                  </a:extLst>
                </a:gridCol>
                <a:gridCol w="1681054">
                  <a:extLst>
                    <a:ext uri="{9D8B030D-6E8A-4147-A177-3AD203B41FA5}">
                      <a16:colId xmlns:a16="http://schemas.microsoft.com/office/drawing/2014/main" val="939982186"/>
                    </a:ext>
                  </a:extLst>
                </a:gridCol>
                <a:gridCol w="2887965">
                  <a:extLst>
                    <a:ext uri="{9D8B030D-6E8A-4147-A177-3AD203B41FA5}">
                      <a16:colId xmlns:a16="http://schemas.microsoft.com/office/drawing/2014/main" val="2601722971"/>
                    </a:ext>
                  </a:extLst>
                </a:gridCol>
                <a:gridCol w="2284510">
                  <a:extLst>
                    <a:ext uri="{9D8B030D-6E8A-4147-A177-3AD203B41FA5}">
                      <a16:colId xmlns:a16="http://schemas.microsoft.com/office/drawing/2014/main" val="312736657"/>
                    </a:ext>
                  </a:extLst>
                </a:gridCol>
                <a:gridCol w="2570075">
                  <a:extLst>
                    <a:ext uri="{9D8B030D-6E8A-4147-A177-3AD203B41FA5}">
                      <a16:colId xmlns:a16="http://schemas.microsoft.com/office/drawing/2014/main" val="601457132"/>
                    </a:ext>
                  </a:extLst>
                </a:gridCol>
              </a:tblGrid>
              <a:tr h="6231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600" b="1" u="none" strike="noStrike">
                          <a:effectLst/>
                        </a:rPr>
                        <a:t>№</a:t>
                      </a:r>
                      <a:endParaRPr lang="ru-R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600" b="1" u="none" strike="noStrike" dirty="0">
                          <a:effectLst/>
                        </a:rPr>
                        <a:t>Тип класса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600" b="1" u="none" strike="noStrike">
                          <a:effectLst/>
                        </a:rPr>
                        <a:t>Описание</a:t>
                      </a:r>
                      <a:endParaRPr lang="ru-R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600" b="1" u="none" strike="noStrike">
                          <a:effectLst/>
                        </a:rPr>
                        <a:t>Примеры значений</a:t>
                      </a:r>
                      <a:endParaRPr lang="ru-R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600" b="1" u="none" strike="noStrike" dirty="0">
                          <a:effectLst/>
                        </a:rPr>
                        <a:t>Примечание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183187"/>
                  </a:ext>
                </a:extLst>
              </a:tr>
              <a:tr h="62311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1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Правильный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1.00 ≤ price ≤ 10000.00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1.00, 5000.0, 10000.00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Цена в диапазоне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1044382"/>
                  </a:ext>
                </a:extLst>
              </a:tr>
              <a:tr h="62311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2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Правильный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 err="1">
                          <a:effectLst/>
                        </a:rPr>
                        <a:t>user_type</a:t>
                      </a:r>
                      <a:r>
                        <a:rPr lang="en-US" sz="1600" u="none" strike="noStrike" dirty="0">
                          <a:effectLst/>
                        </a:rPr>
                        <a:t> = "guest"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guest, GUEST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Гость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7268950"/>
                  </a:ext>
                </a:extLst>
              </a:tr>
              <a:tr h="62311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3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Правильный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user_type = "registered"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registered, REGISTERED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Зарегистрированный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478912"/>
                  </a:ext>
                </a:extLst>
              </a:tr>
              <a:tr h="62311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4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Правильный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promo = ""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"", " "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Без промокода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5227168"/>
                  </a:ext>
                </a:extLst>
              </a:tr>
              <a:tr h="62311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5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Правильный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promo = "SALE10"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SALE10, sale10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Промо +10%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677565"/>
                  </a:ext>
                </a:extLst>
              </a:tr>
              <a:tr h="62311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6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Правильный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promo = "SALE20"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SALE20, sale20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Промо +20%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0121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6699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32A7E-A73A-1984-5F61-062C93196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0DF4AD-43B0-594E-99A7-12EF98D58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Классы эквивалентности. Неправильные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FD37491C-956D-532E-658C-E1CFF81834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2860931"/>
              </p:ext>
            </p:extLst>
          </p:nvPr>
        </p:nvGraphicFramePr>
        <p:xfrm>
          <a:off x="1376039" y="2263806"/>
          <a:ext cx="9499107" cy="26366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347">
                  <a:extLst>
                    <a:ext uri="{9D8B030D-6E8A-4147-A177-3AD203B41FA5}">
                      <a16:colId xmlns:a16="http://schemas.microsoft.com/office/drawing/2014/main" val="898223841"/>
                    </a:ext>
                  </a:extLst>
                </a:gridCol>
                <a:gridCol w="1572266">
                  <a:extLst>
                    <a:ext uri="{9D8B030D-6E8A-4147-A177-3AD203B41FA5}">
                      <a16:colId xmlns:a16="http://schemas.microsoft.com/office/drawing/2014/main" val="616572335"/>
                    </a:ext>
                  </a:extLst>
                </a:gridCol>
                <a:gridCol w="2701072">
                  <a:extLst>
                    <a:ext uri="{9D8B030D-6E8A-4147-A177-3AD203B41FA5}">
                      <a16:colId xmlns:a16="http://schemas.microsoft.com/office/drawing/2014/main" val="786286635"/>
                    </a:ext>
                  </a:extLst>
                </a:gridCol>
                <a:gridCol w="2136669">
                  <a:extLst>
                    <a:ext uri="{9D8B030D-6E8A-4147-A177-3AD203B41FA5}">
                      <a16:colId xmlns:a16="http://schemas.microsoft.com/office/drawing/2014/main" val="646855409"/>
                    </a:ext>
                  </a:extLst>
                </a:gridCol>
                <a:gridCol w="2403753">
                  <a:extLst>
                    <a:ext uri="{9D8B030D-6E8A-4147-A177-3AD203B41FA5}">
                      <a16:colId xmlns:a16="http://schemas.microsoft.com/office/drawing/2014/main" val="542206641"/>
                    </a:ext>
                  </a:extLst>
                </a:gridCol>
              </a:tblGrid>
              <a:tr h="87888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800" u="none" strike="noStrike" dirty="0">
                          <a:effectLst/>
                        </a:rPr>
                        <a:t>7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800" u="none" strike="noStrike" dirty="0">
                          <a:effectLst/>
                        </a:rPr>
                        <a:t>Неправильный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price &lt; 1.00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800" u="none" strike="noStrike">
                          <a:effectLst/>
                        </a:rPr>
                        <a:t>0.99, 0.0, -5.0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800" u="none" strike="noStrike">
                          <a:effectLst/>
                        </a:rPr>
                        <a:t>Ниже диапазона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7975796"/>
                  </a:ext>
                </a:extLst>
              </a:tr>
              <a:tr h="87888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800" u="none" strike="noStrike">
                          <a:effectLst/>
                        </a:rPr>
                        <a:t>8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800" u="none" strike="noStrike">
                          <a:effectLst/>
                        </a:rPr>
                        <a:t>Неправильный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price &gt; 10000.00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800" u="none" strike="noStrike" dirty="0">
                          <a:effectLst/>
                        </a:rPr>
                        <a:t>10000.01, 15000.0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800" u="none" strike="noStrike">
                          <a:effectLst/>
                        </a:rPr>
                        <a:t>Выше диапазона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7878006"/>
                  </a:ext>
                </a:extLst>
              </a:tr>
              <a:tr h="87888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800" u="none" strike="noStrike">
                          <a:effectLst/>
                        </a:rPr>
                        <a:t>9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800" u="none" strike="noStrike">
                          <a:effectLst/>
                        </a:rPr>
                        <a:t>Неправильный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price — </a:t>
                      </a:r>
                      <a:r>
                        <a:rPr lang="ru-RU" sz="1800" u="none" strike="noStrike">
                          <a:effectLst/>
                        </a:rPr>
                        <a:t>не число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"abc", "", "</a:t>
                      </a:r>
                      <a:r>
                        <a:rPr lang="ru-RU" sz="1800" u="none" strike="noStrike">
                          <a:effectLst/>
                        </a:rPr>
                        <a:t>двадцать"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800" u="none" strike="noStrike" dirty="0">
                          <a:effectLst/>
                        </a:rPr>
                        <a:t>Некорректный тип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687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5672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0F817-64D7-D422-D0D9-BCC44A8F7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5D4BEA-8F12-3DC1-F0D1-3E186A73E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Тест-кейс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A325A8AB-C516-A256-8A50-CCF6BACD96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9762067"/>
              </p:ext>
            </p:extLst>
          </p:nvPr>
        </p:nvGraphicFramePr>
        <p:xfrm>
          <a:off x="1589103" y="1447060"/>
          <a:ext cx="8930936" cy="47563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4355">
                  <a:extLst>
                    <a:ext uri="{9D8B030D-6E8A-4147-A177-3AD203B41FA5}">
                      <a16:colId xmlns:a16="http://schemas.microsoft.com/office/drawing/2014/main" val="824062141"/>
                    </a:ext>
                  </a:extLst>
                </a:gridCol>
                <a:gridCol w="1903536">
                  <a:extLst>
                    <a:ext uri="{9D8B030D-6E8A-4147-A177-3AD203B41FA5}">
                      <a16:colId xmlns:a16="http://schemas.microsoft.com/office/drawing/2014/main" val="60165698"/>
                    </a:ext>
                  </a:extLst>
                </a:gridCol>
                <a:gridCol w="2114199">
                  <a:extLst>
                    <a:ext uri="{9D8B030D-6E8A-4147-A177-3AD203B41FA5}">
                      <a16:colId xmlns:a16="http://schemas.microsoft.com/office/drawing/2014/main" val="758458428"/>
                    </a:ext>
                  </a:extLst>
                </a:gridCol>
                <a:gridCol w="2679743">
                  <a:extLst>
                    <a:ext uri="{9D8B030D-6E8A-4147-A177-3AD203B41FA5}">
                      <a16:colId xmlns:a16="http://schemas.microsoft.com/office/drawing/2014/main" val="3051724822"/>
                    </a:ext>
                  </a:extLst>
                </a:gridCol>
                <a:gridCol w="1589103">
                  <a:extLst>
                    <a:ext uri="{9D8B030D-6E8A-4147-A177-3AD203B41FA5}">
                      <a16:colId xmlns:a16="http://schemas.microsoft.com/office/drawing/2014/main" val="3718486358"/>
                    </a:ext>
                  </a:extLst>
                </a:gridCol>
              </a:tblGrid>
              <a:tr h="7499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Назначение теста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Исходные данные</a:t>
                      </a:r>
                      <a:endParaRPr lang="ru-R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Ожидаемый результат</a:t>
                      </a:r>
                      <a:endParaRPr lang="ru-R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Покрытые классы</a:t>
                      </a:r>
                      <a:endParaRPr lang="ru-R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915442"/>
                  </a:ext>
                </a:extLst>
              </a:tr>
              <a:tr h="4999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V1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registered + SALE20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8000, registered, SALE20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6000.00 (25%)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1, 3, 6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290840"/>
                  </a:ext>
                </a:extLst>
              </a:tr>
              <a:tr h="2499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V2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guest + SALE10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4000, guest, SALE10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4000.00 (0%)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2, 5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4654040"/>
                  </a:ext>
                </a:extLst>
              </a:tr>
              <a:tr h="2499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V3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registered + ""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2500, registered, ""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2375.00 (5%)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4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843407"/>
                  </a:ext>
                </a:extLst>
              </a:tr>
              <a:tr h="4999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Цена ниже 1.00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0.50, registered, ""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Ошибка: цена вне диапазона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7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835222"/>
                  </a:ext>
                </a:extLst>
              </a:tr>
              <a:tr h="4999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Цена выше 10000.00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15000, registered, ""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Ошибка: цена вне диапазона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8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9516518"/>
                  </a:ext>
                </a:extLst>
              </a:tr>
              <a:tr h="7499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Цена — не число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"abc", registered, ""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Ошибка: цена должна быть числом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9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1112190"/>
                  </a:ext>
                </a:extLst>
              </a:tr>
              <a:tr h="7499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Неизвестный </a:t>
                      </a:r>
                      <a:r>
                        <a:rPr lang="en-US" sz="1600" u="none" strike="noStrike">
                          <a:effectLst/>
                        </a:rPr>
                        <a:t>user_type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5000, "admin", ""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Ошибка: неизвестный тип пользователя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10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6427084"/>
                  </a:ext>
                </a:extLst>
              </a:tr>
              <a:tr h="4999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I11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Неизвестный промокод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5000, registered, "FLASH"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Ошибка: неверный промокод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11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5742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9602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771D0-F8A2-A209-4EAF-2454F96B5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АГС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12A81A-E975-6401-383D-E3E1A9392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Проверяются только края классов эквивалентности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Для каждой границы три точки – на границе, чуть меньше границы, чуть больше границы</a:t>
            </a:r>
          </a:p>
        </p:txBody>
      </p:sp>
    </p:spTree>
    <p:extLst>
      <p:ext uri="{BB962C8B-B14F-4D97-AF65-F5344CB8AC3E}">
        <p14:creationId xmlns:p14="http://schemas.microsoft.com/office/powerpoint/2010/main" val="3950810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45BED-CFCC-AAA9-2550-F6FE34EED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CCDF7-9A5E-0BAE-ABDD-06F099EAC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АГС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C817EC-3F82-6F05-D8AB-F774BBF9B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Физическая граница</a:t>
            </a:r>
            <a:r>
              <a:rPr lang="ru-RU" dirty="0"/>
              <a:t> Физически невозможно преодолеть Пример: вес ≥ 0 кг </a:t>
            </a:r>
          </a:p>
          <a:p>
            <a:r>
              <a:rPr lang="ru-RU" b="1" dirty="0"/>
              <a:t>Логическая граница</a:t>
            </a:r>
            <a:r>
              <a:rPr lang="ru-RU" dirty="0"/>
              <a:t> Ограничение по логике / здравому смыслу Примеры: возраст 0 - 120 лет, минуты 0–59, в сутках 24 часа</a:t>
            </a:r>
          </a:p>
          <a:p>
            <a:r>
              <a:rPr lang="ru-RU" b="1" dirty="0"/>
              <a:t>Технологическая граница</a:t>
            </a:r>
            <a:r>
              <a:rPr lang="ru-RU" dirty="0"/>
              <a:t> Ограничение из-за типа данных /БД </a:t>
            </a:r>
          </a:p>
          <a:p>
            <a:pPr marL="0" indent="0">
              <a:buNone/>
            </a:pPr>
            <a:r>
              <a:rPr lang="ru-RU" dirty="0"/>
              <a:t> Пример: </a:t>
            </a:r>
            <a:r>
              <a:rPr lang="ru-RU" dirty="0" err="1"/>
              <a:t>varchar</a:t>
            </a:r>
            <a:r>
              <a:rPr lang="ru-RU" dirty="0"/>
              <a:t>(255) – больше  255 символов</a:t>
            </a:r>
          </a:p>
          <a:p>
            <a:r>
              <a:rPr lang="ru-RU" b="1" dirty="0"/>
              <a:t>Произвольная граница</a:t>
            </a:r>
            <a:r>
              <a:rPr lang="ru-RU" dirty="0"/>
              <a:t> Придумана бизнесом /разработчиком Примеры: в корзину не более 100 товаров, цена 1–10000 руб., возраст для прав </a:t>
            </a:r>
            <a:r>
              <a:rPr lang="ru-RU"/>
              <a:t>≥18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7180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5C3222-9B5E-7D60-3733-B328B6BCC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AA15D63-49AC-F68C-F5DE-174463391A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10018"/>
            <a:ext cx="11148780" cy="270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5267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79152F-7E4C-A582-6A98-74FDFE2AC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5E24E6-73DD-EFB2-EAF1-24339545F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3381F57-4752-FB36-E8DA-C041F4BE6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416980" cy="222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6877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C19321-BF85-D274-76C4-4CC483040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причинно-следственных связей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48D9B6-8962-731E-2807-2C6D0E80F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Создаем комбинации условий: причины -</a:t>
            </a:r>
            <a:r>
              <a:rPr lang="en-US" dirty="0"/>
              <a:t>&gt;</a:t>
            </a:r>
            <a:r>
              <a:rPr lang="ru-RU" dirty="0"/>
              <a:t> следствия</a:t>
            </a:r>
            <a:endParaRPr lang="en-US" dirty="0"/>
          </a:p>
          <a:p>
            <a:r>
              <a:rPr lang="ru-RU" dirty="0"/>
              <a:t>Строим таблицу решений</a:t>
            </a:r>
            <a:endParaRPr lang="en-US" dirty="0"/>
          </a:p>
          <a:p>
            <a:r>
              <a:rPr lang="ru-RU" dirty="0"/>
              <a:t>Упрощаем таблицу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87312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D425D-3FA0-5599-2637-EBE33333C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AD0B34-F28A-28A1-0D80-BABB9F3E5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причинно-следственных связей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8E35F3-E720-E60C-DF5C-F22723928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Выделить причины (условия) из спецификации</a:t>
            </a:r>
          </a:p>
          <a:p>
            <a:r>
              <a:rPr lang="ru-RU" dirty="0"/>
              <a:t>Выделить следствия (результаты, ошибки)</a:t>
            </a:r>
          </a:p>
          <a:p>
            <a:r>
              <a:rPr lang="ru-RU" dirty="0"/>
              <a:t>Построить полную таблицу (2^n комбинаций, Y/N для причин)</a:t>
            </a:r>
          </a:p>
          <a:p>
            <a:r>
              <a:rPr lang="ru-RU" dirty="0"/>
              <a:t>Упростить таблицу (удалить невозможные комбинации)</a:t>
            </a:r>
          </a:p>
          <a:p>
            <a:r>
              <a:rPr lang="ru-RU" dirty="0"/>
              <a:t>Проверить тесты</a:t>
            </a:r>
          </a:p>
        </p:txBody>
      </p:sp>
    </p:spTree>
    <p:extLst>
      <p:ext uri="{BB962C8B-B14F-4D97-AF65-F5344CB8AC3E}">
        <p14:creationId xmlns:p14="http://schemas.microsoft.com/office/powerpoint/2010/main" val="28288653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7945A-60B6-B6EF-E363-3A5526950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8FC948-FD6D-8091-805B-ED8B8705C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причинно-следственных связей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6ED40D-8ECD-72E6-08A2-C0B49A618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Программа: Допуск к игре</a:t>
            </a:r>
          </a:p>
          <a:p>
            <a:pPr marL="0" indent="0">
              <a:buNone/>
            </a:pPr>
            <a:r>
              <a:rPr lang="ru-RU" dirty="0"/>
              <a:t>C1 - возраст ≥18? (Y/N) </a:t>
            </a:r>
          </a:p>
          <a:p>
            <a:pPr marL="0" indent="0">
              <a:buNone/>
            </a:pPr>
            <a:r>
              <a:rPr lang="ru-RU" dirty="0"/>
              <a:t>C2 - оплата произведена? (Y/N)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2145554-8F22-5E32-0E49-CC1C133B7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34" y="3428999"/>
            <a:ext cx="10682943" cy="221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3013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6D479-5021-B30C-9BB8-9530E3E6A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DF09E-2DD3-35EC-AD3B-3A4EDD79D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причинно-следственных связей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CA265C-8A22-C66A-EECB-0187DB20E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4150881-821E-4B78-0613-307029ABC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971" y="1690688"/>
            <a:ext cx="8799700" cy="440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2556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4B5B7-1DB4-59F1-606C-E47C12E96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8D1094-C9A3-D4FE-5FB2-A0F31E955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причинно-следственных связей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41411D-18A1-CC02-4E3E-0D01F8334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Программа: Регистрация</a:t>
            </a:r>
          </a:p>
          <a:p>
            <a:pPr marL="0" indent="0">
              <a:buNone/>
            </a:pPr>
            <a:r>
              <a:rPr lang="ru-RU" dirty="0"/>
              <a:t>C1 - возраст ≥18? (Y/N) </a:t>
            </a:r>
          </a:p>
          <a:p>
            <a:pPr marL="0" indent="0">
              <a:buNone/>
            </a:pPr>
            <a:r>
              <a:rPr lang="ru-RU" dirty="0"/>
              <a:t>C2 - цифра в пароле? (Y/N)</a:t>
            </a:r>
          </a:p>
          <a:p>
            <a:pPr marL="0" indent="0">
              <a:buNone/>
            </a:pPr>
            <a:r>
              <a:rPr lang="ru-RU" dirty="0"/>
              <a:t>С3 </a:t>
            </a:r>
            <a:r>
              <a:rPr lang="en-US" dirty="0"/>
              <a:t>-</a:t>
            </a:r>
            <a:r>
              <a:rPr lang="ru-RU" dirty="0"/>
              <a:t> </a:t>
            </a:r>
            <a:r>
              <a:rPr lang="en-US" dirty="0"/>
              <a:t>email </a:t>
            </a:r>
            <a:r>
              <a:rPr lang="ru-RU" dirty="0"/>
              <a:t>подтвержден? (Y/N)</a:t>
            </a:r>
          </a:p>
          <a:p>
            <a:pPr marL="0" indent="0">
              <a:buNone/>
            </a:pPr>
            <a:r>
              <a:rPr lang="ru-RU" dirty="0"/>
              <a:t> </a:t>
            </a:r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6AE421F-31B8-6123-07FB-032B948D3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43242"/>
            <a:ext cx="11254582" cy="264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1240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02E61-E7EC-B2D1-3451-3CB12C715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8158DA-4259-9D4D-79E0-7B6223AAA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причинно-следственных связей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35BA705-5B56-135B-C90D-B177032C10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41970"/>
            <a:ext cx="10820193" cy="424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072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1558</Words>
  <Application>Microsoft Office PowerPoint</Application>
  <PresentationFormat>Широкоэкранный</PresentationFormat>
  <Paragraphs>308</Paragraphs>
  <Slides>31</Slides>
  <Notes>28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Тема Office</vt:lpstr>
      <vt:lpstr>Тестирование ПО</vt:lpstr>
      <vt:lpstr>Основные определения</vt:lpstr>
      <vt:lpstr>Основные определения</vt:lpstr>
      <vt:lpstr>Модель качества ПО (ISO/IEC 25010:2023) </vt:lpstr>
      <vt:lpstr>Модель качества ПО (ISO/IEC 25010:2023) </vt:lpstr>
      <vt:lpstr>Модель качества ПО (ISO/IEC 25010:2023) </vt:lpstr>
      <vt:lpstr>Модель качества ПО (ISO/IEC 25010:2023) </vt:lpstr>
      <vt:lpstr>Цели тестирования</vt:lpstr>
      <vt:lpstr>Ошибки ПО</vt:lpstr>
      <vt:lpstr>Источники сбоев</vt:lpstr>
      <vt:lpstr>Тестовый дизайн</vt:lpstr>
      <vt:lpstr>Тест-кейс</vt:lpstr>
      <vt:lpstr>Тест-кейс</vt:lpstr>
      <vt:lpstr>Метод черного ящика</vt:lpstr>
      <vt:lpstr>Эквивалентное разбиение</vt:lpstr>
      <vt:lpstr>Эквивалентное разбиение</vt:lpstr>
      <vt:lpstr>Пример. Спецификация</vt:lpstr>
      <vt:lpstr>Пример. Ошибки</vt:lpstr>
      <vt:lpstr>Классы эквивалентности. Правильные</vt:lpstr>
      <vt:lpstr>Классы эквивалентности. Неправильные</vt:lpstr>
      <vt:lpstr>Тест-кейс</vt:lpstr>
      <vt:lpstr>АГС</vt:lpstr>
      <vt:lpstr>АГС</vt:lpstr>
      <vt:lpstr>Презентация PowerPoint</vt:lpstr>
      <vt:lpstr>Презентация PowerPoint</vt:lpstr>
      <vt:lpstr>Анализ причинно-следственных связей</vt:lpstr>
      <vt:lpstr>Анализ причинно-следственных связей</vt:lpstr>
      <vt:lpstr>Анализ причинно-следственных связей</vt:lpstr>
      <vt:lpstr>Анализ причинно-следственных связей</vt:lpstr>
      <vt:lpstr>Анализ причинно-следственных связей</vt:lpstr>
      <vt:lpstr>Анализ причинно-следственных связей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Ekaterina V</dc:creator>
  <cp:lastModifiedBy>Ekaterina V</cp:lastModifiedBy>
  <cp:revision>3</cp:revision>
  <dcterms:created xsi:type="dcterms:W3CDTF">2026-02-24T07:18:08Z</dcterms:created>
  <dcterms:modified xsi:type="dcterms:W3CDTF">2026-03-10T09:21:05Z</dcterms:modified>
</cp:coreProperties>
</file>