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88" r:id="rId1"/>
  </p:sldMasterIdLst>
  <p:notesMasterIdLst>
    <p:notesMasterId r:id="rId50"/>
  </p:notesMasterIdLst>
  <p:sldIdLst>
    <p:sldId id="256" r:id="rId2"/>
    <p:sldId id="399" r:id="rId3"/>
    <p:sldId id="421" r:id="rId4"/>
    <p:sldId id="429" r:id="rId5"/>
    <p:sldId id="509" r:id="rId6"/>
    <p:sldId id="511" r:id="rId7"/>
    <p:sldId id="420" r:id="rId8"/>
    <p:sldId id="510" r:id="rId9"/>
    <p:sldId id="401" r:id="rId10"/>
    <p:sldId id="538" r:id="rId11"/>
    <p:sldId id="539" r:id="rId12"/>
    <p:sldId id="540" r:id="rId13"/>
    <p:sldId id="541" r:id="rId14"/>
    <p:sldId id="542" r:id="rId15"/>
    <p:sldId id="543" r:id="rId16"/>
    <p:sldId id="513" r:id="rId17"/>
    <p:sldId id="506" r:id="rId18"/>
    <p:sldId id="507" r:id="rId19"/>
    <p:sldId id="544" r:id="rId20"/>
    <p:sldId id="546" r:id="rId21"/>
    <p:sldId id="439" r:id="rId22"/>
    <p:sldId id="545" r:id="rId23"/>
    <p:sldId id="512" r:id="rId24"/>
    <p:sldId id="515" r:id="rId25"/>
    <p:sldId id="517" r:id="rId26"/>
    <p:sldId id="518" r:id="rId27"/>
    <p:sldId id="519" r:id="rId28"/>
    <p:sldId id="514" r:id="rId29"/>
    <p:sldId id="529" r:id="rId30"/>
    <p:sldId id="532" r:id="rId31"/>
    <p:sldId id="531" r:id="rId32"/>
    <p:sldId id="530" r:id="rId33"/>
    <p:sldId id="528" r:id="rId34"/>
    <p:sldId id="520" r:id="rId35"/>
    <p:sldId id="521" r:id="rId36"/>
    <p:sldId id="533" r:id="rId37"/>
    <p:sldId id="405" r:id="rId38"/>
    <p:sldId id="536" r:id="rId39"/>
    <p:sldId id="522" r:id="rId40"/>
    <p:sldId id="523" r:id="rId41"/>
    <p:sldId id="524" r:id="rId42"/>
    <p:sldId id="534" r:id="rId43"/>
    <p:sldId id="407" r:id="rId44"/>
    <p:sldId id="537" r:id="rId45"/>
    <p:sldId id="525" r:id="rId46"/>
    <p:sldId id="526" r:id="rId47"/>
    <p:sldId id="527" r:id="rId48"/>
    <p:sldId id="300" r:id="rId4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6" autoAdjust="0"/>
    <p:restoredTop sz="94652" autoAdjust="0"/>
  </p:normalViewPr>
  <p:slideViewPr>
    <p:cSldViewPr>
      <p:cViewPr varScale="1">
        <p:scale>
          <a:sx n="85" d="100"/>
          <a:sy n="85" d="100"/>
        </p:scale>
        <p:origin x="-73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704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79EBB6-9F3F-428A-8ADC-59A3E7EA496F}" type="datetimeFigureOut">
              <a:rPr lang="ru-RU" smtClean="0"/>
              <a:pPr/>
              <a:t>16.10.2025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33CF62-B1CD-4979-B168-490C6FC125C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8417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3CF62-B1CD-4979-B168-490C6FC125CA}" type="slidenum">
              <a:rPr lang="ru-RU" smtClean="0"/>
              <a:pPr/>
              <a:t>29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3CF62-B1CD-4979-B168-490C6FC125CA}" type="slidenum">
              <a:rPr lang="ru-RU" smtClean="0"/>
              <a:pPr/>
              <a:t>30</a:t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3CF62-B1CD-4979-B168-490C6FC125CA}" type="slidenum">
              <a:rPr lang="ru-RU" smtClean="0"/>
              <a:pPr/>
              <a:t>31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3CF62-B1CD-4979-B168-490C6FC125CA}" type="slidenum">
              <a:rPr lang="ru-RU" smtClean="0"/>
              <a:pPr/>
              <a:t>32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ый треугольник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grpSp>
        <p:nvGrpSpPr>
          <p:cNvPr id="2" name="Группа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Полилиния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Полилиния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Полилиния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Прямая соединительная линия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4E9F66B7-0ED7-4FE7-BE05-D223491A50A1}" type="datetime1">
              <a:rPr lang="ru-RU" smtClean="0"/>
              <a:pPr/>
              <a:t>16.10.2025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BF5D9-4AA4-4C09-9DDB-303A09193B8E}" type="datetime1">
              <a:rPr lang="ru-RU" smtClean="0"/>
              <a:pPr/>
              <a:t>16.10.2025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F000A-7D59-434E-AC61-119968F2B181}" type="datetime1">
              <a:rPr lang="ru-RU" smtClean="0"/>
              <a:pPr/>
              <a:t>16.10.2025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Нашивка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Нашивка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64F22-7D92-426D-8147-B259567C005D}" type="datetime1">
              <a:rPr lang="ru-RU" smtClean="0"/>
              <a:pPr/>
              <a:t>16.10.2025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7006A-42FB-4BC3-8D0B-713D278FD97D}" type="datetime1">
              <a:rPr lang="ru-RU" smtClean="0"/>
              <a:pPr/>
              <a:t>16.10.2025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FC4BB-C5DC-4A55-BF0D-F172948F6FC2}" type="datetime1">
              <a:rPr lang="ru-RU" smtClean="0"/>
              <a:pPr/>
              <a:t>16.10.2025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858C2-66E3-4491-95E8-5725A7BF1DCF}" type="datetime1">
              <a:rPr lang="ru-RU" smtClean="0"/>
              <a:pPr/>
              <a:t>16.10.2025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9F5AACCE-C039-4A73-A245-28F9A6C03767}" type="datetime1">
              <a:rPr lang="ru-RU" smtClean="0"/>
              <a:pPr/>
              <a:t>16.10.2025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/>
              <a:t>Вставка рисунка</a:t>
            </a:r>
            <a:endParaRPr kumimoji="0"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8ECB7764-95B9-4A00-A493-B2AD17D5CC58}" type="datetime1">
              <a:rPr lang="ru-RU" smtClean="0"/>
              <a:pPr/>
              <a:t>16.10.2025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Прямоугольный треугольник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Нашивка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Нашивка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76A5B-76D6-43F4-92BC-16DA687A9C7B}" type="datetime1">
              <a:rPr lang="ru-RU" smtClean="0"/>
              <a:pPr/>
              <a:t>16.10.2025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88BDA-C263-49AF-85CF-10CFC68679A3}" type="datetime1">
              <a:rPr lang="ru-RU" smtClean="0"/>
              <a:pPr/>
              <a:t>16.10.2025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Полилиния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Прямоугольный треугольник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F7CC6EA0-FA36-4025-95B0-95641559ED04}" type="datetime1">
              <a:rPr lang="ru-RU" smtClean="0"/>
              <a:pPr/>
              <a:t>16.10.2025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db-engines.com/en/ranking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nterprisedb.com/" TargetMode="External"/><Relationship Id="rId2" Type="http://schemas.openxmlformats.org/officeDocument/2006/relationships/hyperlink" Target="https://ru.wikibrief.org/wiki/PostgreSQ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postgrespro.ru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platformv.sbertech.ru/products/rabota-s-dannymi/pangolin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www.postgresql.org/download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postgrespro.ru/windows#license" TargetMode="External"/><Relationship Id="rId2" Type="http://schemas.openxmlformats.org/officeDocument/2006/relationships/hyperlink" Target="https://postgrespro.ru/window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 descr="фон ИМ-2.jpg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7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80975" y="0"/>
            <a:ext cx="9224976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71600" y="836712"/>
            <a:ext cx="7772400" cy="1008110"/>
          </a:xfrm>
        </p:spPr>
        <p:txBody>
          <a:bodyPr>
            <a:normAutofit fontScale="90000"/>
          </a:bodyPr>
          <a:lstStyle/>
          <a:p>
            <a:pPr algn="ctr"/>
            <a:r>
              <a:rPr lang="ru-RU">
                <a:solidFill>
                  <a:schemeClr val="bg1"/>
                </a:solidFill>
              </a:rPr>
              <a:t/>
            </a:r>
            <a:br>
              <a:rPr lang="ru-RU">
                <a:solidFill>
                  <a:schemeClr val="bg1"/>
                </a:solidFill>
              </a:rPr>
            </a:br>
            <a:endParaRPr lang="ru-RU">
              <a:solidFill>
                <a:srgbClr val="FFFF00"/>
              </a:solidFill>
            </a:endParaRPr>
          </a:p>
        </p:txBody>
      </p:sp>
      <p:pic>
        <p:nvPicPr>
          <p:cNvPr id="6" name="Рисунок 5" descr="Логотип АСОИиУ-2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2002038" cy="1758614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7216869" y="6488668"/>
            <a:ext cx="19271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ru-RU" b="1" dirty="0">
                <a:solidFill>
                  <a:srgbClr val="FFC000"/>
                </a:solidFill>
              </a:rPr>
              <a:t>©Монахов В.И</a:t>
            </a:r>
            <a:r>
              <a:rPr lang="ru-RU" b="1" dirty="0">
                <a:solidFill>
                  <a:srgbClr val="7030A0"/>
                </a:solidFill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520" y="2204864"/>
            <a:ext cx="8784976" cy="26366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64008" algn="ctr">
              <a:spcBef>
                <a:spcPts val="400"/>
              </a:spcBef>
              <a:buClr>
                <a:schemeClr val="accent1"/>
              </a:buClr>
              <a:buSzPct val="68000"/>
            </a:pPr>
            <a:r>
              <a:rPr lang="ru-RU" sz="54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Реляционные базы </a:t>
            </a:r>
            <a:r>
              <a:rPr lang="ru-RU" sz="5400" b="1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данных.</a:t>
            </a:r>
          </a:p>
          <a:p>
            <a:pPr marR="64008" algn="ctr">
              <a:spcBef>
                <a:spcPts val="400"/>
              </a:spcBef>
              <a:buClr>
                <a:schemeClr val="accent1"/>
              </a:buClr>
              <a:buSzPct val="68000"/>
            </a:pPr>
            <a:r>
              <a:rPr lang="ru-RU" sz="5400" b="1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Установка </a:t>
            </a:r>
            <a:r>
              <a:rPr lang="ru-RU" sz="5400" b="1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и настройка</a:t>
            </a:r>
            <a:endParaRPr lang="ru-RU" sz="5400" b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03848" y="1196752"/>
            <a:ext cx="35909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ru-RU" sz="5400" b="1">
                <a:solidFill>
                  <a:schemeClr val="bg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Лекция </a:t>
            </a:r>
            <a:r>
              <a:rPr lang="ru-RU" sz="5400" b="1" smtClean="0">
                <a:solidFill>
                  <a:schemeClr val="bg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9</a:t>
            </a:r>
            <a:endParaRPr lang="ru-RU" sz="5400" b="1" dirty="0">
              <a:solidFill>
                <a:schemeClr val="bg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+mj-lt"/>
                <a:cs typeface="Arial" pitchFamily="34" charset="0"/>
              </a:rPr>
              <a:t>Рейтинг  СУБД в мире</a:t>
            </a: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+mj-lt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Реляционные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базы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2084" y="908720"/>
            <a:ext cx="86409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/>
              <a:t>По данным сайта </a:t>
            </a:r>
            <a:r>
              <a:rPr lang="ru-RU" sz="2400" u="sng" dirty="0">
                <a:hlinkClick r:id="rId2"/>
              </a:rPr>
              <a:t>https://db-engines.com/en/ranking</a:t>
            </a:r>
            <a:r>
              <a:rPr lang="ru-RU" sz="2400" dirty="0"/>
              <a:t> верхние строчки рейтинга по </a:t>
            </a:r>
            <a:r>
              <a:rPr lang="ru-RU" sz="2400" dirty="0" smtClean="0"/>
              <a:t>популярности в мире </a:t>
            </a:r>
            <a:endParaRPr lang="ru-RU" sz="2400" dirty="0"/>
          </a:p>
          <a:p>
            <a:r>
              <a:rPr lang="ru-RU" sz="2400" dirty="0" smtClean="0"/>
              <a:t>( </a:t>
            </a:r>
            <a:r>
              <a:rPr lang="ru-RU" sz="2400" dirty="0"/>
              <a:t>на </a:t>
            </a:r>
            <a:r>
              <a:rPr lang="ru-RU" sz="2400" dirty="0" smtClean="0"/>
              <a:t>октябрь 2025 </a:t>
            </a:r>
            <a:r>
              <a:rPr lang="ru-RU" sz="2400" dirty="0"/>
              <a:t>года) занимают 4 СУБД</a:t>
            </a:r>
            <a:r>
              <a:rPr lang="ru-RU" sz="2400" dirty="0" smtClean="0"/>
              <a:t>:</a:t>
            </a:r>
            <a:endParaRPr lang="ru-RU" sz="24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1763"/>
            <a:ext cx="9144000" cy="381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05508830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548680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>
                <a:latin typeface="+mj-lt"/>
                <a:cs typeface="Arial" pitchFamily="34" charset="0"/>
              </a:rPr>
              <a:t>СУБД </a:t>
            </a:r>
            <a:r>
              <a:rPr lang="en-US" sz="3600" b="1" dirty="0" err="1">
                <a:latin typeface="+mj-lt"/>
                <a:cs typeface="Arial" pitchFamily="34" charset="0"/>
              </a:rPr>
              <a:t>PostgreSQL</a:t>
            </a: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+mj-lt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Реляционные базы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9512" y="1268760"/>
            <a:ext cx="8784976" cy="4878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>
              <a:spcBef>
                <a:spcPts val="1200"/>
              </a:spcBef>
            </a:pPr>
            <a:r>
              <a:rPr lang="ru-RU" sz="2400" dirty="0"/>
              <a:t>В </a:t>
            </a:r>
            <a:r>
              <a:rPr lang="ru-RU" sz="2400" dirty="0" smtClean="0"/>
              <a:t>дисциплине </a:t>
            </a:r>
            <a:r>
              <a:rPr lang="ru-RU" sz="2400" dirty="0"/>
              <a:t>будет использоваться свободно-распространяемая СУБД </a:t>
            </a:r>
            <a:r>
              <a:rPr lang="en-US" sz="2400" dirty="0"/>
              <a:t>PostgreSQL</a:t>
            </a:r>
            <a:r>
              <a:rPr lang="ru-RU" sz="2400" dirty="0"/>
              <a:t>, разрабатываемая  международным сообществом и разработчиками </a:t>
            </a:r>
            <a:r>
              <a:rPr lang="en-US" sz="2400" dirty="0"/>
              <a:t>Postgres Professional</a:t>
            </a:r>
            <a:endParaRPr lang="ru-RU" sz="2400" dirty="0"/>
          </a:p>
          <a:p>
            <a:pPr algn="just" fontAlgn="base">
              <a:spcBef>
                <a:spcPts val="1200"/>
              </a:spcBef>
            </a:pPr>
            <a:r>
              <a:rPr lang="ru-RU" sz="2400" dirty="0" smtClean="0"/>
              <a:t>PostgreSQL </a:t>
            </a:r>
            <a:r>
              <a:rPr lang="ru-RU" sz="2400" dirty="0"/>
              <a:t>следует произносить как </a:t>
            </a:r>
          </a:p>
          <a:p>
            <a:pPr algn="just" fontAlgn="base">
              <a:spcBef>
                <a:spcPts val="1200"/>
              </a:spcBef>
            </a:pPr>
            <a:r>
              <a:rPr lang="ru-RU" sz="2400" dirty="0"/>
              <a:t>         «</a:t>
            </a:r>
            <a:r>
              <a:rPr lang="ru-RU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постгрес-куэль</a:t>
            </a:r>
            <a:r>
              <a:rPr lang="ru-RU" sz="2400" dirty="0"/>
              <a:t>» или просто «</a:t>
            </a:r>
            <a:r>
              <a:rPr lang="ru-RU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постгрес</a:t>
            </a:r>
            <a:r>
              <a:rPr lang="ru-RU" sz="2400" dirty="0"/>
              <a:t>»</a:t>
            </a:r>
          </a:p>
          <a:p>
            <a:pPr algn="just" fontAlgn="base">
              <a:spcBef>
                <a:spcPts val="1200"/>
              </a:spcBef>
            </a:pPr>
            <a:r>
              <a:rPr lang="ru-RU" sz="2300" dirty="0"/>
              <a:t>Программное обеспечение и сервисы на основе базы данных с открытым исходным кодом PostgreSQL</a:t>
            </a:r>
            <a:r>
              <a:rPr lang="ru-RU" sz="2300" dirty="0">
                <a:hlinkClick r:id="rId2"/>
              </a:rPr>
              <a:t> </a:t>
            </a:r>
            <a:r>
              <a:rPr lang="ru-RU" sz="2300" dirty="0"/>
              <a:t>предоставляет американская компания </a:t>
            </a:r>
            <a:r>
              <a:rPr lang="ru-RU" sz="2300" b="1" dirty="0" err="1">
                <a:solidFill>
                  <a:srgbClr val="7030A0"/>
                </a:solidFill>
              </a:rPr>
              <a:t>EnterpriseDB</a:t>
            </a:r>
            <a:r>
              <a:rPr lang="ru-RU" sz="2300" b="1" dirty="0">
                <a:solidFill>
                  <a:srgbClr val="7030A0"/>
                </a:solidFill>
              </a:rPr>
              <a:t> (</a:t>
            </a:r>
            <a:r>
              <a:rPr lang="ru-RU" sz="2300" b="1" dirty="0" smtClean="0">
                <a:solidFill>
                  <a:srgbClr val="7030A0"/>
                </a:solidFill>
              </a:rPr>
              <a:t>EDB)</a:t>
            </a:r>
            <a:endParaRPr lang="ru-RU" sz="2300" b="1" dirty="0">
              <a:latin typeface="Arial" pitchFamily="34" charset="0"/>
              <a:cs typeface="Arial" pitchFamily="34" charset="0"/>
            </a:endParaRPr>
          </a:p>
          <a:p>
            <a:pPr algn="ctr" fontAlgn="base">
              <a:spcBef>
                <a:spcPts val="1200"/>
              </a:spcBef>
            </a:pPr>
            <a:r>
              <a:rPr lang="en-US" sz="2400" u="sng" dirty="0">
                <a:hlinkClick r:id="rId3"/>
              </a:rPr>
              <a:t>https://</a:t>
            </a:r>
            <a:r>
              <a:rPr lang="en-US" sz="2400" u="sng" dirty="0" smtClean="0">
                <a:hlinkClick r:id="rId3"/>
              </a:rPr>
              <a:t>www.enterprisedb.com</a:t>
            </a:r>
            <a:endParaRPr lang="en-US" sz="2400" u="sng" dirty="0" smtClean="0"/>
          </a:p>
          <a:p>
            <a:pPr algn="ctr" fontAlgn="base">
              <a:spcBef>
                <a:spcPts val="1200"/>
              </a:spcBef>
            </a:pPr>
            <a:endParaRPr lang="ru-RU" sz="2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178453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smtClean="0">
                <a:latin typeface="+mj-lt"/>
                <a:cs typeface="Arial" pitchFamily="34" charset="0"/>
              </a:rPr>
              <a:t>Разработка новых версий</a:t>
            </a:r>
            <a:endParaRPr lang="ru-RU" sz="3600" smtClean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smtClean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smtClean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smtClean="0">
                <a:latin typeface="+mj-lt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Реляционные базы данных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4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4016" y="1268760"/>
            <a:ext cx="8892480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6088" indent="-446088" algn="just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ru-RU" sz="2400" dirty="0"/>
              <a:t>Цикл работы над очередной версией PostgreSQL обычно занимает около года. За это время принимаются на рассмотрение исправления, изменения и новый функционал </a:t>
            </a:r>
          </a:p>
          <a:p>
            <a:pPr marL="446088" indent="-446088" algn="just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ru-RU" sz="2400" dirty="0"/>
              <a:t>Ближе к концу цикла появляется релиз-кандидат (</a:t>
            </a:r>
            <a:r>
              <a:rPr lang="en-US" sz="2400" dirty="0"/>
              <a:t>release candidate</a:t>
            </a:r>
            <a:r>
              <a:rPr lang="ru-RU" sz="2400" dirty="0"/>
              <a:t>), а затем новая основная (</a:t>
            </a:r>
            <a:r>
              <a:rPr lang="ru-RU" sz="2400" dirty="0" err="1"/>
              <a:t>major</a:t>
            </a:r>
            <a:r>
              <a:rPr lang="ru-RU" sz="2400" dirty="0"/>
              <a:t>) версия PostgreSQL </a:t>
            </a:r>
          </a:p>
          <a:p>
            <a:pPr marL="446088" indent="-446088" algn="just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ru-RU" sz="2400" dirty="0"/>
              <a:t>Обычно раз в квартал выпускаются дополнительные (</a:t>
            </a:r>
            <a:r>
              <a:rPr lang="ru-RU" sz="2400" dirty="0" err="1"/>
              <a:t>minor</a:t>
            </a:r>
            <a:r>
              <a:rPr lang="ru-RU" sz="2400" dirty="0"/>
              <a:t>) версии,  включающие накопленные исправления.  Например, версия </a:t>
            </a:r>
            <a:r>
              <a:rPr lang="ru-RU" sz="2400" dirty="0" smtClean="0"/>
              <a:t>17.5 </a:t>
            </a:r>
            <a:r>
              <a:rPr lang="ru-RU" sz="2400" dirty="0"/>
              <a:t>содержит только исправления ошибок, найденных в </a:t>
            </a:r>
            <a:r>
              <a:rPr lang="ru-RU" sz="2400" dirty="0" smtClean="0"/>
              <a:t>17.4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893941384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+mj-lt"/>
                <a:cs typeface="Arial" pitchFamily="34" charset="0"/>
              </a:rPr>
              <a:t>Рейтинг  СУБД в России</a:t>
            </a: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+mj-lt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Реляционные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базы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5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2084" y="908720"/>
            <a:ext cx="86409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/>
              <a:t>Согласно аналитике Google </a:t>
            </a:r>
            <a:r>
              <a:rPr lang="ru-RU" sz="2400" dirty="0" err="1"/>
              <a:t>Trends</a:t>
            </a:r>
            <a:r>
              <a:rPr lang="ru-RU" sz="2400" dirty="0"/>
              <a:t> за </a:t>
            </a:r>
            <a:r>
              <a:rPr lang="ru-RU" sz="2400" dirty="0" smtClean="0"/>
              <a:t>2019-24 гг</a:t>
            </a:r>
            <a:r>
              <a:rPr lang="ru-RU" sz="2400" dirty="0"/>
              <a:t>., популярность </a:t>
            </a:r>
            <a:r>
              <a:rPr lang="ru-RU" sz="2400" b="1" dirty="0">
                <a:solidFill>
                  <a:schemeClr val="accent3">
                    <a:lumMod val="75000"/>
                  </a:schemeClr>
                </a:solidFill>
              </a:rPr>
              <a:t>PostgreSQL</a:t>
            </a:r>
            <a:r>
              <a:rPr lang="ru-RU" sz="2400" dirty="0"/>
              <a:t> в России </a:t>
            </a:r>
            <a:r>
              <a:rPr lang="ru-RU" sz="2400" dirty="0" smtClean="0"/>
              <a:t>в 2024г. оказалась выше </a:t>
            </a:r>
            <a:r>
              <a:rPr lang="ru-RU" sz="2200" b="1" dirty="0"/>
              <a:t> </a:t>
            </a:r>
            <a:r>
              <a:rPr lang="ru-RU" sz="2200" b="1" dirty="0" smtClean="0">
                <a:solidFill>
                  <a:srgbClr val="7030A0"/>
                </a:solidFill>
              </a:rPr>
              <a:t>Oracle</a:t>
            </a:r>
            <a:r>
              <a:rPr lang="ru-RU" sz="2200" b="1" dirty="0" smtClean="0"/>
              <a:t> +91%   </a:t>
            </a:r>
            <a:r>
              <a:rPr lang="ru-RU" sz="2200" b="1" dirty="0" smtClean="0">
                <a:solidFill>
                  <a:srgbClr val="7030A0"/>
                </a:solidFill>
              </a:rPr>
              <a:t>MySQL</a:t>
            </a:r>
            <a:r>
              <a:rPr lang="ru-RU" sz="2200" b="1" dirty="0"/>
              <a:t> </a:t>
            </a:r>
            <a:r>
              <a:rPr lang="ru-RU" sz="2200" b="1" dirty="0" smtClean="0"/>
              <a:t>+100%</a:t>
            </a:r>
            <a:r>
              <a:rPr lang="ru-RU" sz="2200" b="1" dirty="0"/>
              <a:t> </a:t>
            </a:r>
            <a:r>
              <a:rPr lang="ru-RU" sz="2200" b="1" dirty="0" smtClean="0"/>
              <a:t>   </a:t>
            </a:r>
            <a:r>
              <a:rPr lang="ru-RU" sz="2200" b="1" dirty="0" smtClean="0">
                <a:solidFill>
                  <a:srgbClr val="7030A0"/>
                </a:solidFill>
              </a:rPr>
              <a:t>MS </a:t>
            </a:r>
            <a:r>
              <a:rPr lang="ru-RU" sz="2200" b="1" dirty="0">
                <a:solidFill>
                  <a:srgbClr val="7030A0"/>
                </a:solidFill>
              </a:rPr>
              <a:t>SQL </a:t>
            </a:r>
            <a:r>
              <a:rPr lang="ru-RU" sz="2200" b="1" dirty="0" err="1" smtClean="0">
                <a:solidFill>
                  <a:srgbClr val="7030A0"/>
                </a:solidFill>
              </a:rPr>
              <a:t>Server</a:t>
            </a:r>
            <a:r>
              <a:rPr lang="ru-RU" sz="2200" b="1" dirty="0" smtClean="0">
                <a:solidFill>
                  <a:srgbClr val="7030A0"/>
                </a:solidFill>
              </a:rPr>
              <a:t>  </a:t>
            </a:r>
            <a:r>
              <a:rPr lang="ru-RU" sz="2200" b="1" dirty="0" smtClean="0"/>
              <a:t>+700%</a:t>
            </a:r>
            <a:endParaRPr lang="ru-RU" sz="2200" b="1" dirty="0"/>
          </a:p>
          <a:p>
            <a:pPr algn="just"/>
            <a:endParaRPr lang="ru-RU" sz="24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32856"/>
            <a:ext cx="9144000" cy="424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698507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+mj-lt"/>
                <a:cs typeface="Arial" pitchFamily="34" charset="0"/>
              </a:rPr>
              <a:t>Российский рынок СУБД</a:t>
            </a:r>
            <a:endParaRPr lang="ru-RU" sz="3600" dirty="0" smtClean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 smtClean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 smtClean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 smtClean="0">
                <a:latin typeface="+mj-lt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Реляционные базы данных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6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4016" y="1052736"/>
            <a:ext cx="889248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sz="2200" dirty="0" smtClean="0"/>
              <a:t>Российский </a:t>
            </a:r>
            <a:r>
              <a:rPr lang="ru-RU" sz="2200" dirty="0"/>
              <a:t>рынок СУБД с 2022 года переживает стремительный </a:t>
            </a:r>
            <a:r>
              <a:rPr lang="ru-RU" sz="2200" dirty="0" smtClean="0"/>
              <a:t>рост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sz="2200" dirty="0"/>
              <a:t>30.03.2022 - указ президента России, запрещающий закупать иностранное ПО для критической </a:t>
            </a:r>
            <a:r>
              <a:rPr lang="ru-RU" sz="2200" dirty="0" smtClean="0"/>
              <a:t>инфраструктуры</a:t>
            </a:r>
            <a:endParaRPr lang="ru-RU" sz="2200" dirty="0"/>
          </a:p>
        </p:txBody>
      </p:sp>
      <p:sp>
        <p:nvSpPr>
          <p:cNvPr id="2" name="TextBox 1"/>
          <p:cNvSpPr txBox="1"/>
          <p:nvPr/>
        </p:nvSpPr>
        <p:spPr>
          <a:xfrm>
            <a:off x="3131840" y="6021288"/>
            <a:ext cx="6012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Динамика российского рынка </a:t>
            </a:r>
            <a:r>
              <a:rPr lang="ru-RU" dirty="0" smtClean="0"/>
              <a:t>СУБД, </a:t>
            </a:r>
            <a:r>
              <a:rPr lang="ru-RU" dirty="0" err="1" smtClean="0"/>
              <a:t>млрд.руб</a:t>
            </a:r>
            <a:endParaRPr lang="ru-RU" dirty="0"/>
          </a:p>
          <a:p>
            <a:r>
              <a:rPr lang="ru-RU" dirty="0" smtClean="0"/>
              <a:t>                       * источник</a:t>
            </a:r>
            <a:r>
              <a:rPr lang="ru-RU" dirty="0"/>
              <a:t>: </a:t>
            </a:r>
            <a:r>
              <a:rPr lang="ru-RU" dirty="0" err="1"/>
              <a:t>Strategy</a:t>
            </a:r>
            <a:r>
              <a:rPr lang="ru-RU" dirty="0"/>
              <a:t> </a:t>
            </a:r>
            <a:r>
              <a:rPr lang="ru-RU" dirty="0" err="1" smtClean="0"/>
              <a:t>Partners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323529" y="4413651"/>
            <a:ext cx="27933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ежегодный прирост Российского ПО  </a:t>
            </a:r>
            <a:r>
              <a:rPr lang="ru-RU" sz="2200" b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  <a:r>
              <a:rPr lang="ru-RU" sz="2200" b="1" dirty="0" smtClean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endParaRPr lang="ru-RU" sz="2200" b="1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4047" y="2697063"/>
            <a:ext cx="5686425" cy="332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7380467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5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 smtClean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 smtClean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 smtClean="0">
                <a:latin typeface="+mj-lt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Реляционные базы данных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7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202844"/>
            <a:ext cx="8640960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>
              <a:spcBef>
                <a:spcPts val="600"/>
              </a:spcBef>
            </a:pPr>
            <a:r>
              <a:rPr lang="ru-RU" sz="2300" dirty="0" smtClean="0">
                <a:latin typeface="Arial" pitchFamily="34" charset="0"/>
                <a:cs typeface="Arial" pitchFamily="34" charset="0"/>
              </a:rPr>
              <a:t>В </a:t>
            </a:r>
            <a:r>
              <a:rPr lang="ru-RU" sz="2300" dirty="0"/>
              <a:t>реестре отечественного ПО есть линейка СУБД </a:t>
            </a:r>
            <a:r>
              <a:rPr lang="en-US" sz="2300" dirty="0"/>
              <a:t>       </a:t>
            </a:r>
            <a:r>
              <a:rPr lang="en-US" sz="2300" dirty="0" err="1" smtClean="0"/>
              <a:t>PostgresPro</a:t>
            </a:r>
            <a:r>
              <a:rPr lang="en-US" sz="2300" dirty="0" smtClean="0"/>
              <a:t> </a:t>
            </a:r>
            <a:r>
              <a:rPr lang="ru-RU" sz="2300" dirty="0"/>
              <a:t>от</a:t>
            </a:r>
            <a:r>
              <a:rPr lang="en-US" sz="2300" dirty="0"/>
              <a:t> </a:t>
            </a:r>
            <a:r>
              <a:rPr lang="ru-RU" sz="2300" dirty="0"/>
              <a:t>российской компании </a:t>
            </a:r>
            <a:r>
              <a:rPr lang="ru-RU" sz="2300" dirty="0" smtClean="0"/>
              <a:t>                    </a:t>
            </a:r>
            <a:r>
              <a:rPr lang="en-US" sz="2300" b="1" dirty="0" smtClean="0">
                <a:solidFill>
                  <a:srgbClr val="7030A0"/>
                </a:solidFill>
              </a:rPr>
              <a:t>Postgres Professional</a:t>
            </a:r>
            <a:endParaRPr lang="en-US" sz="2300" dirty="0"/>
          </a:p>
        </p:txBody>
      </p:sp>
      <p:sp>
        <p:nvSpPr>
          <p:cNvPr id="2" name="TextBox 1"/>
          <p:cNvSpPr txBox="1"/>
          <p:nvPr/>
        </p:nvSpPr>
        <p:spPr>
          <a:xfrm>
            <a:off x="2051720" y="5085184"/>
            <a:ext cx="6768752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/>
              <a:t>*</a:t>
            </a:r>
            <a:r>
              <a:rPr lang="ru-RU" sz="1600" dirty="0"/>
              <a:t>ФСТЭК - Федеральная служба по техническому и экспортному контролю России, осуществляющая реализацию государственной политики, организацию межведомственной координации и взаимодействия,  контрольные функции в области государственной безопасности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3073" y="479970"/>
            <a:ext cx="4286064" cy="716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4427984" y="1988840"/>
            <a:ext cx="28696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3"/>
              </a:rPr>
              <a:t>https://postgrespro.ru</a:t>
            </a:r>
            <a:r>
              <a:rPr lang="en-US" dirty="0" smtClean="0">
                <a:hlinkClick r:id="rId3"/>
              </a:rPr>
              <a:t>/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251520" y="2420888"/>
            <a:ext cx="8640960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>
              <a:spcBef>
                <a:spcPts val="1200"/>
              </a:spcBef>
            </a:pPr>
            <a:r>
              <a:rPr lang="ru-RU" sz="2300" dirty="0" err="1"/>
              <a:t>Postgres</a:t>
            </a:r>
            <a:r>
              <a:rPr lang="ru-RU" sz="2300" dirty="0"/>
              <a:t> </a:t>
            </a:r>
            <a:r>
              <a:rPr lang="ru-RU" sz="2300" dirty="0" err="1"/>
              <a:t>Professional</a:t>
            </a:r>
            <a:r>
              <a:rPr lang="ru-RU" sz="2300" dirty="0"/>
              <a:t> занимает второе место в мировом рейтинге </a:t>
            </a:r>
            <a:r>
              <a:rPr lang="ru-RU" sz="2300" dirty="0" err="1"/>
              <a:t>контрибьюторов</a:t>
            </a:r>
            <a:r>
              <a:rPr lang="ru-RU" sz="2300" dirty="0"/>
              <a:t> открытой СУБД </a:t>
            </a:r>
            <a:r>
              <a:rPr lang="ru-RU" sz="2300" dirty="0" err="1"/>
              <a:t>PostgreSQL</a:t>
            </a:r>
            <a:endParaRPr lang="ru-RU" sz="2300" dirty="0"/>
          </a:p>
          <a:p>
            <a:pPr algn="just" fontAlgn="base">
              <a:spcBef>
                <a:spcPts val="600"/>
              </a:spcBef>
            </a:pPr>
            <a:r>
              <a:rPr lang="ru-RU" sz="2300" dirty="0"/>
              <a:t>СУБД выпускается в  вариантах (платные версии): </a:t>
            </a:r>
          </a:p>
          <a:p>
            <a:pPr marL="806450" indent="-342900" algn="just" fontAlgn="base"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en-US" sz="2300" dirty="0"/>
              <a:t>Postgres Pro Standard </a:t>
            </a:r>
            <a:endParaRPr lang="ru-RU" sz="2300" dirty="0"/>
          </a:p>
          <a:p>
            <a:pPr marL="806450" indent="-342900" algn="just" fontAlgn="base"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en-US" sz="2300" dirty="0"/>
              <a:t>Postgres Pro Enterprise </a:t>
            </a:r>
            <a:endParaRPr lang="ru-RU" sz="2300" dirty="0"/>
          </a:p>
          <a:p>
            <a:pPr marL="806450" indent="-342900" algn="just" fontAlgn="base"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ru-RU" sz="2300" dirty="0"/>
              <a:t>сертифицированные ФСТЭК</a:t>
            </a:r>
            <a:r>
              <a:rPr lang="ru-RU" sz="2300" b="1" baseline="30000" dirty="0"/>
              <a:t>*</a:t>
            </a:r>
            <a:r>
              <a:rPr lang="ru-RU" sz="2300" dirty="0"/>
              <a:t> </a:t>
            </a:r>
            <a:r>
              <a:rPr lang="ru-RU" sz="2300" dirty="0" smtClean="0"/>
              <a:t>версии</a:t>
            </a:r>
            <a:endParaRPr lang="ru-RU" sz="2300" dirty="0"/>
          </a:p>
        </p:txBody>
      </p:sp>
    </p:spTree>
    <p:extLst>
      <p:ext uri="{BB962C8B-B14F-4D97-AF65-F5344CB8AC3E}">
        <p14:creationId xmlns:p14="http://schemas.microsoft.com/office/powerpoint/2010/main" val="371422368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en-US" sz="3600" b="1" dirty="0" smtClean="0">
                <a:latin typeface="+mj-lt"/>
                <a:cs typeface="Arial" pitchFamily="34" charset="0"/>
              </a:rPr>
              <a:t>Pangolin </a:t>
            </a:r>
            <a:r>
              <a:rPr lang="ru-RU" sz="3600" b="1" dirty="0" smtClean="0">
                <a:latin typeface="+mj-lt"/>
                <a:cs typeface="Arial" pitchFamily="34" charset="0"/>
              </a:rPr>
              <a:t>от </a:t>
            </a:r>
            <a:r>
              <a:rPr lang="ru-RU" sz="3600" b="1" dirty="0" err="1" smtClean="0">
                <a:latin typeface="+mj-lt"/>
                <a:cs typeface="Arial" pitchFamily="34" charset="0"/>
              </a:rPr>
              <a:t>Сбертех</a:t>
            </a:r>
            <a:endParaRPr lang="ru-RU" sz="3600" dirty="0" smtClean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 smtClean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 smtClean="0">
                <a:latin typeface="+mj-lt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Реляционные базы данных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8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963880"/>
            <a:ext cx="8640960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6088" indent="-446088" algn="just" fontAlgn="base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400" dirty="0" err="1"/>
              <a:t>Platform</a:t>
            </a:r>
            <a:r>
              <a:rPr lang="ru-RU" sz="2400" dirty="0"/>
              <a:t> V </a:t>
            </a:r>
            <a:r>
              <a:rPr lang="ru-RU" sz="2400" dirty="0" err="1"/>
              <a:t>Pangolin</a:t>
            </a:r>
            <a:r>
              <a:rPr lang="ru-RU" sz="2400" dirty="0"/>
              <a:t> DB — </a:t>
            </a:r>
            <a:r>
              <a:rPr lang="ru-RU" sz="2400" dirty="0" smtClean="0"/>
              <a:t>российская </a:t>
            </a:r>
            <a:r>
              <a:rPr lang="ru-RU" sz="2400" dirty="0"/>
              <a:t>реляционная СУБД от </a:t>
            </a:r>
            <a:r>
              <a:rPr lang="ru-RU" sz="2400" dirty="0" err="1" smtClean="0"/>
              <a:t>СберТеха</a:t>
            </a:r>
            <a:r>
              <a:rPr lang="ru-RU" sz="2400" dirty="0" smtClean="0"/>
              <a:t> на базе </a:t>
            </a:r>
            <a:r>
              <a:rPr lang="ru-RU" sz="2400" dirty="0"/>
              <a:t>PostgreSQL </a:t>
            </a:r>
            <a:endParaRPr lang="ru-RU" sz="2400" dirty="0" smtClean="0"/>
          </a:p>
          <a:p>
            <a:pPr marL="446088" indent="-446088" algn="just" fontAlgn="base">
              <a:spcBef>
                <a:spcPts val="300"/>
              </a:spcBef>
              <a:buFont typeface="Wingdings" panose="05000000000000000000" pitchFamily="2" charset="2"/>
              <a:buChar char="q"/>
            </a:pPr>
            <a:r>
              <a:rPr lang="ru-RU" sz="2400" dirty="0"/>
              <a:t>С</a:t>
            </a:r>
            <a:r>
              <a:rPr lang="ru-RU" sz="2400" dirty="0" smtClean="0"/>
              <a:t>одержит </a:t>
            </a:r>
            <a:r>
              <a:rPr lang="ru-RU" sz="2400" dirty="0"/>
              <a:t>ряд важнейших доработок, позволяющих использовать СУБД в масштабах </a:t>
            </a:r>
            <a:r>
              <a:rPr lang="ru-RU" sz="2400" dirty="0" smtClean="0"/>
              <a:t>корпораций</a:t>
            </a:r>
            <a:endParaRPr lang="ru-RU" sz="2400" dirty="0"/>
          </a:p>
          <a:p>
            <a:pPr marL="446088" indent="-446088" algn="just" fontAlgn="base">
              <a:spcBef>
                <a:spcPts val="300"/>
              </a:spcBef>
              <a:buFont typeface="Wingdings" panose="05000000000000000000" pitchFamily="2" charset="2"/>
              <a:buChar char="q"/>
            </a:pPr>
            <a:r>
              <a:rPr lang="ru-RU" sz="2400" dirty="0" smtClean="0"/>
              <a:t>СУБД </a:t>
            </a:r>
            <a:r>
              <a:rPr lang="ru-RU" sz="2400" dirty="0"/>
              <a:t>сертифицирована по стандартам ФСТЭК России (4-й уровень доверия) и имеет важные доработки в области информационной </a:t>
            </a:r>
            <a:r>
              <a:rPr lang="ru-RU" sz="2400" dirty="0" smtClean="0"/>
              <a:t>безопасности</a:t>
            </a:r>
          </a:p>
          <a:p>
            <a:pPr marL="446088" indent="-446088" algn="just" fontAlgn="base">
              <a:spcBef>
                <a:spcPts val="300"/>
              </a:spcBef>
              <a:buFont typeface="Wingdings" panose="05000000000000000000" pitchFamily="2" charset="2"/>
              <a:buChar char="q"/>
            </a:pPr>
            <a:r>
              <a:rPr lang="ru-RU" sz="2400" dirty="0"/>
              <a:t>СУБД подходит для работы со всеми распространенными решениями «1С</a:t>
            </a:r>
            <a:r>
              <a:rPr lang="ru-RU" sz="2400" dirty="0" smtClean="0"/>
              <a:t>» </a:t>
            </a:r>
          </a:p>
          <a:p>
            <a:pPr marL="446088" indent="-446088" algn="just" fontAlgn="base">
              <a:spcBef>
                <a:spcPts val="300"/>
              </a:spcBef>
              <a:buFont typeface="Wingdings" panose="05000000000000000000" pitchFamily="2" charset="2"/>
              <a:buChar char="q"/>
            </a:pPr>
            <a:r>
              <a:rPr lang="ru-RU" sz="2400" dirty="0" smtClean="0"/>
              <a:t>Име</a:t>
            </a:r>
            <a:r>
              <a:rPr lang="ru-RU" sz="2400" dirty="0"/>
              <a:t>е</a:t>
            </a:r>
            <a:r>
              <a:rPr lang="ru-RU" sz="2400" dirty="0" smtClean="0"/>
              <a:t>т </a:t>
            </a:r>
            <a:r>
              <a:rPr lang="ru-RU" sz="2400" dirty="0"/>
              <a:t>графический инструмент </a:t>
            </a:r>
            <a:r>
              <a:rPr lang="ru-RU" sz="2400" dirty="0" err="1"/>
              <a:t>Platform</a:t>
            </a:r>
            <a:r>
              <a:rPr lang="ru-RU" sz="2400" dirty="0"/>
              <a:t> V </a:t>
            </a:r>
            <a:r>
              <a:rPr lang="ru-RU" sz="2400" dirty="0" err="1"/>
              <a:t>Kintsugi</a:t>
            </a:r>
            <a:r>
              <a:rPr lang="ru-RU" sz="2400" dirty="0"/>
              <a:t> для удобного управления </a:t>
            </a:r>
            <a:r>
              <a:rPr lang="ru-RU" sz="2400" dirty="0" smtClean="0"/>
              <a:t>СУБД</a:t>
            </a:r>
            <a:endParaRPr lang="ru-RU" sz="2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403648" y="5949280"/>
            <a:ext cx="79208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platformv.sbertech.ru/products/rabota-s-dannymi/pangolin</a:t>
            </a:r>
            <a:endParaRPr lang="ru-RU" dirty="0" smtClean="0"/>
          </a:p>
          <a:p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7329" y="476672"/>
            <a:ext cx="1781175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15520865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>
                <a:latin typeface="+mj-lt"/>
                <a:cs typeface="Arial" pitchFamily="34" charset="0"/>
              </a:rPr>
              <a:t>Установка СУБД </a:t>
            </a:r>
            <a:r>
              <a:rPr lang="en-US" sz="3600" b="1" dirty="0" err="1">
                <a:latin typeface="+mj-lt"/>
                <a:cs typeface="Arial" pitchFamily="34" charset="0"/>
              </a:rPr>
              <a:t>PostgreSQL</a:t>
            </a: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+mj-lt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Реляционные базы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9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102672"/>
            <a:ext cx="864096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>
              <a:spcBef>
                <a:spcPts val="1200"/>
              </a:spcBef>
            </a:pPr>
            <a:r>
              <a:rPr lang="ru-RU" sz="2400" dirty="0"/>
              <a:t>Дистрибутив для установки СУБД </a:t>
            </a:r>
            <a:r>
              <a:rPr lang="en-US" sz="2400" dirty="0" err="1"/>
              <a:t>PostgreSQL</a:t>
            </a:r>
            <a:r>
              <a:rPr lang="ru-RU" sz="2400" dirty="0"/>
              <a:t> можно скачать по адресу:</a:t>
            </a:r>
          </a:p>
          <a:p>
            <a:pPr algn="just" fontAlgn="base"/>
            <a:r>
              <a:rPr lang="ru-RU" sz="2000" dirty="0" smtClean="0"/>
              <a:t>                  </a:t>
            </a:r>
            <a:r>
              <a:rPr lang="ru-RU" sz="2000" u="sng" dirty="0" smtClean="0">
                <a:hlinkClick r:id="rId2"/>
              </a:rPr>
              <a:t>https://www.postgresql.org/download/</a:t>
            </a:r>
            <a:endParaRPr lang="ru-RU" sz="2000" u="sng" dirty="0" smtClean="0"/>
          </a:p>
          <a:p>
            <a:pPr algn="just" fontAlgn="base"/>
            <a:r>
              <a:rPr lang="ru-RU" sz="2400" dirty="0" smtClean="0"/>
              <a:t>При </a:t>
            </a:r>
            <a:r>
              <a:rPr lang="ru-RU" sz="2400" dirty="0"/>
              <a:t>скачивании надо выбрать операционную систему компьютера, на котором будет устанавливаться СУБД и версию СУБД</a:t>
            </a:r>
            <a:r>
              <a:rPr lang="ru-RU" sz="2400" dirty="0" smtClean="0"/>
              <a:t>.</a:t>
            </a:r>
            <a:endParaRPr lang="ru-RU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174" y="3288754"/>
            <a:ext cx="8458497" cy="30925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2315047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5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>
                <a:latin typeface="+mj-lt"/>
                <a:cs typeface="Arial" pitchFamily="34" charset="0"/>
              </a:rPr>
              <a:t>Установка СУБД </a:t>
            </a:r>
            <a:r>
              <a:rPr lang="en-US" sz="3600" b="1" dirty="0" err="1">
                <a:latin typeface="+mj-lt"/>
                <a:cs typeface="Arial" pitchFamily="34" charset="0"/>
              </a:rPr>
              <a:t>PostgreSQL</a:t>
            </a: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+mj-lt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Реляционные базы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10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102672"/>
            <a:ext cx="86409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>
              <a:spcBef>
                <a:spcPts val="1200"/>
              </a:spcBef>
            </a:pPr>
            <a:r>
              <a:rPr lang="ru-RU" sz="2400" dirty="0" smtClean="0"/>
              <a:t>Для </a:t>
            </a:r>
            <a:r>
              <a:rPr lang="en-US" sz="2400" dirty="0" smtClean="0"/>
              <a:t>Windows </a:t>
            </a:r>
            <a:r>
              <a:rPr lang="ru-RU" sz="2400" dirty="0" smtClean="0"/>
              <a:t>рекомендуется </a:t>
            </a:r>
            <a:r>
              <a:rPr lang="ru-RU" sz="2400" dirty="0"/>
              <a:t>устанавливать </a:t>
            </a:r>
            <a:r>
              <a:rPr lang="ru-RU" sz="2400" dirty="0" smtClean="0"/>
              <a:t>сборку </a:t>
            </a:r>
            <a:r>
              <a:rPr lang="ru-RU" sz="2400" dirty="0" err="1" smtClean="0"/>
              <a:t>PostgreSQL</a:t>
            </a:r>
            <a:r>
              <a:rPr lang="ru-RU" sz="2400" dirty="0" smtClean="0"/>
              <a:t> от компании </a:t>
            </a:r>
            <a:r>
              <a:rPr lang="en-US" sz="2400" dirty="0" smtClean="0"/>
              <a:t>Postgres Pro </a:t>
            </a:r>
            <a:r>
              <a:rPr lang="en-US" sz="2000" u="sng" dirty="0">
                <a:hlinkClick r:id="rId2"/>
              </a:rPr>
              <a:t>https://</a:t>
            </a:r>
            <a:r>
              <a:rPr lang="en-US" sz="2000" u="sng" dirty="0" smtClean="0">
                <a:hlinkClick r:id="rId2"/>
              </a:rPr>
              <a:t>postgrespro.ru/windows</a:t>
            </a:r>
            <a:endParaRPr lang="en-US" sz="2000" u="sng" dirty="0" smtClean="0"/>
          </a:p>
          <a:p>
            <a:pPr algn="just" fontAlgn="base">
              <a:spcBef>
                <a:spcPts val="1200"/>
              </a:spcBef>
            </a:pPr>
            <a:r>
              <a:rPr lang="ru-RU" sz="2400" dirty="0" smtClean="0"/>
              <a:t>Необходимо скачать, а затем установить </a:t>
            </a:r>
            <a:r>
              <a:rPr lang="ru-RU" sz="2400" dirty="0"/>
              <a:t>один из следующих </a:t>
            </a:r>
            <a:r>
              <a:rPr lang="ru-RU" sz="2400" dirty="0" smtClean="0"/>
              <a:t>файлов:</a:t>
            </a:r>
            <a:endParaRPr lang="ru-RU" sz="2400" u="sng" dirty="0" smtClean="0"/>
          </a:p>
        </p:txBody>
      </p:sp>
      <p:sp>
        <p:nvSpPr>
          <p:cNvPr id="3" name="Прямоугольник 2"/>
          <p:cNvSpPr/>
          <p:nvPr/>
        </p:nvSpPr>
        <p:spPr>
          <a:xfrm>
            <a:off x="251520" y="4509120"/>
            <a:ext cx="885698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8900" indent="-88900" algn="just" fontAlgn="base"/>
            <a:r>
              <a:rPr lang="en-US" sz="2000" dirty="0" smtClean="0"/>
              <a:t>*</a:t>
            </a:r>
            <a:r>
              <a:rPr lang="ru-RU" sz="2000" dirty="0" smtClean="0"/>
              <a:t>Используя эти </a:t>
            </a:r>
            <a:r>
              <a:rPr lang="ru-RU" sz="2000" dirty="0"/>
              <a:t>файлы, </a:t>
            </a:r>
            <a:r>
              <a:rPr lang="ru-RU" sz="2000" dirty="0" smtClean="0"/>
              <a:t>вы </a:t>
            </a:r>
            <a:r>
              <a:rPr lang="ru-RU" sz="2000" dirty="0"/>
              <a:t>выражаете согласие с </a:t>
            </a:r>
            <a:r>
              <a:rPr lang="ru-RU" sz="2000" dirty="0">
                <a:hlinkClick r:id="rId3"/>
              </a:rPr>
              <a:t>лицензией </a:t>
            </a:r>
            <a:r>
              <a:rPr lang="ru-RU" sz="2000" dirty="0" err="1" smtClean="0">
                <a:hlinkClick r:id="rId3"/>
              </a:rPr>
              <a:t>PostgreSQL</a:t>
            </a:r>
            <a:r>
              <a:rPr lang="ru-RU" sz="2000" dirty="0" err="1" smtClean="0"/>
              <a:t>-open</a:t>
            </a:r>
            <a:r>
              <a:rPr lang="ru-RU" sz="2000" dirty="0" smtClean="0"/>
              <a:t> </a:t>
            </a:r>
            <a:r>
              <a:rPr lang="ru-RU" sz="2000" dirty="0" err="1"/>
              <a:t>source</a:t>
            </a:r>
            <a:r>
              <a:rPr lang="ru-RU" sz="2000" dirty="0"/>
              <a:t> лицензии, близкой к лицензиям BSD и </a:t>
            </a:r>
            <a:r>
              <a:rPr lang="ru-RU" sz="2000" dirty="0" smtClean="0"/>
              <a:t>MIT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ru-RU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smtClean="0"/>
              <a:t>допускается бесплатное использование с указанием </a:t>
            </a:r>
          </a:p>
          <a:p>
            <a:pPr algn="just" fontAlgn="base"/>
            <a:r>
              <a:rPr lang="ru-RU" sz="2000" dirty="0"/>
              <a:t> </a:t>
            </a:r>
            <a:r>
              <a:rPr lang="ru-RU" sz="2000" dirty="0" smtClean="0"/>
              <a:t>                           авторских прав </a:t>
            </a:r>
          </a:p>
          <a:p>
            <a:pPr algn="just" fontAlgn="base"/>
            <a:r>
              <a:rPr lang="ru-RU" sz="2000" dirty="0"/>
              <a:t> </a:t>
            </a:r>
            <a:r>
              <a:rPr lang="ru-RU" sz="2000" dirty="0" smtClean="0"/>
              <a:t>                                   </a:t>
            </a:r>
            <a:r>
              <a:rPr lang="en-US" sz="2000" dirty="0" smtClean="0"/>
              <a:t>The </a:t>
            </a:r>
            <a:r>
              <a:rPr lang="en-US" sz="2000" dirty="0"/>
              <a:t>PostgreSQL Global Development </a:t>
            </a:r>
            <a:r>
              <a:rPr lang="en-US" sz="2000" dirty="0" smtClean="0"/>
              <a:t>Group</a:t>
            </a:r>
            <a:endParaRPr lang="ru-RU" sz="2000" dirty="0" smtClean="0"/>
          </a:p>
          <a:p>
            <a:pPr marL="342900" indent="-342900" algn="just" fontAlgn="base">
              <a:buFont typeface="Arial" charset="0"/>
              <a:buChar char="•"/>
            </a:pPr>
            <a:r>
              <a:rPr lang="ru-RU" sz="2000" dirty="0" smtClean="0"/>
              <a:t>                                </a:t>
            </a:r>
            <a:r>
              <a:rPr lang="en-US" sz="2000" dirty="0" smtClean="0"/>
              <a:t>The </a:t>
            </a:r>
            <a:r>
              <a:rPr lang="en-US" sz="2000" dirty="0"/>
              <a:t>University of California</a:t>
            </a:r>
            <a:r>
              <a:rPr lang="ru-RU" sz="2000" dirty="0" smtClean="0"/>
              <a:t> </a:t>
            </a:r>
          </a:p>
          <a:p>
            <a:pPr marL="342900" indent="-342900" algn="r" fontAlgn="base">
              <a:buFont typeface="Arial" panose="020B0604020202020204" pitchFamily="34" charset="0"/>
              <a:buChar char="•"/>
            </a:pPr>
            <a:r>
              <a:rPr lang="en-US" sz="2000" dirty="0" smtClean="0"/>
              <a:t> </a:t>
            </a:r>
            <a:endParaRPr lang="en-US" sz="2000" dirty="0"/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3026" y="2780928"/>
            <a:ext cx="3302604" cy="1584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952005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>
                <a:latin typeface="+mj-lt"/>
                <a:cs typeface="Arial" pitchFamily="34" charset="0"/>
              </a:rPr>
              <a:t>Установка СУБД </a:t>
            </a:r>
            <a:r>
              <a:rPr lang="en-US" sz="3600" b="1" dirty="0" smtClean="0">
                <a:latin typeface="+mj-lt"/>
                <a:cs typeface="Arial" pitchFamily="34" charset="0"/>
              </a:rPr>
              <a:t>PostgreSQL</a:t>
            </a:r>
            <a:r>
              <a:rPr lang="ru-RU" sz="3600" b="1" dirty="0" smtClean="0">
                <a:latin typeface="+mj-lt"/>
                <a:cs typeface="Arial" pitchFamily="34" charset="0"/>
              </a:rPr>
              <a:t> в </a:t>
            </a:r>
            <a:r>
              <a:rPr lang="en-US" sz="3600" b="1" dirty="0" smtClean="0">
                <a:latin typeface="+mj-lt"/>
                <a:cs typeface="Arial" pitchFamily="34" charset="0"/>
              </a:rPr>
              <a:t>Windows</a:t>
            </a: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+mj-lt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Реляционные базы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11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5508104" y="1484784"/>
            <a:ext cx="365165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8900" indent="-88900" algn="just" fontAlgn="base"/>
            <a:r>
              <a:rPr lang="ru-RU" sz="2000" dirty="0" smtClean="0"/>
              <a:t>Можно </a:t>
            </a:r>
          </a:p>
          <a:p>
            <a:pPr marL="177800" indent="-177800" algn="just" fontAlgn="base">
              <a:buFont typeface="Arial" panose="020B0604020202020204" pitchFamily="34" charset="0"/>
              <a:buChar char="•"/>
            </a:pPr>
            <a:r>
              <a:rPr lang="ru-RU" sz="2000" dirty="0" smtClean="0"/>
              <a:t>установить </a:t>
            </a:r>
            <a:r>
              <a:rPr lang="ru-RU" sz="2000" dirty="0"/>
              <a:t>все основные компоненты </a:t>
            </a:r>
            <a:r>
              <a:rPr lang="ru-RU" sz="2000" dirty="0" err="1"/>
              <a:t>PostgreSQL</a:t>
            </a:r>
            <a:r>
              <a:rPr lang="ru-RU" sz="2000" dirty="0"/>
              <a:t> </a:t>
            </a:r>
            <a:endParaRPr lang="ru-RU" sz="2000" dirty="0" smtClean="0"/>
          </a:p>
          <a:p>
            <a:pPr marL="177800" indent="-177800" algn="just" fontAlgn="base">
              <a:buFont typeface="Arial" panose="020B0604020202020204" pitchFamily="34" charset="0"/>
              <a:buChar char="•"/>
            </a:pPr>
            <a:r>
              <a:rPr lang="ru-RU" sz="2000" dirty="0" smtClean="0"/>
              <a:t>исключить </a:t>
            </a:r>
            <a:r>
              <a:rPr lang="ru-RU" sz="2000" dirty="0"/>
              <a:t>серверную часть или компоненты для разработчика. </a:t>
            </a:r>
            <a:endParaRPr lang="ru-RU" sz="2000" dirty="0" smtClean="0"/>
          </a:p>
          <a:p>
            <a:pPr marL="88900" indent="-88900" algn="just" fontAlgn="base"/>
            <a:endParaRPr lang="ru-RU" sz="2000" dirty="0" smtClean="0"/>
          </a:p>
          <a:p>
            <a:pPr marL="88900" indent="-88900" algn="just" fontAlgn="base"/>
            <a:r>
              <a:rPr lang="ru-RU" sz="2000" dirty="0" smtClean="0"/>
              <a:t>Клиентская часть (</a:t>
            </a:r>
            <a:r>
              <a:rPr lang="en-US" sz="2000" dirty="0" err="1" smtClean="0"/>
              <a:t>psql</a:t>
            </a:r>
            <a:r>
              <a:rPr lang="en-US" sz="2000" dirty="0" smtClean="0"/>
              <a:t>)</a:t>
            </a:r>
            <a:r>
              <a:rPr lang="ru-RU" sz="2000" dirty="0" smtClean="0"/>
              <a:t> </a:t>
            </a:r>
            <a:r>
              <a:rPr lang="ru-RU" sz="2000" dirty="0"/>
              <a:t>устанавливается </a:t>
            </a:r>
            <a:r>
              <a:rPr lang="ru-RU" sz="2000" dirty="0" smtClean="0"/>
              <a:t>всегда</a:t>
            </a:r>
            <a:r>
              <a:rPr lang="en-US" sz="2000" dirty="0" smtClean="0"/>
              <a:t> </a:t>
            </a:r>
            <a:endParaRPr lang="en-US" sz="2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48" y="1468656"/>
            <a:ext cx="5473453" cy="4248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51520" y="980728"/>
            <a:ext cx="7560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1.</a:t>
            </a:r>
            <a:r>
              <a:rPr lang="ru-RU" sz="2400" dirty="0" smtClean="0"/>
              <a:t> Выбор компонентов установки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818214153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>
                <a:latin typeface="+mj-lt"/>
                <a:cs typeface="Arial" pitchFamily="34" charset="0"/>
              </a:rPr>
              <a:t>Установка СУБД </a:t>
            </a:r>
            <a:r>
              <a:rPr lang="en-US" sz="3600" b="1" dirty="0" err="1">
                <a:latin typeface="+mj-lt"/>
                <a:cs typeface="Arial" pitchFamily="34" charset="0"/>
              </a:rPr>
              <a:t>PostgreSQL</a:t>
            </a: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+mj-lt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Реляционные базы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12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95536" y="1420609"/>
            <a:ext cx="8640960" cy="48167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6088" indent="-446088">
              <a:buFont typeface="Wingdings" panose="05000000000000000000" pitchFamily="2" charset="2"/>
              <a:buChar char="q"/>
            </a:pPr>
            <a:r>
              <a:rPr lang="ru-RU" sz="2400" dirty="0"/>
              <a:t>Задается каталог для установки файлов сервера и каталог для создания базы </a:t>
            </a:r>
            <a:r>
              <a:rPr lang="ru-RU" sz="2400" dirty="0" smtClean="0"/>
              <a:t>данных </a:t>
            </a:r>
          </a:p>
          <a:p>
            <a:pPr marL="446088" indent="-446088">
              <a:buFont typeface="Wingdings" panose="05000000000000000000" pitchFamily="2" charset="2"/>
              <a:buChar char="q"/>
            </a:pPr>
            <a:r>
              <a:rPr lang="ru-RU" sz="2400" dirty="0" smtClean="0"/>
              <a:t>По умолчанию в </a:t>
            </a:r>
            <a:r>
              <a:rPr lang="en-US" sz="2400" dirty="0" smtClean="0"/>
              <a:t>Windows</a:t>
            </a:r>
            <a:r>
              <a:rPr lang="ru-RU" sz="2400" dirty="0" smtClean="0"/>
              <a:t> </a:t>
            </a:r>
          </a:p>
          <a:p>
            <a:r>
              <a:rPr lang="ru-RU" sz="2400" dirty="0" smtClean="0"/>
              <a:t>    для </a:t>
            </a:r>
            <a:r>
              <a:rPr lang="ru-RU" sz="2400" dirty="0"/>
              <a:t>установки </a:t>
            </a:r>
            <a:r>
              <a:rPr lang="ru-RU" sz="2400" dirty="0" smtClean="0"/>
              <a:t>сервера предлагается </a:t>
            </a:r>
            <a:r>
              <a:rPr lang="ru-RU" sz="2400" dirty="0"/>
              <a:t>каталог </a:t>
            </a:r>
            <a:endParaRPr lang="ru-RU" sz="2400" dirty="0" smtClean="0"/>
          </a:p>
          <a:p>
            <a:r>
              <a:rPr lang="ru-RU" sz="2400" dirty="0"/>
              <a:t> </a:t>
            </a:r>
            <a:r>
              <a:rPr lang="ru-RU" sz="2400" dirty="0" smtClean="0"/>
              <a:t>       </a:t>
            </a:r>
            <a:r>
              <a:rPr lang="ru-RU" sz="24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ru-RU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:\Program </a:t>
            </a:r>
            <a:r>
              <a:rPr lang="ru-RU" sz="2400" b="1" dirty="0" err="1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Files</a:t>
            </a:r>
            <a:r>
              <a:rPr lang="ru-RU" sz="24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  <a:r>
              <a:rPr lang="ru-RU" sz="2400" b="1" dirty="0" err="1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PostgreSQL</a:t>
            </a:r>
            <a:r>
              <a:rPr lang="ru-RU" sz="24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  <a:r>
              <a:rPr lang="ru-RU" sz="2400" b="1" dirty="0" err="1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Номер_версии</a:t>
            </a:r>
            <a:r>
              <a:rPr lang="ru-RU" sz="2400" dirty="0" smtClean="0"/>
              <a:t> </a:t>
            </a:r>
          </a:p>
          <a:p>
            <a:r>
              <a:rPr lang="ru-RU" sz="2400" dirty="0" smtClean="0"/>
              <a:t>    а </a:t>
            </a:r>
            <a:r>
              <a:rPr lang="ru-RU" sz="2400" dirty="0"/>
              <a:t>для данных </a:t>
            </a:r>
            <a:endParaRPr lang="ru-RU" sz="2400" dirty="0" smtClean="0"/>
          </a:p>
          <a:p>
            <a:r>
              <a:rPr lang="ru-RU" sz="2400" dirty="0" smtClean="0"/>
              <a:t>        </a:t>
            </a:r>
            <a:r>
              <a:rPr lang="ru-RU" sz="2300" b="1" spc="-100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ru-RU" sz="2300" b="1" spc="-1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:\Program </a:t>
            </a:r>
            <a:r>
              <a:rPr lang="ru-RU" sz="2300" b="1" spc="-100" dirty="0" err="1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Files</a:t>
            </a:r>
            <a:r>
              <a:rPr lang="ru-RU" sz="2300" b="1" spc="-100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  <a:r>
              <a:rPr lang="ru-RU" sz="2300" b="1" spc="-100" dirty="0" err="1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PostgreSQL</a:t>
            </a:r>
            <a:r>
              <a:rPr lang="ru-RU" sz="2300" b="1" spc="-100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  <a:r>
              <a:rPr lang="ru-RU" sz="2300" b="1" spc="-100" dirty="0" err="1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Номер_версии</a:t>
            </a:r>
            <a:r>
              <a:rPr lang="ru-RU" sz="2300" b="1" spc="-100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  <a:r>
              <a:rPr lang="ru-RU" sz="2300" b="1" spc="-100" dirty="0" err="1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endParaRPr lang="ru-RU" sz="2300" b="1" spc="-1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46088" indent="-446088">
              <a:buFont typeface="Wingdings" panose="05000000000000000000" pitchFamily="2" charset="2"/>
              <a:buChar char="q"/>
            </a:pPr>
            <a:r>
              <a:rPr lang="ru-RU" sz="2400" dirty="0"/>
              <a:t>Выбранный каталог данных должен быть </a:t>
            </a:r>
            <a:r>
              <a:rPr lang="ru-RU" sz="2400" dirty="0" smtClean="0"/>
              <a:t>пустым</a:t>
            </a:r>
            <a:endParaRPr lang="ru-RU" sz="2400" dirty="0"/>
          </a:p>
          <a:p>
            <a:pPr marL="446088" indent="-446088">
              <a:buFont typeface="Wingdings" panose="05000000000000000000" pitchFamily="2" charset="2"/>
              <a:buChar char="q"/>
            </a:pPr>
            <a:r>
              <a:rPr lang="ru-RU" sz="2300" dirty="0"/>
              <a:t>Допускается </a:t>
            </a:r>
            <a:r>
              <a:rPr lang="ru-RU" sz="2300" dirty="0" smtClean="0"/>
              <a:t>указать </a:t>
            </a:r>
            <a:r>
              <a:rPr lang="ru-RU" sz="2300" dirty="0"/>
              <a:t>каталог, содержащий данные. Тогда новая </a:t>
            </a:r>
            <a:r>
              <a:rPr lang="ru-RU" sz="2300" dirty="0" smtClean="0"/>
              <a:t>БД </a:t>
            </a:r>
            <a:r>
              <a:rPr lang="ru-RU" sz="2300" dirty="0"/>
              <a:t>не создается, а используется </a:t>
            </a:r>
            <a:r>
              <a:rPr lang="ru-RU" sz="2300" dirty="0" smtClean="0"/>
              <a:t>существующая </a:t>
            </a:r>
          </a:p>
          <a:p>
            <a:pPr marL="449263"/>
            <a:r>
              <a:rPr lang="ru-RU" sz="2300" dirty="0" smtClean="0"/>
              <a:t>Важно</a:t>
            </a:r>
            <a:r>
              <a:rPr lang="ru-RU" sz="2300" dirty="0"/>
              <a:t>, чтобы версия сервера совпадала с </a:t>
            </a:r>
            <a:r>
              <a:rPr lang="ru-RU" sz="2300" dirty="0" smtClean="0"/>
              <a:t>версией существующей БД</a:t>
            </a:r>
            <a:endParaRPr lang="ru-RU" sz="2300" dirty="0"/>
          </a:p>
        </p:txBody>
      </p:sp>
      <p:sp>
        <p:nvSpPr>
          <p:cNvPr id="2" name="TextBox 1"/>
          <p:cNvSpPr txBox="1"/>
          <p:nvPr/>
        </p:nvSpPr>
        <p:spPr>
          <a:xfrm>
            <a:off x="251520" y="980728"/>
            <a:ext cx="7560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/>
              <a:t>2</a:t>
            </a:r>
            <a:r>
              <a:rPr lang="en-US" sz="2400" b="1" dirty="0" smtClean="0"/>
              <a:t>.</a:t>
            </a:r>
            <a:r>
              <a:rPr lang="ru-RU" sz="2400" b="1" dirty="0" smtClean="0"/>
              <a:t> Выбор пути установки</a:t>
            </a:r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3071533410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>
                <a:latin typeface="+mj-lt"/>
                <a:cs typeface="Arial" pitchFamily="34" charset="0"/>
              </a:rPr>
              <a:t>Установка СУБД </a:t>
            </a:r>
            <a:r>
              <a:rPr lang="en-US" sz="3600" b="1" dirty="0" err="1">
                <a:latin typeface="+mj-lt"/>
                <a:cs typeface="Arial" pitchFamily="34" charset="0"/>
              </a:rPr>
              <a:t>PostgreSQL</a:t>
            </a: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+mj-lt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Реляционные базы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13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5508104" y="1484784"/>
            <a:ext cx="3635896" cy="44781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sz="1900" b="1" dirty="0" smtClean="0"/>
              <a:t>Порт</a:t>
            </a:r>
            <a:r>
              <a:rPr lang="ru-RU" sz="1900" dirty="0" smtClean="0"/>
              <a:t> по умолчанию начинается с </a:t>
            </a:r>
            <a:r>
              <a:rPr lang="ru-RU" sz="19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5432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sz="1900" b="1" dirty="0" err="1" smtClean="0"/>
              <a:t>Локаль</a:t>
            </a:r>
            <a:r>
              <a:rPr lang="ru-RU" sz="1900" dirty="0" smtClean="0"/>
              <a:t> по умолчанию – системная (можно изменить)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sz="1900" b="1" dirty="0"/>
              <a:t>Имя </a:t>
            </a:r>
            <a:r>
              <a:rPr lang="ru-RU" sz="1900" b="1" dirty="0" err="1" smtClean="0"/>
              <a:t>суперпользователя</a:t>
            </a:r>
            <a:r>
              <a:rPr lang="ru-RU" sz="1900" b="1" dirty="0" smtClean="0"/>
              <a:t> </a:t>
            </a:r>
            <a:r>
              <a:rPr lang="ru-RU" sz="1900" b="1" dirty="0"/>
              <a:t>и пароль</a:t>
            </a:r>
            <a:r>
              <a:rPr lang="ru-RU" sz="1900" dirty="0"/>
              <a:t> </a:t>
            </a:r>
            <a:r>
              <a:rPr lang="ru-RU" sz="1900" dirty="0" smtClean="0"/>
              <a:t> рекомендуется </a:t>
            </a:r>
            <a:r>
              <a:rPr lang="ru-RU" sz="1900" dirty="0"/>
              <a:t>вводить только латинскими </a:t>
            </a:r>
            <a:r>
              <a:rPr lang="ru-RU" sz="1900" dirty="0" smtClean="0"/>
              <a:t>буквами.</a:t>
            </a:r>
          </a:p>
          <a:p>
            <a:r>
              <a:rPr lang="ru-RU" sz="1900" dirty="0"/>
              <a:t> </a:t>
            </a:r>
            <a:r>
              <a:rPr lang="ru-RU" sz="1900" dirty="0" smtClean="0"/>
              <a:t>   По </a:t>
            </a:r>
            <a:r>
              <a:rPr lang="ru-RU" sz="1900" dirty="0"/>
              <a:t>умолчанию </a:t>
            </a:r>
            <a:r>
              <a:rPr lang="ru-RU" sz="1900" dirty="0" smtClean="0"/>
              <a:t>– </a:t>
            </a:r>
            <a:r>
              <a:rPr lang="ru-RU" sz="1900" b="1" spc="-100" dirty="0" err="1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postgres</a:t>
            </a:r>
            <a:endParaRPr lang="ru-RU" sz="1900" b="1" spc="-100" dirty="0" smtClean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sz="1900" dirty="0"/>
              <a:t>Параметр </a:t>
            </a:r>
            <a:r>
              <a:rPr lang="ru-RU" sz="1900" b="1" dirty="0"/>
              <a:t>"Включить контрольные суммы для страниц"</a:t>
            </a:r>
            <a:r>
              <a:rPr lang="ru-RU" sz="1900" dirty="0"/>
              <a:t> </a:t>
            </a:r>
            <a:r>
              <a:rPr lang="ru-RU" sz="1900" dirty="0" smtClean="0"/>
              <a:t>повышает </a:t>
            </a:r>
            <a:r>
              <a:rPr lang="ru-RU" sz="1900" dirty="0"/>
              <a:t>надежность хранения </a:t>
            </a:r>
            <a:r>
              <a:rPr lang="ru-RU" sz="1900" dirty="0" smtClean="0"/>
              <a:t>данных</a:t>
            </a:r>
            <a:endParaRPr lang="ru-RU" sz="1900" dirty="0"/>
          </a:p>
        </p:txBody>
      </p:sp>
      <p:sp>
        <p:nvSpPr>
          <p:cNvPr id="2" name="TextBox 1"/>
          <p:cNvSpPr txBox="1"/>
          <p:nvPr/>
        </p:nvSpPr>
        <p:spPr>
          <a:xfrm>
            <a:off x="251520" y="980728"/>
            <a:ext cx="7560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3</a:t>
            </a:r>
            <a:r>
              <a:rPr lang="en-US" sz="2400" b="1" dirty="0" smtClean="0"/>
              <a:t>.</a:t>
            </a:r>
            <a:r>
              <a:rPr lang="ru-RU" sz="2400" b="1" dirty="0" smtClean="0"/>
              <a:t> Задание параметров сервера</a:t>
            </a:r>
            <a:endParaRPr lang="ru-RU" sz="2400" b="1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484784"/>
            <a:ext cx="5472608" cy="42634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835696" y="5877272"/>
            <a:ext cx="72728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7188" indent="-357188">
              <a:buFont typeface="Wingdings" panose="05000000000000000000" pitchFamily="2" charset="2"/>
              <a:buChar char="q"/>
            </a:pPr>
            <a:r>
              <a:rPr lang="ru-RU" dirty="0" smtClean="0"/>
              <a:t>Параметр</a:t>
            </a:r>
            <a:r>
              <a:rPr lang="ru-RU" dirty="0"/>
              <a:t> </a:t>
            </a:r>
            <a:r>
              <a:rPr lang="ru-RU" b="1" dirty="0"/>
              <a:t>"Настроить переменные среды"</a:t>
            </a:r>
            <a:r>
              <a:rPr lang="ru-RU" dirty="0"/>
              <a:t> </a:t>
            </a:r>
            <a:r>
              <a:rPr lang="ru-RU" dirty="0" smtClean="0"/>
              <a:t> - </a:t>
            </a:r>
            <a:r>
              <a:rPr lang="ru-RU" dirty="0"/>
              <a:t>добавит путь </a:t>
            </a:r>
            <a:r>
              <a:rPr lang="ru-RU" dirty="0" smtClean="0"/>
              <a:t> </a:t>
            </a:r>
          </a:p>
          <a:p>
            <a:r>
              <a:rPr lang="ru-RU" dirty="0"/>
              <a:t> </a:t>
            </a:r>
            <a:r>
              <a:rPr lang="ru-RU" dirty="0" smtClean="0"/>
              <a:t>            к </a:t>
            </a:r>
            <a:r>
              <a:rPr lang="ru-RU" dirty="0"/>
              <a:t>исполняемым файлам сервера в переменную </a:t>
            </a:r>
            <a:r>
              <a:rPr lang="ru-RU" sz="2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PATH</a:t>
            </a:r>
          </a:p>
        </p:txBody>
      </p:sp>
    </p:spTree>
    <p:extLst>
      <p:ext uri="{BB962C8B-B14F-4D97-AF65-F5344CB8AC3E}">
        <p14:creationId xmlns:p14="http://schemas.microsoft.com/office/powerpoint/2010/main" val="4151711234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>
                <a:latin typeface="+mj-lt"/>
                <a:cs typeface="Arial" pitchFamily="34" charset="0"/>
              </a:rPr>
              <a:t>Установка СУБД </a:t>
            </a:r>
            <a:r>
              <a:rPr lang="en-US" sz="3600" b="1" dirty="0" err="1">
                <a:latin typeface="+mj-lt"/>
                <a:cs typeface="Arial" pitchFamily="34" charset="0"/>
              </a:rPr>
              <a:t>PostgreSQL</a:t>
            </a: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+mj-lt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Реляционные базы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14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5724128" y="1484784"/>
            <a:ext cx="324036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sz="2000" dirty="0"/>
              <a:t>Параметры сохраняются в файл </a:t>
            </a:r>
            <a:r>
              <a:rPr lang="ru-RU" sz="2000" b="1" dirty="0" err="1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postgresql.conf</a:t>
            </a:r>
            <a:r>
              <a:rPr lang="ru-RU" sz="20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342900"/>
            <a:r>
              <a:rPr lang="ru-RU" sz="2000" dirty="0" smtClean="0"/>
              <a:t>(в </a:t>
            </a:r>
            <a:r>
              <a:rPr lang="ru-RU" sz="2000" dirty="0"/>
              <a:t>папке с </a:t>
            </a:r>
            <a:r>
              <a:rPr lang="ru-RU" sz="2000" dirty="0" smtClean="0"/>
              <a:t>данными)</a:t>
            </a:r>
          </a:p>
          <a:p>
            <a:pPr marL="361950" indent="-342900">
              <a:buFont typeface="Wingdings" panose="05000000000000000000" pitchFamily="2" charset="2"/>
              <a:buChar char="q"/>
            </a:pPr>
            <a:r>
              <a:rPr lang="ru-RU" sz="2000" dirty="0" smtClean="0"/>
              <a:t>Оптимизируются </a:t>
            </a:r>
            <a:r>
              <a:rPr lang="ru-RU" sz="2000" dirty="0"/>
              <a:t>2 параметра: </a:t>
            </a:r>
            <a:endParaRPr lang="ru-RU" sz="2000" dirty="0" smtClean="0"/>
          </a:p>
          <a:p>
            <a:pPr marL="628650" indent="-274638">
              <a:buFont typeface="Arial" panose="020B0604020202020204" pitchFamily="34" charset="0"/>
              <a:buChar char="•"/>
            </a:pPr>
            <a:r>
              <a:rPr lang="ru-RU" sz="2000" dirty="0" smtClean="0"/>
              <a:t> </a:t>
            </a:r>
            <a:r>
              <a:rPr lang="ru-RU" sz="2000" b="1" dirty="0" err="1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shared_buffers</a:t>
            </a:r>
            <a:endParaRPr lang="en-US" sz="2000" b="1" dirty="0" smtClean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54012"/>
            <a:r>
              <a:rPr lang="ru-RU" sz="2000" dirty="0" smtClean="0">
                <a:cs typeface="Courier New" panose="02070309020205020404" pitchFamily="49" charset="0"/>
              </a:rPr>
              <a:t>    </a:t>
            </a:r>
            <a:r>
              <a:rPr lang="en-US" sz="2000" dirty="0" smtClean="0">
                <a:cs typeface="Courier New" panose="02070309020205020404" pitchFamily="49" charset="0"/>
              </a:rPr>
              <a:t>(</a:t>
            </a:r>
            <a:r>
              <a:rPr lang="ru-RU" sz="2000" dirty="0" smtClean="0">
                <a:cs typeface="Courier New" panose="02070309020205020404" pitchFamily="49" charset="0"/>
              </a:rPr>
              <a:t>память под кэш)</a:t>
            </a:r>
          </a:p>
          <a:p>
            <a:pPr marL="628650" indent="-274638">
              <a:buFont typeface="Arial" panose="020B0604020202020204" pitchFamily="34" charset="0"/>
              <a:buChar char="•"/>
            </a:pPr>
            <a:r>
              <a:rPr lang="ru-RU" sz="2000" dirty="0" smtClean="0"/>
              <a:t> </a:t>
            </a:r>
            <a:r>
              <a:rPr lang="ru-RU" sz="2000" b="1" dirty="0" err="1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work_mem</a:t>
            </a:r>
            <a:r>
              <a:rPr lang="ru-RU" sz="2000" dirty="0" smtClean="0"/>
              <a:t> </a:t>
            </a:r>
          </a:p>
          <a:p>
            <a:pPr marL="354012"/>
            <a:r>
              <a:rPr lang="ru-RU" sz="2000" dirty="0" smtClean="0"/>
              <a:t>    (</a:t>
            </a:r>
            <a:r>
              <a:rPr lang="ru-RU" sz="2000" dirty="0" err="1" smtClean="0"/>
              <a:t>макс.объем</a:t>
            </a:r>
            <a:r>
              <a:rPr lang="ru-RU" sz="2000" dirty="0" smtClean="0"/>
              <a:t> ОП)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sz="2000" dirty="0" smtClean="0"/>
              <a:t>Эти </a:t>
            </a:r>
            <a:r>
              <a:rPr lang="ru-RU" sz="2000" dirty="0"/>
              <a:t>и другие параметры </a:t>
            </a:r>
            <a:r>
              <a:rPr lang="ru-RU" sz="2000" dirty="0" smtClean="0"/>
              <a:t>можно потом изменить</a:t>
            </a:r>
            <a:endParaRPr lang="ru-RU" sz="1900" dirty="0"/>
          </a:p>
        </p:txBody>
      </p:sp>
      <p:sp>
        <p:nvSpPr>
          <p:cNvPr id="2" name="TextBox 1"/>
          <p:cNvSpPr txBox="1"/>
          <p:nvPr/>
        </p:nvSpPr>
        <p:spPr>
          <a:xfrm>
            <a:off x="251520" y="980728"/>
            <a:ext cx="8568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/>
              <a:t>4</a:t>
            </a:r>
            <a:r>
              <a:rPr lang="en-US" sz="2400" b="1" dirty="0" smtClean="0"/>
              <a:t>.</a:t>
            </a:r>
            <a:r>
              <a:rPr lang="ru-RU" sz="2400" b="1" dirty="0" smtClean="0"/>
              <a:t> Задание дополнительных параметров установки</a:t>
            </a:r>
            <a:endParaRPr lang="ru-RU" sz="2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1691680" y="5949280"/>
            <a:ext cx="7272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7188" indent="-357188">
              <a:buFont typeface="Wingdings" panose="05000000000000000000" pitchFamily="2" charset="2"/>
              <a:buChar char="q"/>
            </a:pPr>
            <a:r>
              <a:rPr lang="ru-RU" dirty="0" smtClean="0"/>
              <a:t>При включении </a:t>
            </a:r>
            <a:r>
              <a:rPr lang="ru-RU" b="1" dirty="0" smtClean="0"/>
              <a:t>"</a:t>
            </a:r>
            <a:r>
              <a:rPr lang="ru-RU" b="1" dirty="0"/>
              <a:t>Показать дополнительные параметры</a:t>
            </a:r>
            <a:r>
              <a:rPr lang="ru-RU" b="1" dirty="0" smtClean="0"/>
              <a:t>"</a:t>
            </a:r>
            <a:endParaRPr lang="ru-RU" dirty="0" smtClean="0"/>
          </a:p>
          <a:p>
            <a:r>
              <a:rPr lang="ru-RU" dirty="0"/>
              <a:t> </a:t>
            </a:r>
            <a:r>
              <a:rPr lang="ru-RU" dirty="0" smtClean="0"/>
              <a:t>              </a:t>
            </a:r>
            <a:r>
              <a:rPr lang="ru-RU" dirty="0"/>
              <a:t>появится окно настроек </a:t>
            </a:r>
            <a:r>
              <a:rPr lang="ru-RU" dirty="0" smtClean="0"/>
              <a:t>службы </a:t>
            </a:r>
            <a:r>
              <a:rPr lang="ru-RU" dirty="0" err="1"/>
              <a:t>PostgreSQL</a:t>
            </a:r>
            <a:endParaRPr lang="ru-R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412776"/>
            <a:ext cx="5688632" cy="4449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03222490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490212"/>
            <a:ext cx="5580111" cy="4303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>
                <a:latin typeface="+mj-lt"/>
                <a:cs typeface="Arial" pitchFamily="34" charset="0"/>
              </a:rPr>
              <a:t>Установка СУБД </a:t>
            </a:r>
            <a:r>
              <a:rPr lang="en-US" sz="3600" b="1" dirty="0" err="1">
                <a:latin typeface="+mj-lt"/>
                <a:cs typeface="Arial" pitchFamily="34" charset="0"/>
              </a:rPr>
              <a:t>PostgreSQL</a:t>
            </a: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+mj-lt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Реляционные базы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15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5580112" y="1988840"/>
            <a:ext cx="3563888" cy="43704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buFont typeface="Wingdings" panose="05000000000000000000" pitchFamily="2" charset="2"/>
              <a:buChar char="q"/>
              <a:tabLst>
                <a:tab pos="357188" algn="l"/>
              </a:tabLst>
            </a:pPr>
            <a:r>
              <a:rPr lang="ru-RU" dirty="0"/>
              <a:t>Для запуска сервера </a:t>
            </a:r>
            <a:r>
              <a:rPr lang="ru-RU" dirty="0" smtClean="0"/>
              <a:t>используется специальная встроенная </a:t>
            </a:r>
            <a:r>
              <a:rPr lang="ru-RU" dirty="0"/>
              <a:t>учетная запись </a:t>
            </a:r>
            <a:r>
              <a:rPr lang="ru-RU" dirty="0" err="1"/>
              <a:t>Windows</a:t>
            </a:r>
            <a:r>
              <a:rPr lang="ru-RU" dirty="0"/>
              <a:t>: </a:t>
            </a:r>
            <a:endParaRPr lang="ru-RU" dirty="0" smtClean="0"/>
          </a:p>
          <a:p>
            <a:r>
              <a:rPr lang="ru-RU" sz="16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NT AUTHORITY\</a:t>
            </a:r>
            <a:r>
              <a:rPr lang="ru-RU" sz="1600" b="1" dirty="0" err="1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NetworkService</a:t>
            </a:r>
            <a:endParaRPr lang="en-US" dirty="0" smtClean="0">
              <a:solidFill>
                <a:srgbClr val="0070C0"/>
              </a:solidFill>
            </a:endParaRP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ru-RU" dirty="0" smtClean="0"/>
              <a:t>Запуск </a:t>
            </a:r>
            <a:r>
              <a:rPr lang="ru-RU" dirty="0"/>
              <a:t>службы можно настроить от другого </a:t>
            </a:r>
            <a:r>
              <a:rPr lang="ru-RU" dirty="0" smtClean="0"/>
              <a:t>пользователя</a:t>
            </a:r>
            <a:r>
              <a:rPr lang="en-US" dirty="0" smtClean="0"/>
              <a:t> (</a:t>
            </a:r>
            <a:r>
              <a:rPr lang="ru-RU" dirty="0" smtClean="0"/>
              <a:t>ввести </a:t>
            </a:r>
            <a:r>
              <a:rPr lang="ru-RU" dirty="0"/>
              <a:t>имя и пароль уже существующего </a:t>
            </a:r>
            <a:r>
              <a:rPr lang="ru-RU" dirty="0" smtClean="0"/>
              <a:t>пользователя). Важно</a:t>
            </a:r>
            <a:r>
              <a:rPr lang="ru-RU" dirty="0"/>
              <a:t>, чтобы пользователь уже существовал на момент установки и имел все необходимые </a:t>
            </a:r>
            <a:r>
              <a:rPr lang="ru-RU" dirty="0" smtClean="0"/>
              <a:t>права</a:t>
            </a:r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251520" y="980728"/>
            <a:ext cx="8568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/>
              <a:t>5</a:t>
            </a:r>
            <a:r>
              <a:rPr lang="en-US" sz="2400" b="1" dirty="0" smtClean="0"/>
              <a:t>.</a:t>
            </a:r>
            <a:r>
              <a:rPr lang="ru-RU" sz="2400" b="1" dirty="0" smtClean="0"/>
              <a:t> Настройка службы </a:t>
            </a:r>
            <a:r>
              <a:rPr lang="en-US" sz="2400" b="1" dirty="0" smtClean="0"/>
              <a:t>PostgreSQL</a:t>
            </a:r>
            <a:endParaRPr lang="ru-RU" sz="2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3851920" y="6347073"/>
            <a:ext cx="5184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Можно изменить имя системной службы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25719989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>
                <a:latin typeface="+mj-lt"/>
                <a:cs typeface="Arial" pitchFamily="34" charset="0"/>
              </a:rPr>
              <a:t>Установка СУБД </a:t>
            </a:r>
            <a:r>
              <a:rPr lang="en-US" sz="3600" b="1" dirty="0" err="1">
                <a:latin typeface="+mj-lt"/>
                <a:cs typeface="Arial" pitchFamily="34" charset="0"/>
              </a:rPr>
              <a:t>PostgreSQL</a:t>
            </a: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+mj-lt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Реляционные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базы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16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102672"/>
            <a:ext cx="86409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ru-RU" sz="2400" dirty="0"/>
              <a:t>В процессе установки будет создана отдельная учетная запись пользователя СУБД (роль) с именем </a:t>
            </a:r>
            <a:r>
              <a:rPr lang="ru-RU" sz="2400" b="1" dirty="0" err="1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postgres</a:t>
            </a:r>
            <a:r>
              <a:rPr lang="ru-RU" sz="2400" dirty="0" smtClean="0"/>
              <a:t> </a:t>
            </a:r>
            <a:endParaRPr lang="en-US" sz="2400" dirty="0" smtClean="0"/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ru-RU" sz="2400" dirty="0" smtClean="0"/>
              <a:t>При </a:t>
            </a:r>
            <a:r>
              <a:rPr lang="ru-RU" sz="2400" dirty="0"/>
              <a:t>установке СУБД в среде </a:t>
            </a:r>
            <a:r>
              <a:rPr lang="ru-RU" sz="2400" dirty="0" err="1"/>
              <a:t>Windows</a:t>
            </a:r>
            <a:r>
              <a:rPr lang="ru-RU" sz="2400" dirty="0"/>
              <a:t> создается служба </a:t>
            </a:r>
            <a:r>
              <a:rPr lang="ru-RU" sz="2400" dirty="0" smtClean="0"/>
              <a:t>для </a:t>
            </a:r>
            <a:r>
              <a:rPr lang="ru-RU" sz="2400" dirty="0"/>
              <a:t>автоматического запуска сервера PostgreSQL при загрузке операционной </a:t>
            </a:r>
            <a:r>
              <a:rPr lang="ru-RU" sz="2400" dirty="0" smtClean="0"/>
              <a:t>системы</a:t>
            </a:r>
            <a:endParaRPr lang="en-US" sz="2400" dirty="0" smtClean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3356992"/>
            <a:ext cx="6250061" cy="159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51520" y="5229200"/>
            <a:ext cx="84066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sz="2400" dirty="0" smtClean="0"/>
              <a:t>При первой установке сервер занимает порт  5432 для приема запросов от клиентов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508822890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548680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 smtClean="0"/>
              <a:t>Клиенты для работы с СУБД</a:t>
            </a: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Реляционные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базы данных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17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0528" y="1124744"/>
            <a:ext cx="878396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763" algn="just"/>
            <a:endParaRPr lang="ru-RU" sz="2700" dirty="0" smtClean="0"/>
          </a:p>
          <a:p>
            <a:pPr marL="4763" algn="just"/>
            <a:r>
              <a:rPr lang="ru-RU" sz="2800" dirty="0" smtClean="0"/>
              <a:t>Клиент </a:t>
            </a:r>
            <a:r>
              <a:rPr lang="ru-RU" sz="2800" dirty="0"/>
              <a:t>для работы с </a:t>
            </a:r>
            <a:r>
              <a:rPr lang="ru-RU" sz="2800" dirty="0" smtClean="0"/>
              <a:t>сервером БД позволяет:</a:t>
            </a:r>
          </a:p>
          <a:p>
            <a:pPr marL="804863" indent="-457200" algn="just">
              <a:buFont typeface="Wingdings" panose="05000000000000000000" pitchFamily="2" charset="2"/>
              <a:buChar char="§"/>
            </a:pPr>
            <a:r>
              <a:rPr lang="ru-RU" sz="2800" dirty="0" smtClean="0"/>
              <a:t>создавать</a:t>
            </a:r>
            <a:r>
              <a:rPr lang="ru-RU" sz="2800" dirty="0"/>
              <a:t>, удалять, изменять </a:t>
            </a:r>
            <a:r>
              <a:rPr lang="ru-RU" sz="2800" dirty="0" smtClean="0"/>
              <a:t>БД</a:t>
            </a:r>
          </a:p>
          <a:p>
            <a:pPr marL="804863" indent="-457200" algn="just">
              <a:buFont typeface="Wingdings" panose="05000000000000000000" pitchFamily="2" charset="2"/>
              <a:buChar char="§"/>
            </a:pPr>
            <a:r>
              <a:rPr lang="ru-RU" sz="2800" dirty="0" smtClean="0"/>
              <a:t>управлять БД </a:t>
            </a:r>
          </a:p>
          <a:p>
            <a:pPr marL="804863" indent="-457200" algn="just">
              <a:buFont typeface="Wingdings" panose="05000000000000000000" pitchFamily="2" charset="2"/>
              <a:buChar char="§"/>
            </a:pPr>
            <a:r>
              <a:rPr lang="ru-RU" sz="2800" dirty="0" smtClean="0"/>
              <a:t>выполнять запросы к БД</a:t>
            </a:r>
          </a:p>
          <a:p>
            <a:pPr marL="804863" indent="-457200" algn="just">
              <a:buFont typeface="Wingdings" panose="05000000000000000000" pitchFamily="2" charset="2"/>
              <a:buChar char="§"/>
            </a:pPr>
            <a:r>
              <a:rPr lang="ru-RU" sz="2800" dirty="0"/>
              <a:t>выполнять функции администрирования</a:t>
            </a:r>
          </a:p>
          <a:p>
            <a:pPr marL="347663" algn="just"/>
            <a:endParaRPr lang="ru-RU" sz="2800" b="1" dirty="0" smtClean="0"/>
          </a:p>
          <a:p>
            <a:pPr marL="347663" algn="just"/>
            <a:r>
              <a:rPr lang="ru-RU" sz="2800" b="1" dirty="0" smtClean="0"/>
              <a:t>Основные клиенты:</a:t>
            </a:r>
          </a:p>
          <a:p>
            <a:pPr marL="461963" indent="-457200" algn="just">
              <a:buFont typeface="Arial" panose="020B0604020202020204" pitchFamily="34" charset="0"/>
              <a:buChar char="•"/>
            </a:pPr>
            <a:r>
              <a:rPr lang="ru-RU" sz="2800" dirty="0" smtClean="0"/>
              <a:t>Консольный </a:t>
            </a:r>
            <a:r>
              <a:rPr lang="ru-RU" sz="2800" dirty="0"/>
              <a:t>клиент </a:t>
            </a:r>
            <a:r>
              <a:rPr lang="en-US" sz="28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psql</a:t>
            </a:r>
            <a:endParaRPr lang="ru-RU" sz="28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61963" indent="-457200" algn="just">
              <a:buFont typeface="Arial" panose="020B0604020202020204" pitchFamily="34" charset="0"/>
              <a:buChar char="•"/>
            </a:pPr>
            <a:r>
              <a:rPr lang="ru-RU" sz="2800" dirty="0" smtClean="0"/>
              <a:t>Клиент с графическим интерфейсом</a:t>
            </a:r>
            <a:r>
              <a:rPr lang="ru-RU" sz="2700" dirty="0" smtClean="0"/>
              <a:t> </a:t>
            </a:r>
            <a:r>
              <a:rPr lang="en-US" sz="27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PgAdmin</a:t>
            </a:r>
            <a:endParaRPr lang="en-US" sz="27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61963" indent="-457200" algn="just">
              <a:buFont typeface="Arial" panose="020B0604020202020204" pitchFamily="34" charset="0"/>
              <a:buChar char="•"/>
            </a:pPr>
            <a:r>
              <a:rPr lang="ru-RU" sz="2700" dirty="0" smtClean="0"/>
              <a:t>Программа  </a:t>
            </a:r>
            <a:r>
              <a:rPr lang="en-US" sz="27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DBeaver</a:t>
            </a:r>
            <a:endParaRPr lang="ru-RU" sz="27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00113" indent="-900113" algn="just"/>
            <a:endParaRPr lang="ru-RU" sz="2700" dirty="0"/>
          </a:p>
          <a:p>
            <a:pPr marL="989013" indent="-989013" algn="just">
              <a:buFont typeface="+mj-lt"/>
              <a:buAutoNum type="arabicParenR" startAt="3"/>
            </a:pPr>
            <a:endParaRPr lang="ru-RU" sz="2700" dirty="0"/>
          </a:p>
        </p:txBody>
      </p:sp>
    </p:spTree>
    <p:extLst>
      <p:ext uri="{BB962C8B-B14F-4D97-AF65-F5344CB8AC3E}">
        <p14:creationId xmlns:p14="http://schemas.microsoft.com/office/powerpoint/2010/main" val="2056932174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 smtClean="0"/>
              <a:t>Консольный клиент </a:t>
            </a:r>
            <a:r>
              <a:rPr lang="en-US" sz="3600" b="1" dirty="0" smtClean="0"/>
              <a:t> </a:t>
            </a:r>
            <a:r>
              <a:rPr lang="en-US" sz="42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psql</a:t>
            </a:r>
            <a:endParaRPr lang="ru-RU" sz="42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Реляционные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базы данных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18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85800" y="1196752"/>
            <a:ext cx="804664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6088" indent="-446088">
              <a:buFont typeface="Wingdings" panose="05000000000000000000" pitchFamily="2" charset="2"/>
              <a:buChar char="q"/>
            </a:pPr>
            <a:r>
              <a:rPr lang="ru-RU" sz="2400" dirty="0" err="1"/>
              <a:t>psql</a:t>
            </a:r>
            <a:r>
              <a:rPr lang="ru-RU" sz="2400" dirty="0"/>
              <a:t> — это интерактивная консольная утилита для работы с </a:t>
            </a:r>
            <a:r>
              <a:rPr lang="ru-RU" sz="2400" dirty="0" smtClean="0"/>
              <a:t>PostgreSQL </a:t>
            </a:r>
          </a:p>
          <a:p>
            <a:pPr marL="446088" indent="-446088">
              <a:buFont typeface="Wingdings" panose="05000000000000000000" pitchFamily="2" charset="2"/>
              <a:buChar char="q"/>
            </a:pPr>
            <a:r>
              <a:rPr lang="ru-RU" sz="2400" dirty="0" smtClean="0"/>
              <a:t>Позволяет </a:t>
            </a:r>
            <a:r>
              <a:rPr lang="ru-RU" sz="2400" dirty="0"/>
              <a:t>взаимодействовать с базой данных через командную </a:t>
            </a:r>
            <a:r>
              <a:rPr lang="ru-RU" sz="2400" dirty="0" smtClean="0"/>
              <a:t>строку</a:t>
            </a:r>
          </a:p>
          <a:p>
            <a:pPr marL="446088" indent="-446088">
              <a:buFont typeface="Wingdings" panose="05000000000000000000" pitchFamily="2" charset="2"/>
              <a:buChar char="q"/>
            </a:pPr>
            <a:r>
              <a:rPr lang="ru-RU" sz="2400" dirty="0" smtClean="0"/>
              <a:t>Доступна после установки </a:t>
            </a:r>
            <a:r>
              <a:rPr lang="en-US" sz="2400" dirty="0" smtClean="0"/>
              <a:t>PostgreSQL</a:t>
            </a:r>
            <a:endParaRPr lang="ru-RU" sz="24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359" t="-7253" r="32690" b="29826"/>
          <a:stretch/>
        </p:blipFill>
        <p:spPr bwMode="auto">
          <a:xfrm>
            <a:off x="1547664" y="2780928"/>
            <a:ext cx="7126528" cy="3888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08847446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 smtClean="0"/>
              <a:t>Настройка запуска клиента </a:t>
            </a:r>
            <a:r>
              <a:rPr lang="en-US" sz="3600" b="1" dirty="0" smtClean="0"/>
              <a:t> </a:t>
            </a:r>
            <a:r>
              <a:rPr lang="en-US" sz="42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psql</a:t>
            </a:r>
            <a:endParaRPr lang="ru-RU" sz="42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Реляционные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базы данных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19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936" y="980728"/>
            <a:ext cx="3208784" cy="213311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2" name="Стрелка углом 1"/>
          <p:cNvSpPr/>
          <p:nvPr/>
        </p:nvSpPr>
        <p:spPr>
          <a:xfrm rot="10800000" flipH="1">
            <a:off x="2411760" y="2780927"/>
            <a:ext cx="936104" cy="864096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4088057"/>
            <a:ext cx="4248472" cy="27691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3851920" y="1124744"/>
            <a:ext cx="41044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Файл </a:t>
            </a:r>
            <a:r>
              <a:rPr lang="en-US" sz="2000" b="1" dirty="0" smtClean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runpsql.bat</a:t>
            </a:r>
            <a:endParaRPr lang="ru-RU" sz="2000" b="1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496" y="3789040"/>
            <a:ext cx="29523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Запуск 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runpsql.bat</a:t>
            </a:r>
            <a:endParaRPr lang="ru-RU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0" name="Прямая со стрелкой 9"/>
          <p:cNvCxnSpPr/>
          <p:nvPr/>
        </p:nvCxnSpPr>
        <p:spPr>
          <a:xfrm flipH="1">
            <a:off x="1187624" y="2780927"/>
            <a:ext cx="972108" cy="1008113"/>
          </a:xfrm>
          <a:prstGeom prst="straightConnector1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8362" y="1481311"/>
            <a:ext cx="5772150" cy="317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3840741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 smtClean="0"/>
              <a:t>Команды </a:t>
            </a:r>
            <a:r>
              <a:rPr lang="en-US" sz="3600" b="1" dirty="0" smtClean="0"/>
              <a:t> </a:t>
            </a:r>
            <a:r>
              <a:rPr lang="en-US" sz="42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psql</a:t>
            </a:r>
            <a:endParaRPr lang="ru-RU" sz="42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Реляционные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базы данных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20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85800" y="1196752"/>
            <a:ext cx="80466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6088" indent="-446088">
              <a:buFont typeface="Wingdings" panose="05000000000000000000" pitchFamily="2" charset="2"/>
              <a:buChar char="§"/>
            </a:pPr>
            <a:r>
              <a:rPr lang="ru-RU" sz="2400" dirty="0" smtClean="0"/>
              <a:t>Команда языка </a:t>
            </a:r>
            <a:r>
              <a:rPr lang="en-US" sz="2400" dirty="0" smtClean="0"/>
              <a:t>SQL </a:t>
            </a:r>
            <a:r>
              <a:rPr lang="ru-RU" sz="2400" dirty="0" smtClean="0"/>
              <a:t>должна заканчиваться «;»</a:t>
            </a:r>
          </a:p>
          <a:p>
            <a:pPr marL="446088" indent="-446088">
              <a:buFont typeface="Wingdings" panose="05000000000000000000" pitchFamily="2" charset="2"/>
              <a:buChar char="§"/>
            </a:pPr>
            <a:r>
              <a:rPr lang="ru-RU" sz="2400" dirty="0" smtClean="0"/>
              <a:t>Остальные команды – нажатием «</a:t>
            </a:r>
            <a:r>
              <a:rPr lang="en-US" sz="2400" dirty="0" smtClean="0"/>
              <a:t>Enter</a:t>
            </a:r>
            <a:r>
              <a:rPr lang="ru-RU" sz="2400" dirty="0" smtClean="0"/>
              <a:t>»</a:t>
            </a:r>
            <a:endParaRPr lang="ru-R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1907704" y="2503924"/>
            <a:ext cx="6768752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\! </a:t>
            </a:r>
            <a:r>
              <a:rPr lang="en-US" sz="20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sz="20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hcp</a:t>
            </a:r>
            <a:r>
              <a:rPr lang="en-US" sz="20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ru-RU" sz="20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кодировка</a:t>
            </a:r>
            <a:r>
              <a:rPr lang="en-US" sz="20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ru-RU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 smtClean="0"/>
              <a:t>   - смена кодировки</a:t>
            </a:r>
          </a:p>
          <a:p>
            <a:r>
              <a:rPr lang="ru-RU" dirty="0" smtClean="0"/>
              <a:t>                        Пример.</a:t>
            </a:r>
            <a:r>
              <a:rPr lang="en-US" dirty="0" smtClean="0"/>
              <a:t>  </a:t>
            </a:r>
            <a:r>
              <a:rPr lang="ru-RU" dirty="0" smtClean="0"/>
              <a:t> </a:t>
            </a:r>
            <a:r>
              <a:rPr lang="en-US" sz="20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\! </a:t>
            </a:r>
            <a:r>
              <a:rPr lang="en-US" sz="20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sz="20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hcp</a:t>
            </a:r>
            <a:r>
              <a:rPr lang="ru-RU" sz="20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1251</a:t>
            </a:r>
            <a:endParaRPr lang="en-US" sz="20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1200"/>
              </a:spcBef>
            </a:pPr>
            <a:r>
              <a:rPr lang="en-US" sz="20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\c &lt;</a:t>
            </a:r>
            <a:r>
              <a:rPr lang="ru-RU" sz="20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имя БД</a:t>
            </a:r>
            <a:r>
              <a:rPr lang="en-US" sz="20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ru-RU" dirty="0" smtClean="0"/>
              <a:t>                   - подсоединится к БД</a:t>
            </a:r>
          </a:p>
          <a:p>
            <a:r>
              <a:rPr lang="ru-RU" dirty="0" smtClean="0"/>
              <a:t>                        Пример.   </a:t>
            </a:r>
            <a:r>
              <a:rPr lang="ru-RU" sz="20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\ </a:t>
            </a:r>
            <a:r>
              <a:rPr lang="en-US" sz="20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 </a:t>
            </a:r>
            <a:r>
              <a:rPr lang="en-US" sz="20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test_db</a:t>
            </a:r>
            <a:endParaRPr lang="en-US" sz="20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1200"/>
              </a:spcBef>
            </a:pPr>
            <a:r>
              <a:rPr lang="en-US" sz="20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\du</a:t>
            </a:r>
            <a:r>
              <a:rPr lang="ru-RU" dirty="0" smtClean="0"/>
              <a:t>                   </a:t>
            </a:r>
            <a:r>
              <a:rPr lang="ru-RU" dirty="0"/>
              <a:t>- </a:t>
            </a:r>
            <a:r>
              <a:rPr lang="ru-RU" dirty="0" smtClean="0"/>
              <a:t>вывести список  ролей</a:t>
            </a:r>
          </a:p>
          <a:p>
            <a:pPr>
              <a:spcBef>
                <a:spcPts val="1200"/>
              </a:spcBef>
            </a:pPr>
            <a:r>
              <a:rPr lang="en-US" sz="20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  <a:r>
              <a:rPr lang="en-US" sz="20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</a:t>
            </a:r>
            <a:r>
              <a:rPr lang="ru-RU" dirty="0" smtClean="0"/>
              <a:t>                  </a:t>
            </a:r>
            <a:r>
              <a:rPr lang="en-US" dirty="0" smtClean="0"/>
              <a:t>  </a:t>
            </a:r>
            <a:r>
              <a:rPr lang="ru-RU" dirty="0" smtClean="0"/>
              <a:t> </a:t>
            </a:r>
            <a:r>
              <a:rPr lang="ru-RU" dirty="0"/>
              <a:t>- вывести список  </a:t>
            </a:r>
            <a:r>
              <a:rPr lang="ru-RU" dirty="0" smtClean="0"/>
              <a:t>БД</a:t>
            </a:r>
          </a:p>
          <a:p>
            <a:pPr>
              <a:spcBef>
                <a:spcPts val="1200"/>
              </a:spcBef>
            </a:pPr>
            <a:r>
              <a:rPr lang="en-US" sz="20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  <a:r>
              <a:rPr lang="en-US" sz="20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dn</a:t>
            </a:r>
            <a:r>
              <a:rPr lang="ru-RU" dirty="0" smtClean="0"/>
              <a:t>                   </a:t>
            </a:r>
            <a:r>
              <a:rPr lang="ru-RU" dirty="0"/>
              <a:t>- вывести список  </a:t>
            </a:r>
            <a:r>
              <a:rPr lang="ru-RU" dirty="0" smtClean="0"/>
              <a:t>схем</a:t>
            </a:r>
            <a:endParaRPr lang="en-US" dirty="0" smtClean="0"/>
          </a:p>
          <a:p>
            <a:pPr>
              <a:spcBef>
                <a:spcPts val="1200"/>
              </a:spcBef>
            </a:pPr>
            <a:r>
              <a:rPr lang="en-US" sz="20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\?</a:t>
            </a:r>
            <a:r>
              <a:rPr lang="en-US" dirty="0" smtClean="0"/>
              <a:t>                      - </a:t>
            </a:r>
            <a:r>
              <a:rPr lang="ru-RU" dirty="0" smtClean="0"/>
              <a:t>получить </a:t>
            </a:r>
            <a:r>
              <a:rPr lang="ru-RU" dirty="0" smtClean="0"/>
              <a:t>справку</a:t>
            </a:r>
            <a:endParaRPr lang="en-US" dirty="0" smtClean="0"/>
          </a:p>
          <a:p>
            <a:pPr>
              <a:spcBef>
                <a:spcPts val="1200"/>
              </a:spcBef>
            </a:pPr>
            <a:r>
              <a:rPr lang="en-US" sz="20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\q</a:t>
            </a:r>
            <a:r>
              <a:rPr lang="en-US" dirty="0" smtClean="0"/>
              <a:t>                      - </a:t>
            </a:r>
            <a:r>
              <a:rPr lang="ru-RU" dirty="0" smtClean="0"/>
              <a:t>выход (</a:t>
            </a:r>
            <a:r>
              <a:rPr lang="ru-RU" smtClean="0"/>
              <a:t>завершить работу)</a:t>
            </a:r>
            <a:endParaRPr lang="ru-RU" dirty="0"/>
          </a:p>
          <a:p>
            <a:endParaRPr lang="ru-RU" b="1" dirty="0">
              <a:solidFill>
                <a:srgbClr val="7030A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87624" y="2123564"/>
            <a:ext cx="3672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Некоторые команды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356813416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+mj-lt"/>
                <a:cs typeface="Arial" pitchFamily="34" charset="0"/>
              </a:rPr>
              <a:t>Графический  клиент   </a:t>
            </a:r>
            <a:r>
              <a:rPr lang="en-US" sz="3600" b="1" dirty="0" err="1">
                <a:solidFill>
                  <a:srgbClr val="7030A0"/>
                </a:solidFill>
                <a:latin typeface="+mj-lt"/>
                <a:cs typeface="Arial" pitchFamily="34" charset="0"/>
              </a:rPr>
              <a:t>PgAdmin</a:t>
            </a:r>
            <a:endParaRPr lang="ru-RU" sz="3600" dirty="0">
              <a:solidFill>
                <a:srgbClr val="7030A0"/>
              </a:solidFill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+mj-lt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Реляционные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базы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21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3501008"/>
            <a:ext cx="86409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/>
            <a:r>
              <a:rPr lang="ru-RU" sz="2400" dirty="0"/>
              <a:t>До версии 9    использовался </a:t>
            </a:r>
            <a:r>
              <a:rPr lang="en-US" sz="2400" b="1" dirty="0" err="1">
                <a:solidFill>
                  <a:srgbClr val="0070C0"/>
                </a:solidFill>
              </a:rPr>
              <a:t>pgAdmin</a:t>
            </a:r>
            <a:r>
              <a:rPr lang="ru-RU" sz="2400" b="1" dirty="0">
                <a:solidFill>
                  <a:srgbClr val="0070C0"/>
                </a:solidFill>
              </a:rPr>
              <a:t> </a:t>
            </a:r>
            <a:r>
              <a:rPr lang="en-US" sz="2400" b="1" dirty="0">
                <a:solidFill>
                  <a:srgbClr val="0070C0"/>
                </a:solidFill>
              </a:rPr>
              <a:t>III</a:t>
            </a:r>
            <a:r>
              <a:rPr lang="ru-RU" sz="2400" dirty="0"/>
              <a:t>,</a:t>
            </a:r>
          </a:p>
          <a:p>
            <a:pPr algn="just" fontAlgn="base"/>
            <a:r>
              <a:rPr lang="ru-RU" sz="2400" dirty="0" smtClean="0"/>
              <a:t>      </a:t>
            </a:r>
            <a:r>
              <a:rPr lang="ru-RU" sz="2400" dirty="0"/>
              <a:t>а с версии  10 - </a:t>
            </a:r>
            <a:r>
              <a:rPr lang="en-US" sz="2400" b="1" dirty="0" err="1">
                <a:solidFill>
                  <a:srgbClr val="002060"/>
                </a:solidFill>
              </a:rPr>
              <a:t>pgAdmin</a:t>
            </a:r>
            <a:r>
              <a:rPr lang="ru-RU" sz="2400" b="1" dirty="0">
                <a:solidFill>
                  <a:srgbClr val="002060"/>
                </a:solidFill>
              </a:rPr>
              <a:t> </a:t>
            </a:r>
            <a:r>
              <a:rPr lang="ru-RU" sz="2400" b="1" dirty="0" smtClean="0">
                <a:solidFill>
                  <a:srgbClr val="002060"/>
                </a:solidFill>
              </a:rPr>
              <a:t>4 </a:t>
            </a:r>
            <a:r>
              <a:rPr lang="ru-RU" sz="2400" dirty="0" smtClean="0">
                <a:solidFill>
                  <a:srgbClr val="002060"/>
                </a:solidFill>
              </a:rPr>
              <a:t>(</a:t>
            </a:r>
            <a:r>
              <a:rPr lang="ru-RU" sz="2400" dirty="0" smtClean="0"/>
              <a:t>на окт.25 версия 9.</a:t>
            </a:r>
            <a:r>
              <a:rPr lang="en-US" sz="2400" dirty="0" smtClean="0"/>
              <a:t>8</a:t>
            </a:r>
            <a:r>
              <a:rPr lang="ru-RU" sz="2400" dirty="0" smtClean="0"/>
              <a:t>) </a:t>
            </a:r>
            <a:endParaRPr lang="ru-R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249864" y="1248142"/>
            <a:ext cx="8640960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/>
              <a:t>Программа </a:t>
            </a:r>
            <a:r>
              <a:rPr lang="ru-RU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pgAdmin</a:t>
            </a:r>
            <a:r>
              <a:rPr lang="ru-RU" sz="2400" dirty="0"/>
              <a:t> предоставляет графический интерфейс </a:t>
            </a:r>
            <a:r>
              <a:rPr lang="ru-RU" sz="2400" dirty="0" smtClean="0"/>
              <a:t>для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ru-RU" sz="2400" dirty="0" smtClean="0"/>
              <a:t> </a:t>
            </a:r>
            <a:endParaRPr lang="ru-RU" sz="2400" dirty="0"/>
          </a:p>
          <a:p>
            <a:pPr marL="628650" indent="-342900" algn="just">
              <a:buFont typeface="Wingdings" panose="05000000000000000000" pitchFamily="2" charset="2"/>
              <a:buChar char="§"/>
            </a:pPr>
            <a:r>
              <a:rPr lang="ru-RU" sz="2300" dirty="0"/>
              <a:t>выполнения запросов</a:t>
            </a:r>
          </a:p>
          <a:p>
            <a:pPr marL="628650" indent="-342900" algn="just">
              <a:buFont typeface="Wingdings" panose="05000000000000000000" pitchFamily="2" charset="2"/>
              <a:buChar char="§"/>
            </a:pPr>
            <a:r>
              <a:rPr lang="ru-RU" sz="2300" dirty="0"/>
              <a:t>запуска стандартных утилит PostgreSQL </a:t>
            </a:r>
          </a:p>
          <a:p>
            <a:pPr marL="628650" indent="-342900" algn="just">
              <a:buFont typeface="Wingdings" panose="05000000000000000000" pitchFamily="2" charset="2"/>
              <a:buChar char="§"/>
            </a:pPr>
            <a:r>
              <a:rPr lang="ru-RU" sz="2300" dirty="0"/>
              <a:t>выполнения административных функций и команд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4365104"/>
            <a:ext cx="4680520" cy="245335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5443690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+mj-lt"/>
                <a:cs typeface="Arial" pitchFamily="34" charset="0"/>
              </a:rPr>
              <a:t>Запуск  </a:t>
            </a:r>
            <a:r>
              <a:rPr lang="en-US" sz="3600" b="1" dirty="0" err="1" smtClean="0">
                <a:solidFill>
                  <a:srgbClr val="7030A0"/>
                </a:solidFill>
                <a:latin typeface="+mj-lt"/>
                <a:cs typeface="Arial" pitchFamily="34" charset="0"/>
              </a:rPr>
              <a:t>psql</a:t>
            </a:r>
            <a:r>
              <a:rPr lang="en-US" sz="3600" b="1" dirty="0" smtClean="0">
                <a:latin typeface="+mj-lt"/>
                <a:cs typeface="Arial" pitchFamily="34" charset="0"/>
              </a:rPr>
              <a:t>  </a:t>
            </a:r>
            <a:r>
              <a:rPr lang="ru-RU" sz="3600" b="1" dirty="0" smtClean="0">
                <a:latin typeface="+mj-lt"/>
                <a:cs typeface="Arial" pitchFamily="34" charset="0"/>
              </a:rPr>
              <a:t>из   </a:t>
            </a:r>
            <a:r>
              <a:rPr lang="en-US" sz="3600" b="1" dirty="0" err="1">
                <a:solidFill>
                  <a:srgbClr val="7030A0"/>
                </a:solidFill>
                <a:latin typeface="+mj-lt"/>
                <a:cs typeface="Arial" pitchFamily="34" charset="0"/>
              </a:rPr>
              <a:t>PgAdmin</a:t>
            </a:r>
            <a:endParaRPr lang="ru-RU" sz="3600" dirty="0">
              <a:solidFill>
                <a:srgbClr val="7030A0"/>
              </a:solidFill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+mj-lt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Реляционные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базы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22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94" y="1412776"/>
            <a:ext cx="8931594" cy="3240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104215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+mj-lt"/>
                <a:cs typeface="Arial" pitchFamily="34" charset="0"/>
              </a:rPr>
              <a:t>Графический  клиент   </a:t>
            </a:r>
            <a:r>
              <a:rPr lang="en-US" sz="3600" b="1" dirty="0" err="1" smtClean="0">
                <a:solidFill>
                  <a:srgbClr val="7030A0"/>
                </a:solidFill>
                <a:latin typeface="+mj-lt"/>
                <a:cs typeface="Arial" pitchFamily="34" charset="0"/>
              </a:rPr>
              <a:t>DBeaver</a:t>
            </a:r>
            <a:endParaRPr lang="ru-RU" sz="3600" dirty="0">
              <a:solidFill>
                <a:srgbClr val="7030A0"/>
              </a:solidFill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+mj-lt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Реляционные базы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23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49864" y="1124744"/>
            <a:ext cx="8894136" cy="1923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 err="1" smtClean="0"/>
              <a:t>Dbeaver</a:t>
            </a:r>
            <a:r>
              <a:rPr lang="en-US" sz="2400" dirty="0" smtClean="0"/>
              <a:t> -</a:t>
            </a:r>
            <a:r>
              <a:rPr lang="ru-RU" sz="2400" dirty="0" smtClean="0"/>
              <a:t> </a:t>
            </a:r>
            <a:r>
              <a:rPr lang="ru-RU" sz="2400" dirty="0"/>
              <a:t>универсальный инструмент </a:t>
            </a:r>
            <a:r>
              <a:rPr lang="ru-RU" sz="2400" dirty="0" smtClean="0"/>
              <a:t>для работы с БД</a:t>
            </a:r>
          </a:p>
          <a:p>
            <a:pPr marL="357188" indent="-357188" algn="just">
              <a:buFont typeface="Wingdings" panose="05000000000000000000" pitchFamily="2" charset="2"/>
              <a:buChar char="q"/>
            </a:pPr>
            <a:r>
              <a:rPr lang="ru-RU" sz="2400" dirty="0" smtClean="0"/>
              <a:t>Поддерживает работу с большим количеством СУБД,</a:t>
            </a:r>
          </a:p>
          <a:p>
            <a:pPr marL="357188" algn="just"/>
            <a:r>
              <a:rPr lang="ru-RU" sz="2400" dirty="0" smtClean="0"/>
              <a:t>  в </a:t>
            </a:r>
            <a:r>
              <a:rPr lang="ru-RU" sz="2400" dirty="0" err="1" smtClean="0"/>
              <a:t>т.ч</a:t>
            </a:r>
            <a:r>
              <a:rPr lang="ru-RU" sz="2400" dirty="0" smtClean="0"/>
              <a:t>. </a:t>
            </a:r>
            <a:r>
              <a:rPr lang="en-US" sz="2400" dirty="0" smtClean="0"/>
              <a:t>PostgreSQL</a:t>
            </a:r>
            <a:r>
              <a:rPr lang="ru-RU" sz="2400" dirty="0" smtClean="0"/>
              <a:t>, </a:t>
            </a:r>
            <a:r>
              <a:rPr lang="en-US" sz="2400" dirty="0" smtClean="0"/>
              <a:t>MySQL, </a:t>
            </a:r>
            <a:r>
              <a:rPr lang="en-US" sz="2400" dirty="0"/>
              <a:t>Oracle, SQL Server, SQLite, </a:t>
            </a:r>
            <a:r>
              <a:rPr lang="ru-RU" sz="2400" dirty="0" smtClean="0"/>
              <a:t> </a:t>
            </a:r>
          </a:p>
          <a:p>
            <a:pPr marL="357188" algn="just"/>
            <a:r>
              <a:rPr lang="ru-RU" sz="2400" dirty="0"/>
              <a:t> </a:t>
            </a:r>
            <a:r>
              <a:rPr lang="ru-RU" sz="2400" dirty="0" smtClean="0"/>
              <a:t>          </a:t>
            </a:r>
            <a:r>
              <a:rPr lang="en-US" sz="2400" dirty="0" smtClean="0"/>
              <a:t>IBM </a:t>
            </a:r>
            <a:r>
              <a:rPr lang="en-US" sz="2400" dirty="0"/>
              <a:t>DB2, MongoDB, Cassandra, </a:t>
            </a:r>
            <a:r>
              <a:rPr lang="en-US" sz="2400" dirty="0" err="1"/>
              <a:t>Redis</a:t>
            </a:r>
            <a:r>
              <a:rPr lang="en-US" sz="2400" dirty="0"/>
              <a:t> </a:t>
            </a:r>
            <a:r>
              <a:rPr lang="ru-RU" sz="2400" dirty="0"/>
              <a:t>и </a:t>
            </a:r>
            <a:r>
              <a:rPr lang="ru-RU" sz="2400" dirty="0" smtClean="0"/>
              <a:t>др.</a:t>
            </a:r>
          </a:p>
          <a:p>
            <a:pPr marL="354013" indent="-342900" algn="just">
              <a:buFont typeface="Wingdings" panose="05000000000000000000" pitchFamily="2" charset="2"/>
              <a:buChar char="q"/>
            </a:pPr>
            <a:r>
              <a:rPr lang="ru-RU" sz="2400" dirty="0" smtClean="0"/>
              <a:t>Есть общедоступная версия </a:t>
            </a:r>
            <a:r>
              <a:rPr lang="en-US" sz="2400" dirty="0" smtClean="0"/>
              <a:t>Community Edition</a:t>
            </a:r>
            <a:endParaRPr lang="ru-RU" sz="23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2854" y="3006799"/>
            <a:ext cx="7105650" cy="423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43641659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+mj-lt"/>
                <a:cs typeface="Arial" pitchFamily="34" charset="0"/>
              </a:rPr>
              <a:t>Установка  соединения</a:t>
            </a: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+mj-lt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Реляционные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базы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24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14609" y="1484784"/>
            <a:ext cx="806489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/>
              <a:t>Для выполнения любых действий с  БД предварительно необходимо </a:t>
            </a:r>
          </a:p>
          <a:p>
            <a:r>
              <a:rPr lang="ru-RU" sz="2800" dirty="0" smtClean="0"/>
              <a:t>установить соединение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ru-RU" sz="2800" dirty="0" smtClean="0"/>
              <a:t>от имени существующей роли</a:t>
            </a:r>
            <a:r>
              <a:rPr lang="en-US" sz="2800" dirty="0" smtClean="0"/>
              <a:t>                 </a:t>
            </a:r>
            <a:r>
              <a:rPr lang="ru-RU" sz="2800" dirty="0" smtClean="0"/>
              <a:t>(в первый раз  - это  </a:t>
            </a:r>
            <a:r>
              <a:rPr lang="en-US" sz="28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postgres</a:t>
            </a:r>
            <a:r>
              <a:rPr lang="ru-RU" sz="2800" dirty="0" smtClean="0"/>
              <a:t>)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ru-RU" sz="2800" dirty="0" smtClean="0"/>
              <a:t>с существующей БД (также </a:t>
            </a:r>
            <a:r>
              <a:rPr lang="en-US" sz="28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postgres</a:t>
            </a:r>
            <a:r>
              <a:rPr lang="en-US" sz="2800" dirty="0" smtClean="0"/>
              <a:t>)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16074354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+mj-lt"/>
                <a:cs typeface="Arial" pitchFamily="34" charset="0"/>
              </a:rPr>
              <a:t>Установка  соединения</a:t>
            </a:r>
            <a:r>
              <a:rPr lang="en-US" sz="3600" b="1" dirty="0" smtClean="0">
                <a:latin typeface="+mj-lt"/>
                <a:cs typeface="Arial" pitchFamily="34" charset="0"/>
              </a:rPr>
              <a:t> </a:t>
            </a:r>
            <a:r>
              <a:rPr lang="ru-RU" sz="3600" b="1" dirty="0" smtClean="0">
                <a:latin typeface="+mj-lt"/>
                <a:cs typeface="Arial" pitchFamily="34" charset="0"/>
              </a:rPr>
              <a:t>в </a:t>
            </a:r>
            <a:r>
              <a:rPr lang="en-US" sz="3600" b="1" dirty="0" err="1" smtClean="0">
                <a:latin typeface="+mj-lt"/>
                <a:cs typeface="Arial" pitchFamily="34" charset="0"/>
              </a:rPr>
              <a:t>psql</a:t>
            </a: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+mj-lt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Реляционные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базы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25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800" y="1628800"/>
            <a:ext cx="8218460" cy="2376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4725144"/>
            <a:ext cx="7084588" cy="2050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Стрелка вниз 9"/>
          <p:cNvSpPr/>
          <p:nvPr/>
        </p:nvSpPr>
        <p:spPr>
          <a:xfrm>
            <a:off x="4427984" y="4077072"/>
            <a:ext cx="576064" cy="57606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2406580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+mj-lt"/>
                <a:cs typeface="Arial" pitchFamily="34" charset="0"/>
              </a:rPr>
              <a:t>Установка  соединения</a:t>
            </a:r>
            <a:r>
              <a:rPr lang="en-US" sz="3600" b="1" dirty="0" smtClean="0">
                <a:latin typeface="+mj-lt"/>
                <a:cs typeface="Arial" pitchFamily="34" charset="0"/>
              </a:rPr>
              <a:t> </a:t>
            </a:r>
            <a:r>
              <a:rPr lang="ru-RU" sz="3600" b="1" dirty="0" smtClean="0">
                <a:latin typeface="+mj-lt"/>
                <a:cs typeface="Arial" pitchFamily="34" charset="0"/>
              </a:rPr>
              <a:t>в </a:t>
            </a:r>
            <a:r>
              <a:rPr lang="en-US" sz="3600" b="1" dirty="0" err="1" smtClean="0">
                <a:latin typeface="+mj-lt"/>
                <a:cs typeface="Arial" pitchFamily="34" charset="0"/>
              </a:rPr>
              <a:t>pgAdmin</a:t>
            </a: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+mj-lt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Реляционные базы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26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177" y="1124744"/>
            <a:ext cx="2924175" cy="26955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1556792"/>
            <a:ext cx="4429125" cy="28479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4293096"/>
            <a:ext cx="2124075" cy="167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4665291"/>
            <a:ext cx="4032448" cy="15657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2" name="Стрелка вправо 1"/>
          <p:cNvSpPr/>
          <p:nvPr/>
        </p:nvSpPr>
        <p:spPr>
          <a:xfrm>
            <a:off x="3923928" y="2708920"/>
            <a:ext cx="432048" cy="2718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Стрелка вправо 2"/>
          <p:cNvSpPr/>
          <p:nvPr/>
        </p:nvSpPr>
        <p:spPr>
          <a:xfrm>
            <a:off x="2267744" y="5313363"/>
            <a:ext cx="487982" cy="2637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280" y="5794201"/>
            <a:ext cx="2019300" cy="10191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6" name="Стрелка углом 5"/>
          <p:cNvSpPr/>
          <p:nvPr/>
        </p:nvSpPr>
        <p:spPr>
          <a:xfrm flipV="1">
            <a:off x="6516216" y="6328758"/>
            <a:ext cx="444254" cy="411832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271560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+mj-lt"/>
                <a:cs typeface="Arial" pitchFamily="34" charset="0"/>
              </a:rPr>
              <a:t>Установка  соединения</a:t>
            </a:r>
            <a:r>
              <a:rPr lang="en-US" sz="3600" b="1" dirty="0" smtClean="0">
                <a:latin typeface="+mj-lt"/>
                <a:cs typeface="Arial" pitchFamily="34" charset="0"/>
              </a:rPr>
              <a:t> </a:t>
            </a:r>
            <a:r>
              <a:rPr lang="ru-RU" sz="3600" b="1" dirty="0" smtClean="0">
                <a:latin typeface="+mj-lt"/>
                <a:cs typeface="Arial" pitchFamily="34" charset="0"/>
              </a:rPr>
              <a:t>в </a:t>
            </a:r>
            <a:r>
              <a:rPr lang="en-US" sz="3600" b="1" dirty="0" err="1" smtClean="0">
                <a:latin typeface="+mj-lt"/>
                <a:cs typeface="Arial" pitchFamily="34" charset="0"/>
              </a:rPr>
              <a:t>DBeaver</a:t>
            </a: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+mj-lt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Реляционные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базы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27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Стрелка вправо 1"/>
          <p:cNvSpPr/>
          <p:nvPr/>
        </p:nvSpPr>
        <p:spPr>
          <a:xfrm>
            <a:off x="1904888" y="2115325"/>
            <a:ext cx="432048" cy="2718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Стрелка углом 5"/>
          <p:cNvSpPr/>
          <p:nvPr/>
        </p:nvSpPr>
        <p:spPr>
          <a:xfrm flipV="1">
            <a:off x="6156176" y="5524790"/>
            <a:ext cx="738336" cy="496498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800" y="1214125"/>
            <a:ext cx="1371600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8333" y="1055688"/>
            <a:ext cx="6534150" cy="425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264936" y="5503459"/>
            <a:ext cx="50271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60463" indent="-1160463"/>
            <a:r>
              <a:rPr lang="ru-RU" sz="2400" dirty="0" smtClean="0"/>
              <a:t>Ограничение: соединение только с одной БД</a:t>
            </a:r>
            <a:endParaRPr lang="ru-RU" sz="2400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280" y="5578375"/>
            <a:ext cx="2037954" cy="10189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8099770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+mj-lt"/>
                <a:cs typeface="Arial" pitchFamily="34" charset="0"/>
              </a:rPr>
              <a:t>Основные шаги работы с БД</a:t>
            </a: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+mj-lt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Реляционные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базы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28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294488" y="2574190"/>
            <a:ext cx="889413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spcBef>
                <a:spcPts val="1200"/>
              </a:spcBef>
              <a:buFont typeface="+mj-lt"/>
              <a:buAutoNum type="arabicPeriod"/>
            </a:pPr>
            <a:r>
              <a:rPr lang="ru-RU" sz="2800" dirty="0" smtClean="0"/>
              <a:t>Создание пользователя (роли)</a:t>
            </a:r>
          </a:p>
          <a:p>
            <a:pPr marL="457200" indent="-457200" algn="just">
              <a:spcBef>
                <a:spcPts val="1200"/>
              </a:spcBef>
              <a:buFont typeface="+mj-lt"/>
              <a:buAutoNum type="arabicPeriod" startAt="2"/>
            </a:pPr>
            <a:r>
              <a:rPr lang="ru-RU" sz="2800" dirty="0" smtClean="0"/>
              <a:t>Создание БД</a:t>
            </a:r>
          </a:p>
          <a:p>
            <a:pPr marL="457200" indent="-457200" algn="just">
              <a:spcBef>
                <a:spcPts val="1200"/>
              </a:spcBef>
              <a:buFont typeface="+mj-lt"/>
              <a:buAutoNum type="arabicPeriod" startAt="2"/>
            </a:pPr>
            <a:r>
              <a:rPr lang="ru-RU" sz="2800" dirty="0" smtClean="0"/>
              <a:t>Создание схемы</a:t>
            </a:r>
          </a:p>
          <a:p>
            <a:pPr marL="457200" indent="-457200" algn="just">
              <a:spcBef>
                <a:spcPts val="1200"/>
              </a:spcBef>
              <a:buFont typeface="+mj-lt"/>
              <a:buAutoNum type="arabicPeriod" startAt="2"/>
            </a:pPr>
            <a:r>
              <a:rPr lang="ru-RU" sz="2800" dirty="0" smtClean="0"/>
              <a:t>Создание объектов БД</a:t>
            </a:r>
          </a:p>
          <a:p>
            <a:pPr marL="457200" indent="-457200" algn="just">
              <a:spcBef>
                <a:spcPts val="1200"/>
              </a:spcBef>
              <a:buFont typeface="+mj-lt"/>
              <a:buAutoNum type="arabicPeriod" startAt="2"/>
            </a:pPr>
            <a:r>
              <a:rPr lang="ru-RU" sz="2800" dirty="0" smtClean="0"/>
              <a:t>Выполнение запросов</a:t>
            </a:r>
            <a:endParaRPr lang="ru-RU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683568" y="1124744"/>
            <a:ext cx="799288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800" dirty="0" smtClean="0"/>
              <a:t>Работа начинается с использованием встроенной роли </a:t>
            </a:r>
            <a:r>
              <a:rPr lang="en-US" sz="28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postgres</a:t>
            </a:r>
            <a:r>
              <a:rPr lang="en-US" sz="2800" dirty="0" smtClean="0"/>
              <a:t>  </a:t>
            </a:r>
            <a:r>
              <a:rPr lang="ru-RU" sz="2800" dirty="0" smtClean="0"/>
              <a:t>и включает несколько основных шагов: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511108416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-180528" y="908720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4000" b="1" dirty="0" smtClean="0"/>
              <a:t>1. Создание </a:t>
            </a:r>
          </a:p>
          <a:p>
            <a:pPr marL="6350" indent="-6350" algn="ctr">
              <a:buNone/>
              <a:defRPr/>
            </a:pPr>
            <a:r>
              <a:rPr lang="ru-RU" sz="4000" b="1" dirty="0" smtClean="0"/>
              <a:t>роли</a:t>
            </a:r>
            <a:endParaRPr lang="ru-RU" sz="4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Реляционные базы данных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29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1520" y="3861048"/>
            <a:ext cx="84969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200" b="1">
              <a:solidFill>
                <a:srgbClr val="0070C0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2564904"/>
            <a:ext cx="3940499" cy="3613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886859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4000" b="1" dirty="0" smtClean="0"/>
              <a:t>Роли</a:t>
            </a:r>
            <a:r>
              <a:rPr lang="en-US" sz="4000" b="1" dirty="0" smtClean="0"/>
              <a:t> </a:t>
            </a:r>
            <a:r>
              <a:rPr lang="ru-RU" sz="4000" b="1" dirty="0" smtClean="0"/>
              <a:t>и пользователи</a:t>
            </a:r>
            <a:endParaRPr lang="ru-RU" sz="4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Реляционные базы данных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30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1520" y="3861048"/>
            <a:ext cx="84969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200" b="1">
              <a:solidFill>
                <a:srgbClr val="0070C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3528" y="908720"/>
            <a:ext cx="8568952" cy="63555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buFont typeface="Wingdings" panose="05000000000000000000" pitchFamily="2" charset="2"/>
              <a:buChar char="q"/>
            </a:pPr>
            <a:r>
              <a:rPr lang="ru-RU" sz="2800" dirty="0" smtClean="0"/>
              <a:t>Роли определяются на уровне СУБД (кластера)</a:t>
            </a:r>
          </a:p>
          <a:p>
            <a:pPr marL="457200" lvl="0" indent="-45720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800" dirty="0" smtClean="0"/>
              <a:t>По </a:t>
            </a:r>
            <a:r>
              <a:rPr lang="ru-RU" sz="2800" dirty="0"/>
              <a:t>соглашению </a:t>
            </a:r>
            <a:r>
              <a:rPr lang="ru-RU" sz="2800" dirty="0" smtClean="0"/>
              <a:t>выделяют роли</a:t>
            </a:r>
          </a:p>
          <a:p>
            <a:pPr marL="901700" lvl="0" indent="-363538" algn="just">
              <a:buFont typeface="Wingdings" panose="05000000000000000000" pitchFamily="2" charset="2"/>
              <a:buChar char="§"/>
              <a:tabLst>
                <a:tab pos="901700" algn="l"/>
              </a:tabLst>
            </a:pPr>
            <a:r>
              <a:rPr lang="ru-RU" sz="2800" dirty="0" smtClean="0"/>
              <a:t>Пользователь</a:t>
            </a:r>
            <a:r>
              <a:rPr lang="en-US" sz="2800" dirty="0" smtClean="0"/>
              <a:t> (</a:t>
            </a:r>
            <a:r>
              <a:rPr lang="ru-RU" sz="2800" dirty="0" smtClean="0"/>
              <a:t>роль с правами входа)</a:t>
            </a:r>
          </a:p>
          <a:p>
            <a:pPr marL="901700" lvl="0" indent="-363538" algn="just">
              <a:buFont typeface="Wingdings" panose="05000000000000000000" pitchFamily="2" charset="2"/>
              <a:buChar char="§"/>
              <a:tabLst>
                <a:tab pos="901700" algn="l"/>
              </a:tabLst>
            </a:pPr>
            <a:r>
              <a:rPr lang="ru-RU" sz="2800" dirty="0" smtClean="0"/>
              <a:t>Группа (обычно роль без права входа)</a:t>
            </a: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800" dirty="0" smtClean="0"/>
              <a:t>При установке СУБД (создании кластера) создается одна начальная роль, имеющая права </a:t>
            </a:r>
            <a:r>
              <a:rPr lang="ru-RU" sz="2800" dirty="0" err="1" smtClean="0"/>
              <a:t>суперпользователя</a:t>
            </a:r>
            <a:endParaRPr lang="ru-RU" sz="2800" dirty="0" smtClean="0"/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800" dirty="0" smtClean="0"/>
              <a:t>Далее роли может создавать:</a:t>
            </a:r>
          </a:p>
          <a:p>
            <a:pPr marL="1698625" indent="-457200">
              <a:buFont typeface="Wingdings" panose="05000000000000000000" pitchFamily="2" charset="2"/>
              <a:buChar char="§"/>
            </a:pPr>
            <a:r>
              <a:rPr lang="ru-RU" sz="2800" dirty="0" err="1" smtClean="0"/>
              <a:t>Суперпользователь</a:t>
            </a:r>
            <a:r>
              <a:rPr lang="ru-RU" sz="2800" dirty="0" smtClean="0"/>
              <a:t> (любую роль) </a:t>
            </a:r>
          </a:p>
          <a:p>
            <a:pPr marL="1698625" indent="-457200">
              <a:buFont typeface="Wingdings" panose="05000000000000000000" pitchFamily="2" charset="2"/>
              <a:buChar char="§"/>
            </a:pPr>
            <a:r>
              <a:rPr lang="ru-RU" sz="2800" dirty="0"/>
              <a:t>Р</a:t>
            </a:r>
            <a:r>
              <a:rPr lang="ru-RU" sz="2800" dirty="0" smtClean="0"/>
              <a:t>оль с правом </a:t>
            </a:r>
            <a:r>
              <a:rPr lang="en-US" sz="28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CREATEROLE</a:t>
            </a:r>
            <a:r>
              <a:rPr lang="ru-RU" sz="28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1241425"/>
            <a:r>
              <a:rPr lang="ru-RU" sz="28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8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ru-RU" sz="2800" dirty="0" smtClean="0">
                <a:cs typeface="Courier New" panose="02070309020205020404" pitchFamily="49" charset="0"/>
              </a:rPr>
              <a:t>(кроме </a:t>
            </a:r>
            <a:r>
              <a:rPr lang="ru-RU" sz="2800" dirty="0" err="1" smtClean="0">
                <a:cs typeface="Courier New" panose="02070309020205020404" pitchFamily="49" charset="0"/>
              </a:rPr>
              <a:t>суперпользователя</a:t>
            </a:r>
            <a:r>
              <a:rPr lang="ru-RU" sz="2800" dirty="0" smtClean="0">
                <a:cs typeface="Courier New" panose="02070309020205020404" pitchFamily="49" charset="0"/>
              </a:rPr>
              <a:t>)</a:t>
            </a:r>
            <a:endParaRPr lang="ru-RU" sz="2800" dirty="0">
              <a:cs typeface="Courier New" panose="02070309020205020404" pitchFamily="49" charset="0"/>
            </a:endParaRPr>
          </a:p>
          <a:p>
            <a:pPr lvl="0" algn="just"/>
            <a:endParaRPr lang="ru-RU" sz="2800" dirty="0" smtClean="0"/>
          </a:p>
          <a:p>
            <a:pPr lvl="0" algn="just"/>
            <a:endParaRPr lang="ru-RU" sz="2800" dirty="0" smtClean="0"/>
          </a:p>
        </p:txBody>
      </p:sp>
    </p:spTree>
    <p:extLst>
      <p:ext uri="{BB962C8B-B14F-4D97-AF65-F5344CB8AC3E}">
        <p14:creationId xmlns:p14="http://schemas.microsoft.com/office/powerpoint/2010/main" val="1715710156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4000" b="1" dirty="0" smtClean="0"/>
              <a:t>Атрибуты  роли</a:t>
            </a:r>
            <a:endParaRPr lang="ru-RU" sz="4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Реляционные базы данных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31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1520" y="3861048"/>
            <a:ext cx="84969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200" b="1">
              <a:solidFill>
                <a:srgbClr val="0070C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002208"/>
            <a:ext cx="8568952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ru-RU" sz="2600" dirty="0"/>
              <a:t>Роль обладает </a:t>
            </a:r>
            <a:r>
              <a:rPr lang="ru-RU" sz="2600" dirty="0" smtClean="0"/>
              <a:t>атрибутами</a:t>
            </a:r>
            <a:r>
              <a:rPr lang="ru-RU" sz="2600" dirty="0"/>
              <a:t>, определяющими ее </a:t>
            </a:r>
            <a:r>
              <a:rPr lang="ru-RU" sz="2600" dirty="0" smtClean="0"/>
              <a:t>общие права </a:t>
            </a:r>
            <a:r>
              <a:rPr lang="ru-RU" sz="2600" dirty="0"/>
              <a:t>(не связанные с правами доступа к объектам</a:t>
            </a:r>
            <a:r>
              <a:rPr lang="ru-RU" sz="2600" dirty="0" smtClean="0"/>
              <a:t>)</a:t>
            </a:r>
          </a:p>
          <a:p>
            <a:pPr marL="457200" indent="-457200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ru-RU" sz="2600" dirty="0" smtClean="0"/>
              <a:t>Некоторые из атрибутов:</a:t>
            </a:r>
          </a:p>
          <a:p>
            <a:pPr marL="806450" indent="-342900">
              <a:buFont typeface="Wingdings" panose="05000000000000000000" pitchFamily="2" charset="2"/>
              <a:buChar char="§"/>
            </a:pPr>
            <a:r>
              <a:rPr lang="ru-RU" sz="2600" dirty="0" smtClean="0"/>
              <a:t> </a:t>
            </a:r>
            <a:r>
              <a:rPr lang="en-US" sz="26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SUPERUSER</a:t>
            </a:r>
            <a:r>
              <a:rPr lang="en-US" sz="2600" dirty="0" smtClean="0"/>
              <a:t> </a:t>
            </a:r>
            <a:r>
              <a:rPr lang="ru-RU" sz="2600" dirty="0" smtClean="0"/>
              <a:t> - </a:t>
            </a:r>
            <a:r>
              <a:rPr lang="ru-RU" sz="2600" dirty="0" err="1" smtClean="0"/>
              <a:t>суперпользователь</a:t>
            </a:r>
            <a:endParaRPr lang="ru-RU" sz="2600" dirty="0"/>
          </a:p>
          <a:p>
            <a:pPr marL="806450" indent="-342900">
              <a:buFont typeface="Wingdings" panose="05000000000000000000" pitchFamily="2" charset="2"/>
              <a:buChar char="§"/>
            </a:pPr>
            <a:r>
              <a:rPr lang="ru-RU" sz="2600" dirty="0" smtClean="0"/>
              <a:t> </a:t>
            </a:r>
            <a:r>
              <a:rPr lang="ru-RU" sz="26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CREATEDB</a:t>
            </a:r>
            <a:r>
              <a:rPr lang="ru-RU" sz="2600" dirty="0" smtClean="0"/>
              <a:t> - право </a:t>
            </a:r>
            <a:r>
              <a:rPr lang="ru-RU" sz="2600" dirty="0"/>
              <a:t>создавать базы данных</a:t>
            </a:r>
          </a:p>
          <a:p>
            <a:pPr marL="806450" indent="-342900">
              <a:buFont typeface="Wingdings" panose="05000000000000000000" pitchFamily="2" charset="2"/>
              <a:buChar char="§"/>
            </a:pPr>
            <a:r>
              <a:rPr lang="ru-RU" sz="2600" dirty="0" smtClean="0"/>
              <a:t> </a:t>
            </a:r>
            <a:r>
              <a:rPr lang="en-US" sz="26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CREATEROLE</a:t>
            </a:r>
            <a:r>
              <a:rPr lang="en-US" sz="2600" dirty="0" smtClean="0"/>
              <a:t> </a:t>
            </a:r>
            <a:r>
              <a:rPr lang="ru-RU" sz="2600" dirty="0" smtClean="0"/>
              <a:t> - право </a:t>
            </a:r>
            <a:r>
              <a:rPr lang="ru-RU" sz="2600" dirty="0"/>
              <a:t>создавать роли</a:t>
            </a:r>
          </a:p>
          <a:p>
            <a:pPr marL="806450" indent="-342900">
              <a:buFont typeface="Wingdings" panose="05000000000000000000" pitchFamily="2" charset="2"/>
              <a:buChar char="§"/>
            </a:pPr>
            <a:r>
              <a:rPr lang="ru-RU" sz="2600" dirty="0" smtClean="0"/>
              <a:t> </a:t>
            </a:r>
            <a:r>
              <a:rPr lang="ru-RU" sz="26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CONNECTION </a:t>
            </a:r>
            <a:r>
              <a:rPr lang="ru-RU" sz="2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LIMIT </a:t>
            </a:r>
            <a:r>
              <a:rPr lang="ru-RU" sz="26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число</a:t>
            </a:r>
            <a:r>
              <a:rPr lang="ru-RU" sz="2600" i="1" dirty="0" smtClean="0"/>
              <a:t> - </a:t>
            </a:r>
            <a:r>
              <a:rPr lang="ru-RU" sz="2600" dirty="0" smtClean="0"/>
              <a:t>ограничение </a:t>
            </a:r>
            <a:r>
              <a:rPr lang="ru-RU" sz="2600" dirty="0"/>
              <a:t>количества </a:t>
            </a:r>
            <a:r>
              <a:rPr lang="ru-RU" sz="2600" dirty="0" smtClean="0"/>
              <a:t>сеансов для роли</a:t>
            </a:r>
            <a:endParaRPr lang="ru-RU" sz="2600" dirty="0"/>
          </a:p>
          <a:p>
            <a:pPr marL="806450" indent="-342900">
              <a:buFont typeface="Wingdings" panose="05000000000000000000" pitchFamily="2" charset="2"/>
              <a:buChar char="§"/>
            </a:pPr>
            <a:r>
              <a:rPr lang="ru-RU" sz="2600" dirty="0" smtClean="0"/>
              <a:t> </a:t>
            </a:r>
            <a:r>
              <a:rPr lang="ru-RU" sz="26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VALID </a:t>
            </a:r>
            <a:r>
              <a:rPr lang="ru-RU" sz="2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UNTIL '</a:t>
            </a:r>
            <a:r>
              <a:rPr lang="ru-RU" sz="26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timestamp</a:t>
            </a:r>
            <a:r>
              <a:rPr lang="ru-RU" sz="2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ru-RU" sz="2600" dirty="0"/>
              <a:t> </a:t>
            </a:r>
            <a:r>
              <a:rPr lang="ru-RU" sz="2600" dirty="0" smtClean="0"/>
              <a:t>- ограничение </a:t>
            </a:r>
            <a:r>
              <a:rPr lang="ru-RU" sz="2600" dirty="0"/>
              <a:t>срока </a:t>
            </a:r>
            <a:r>
              <a:rPr lang="ru-RU" sz="2600" dirty="0" smtClean="0"/>
              <a:t>действия роли</a:t>
            </a:r>
          </a:p>
          <a:p>
            <a:endParaRPr lang="ru-RU" sz="2600" dirty="0" smtClean="0"/>
          </a:p>
        </p:txBody>
      </p:sp>
    </p:spTree>
    <p:extLst>
      <p:ext uri="{BB962C8B-B14F-4D97-AF65-F5344CB8AC3E}">
        <p14:creationId xmlns:p14="http://schemas.microsoft.com/office/powerpoint/2010/main" val="131323616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4000" b="1" dirty="0" smtClean="0"/>
              <a:t>Создание (удаление)  роли</a:t>
            </a:r>
            <a:endParaRPr lang="ru-RU" sz="4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Реляционные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базы данных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32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1520" y="3861048"/>
            <a:ext cx="84969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200" b="1">
              <a:solidFill>
                <a:srgbClr val="0070C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983625"/>
            <a:ext cx="8568952" cy="6170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buFont typeface="+mj-lt"/>
              <a:buAutoNum type="arabicPeriod"/>
            </a:pPr>
            <a:r>
              <a:rPr lang="ru-RU" sz="2400" dirty="0" smtClean="0"/>
              <a:t>Создание роли с правом входа в БД:</a:t>
            </a:r>
          </a:p>
          <a:p>
            <a:pPr marL="538163" lvl="0" algn="just"/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ROLE </a:t>
            </a:r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имя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LOGIN</a:t>
            </a:r>
          </a:p>
          <a:p>
            <a:pPr marL="714375" lvl="0" algn="just"/>
            <a:r>
              <a:rPr lang="en-US" sz="2400" dirty="0"/>
              <a:t> </a:t>
            </a:r>
            <a:r>
              <a:rPr lang="en-US" sz="2400" dirty="0" smtClean="0"/>
              <a:t>  </a:t>
            </a:r>
            <a:r>
              <a:rPr lang="ru-RU" sz="2400" dirty="0" smtClean="0"/>
              <a:t>или</a:t>
            </a:r>
          </a:p>
          <a:p>
            <a:pPr marL="538163" lvl="0" algn="just"/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USER  </a:t>
            </a:r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имя</a:t>
            </a:r>
          </a:p>
          <a:p>
            <a:pPr lvl="0" algn="just">
              <a:spcBef>
                <a:spcPts val="600"/>
              </a:spcBef>
            </a:pPr>
            <a:r>
              <a:rPr lang="ru-RU" sz="2400" i="1" dirty="0" smtClean="0"/>
              <a:t>Пример</a:t>
            </a:r>
          </a:p>
          <a:p>
            <a:pPr lvl="0" algn="just"/>
            <a:r>
              <a:rPr lang="ru-RU" sz="2400" dirty="0"/>
              <a:t> </a:t>
            </a:r>
            <a:r>
              <a:rPr lang="ru-RU" sz="2400" dirty="0" smtClean="0"/>
              <a:t>   </a:t>
            </a:r>
            <a:r>
              <a:rPr lang="ru-RU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</a:t>
            </a:r>
            <a:r>
              <a:rPr lang="en-US" sz="24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REATE USER user1</a:t>
            </a:r>
          </a:p>
          <a:p>
            <a:pPr marL="457200" lvl="0" indent="-457200" algn="just">
              <a:spcBef>
                <a:spcPts val="1200"/>
              </a:spcBef>
              <a:buFont typeface="+mj-lt"/>
              <a:buAutoNum type="arabicPeriod" startAt="2"/>
            </a:pPr>
            <a:r>
              <a:rPr lang="ru-RU" sz="2400" dirty="0" smtClean="0"/>
              <a:t>Создание роли без права входа в БД: </a:t>
            </a:r>
          </a:p>
          <a:p>
            <a:pPr marL="538163" lvl="0" algn="just"/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ROLE </a:t>
            </a:r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имя</a:t>
            </a:r>
            <a:endParaRPr lang="en-US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algn="just">
              <a:spcBef>
                <a:spcPts val="600"/>
              </a:spcBef>
            </a:pPr>
            <a:r>
              <a:rPr lang="ru-RU" sz="2400" i="1" dirty="0" smtClean="0"/>
              <a:t>Пример</a:t>
            </a:r>
            <a:endParaRPr lang="ru-RU" sz="2400" i="1" dirty="0"/>
          </a:p>
          <a:p>
            <a:pPr lvl="0" algn="just"/>
            <a:r>
              <a:rPr lang="ru-RU" sz="2400" dirty="0"/>
              <a:t>    </a:t>
            </a:r>
            <a:r>
              <a:rPr lang="ru-RU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</a:t>
            </a:r>
            <a:r>
              <a:rPr lang="en-US" sz="24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REATE ROLE group1</a:t>
            </a:r>
            <a:endParaRPr lang="en-US" sz="24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0" indent="-457200" algn="just">
              <a:spcBef>
                <a:spcPts val="1200"/>
              </a:spcBef>
              <a:buFont typeface="+mj-lt"/>
              <a:buAutoNum type="arabicPeriod" startAt="3"/>
            </a:pPr>
            <a:r>
              <a:rPr lang="ru-RU" sz="2400" dirty="0" smtClean="0"/>
              <a:t>Удаление </a:t>
            </a:r>
            <a:r>
              <a:rPr lang="ru-RU" sz="2400" dirty="0"/>
              <a:t>роли </a:t>
            </a:r>
            <a:r>
              <a:rPr lang="ru-RU" sz="2400" dirty="0" smtClean="0"/>
              <a:t>: </a:t>
            </a:r>
            <a:endParaRPr lang="ru-RU" sz="2400" dirty="0"/>
          </a:p>
          <a:p>
            <a:pPr marL="538163" lvl="0" algn="just"/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DROP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ROLE </a:t>
            </a:r>
            <a:r>
              <a:rPr lang="ru-RU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имя</a:t>
            </a:r>
            <a:endParaRPr lang="en-US" sz="24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algn="just">
              <a:spcBef>
                <a:spcPts val="600"/>
              </a:spcBef>
            </a:pPr>
            <a:r>
              <a:rPr lang="en-US" sz="2400" i="1" dirty="0" smtClean="0"/>
              <a:t>                        </a:t>
            </a:r>
            <a:r>
              <a:rPr lang="ru-RU" sz="2400" i="1" dirty="0" smtClean="0"/>
              <a:t>Пример</a:t>
            </a:r>
            <a:endParaRPr lang="ru-RU" sz="2400" i="1" dirty="0"/>
          </a:p>
          <a:p>
            <a:pPr lvl="0" algn="just"/>
            <a:r>
              <a:rPr lang="en-US" sz="2400" dirty="0" smtClean="0"/>
              <a:t>                                 </a:t>
            </a:r>
            <a:r>
              <a:rPr lang="ru-RU" sz="2400" dirty="0" smtClean="0"/>
              <a:t>    </a:t>
            </a:r>
            <a:r>
              <a:rPr lang="en-US" sz="24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DROP </a:t>
            </a:r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ROLE </a:t>
            </a:r>
            <a:r>
              <a:rPr lang="en-US" sz="24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user1</a:t>
            </a:r>
            <a:endParaRPr lang="en-US" sz="24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algn="just"/>
            <a:r>
              <a:rPr lang="ru-RU" sz="2400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15637843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+mj-lt"/>
                <a:cs typeface="Arial" pitchFamily="34" charset="0"/>
              </a:rPr>
              <a:t>Создание роли  в </a:t>
            </a:r>
            <a:r>
              <a:rPr lang="en-US" sz="3600" b="1" dirty="0" err="1" smtClean="0">
                <a:latin typeface="+mj-lt"/>
                <a:cs typeface="Arial" pitchFamily="34" charset="0"/>
              </a:rPr>
              <a:t>psql</a:t>
            </a: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+mj-lt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Реляционные базы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33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052736"/>
            <a:ext cx="7704856" cy="4764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520280" y="5838363"/>
            <a:ext cx="68042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Команда может занимать несколько строк</a:t>
            </a:r>
          </a:p>
          <a:p>
            <a:r>
              <a:rPr lang="ru-RU" sz="2400" dirty="0"/>
              <a:t>и</a:t>
            </a:r>
            <a:r>
              <a:rPr lang="ru-RU" sz="2400" dirty="0" smtClean="0"/>
              <a:t> завершается «точкой с запятой»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048384775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+mj-lt"/>
                <a:cs typeface="Arial" pitchFamily="34" charset="0"/>
              </a:rPr>
              <a:t>Создание роли</a:t>
            </a:r>
            <a:r>
              <a:rPr lang="en-US" sz="3600" b="1" dirty="0" smtClean="0">
                <a:latin typeface="+mj-lt"/>
                <a:cs typeface="Arial" pitchFamily="34" charset="0"/>
              </a:rPr>
              <a:t> </a:t>
            </a:r>
            <a:r>
              <a:rPr lang="ru-RU" sz="3600" b="1" dirty="0" smtClean="0">
                <a:latin typeface="+mj-lt"/>
                <a:cs typeface="Arial" pitchFamily="34" charset="0"/>
              </a:rPr>
              <a:t>в</a:t>
            </a:r>
            <a:r>
              <a:rPr lang="en-US" sz="3600" b="1" dirty="0" smtClean="0">
                <a:latin typeface="+mj-lt"/>
                <a:cs typeface="Arial" pitchFamily="34" charset="0"/>
              </a:rPr>
              <a:t> </a:t>
            </a:r>
            <a:r>
              <a:rPr lang="en-US" sz="3600" b="1" dirty="0" err="1" smtClean="0">
                <a:latin typeface="+mj-lt"/>
                <a:cs typeface="Arial" pitchFamily="34" charset="0"/>
              </a:rPr>
              <a:t>PgAdmin</a:t>
            </a: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+mj-lt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Реляционные базы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34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4437112"/>
            <a:ext cx="2409825" cy="1333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4437112"/>
            <a:ext cx="2162175" cy="1047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6863" y="4460835"/>
            <a:ext cx="3495675" cy="23907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2" name="Стрелка вниз 1"/>
          <p:cNvSpPr/>
          <p:nvPr/>
        </p:nvSpPr>
        <p:spPr>
          <a:xfrm>
            <a:off x="611560" y="3861048"/>
            <a:ext cx="432048" cy="37472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Стрелка вправо с вырезом 5"/>
          <p:cNvSpPr/>
          <p:nvPr/>
        </p:nvSpPr>
        <p:spPr>
          <a:xfrm>
            <a:off x="5292080" y="4797152"/>
            <a:ext cx="277341" cy="157947"/>
          </a:xfrm>
          <a:prstGeom prst="notched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Стрелка вправо с вырезом 11"/>
          <p:cNvSpPr/>
          <p:nvPr/>
        </p:nvSpPr>
        <p:spPr>
          <a:xfrm>
            <a:off x="2627784" y="4797152"/>
            <a:ext cx="277341" cy="157947"/>
          </a:xfrm>
          <a:prstGeom prst="notched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1187624" y="3923764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 открывшемся окне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202432"/>
            <a:ext cx="5324475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1564680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2" grpId="0" animBg="1"/>
      <p:bldP spid="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+mj-lt"/>
                <a:cs typeface="Arial" pitchFamily="34" charset="0"/>
              </a:rPr>
              <a:t>Создание роли в </a:t>
            </a:r>
            <a:r>
              <a:rPr lang="en-US" sz="3600" b="1" dirty="0" err="1" smtClean="0">
                <a:latin typeface="+mj-lt"/>
                <a:cs typeface="Arial" pitchFamily="34" charset="0"/>
              </a:rPr>
              <a:t>DBeaver</a:t>
            </a: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+mj-lt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Реляционные базы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35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052736"/>
            <a:ext cx="3170287" cy="195710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1171037"/>
            <a:ext cx="2514600" cy="195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3358480"/>
            <a:ext cx="4676775" cy="2590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7204" y="4797152"/>
            <a:ext cx="2781300" cy="16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923928" y="1209526"/>
            <a:ext cx="17281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55600">
              <a:buAutoNum type="arabicPeriod"/>
              <a:tabLst>
                <a:tab pos="82550" algn="l"/>
              </a:tabLst>
            </a:pPr>
            <a:r>
              <a:rPr lang="ru-RU" b="1" dirty="0" smtClean="0"/>
              <a:t>Задаем</a:t>
            </a:r>
          </a:p>
          <a:p>
            <a:pPr marL="355600" indent="-177800">
              <a:buFont typeface="Arial" panose="020B0604020202020204" pitchFamily="34" charset="0"/>
              <a:buChar char="•"/>
              <a:tabLst>
                <a:tab pos="82550" algn="l"/>
              </a:tabLst>
            </a:pPr>
            <a:r>
              <a:rPr lang="ru-RU" b="1" dirty="0" smtClean="0"/>
              <a:t>имя</a:t>
            </a:r>
          </a:p>
          <a:p>
            <a:pPr marL="355600" indent="-177800">
              <a:buFont typeface="Arial" panose="020B0604020202020204" pitchFamily="34" charset="0"/>
              <a:buChar char="•"/>
              <a:tabLst>
                <a:tab pos="82550" algn="l"/>
              </a:tabLst>
            </a:pPr>
            <a:r>
              <a:rPr lang="ru-RU" b="1" dirty="0" smtClean="0"/>
              <a:t>пароль</a:t>
            </a:r>
            <a:endParaRPr lang="ru-RU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79512" y="3358733"/>
            <a:ext cx="2376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7800" indent="-177800">
              <a:buFont typeface="+mj-lt"/>
              <a:buAutoNum type="arabicPeriod" startAt="2"/>
              <a:tabLst>
                <a:tab pos="82550" algn="l"/>
              </a:tabLst>
            </a:pPr>
            <a:r>
              <a:rPr lang="ru-RU" b="1" dirty="0" smtClean="0"/>
              <a:t> Задаем</a:t>
            </a:r>
          </a:p>
          <a:p>
            <a:pPr marL="177800">
              <a:tabLst>
                <a:tab pos="82550" algn="l"/>
              </a:tabLst>
            </a:pPr>
            <a:r>
              <a:rPr lang="ru-RU" b="1" dirty="0" smtClean="0"/>
              <a:t>  права</a:t>
            </a:r>
            <a:endParaRPr lang="ru-RU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6300192" y="4150821"/>
            <a:ext cx="2843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3"/>
              <a:tabLst>
                <a:tab pos="82550" algn="l"/>
              </a:tabLst>
            </a:pPr>
            <a:r>
              <a:rPr lang="ru-RU" b="1" dirty="0" smtClean="0"/>
              <a:t> В открывшемся окне подтверждаем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431512144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1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en-US" sz="3600" b="1" dirty="0" smtClean="0">
                <a:latin typeface="Arial" pitchFamily="34" charset="0"/>
                <a:cs typeface="Arial" pitchFamily="34" charset="0"/>
              </a:rPr>
              <a:t>2.  </a:t>
            </a: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Создание БД</a:t>
            </a: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Реляционные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базы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36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628800"/>
            <a:ext cx="6552728" cy="4383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42468744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База данных</a:t>
            </a: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Реляционные базы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37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95536" y="1124744"/>
            <a:ext cx="864096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4500" indent="-444500" algn="just">
              <a:spcBef>
                <a:spcPts val="1200"/>
              </a:spcBef>
              <a:buFont typeface="Wingdings" pitchFamily="2" charset="2"/>
              <a:buChar char="q"/>
            </a:pPr>
            <a:r>
              <a:rPr lang="ru-RU" sz="2400" dirty="0" smtClean="0"/>
              <a:t>База данных </a:t>
            </a:r>
            <a:r>
              <a:rPr lang="ru-RU" sz="2400" dirty="0"/>
              <a:t>– </a:t>
            </a:r>
            <a:r>
              <a:rPr lang="ru-RU" sz="2400" dirty="0" smtClean="0"/>
              <a:t>является контейнером </a:t>
            </a:r>
            <a:r>
              <a:rPr lang="ru-RU" sz="2400" dirty="0"/>
              <a:t>для хранения различных объектов данных</a:t>
            </a:r>
          </a:p>
          <a:p>
            <a:pPr marL="444500" indent="-444500" algn="just">
              <a:spcBef>
                <a:spcPts val="1200"/>
              </a:spcBef>
              <a:buFont typeface="Wingdings" pitchFamily="2" charset="2"/>
              <a:buChar char="q"/>
            </a:pPr>
            <a:r>
              <a:rPr lang="ru-RU" sz="2400" dirty="0">
                <a:latin typeface="+mj-lt"/>
                <a:cs typeface="Arial" pitchFamily="34" charset="0"/>
              </a:rPr>
              <a:t>Новая база данных не содержит </a:t>
            </a:r>
            <a:r>
              <a:rPr lang="ru-RU" sz="2400" dirty="0" smtClean="0">
                <a:latin typeface="+mj-lt"/>
                <a:cs typeface="Arial" pitchFamily="34" charset="0"/>
              </a:rPr>
              <a:t>таблиц </a:t>
            </a:r>
            <a:r>
              <a:rPr lang="ru-RU" sz="2400" dirty="0">
                <a:latin typeface="+mj-lt"/>
                <a:cs typeface="Arial" pitchFamily="34" charset="0"/>
              </a:rPr>
              <a:t>конкретной предметной области, но содержит системные таблицы – метаданные (данные с информацией  о  данных предметной  области)</a:t>
            </a:r>
          </a:p>
          <a:p>
            <a:pPr marL="444500" indent="-444500" algn="just">
              <a:spcBef>
                <a:spcPts val="1200"/>
              </a:spcBef>
              <a:buFont typeface="Wingdings" pitchFamily="2" charset="2"/>
              <a:buChar char="q"/>
            </a:pPr>
            <a:r>
              <a:rPr lang="ru-RU" sz="2400" dirty="0">
                <a:latin typeface="+mj-lt"/>
                <a:cs typeface="Arial" pitchFamily="34" charset="0"/>
              </a:rPr>
              <a:t>При добавлении в БД новой таблицы информация  о ней записывается в системные таблицы</a:t>
            </a:r>
          </a:p>
          <a:p>
            <a:pPr marL="444500" indent="-444500" algn="just">
              <a:spcBef>
                <a:spcPts val="1200"/>
              </a:spcBef>
              <a:buFont typeface="Wingdings" pitchFamily="2" charset="2"/>
              <a:buChar char="q"/>
            </a:pPr>
            <a:r>
              <a:rPr lang="ru-RU" sz="2400" dirty="0">
                <a:latin typeface="+mj-lt"/>
                <a:cs typeface="Arial" pitchFamily="34" charset="0"/>
              </a:rPr>
              <a:t>СУБД при выполнении запросов к БД обращается к системным таблицам для проверки наличия запрашиваемых таблиц и их колонок</a:t>
            </a:r>
          </a:p>
        </p:txBody>
      </p:sp>
    </p:spTree>
    <p:extLst>
      <p:ext uri="{BB962C8B-B14F-4D97-AF65-F5344CB8AC3E}">
        <p14:creationId xmlns:p14="http://schemas.microsoft.com/office/powerpoint/2010/main" val="3164541516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Создание базы данных</a:t>
            </a: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Реляционные базы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38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95536" y="1236816"/>
            <a:ext cx="86409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34988" indent="-534988"/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DATABASE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имя_БД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OWNER</a:t>
            </a:r>
            <a:r>
              <a:rPr lang="en-US" sz="2400" b="1" dirty="0" smtClean="0">
                <a:solidFill>
                  <a:srgbClr val="7030A0"/>
                </a:solidFill>
              </a:rPr>
              <a:t> </a:t>
            </a:r>
            <a:r>
              <a:rPr lang="en-US" sz="2400" b="1" dirty="0">
                <a:solidFill>
                  <a:srgbClr val="7030A0"/>
                </a:solidFill>
              </a:rPr>
              <a:t>= </a:t>
            </a:r>
            <a:r>
              <a:rPr lang="ru-RU" sz="2400" b="1" dirty="0" err="1" smtClean="0">
                <a:solidFill>
                  <a:srgbClr val="00B050"/>
                </a:solidFill>
              </a:rPr>
              <a:t>имя_роли_владельца_БД</a:t>
            </a:r>
            <a:r>
              <a:rPr lang="en-US" sz="2400" b="1" dirty="0">
                <a:solidFill>
                  <a:srgbClr val="7030A0"/>
                </a:solidFill>
              </a:rPr>
              <a:t/>
            </a:r>
            <a:br>
              <a:rPr lang="en-US" sz="2400" b="1" dirty="0">
                <a:solidFill>
                  <a:srgbClr val="7030A0"/>
                </a:solidFill>
              </a:rPr>
            </a:br>
            <a:r>
              <a:rPr lang="en-US" sz="2400" b="1" dirty="0" smtClean="0">
                <a:solidFill>
                  <a:srgbClr val="7030A0"/>
                </a:solidFill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TEMPLATE</a:t>
            </a:r>
            <a:r>
              <a:rPr lang="en-US" sz="2400" b="1" dirty="0" smtClean="0">
                <a:solidFill>
                  <a:srgbClr val="7030A0"/>
                </a:solidFill>
              </a:rPr>
              <a:t> = </a:t>
            </a:r>
            <a:r>
              <a:rPr lang="ru-RU" sz="2400" b="1" dirty="0" err="1" smtClean="0">
                <a:solidFill>
                  <a:srgbClr val="00B050"/>
                </a:solidFill>
              </a:rPr>
              <a:t>имя_шаблона_БД</a:t>
            </a:r>
            <a:r>
              <a:rPr lang="en-US" sz="2400" b="1" dirty="0">
                <a:solidFill>
                  <a:srgbClr val="7030A0"/>
                </a:solidFill>
              </a:rPr>
              <a:t/>
            </a:r>
            <a:br>
              <a:rPr lang="en-US" sz="2400" b="1" dirty="0">
                <a:solidFill>
                  <a:srgbClr val="7030A0"/>
                </a:solidFill>
              </a:rPr>
            </a:br>
            <a:r>
              <a:rPr lang="en-US" sz="2400" b="1" dirty="0" smtClean="0">
                <a:solidFill>
                  <a:srgbClr val="7030A0"/>
                </a:solidFill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ENCODING</a:t>
            </a:r>
            <a:r>
              <a:rPr lang="en-US" sz="2400" b="1" dirty="0" smtClean="0">
                <a:solidFill>
                  <a:srgbClr val="7030A0"/>
                </a:solidFill>
              </a:rPr>
              <a:t> </a:t>
            </a:r>
            <a:r>
              <a:rPr lang="en-US" sz="2400" b="1" dirty="0">
                <a:solidFill>
                  <a:srgbClr val="7030A0"/>
                </a:solidFill>
              </a:rPr>
              <a:t>= </a:t>
            </a:r>
            <a:r>
              <a:rPr lang="ru-RU" sz="2400" b="1" dirty="0" smtClean="0">
                <a:solidFill>
                  <a:srgbClr val="00B050"/>
                </a:solidFill>
              </a:rPr>
              <a:t>имя _кодировки _символов</a:t>
            </a:r>
          </a:p>
          <a:p>
            <a:pPr marL="534988" indent="-534988"/>
            <a:r>
              <a:rPr lang="ru-RU" sz="2400" b="1" dirty="0">
                <a:solidFill>
                  <a:srgbClr val="00B050"/>
                </a:solidFill>
              </a:rPr>
              <a:t> </a:t>
            </a:r>
            <a:r>
              <a:rPr lang="ru-RU" sz="2400" b="1" dirty="0" smtClean="0">
                <a:solidFill>
                  <a:srgbClr val="00B050"/>
                </a:solidFill>
              </a:rPr>
              <a:t>                          (по умолчанию – кодировка шаблона)</a:t>
            </a:r>
            <a:r>
              <a:rPr lang="en-US" sz="2400" b="1" dirty="0">
                <a:solidFill>
                  <a:srgbClr val="00B050"/>
                </a:solidFill>
              </a:rPr>
              <a:t/>
            </a:r>
            <a:br>
              <a:rPr lang="en-US" sz="2400" b="1" dirty="0">
                <a:solidFill>
                  <a:srgbClr val="00B050"/>
                </a:solidFill>
              </a:rPr>
            </a:br>
            <a:r>
              <a:rPr lang="en-US" sz="2400" b="1" dirty="0" smtClean="0">
                <a:solidFill>
                  <a:srgbClr val="00B050"/>
                </a:solidFill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LC_COLLATE</a:t>
            </a:r>
            <a:r>
              <a:rPr lang="en-US" sz="2400" b="1" dirty="0" smtClean="0">
                <a:solidFill>
                  <a:srgbClr val="7030A0"/>
                </a:solidFill>
              </a:rPr>
              <a:t> </a:t>
            </a:r>
            <a:r>
              <a:rPr lang="en-US" sz="2400" b="1" dirty="0">
                <a:solidFill>
                  <a:srgbClr val="7030A0"/>
                </a:solidFill>
              </a:rPr>
              <a:t>= </a:t>
            </a:r>
            <a:r>
              <a:rPr lang="ru-RU" sz="2400" b="1" dirty="0" err="1" smtClean="0">
                <a:solidFill>
                  <a:srgbClr val="00B050"/>
                </a:solidFill>
              </a:rPr>
              <a:t>порядок_сортировки</a:t>
            </a:r>
            <a:r>
              <a:rPr lang="en-US" sz="2400" b="1" dirty="0">
                <a:solidFill>
                  <a:srgbClr val="7030A0"/>
                </a:solidFill>
              </a:rPr>
              <a:t/>
            </a:r>
            <a:br>
              <a:rPr lang="en-US" sz="2400" b="1" dirty="0">
                <a:solidFill>
                  <a:srgbClr val="7030A0"/>
                </a:solidFill>
              </a:rPr>
            </a:br>
            <a:r>
              <a:rPr lang="en-US" sz="2400" b="1" dirty="0" smtClean="0">
                <a:solidFill>
                  <a:srgbClr val="7030A0"/>
                </a:solidFill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TABLESPACE</a:t>
            </a:r>
            <a:r>
              <a:rPr lang="en-US" sz="2400" b="1" dirty="0" smtClean="0">
                <a:solidFill>
                  <a:srgbClr val="7030A0"/>
                </a:solidFill>
              </a:rPr>
              <a:t> </a:t>
            </a:r>
            <a:r>
              <a:rPr lang="en-US" sz="2400" b="1" dirty="0">
                <a:solidFill>
                  <a:srgbClr val="7030A0"/>
                </a:solidFill>
              </a:rPr>
              <a:t>= </a:t>
            </a:r>
            <a:r>
              <a:rPr lang="ru-RU" sz="2400" b="1" dirty="0" err="1" smtClean="0">
                <a:solidFill>
                  <a:srgbClr val="00B050"/>
                </a:solidFill>
              </a:rPr>
              <a:t>имя_табличного_пространства</a:t>
            </a:r>
            <a:endParaRPr lang="ru-RU" sz="2400" b="1" dirty="0" smtClean="0">
              <a:solidFill>
                <a:srgbClr val="00B050"/>
              </a:solidFill>
            </a:endParaRPr>
          </a:p>
          <a:p>
            <a:pPr marL="3857625" indent="-3322638">
              <a:tabLst>
                <a:tab pos="446088" algn="l"/>
              </a:tabLst>
            </a:pP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CONNECTION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LIMIT</a:t>
            </a:r>
            <a:r>
              <a:rPr lang="en-US" sz="2400" b="1" dirty="0">
                <a:solidFill>
                  <a:srgbClr val="7030A0"/>
                </a:solidFill>
              </a:rPr>
              <a:t> = </a:t>
            </a:r>
            <a:r>
              <a:rPr lang="ru-RU" sz="2400" b="1" dirty="0" err="1" smtClean="0">
                <a:solidFill>
                  <a:srgbClr val="00B050"/>
                </a:solidFill>
              </a:rPr>
              <a:t>макс_колич_одновременных</a:t>
            </a:r>
            <a:r>
              <a:rPr lang="ru-RU" sz="2400" b="1" dirty="0" smtClean="0">
                <a:solidFill>
                  <a:srgbClr val="00B050"/>
                </a:solidFill>
              </a:rPr>
              <a:t> </a:t>
            </a:r>
            <a:r>
              <a:rPr lang="ru-RU" sz="2400" b="1" dirty="0" err="1" smtClean="0">
                <a:solidFill>
                  <a:srgbClr val="00B050"/>
                </a:solidFill>
              </a:rPr>
              <a:t>подключений_к_БД</a:t>
            </a:r>
            <a:r>
              <a:rPr lang="en-US" sz="2400" b="1" dirty="0" smtClean="0">
                <a:solidFill>
                  <a:srgbClr val="00B050"/>
                </a:solidFill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endParaRPr lang="ru-RU" sz="24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95536" y="4869160"/>
            <a:ext cx="8640960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Пример. </a:t>
            </a:r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DATABASE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test_db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ru-RU" sz="24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400" dirty="0"/>
              <a:t> </a:t>
            </a:r>
            <a:r>
              <a:rPr lang="ru-RU" sz="2400" dirty="0" smtClean="0"/>
              <a:t>  Создается БД 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test_db</a:t>
            </a:r>
            <a:endParaRPr lang="en-US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/>
              <a:t> </a:t>
            </a:r>
            <a:r>
              <a:rPr lang="en-US" sz="2400" dirty="0" smtClean="0"/>
              <a:t>    </a:t>
            </a:r>
            <a:r>
              <a:rPr lang="ru-RU" sz="2200" dirty="0" smtClean="0"/>
              <a:t>Владелец </a:t>
            </a:r>
            <a:r>
              <a:rPr lang="en-US" sz="2200" dirty="0" smtClean="0"/>
              <a:t>(</a:t>
            </a:r>
            <a:r>
              <a:rPr lang="en-US" sz="2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OWNER</a:t>
            </a:r>
            <a:r>
              <a:rPr lang="en-US" sz="2200" dirty="0" smtClean="0"/>
              <a:t>)</a:t>
            </a:r>
            <a:r>
              <a:rPr lang="ru-RU" sz="2200" dirty="0" smtClean="0"/>
              <a:t>– пользователь, выполнивший команду</a:t>
            </a:r>
          </a:p>
          <a:p>
            <a:r>
              <a:rPr lang="ru-RU" sz="2200" dirty="0"/>
              <a:t> </a:t>
            </a:r>
            <a:r>
              <a:rPr lang="ru-RU" sz="2200" dirty="0" smtClean="0"/>
              <a:t>           </a:t>
            </a:r>
            <a:r>
              <a:rPr lang="en-US" sz="2200" dirty="0" smtClean="0"/>
              <a:t>   </a:t>
            </a:r>
            <a:r>
              <a:rPr lang="ru-RU" sz="2200" dirty="0" smtClean="0"/>
              <a:t>Шаблон (</a:t>
            </a:r>
            <a:r>
              <a:rPr lang="en-US" sz="2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TEMPLATE</a:t>
            </a:r>
            <a:r>
              <a:rPr lang="en-US" sz="2200" dirty="0" smtClean="0"/>
              <a:t>)</a:t>
            </a:r>
            <a:r>
              <a:rPr lang="ru-RU" sz="2200" dirty="0" smtClean="0"/>
              <a:t> – </a:t>
            </a:r>
            <a:r>
              <a:rPr lang="en-US" sz="2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template0</a:t>
            </a:r>
            <a:r>
              <a:rPr lang="ru-RU" sz="2200" dirty="0" smtClean="0"/>
              <a:t> 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58356276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+mj-lt"/>
                <a:cs typeface="Arial" pitchFamily="34" charset="0"/>
              </a:rPr>
              <a:t>Создание </a:t>
            </a:r>
            <a:r>
              <a:rPr lang="en-US" sz="3600" b="1" dirty="0" smtClean="0">
                <a:latin typeface="+mj-lt"/>
                <a:cs typeface="Arial" pitchFamily="34" charset="0"/>
              </a:rPr>
              <a:t> </a:t>
            </a:r>
            <a:r>
              <a:rPr lang="ru-RU" sz="3600" b="1" dirty="0" smtClean="0">
                <a:latin typeface="+mj-lt"/>
                <a:cs typeface="Arial" pitchFamily="34" charset="0"/>
              </a:rPr>
              <a:t>БД в </a:t>
            </a:r>
            <a:r>
              <a:rPr lang="en-US" sz="3600" b="1" dirty="0" err="1" smtClean="0">
                <a:latin typeface="+mj-lt"/>
                <a:cs typeface="Arial" pitchFamily="34" charset="0"/>
              </a:rPr>
              <a:t>psql</a:t>
            </a: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+mj-lt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Реляционные базы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39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099" y="1340768"/>
            <a:ext cx="8552358" cy="3528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37169644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 smtClean="0">
                <a:latin typeface="+mj-lt"/>
                <a:cs typeface="Arial" pitchFamily="34" charset="0"/>
              </a:rPr>
              <a:t>Создание </a:t>
            </a:r>
            <a:r>
              <a:rPr lang="en-US" sz="3600" b="1" dirty="0" smtClean="0">
                <a:latin typeface="+mj-lt"/>
                <a:cs typeface="Arial" pitchFamily="34" charset="0"/>
              </a:rPr>
              <a:t> </a:t>
            </a:r>
            <a:r>
              <a:rPr lang="ru-RU" sz="3600" b="1" dirty="0" smtClean="0">
                <a:latin typeface="+mj-lt"/>
                <a:cs typeface="Arial" pitchFamily="34" charset="0"/>
              </a:rPr>
              <a:t>БД</a:t>
            </a:r>
            <a:r>
              <a:rPr lang="en-US" sz="3600" b="1" dirty="0" smtClean="0">
                <a:latin typeface="+mj-lt"/>
                <a:cs typeface="Arial" pitchFamily="34" charset="0"/>
              </a:rPr>
              <a:t> </a:t>
            </a:r>
            <a:r>
              <a:rPr lang="ru-RU" sz="3600" b="1" dirty="0" smtClean="0">
                <a:latin typeface="+mj-lt"/>
                <a:cs typeface="Arial" pitchFamily="34" charset="0"/>
              </a:rPr>
              <a:t>в </a:t>
            </a:r>
            <a:r>
              <a:rPr lang="en-US" sz="3600" b="1" dirty="0" err="1"/>
              <a:t>pgAdmin</a:t>
            </a: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+mj-lt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Реляционные базы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40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25" y="1196752"/>
            <a:ext cx="4333875" cy="10287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880" y="3025502"/>
            <a:ext cx="2943225" cy="17716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3046" y="2977852"/>
            <a:ext cx="4743450" cy="361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5149269"/>
            <a:ext cx="1773545" cy="1135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Стрелка вниз 8"/>
          <p:cNvSpPr/>
          <p:nvPr/>
        </p:nvSpPr>
        <p:spPr>
          <a:xfrm>
            <a:off x="827584" y="2420888"/>
            <a:ext cx="432048" cy="37472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/>
          <p:cNvSpPr txBox="1"/>
          <p:nvPr/>
        </p:nvSpPr>
        <p:spPr>
          <a:xfrm>
            <a:off x="1403648" y="2483604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 открывшемся окне</a:t>
            </a:r>
            <a:endParaRPr lang="ru-RU" dirty="0"/>
          </a:p>
        </p:txBody>
      </p:sp>
      <p:sp>
        <p:nvSpPr>
          <p:cNvPr id="11" name="Стрелка вправо с вырезом 10"/>
          <p:cNvSpPr/>
          <p:nvPr/>
        </p:nvSpPr>
        <p:spPr>
          <a:xfrm>
            <a:off x="3718595" y="3337238"/>
            <a:ext cx="277341" cy="157947"/>
          </a:xfrm>
          <a:prstGeom prst="notched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2" name="Стрелка влево 1"/>
          <p:cNvSpPr/>
          <p:nvPr/>
        </p:nvSpPr>
        <p:spPr>
          <a:xfrm>
            <a:off x="2405062" y="5373216"/>
            <a:ext cx="1734890" cy="57606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Результат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49163305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 animBg="1"/>
      <p:bldP spid="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 smtClean="0">
                <a:latin typeface="+mj-lt"/>
                <a:cs typeface="Arial" pitchFamily="34" charset="0"/>
              </a:rPr>
              <a:t>Создание </a:t>
            </a:r>
            <a:r>
              <a:rPr lang="en-US" sz="3600" b="1" dirty="0" smtClean="0">
                <a:latin typeface="+mj-lt"/>
                <a:cs typeface="Arial" pitchFamily="34" charset="0"/>
              </a:rPr>
              <a:t> </a:t>
            </a:r>
            <a:r>
              <a:rPr lang="ru-RU" sz="3600" b="1" dirty="0" smtClean="0">
                <a:latin typeface="+mj-lt"/>
                <a:cs typeface="Arial" pitchFamily="34" charset="0"/>
              </a:rPr>
              <a:t>БД в </a:t>
            </a:r>
            <a:r>
              <a:rPr lang="en-US" sz="3600" b="1" dirty="0" err="1"/>
              <a:t>DBeaver</a:t>
            </a:r>
            <a:endParaRPr lang="ru-RU" sz="3600" b="1" dirty="0"/>
          </a:p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+mj-lt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Реляционные базы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41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196752"/>
            <a:ext cx="5235276" cy="1080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957481"/>
            <a:ext cx="3096344" cy="3463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9320" y="4689140"/>
            <a:ext cx="2606690" cy="1512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Стрелка влево 7"/>
          <p:cNvSpPr/>
          <p:nvPr/>
        </p:nvSpPr>
        <p:spPr>
          <a:xfrm flipH="1">
            <a:off x="4613674" y="4869160"/>
            <a:ext cx="1512168" cy="57606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Результат</a:t>
            </a:r>
            <a:endParaRPr lang="ru-RU" dirty="0"/>
          </a:p>
        </p:txBody>
      </p:sp>
      <p:sp>
        <p:nvSpPr>
          <p:cNvPr id="9" name="Стрелка вниз 8"/>
          <p:cNvSpPr/>
          <p:nvPr/>
        </p:nvSpPr>
        <p:spPr>
          <a:xfrm>
            <a:off x="2195736" y="2420888"/>
            <a:ext cx="432048" cy="37472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/>
          <p:cNvSpPr txBox="1"/>
          <p:nvPr/>
        </p:nvSpPr>
        <p:spPr>
          <a:xfrm>
            <a:off x="2771800" y="2483604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 открывшемся окне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4638123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en-US" sz="3600" b="1" dirty="0">
                <a:latin typeface="Arial" pitchFamily="34" charset="0"/>
                <a:cs typeface="Arial" pitchFamily="34" charset="0"/>
              </a:rPr>
              <a:t>3</a:t>
            </a:r>
            <a:r>
              <a:rPr lang="en-US" sz="3600" b="1" dirty="0" smtClean="0">
                <a:latin typeface="Arial" pitchFamily="34" charset="0"/>
                <a:cs typeface="Arial" pitchFamily="34" charset="0"/>
              </a:rPr>
              <a:t>.  </a:t>
            </a: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Создание схемы</a:t>
            </a: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Реляционные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базы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42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268760"/>
            <a:ext cx="6336704" cy="4703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72264626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en-US" sz="3600" b="1" dirty="0" smtClean="0">
                <a:latin typeface="Arial" pitchFamily="34" charset="0"/>
                <a:cs typeface="Arial" pitchFamily="34" charset="0"/>
              </a:rPr>
              <a:t>C</a:t>
            </a:r>
            <a:r>
              <a:rPr lang="ru-RU" sz="3600" b="1" dirty="0" err="1" smtClean="0">
                <a:latin typeface="Arial" pitchFamily="34" charset="0"/>
                <a:cs typeface="Arial" pitchFamily="34" charset="0"/>
              </a:rPr>
              <a:t>хемы</a:t>
            </a: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3600" b="1" dirty="0">
                <a:latin typeface="Arial" pitchFamily="34" charset="0"/>
                <a:cs typeface="Arial" pitchFamily="34" charset="0"/>
              </a:rPr>
              <a:t>БД</a:t>
            </a: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Реляционные базы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43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1470" y="1232151"/>
            <a:ext cx="8640960" cy="2908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0850" indent="-45085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400" dirty="0"/>
              <a:t>Все объекты БД </a:t>
            </a:r>
            <a:r>
              <a:rPr lang="en-US" sz="2400" dirty="0" err="1"/>
              <a:t>PostgreSQL</a:t>
            </a:r>
            <a:r>
              <a:rPr lang="ru-RU" sz="2400" dirty="0"/>
              <a:t> хранятся в схемах. </a:t>
            </a:r>
            <a:endParaRPr lang="ru-RU" sz="2400" dirty="0" smtClean="0"/>
          </a:p>
          <a:p>
            <a:pPr marL="450850" indent="-45085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400" dirty="0" smtClean="0"/>
              <a:t>Схемы </a:t>
            </a:r>
            <a:r>
              <a:rPr lang="ru-RU" sz="2400" dirty="0"/>
              <a:t>используются для логической группировки объектов БД (таблиц, представлений, процедур) </a:t>
            </a:r>
            <a:endParaRPr lang="en-US" sz="2400" dirty="0" smtClean="0"/>
          </a:p>
          <a:p>
            <a:pPr marL="450850" indent="-45085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400" dirty="0"/>
              <a:t>При создании базы данных в ней автоматически создается схема с именем </a:t>
            </a:r>
            <a:r>
              <a:rPr lang="ru-RU" sz="24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endParaRPr lang="ru-RU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0850" indent="-45085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400" dirty="0"/>
              <a:t>В </a:t>
            </a:r>
            <a:r>
              <a:rPr lang="ru-RU" sz="2400" dirty="0" smtClean="0"/>
              <a:t>БД </a:t>
            </a:r>
            <a:r>
              <a:rPr lang="ru-RU" sz="2400" dirty="0"/>
              <a:t>может содержаться более одной схемы. Их имена должны быть уникальными в </a:t>
            </a:r>
            <a:r>
              <a:rPr lang="ru-RU" sz="2400" dirty="0" smtClean="0"/>
              <a:t>БД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3069" y="4365104"/>
            <a:ext cx="3569361" cy="18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66773459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en-US" sz="3600" b="1" dirty="0" smtClean="0">
                <a:latin typeface="Arial" pitchFamily="34" charset="0"/>
                <a:cs typeface="Arial" pitchFamily="34" charset="0"/>
              </a:rPr>
              <a:t>C</a:t>
            </a:r>
            <a:r>
              <a:rPr lang="ru-RU" sz="3600" b="1" dirty="0" err="1" smtClean="0">
                <a:latin typeface="Arial" pitchFamily="34" charset="0"/>
                <a:cs typeface="Arial" pitchFamily="34" charset="0"/>
              </a:rPr>
              <a:t>оздание</a:t>
            </a: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 схемы</a:t>
            </a: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Реляционные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базы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44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1520" y="1196752"/>
            <a:ext cx="85689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cs typeface="Courier New" panose="02070309020205020404" pitchFamily="49" charset="0"/>
              </a:rPr>
              <a:t>Команда создания схемы:</a:t>
            </a:r>
          </a:p>
          <a:p>
            <a:endParaRPr lang="ru-RU" sz="1200" dirty="0" smtClean="0">
              <a:cs typeface="Courier New" panose="02070309020205020404" pitchFamily="49" charset="0"/>
            </a:endParaRPr>
          </a:p>
          <a:p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CREATE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SCHEMA [IF NOT EXISTS] </a:t>
            </a:r>
            <a:r>
              <a:rPr lang="ru-RU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имя_схемы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ru-RU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51520" y="2564904"/>
            <a:ext cx="85689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cs typeface="Courier New" panose="02070309020205020404" pitchFamily="49" charset="0"/>
              </a:rPr>
              <a:t>Команда создания схемы для заданного владельца:</a:t>
            </a:r>
          </a:p>
          <a:p>
            <a:endParaRPr lang="ru-RU" sz="1200" dirty="0" smtClean="0">
              <a:cs typeface="Courier New" panose="02070309020205020404" pitchFamily="49" charset="0"/>
            </a:endParaRPr>
          </a:p>
          <a:p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CREATE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SCHEMA [IF NOT EXISTS] </a:t>
            </a:r>
            <a:r>
              <a:rPr lang="ru-RU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имя_схемы</a:t>
            </a:r>
            <a:endParaRPr lang="ru-RU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AUTHORIZATION</a:t>
            </a:r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err="1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имя_владельца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ru-RU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1520" y="4300354"/>
            <a:ext cx="80466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Вывод списка всех схем</a:t>
            </a:r>
          </a:p>
          <a:p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*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pg_catalog.pg_namespace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BY 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nspname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ru-RU" sz="24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946859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1" grpId="0"/>
      <p:bldP spid="8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 smtClean="0">
                <a:latin typeface="+mj-lt"/>
                <a:cs typeface="Arial" pitchFamily="34" charset="0"/>
              </a:rPr>
              <a:t>Создание </a:t>
            </a:r>
            <a:r>
              <a:rPr lang="en-US" sz="3600" b="1" dirty="0" smtClean="0">
                <a:latin typeface="+mj-lt"/>
                <a:cs typeface="Arial" pitchFamily="34" charset="0"/>
              </a:rPr>
              <a:t> </a:t>
            </a:r>
            <a:r>
              <a:rPr lang="ru-RU" sz="3600" b="1" dirty="0" smtClean="0">
                <a:latin typeface="+mj-lt"/>
                <a:cs typeface="Arial" pitchFamily="34" charset="0"/>
              </a:rPr>
              <a:t>схемы в </a:t>
            </a:r>
            <a:r>
              <a:rPr lang="en-US" sz="3600" b="1" dirty="0" err="1"/>
              <a:t>psql</a:t>
            </a:r>
            <a:endParaRPr lang="ru-RU" sz="3600" b="1" dirty="0"/>
          </a:p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+mj-lt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Реляционные базы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45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800" y="1268760"/>
            <a:ext cx="8527977" cy="3672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8834" y="4998411"/>
            <a:ext cx="6214943" cy="18595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27131537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 smtClean="0">
                <a:latin typeface="+mj-lt"/>
                <a:cs typeface="Arial" pitchFamily="34" charset="0"/>
              </a:rPr>
              <a:t>Создание </a:t>
            </a:r>
            <a:r>
              <a:rPr lang="en-US" sz="3600" b="1" dirty="0" smtClean="0">
                <a:latin typeface="+mj-lt"/>
                <a:cs typeface="Arial" pitchFamily="34" charset="0"/>
              </a:rPr>
              <a:t> </a:t>
            </a:r>
            <a:r>
              <a:rPr lang="ru-RU" sz="3600" b="1" dirty="0" smtClean="0">
                <a:latin typeface="+mj-lt"/>
                <a:cs typeface="Arial" pitchFamily="34" charset="0"/>
              </a:rPr>
              <a:t>схемы в </a:t>
            </a:r>
            <a:r>
              <a:rPr lang="en-US" sz="3600" b="1" dirty="0" err="1"/>
              <a:t>pgAdmin</a:t>
            </a:r>
            <a:endParaRPr lang="ru-RU" sz="3600" b="1" dirty="0"/>
          </a:p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+mj-lt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Реляционные базы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46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052736"/>
            <a:ext cx="3672408" cy="1820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3605392"/>
            <a:ext cx="3595489" cy="2415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6" y="3418772"/>
            <a:ext cx="2448272" cy="3380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Стрелка влево 7"/>
          <p:cNvSpPr/>
          <p:nvPr/>
        </p:nvSpPr>
        <p:spPr>
          <a:xfrm flipH="1">
            <a:off x="4716016" y="4826472"/>
            <a:ext cx="1512168" cy="57606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Результат</a:t>
            </a:r>
            <a:endParaRPr lang="ru-RU" dirty="0"/>
          </a:p>
        </p:txBody>
      </p:sp>
      <p:sp>
        <p:nvSpPr>
          <p:cNvPr id="9" name="Стрелка вниз 8"/>
          <p:cNvSpPr/>
          <p:nvPr/>
        </p:nvSpPr>
        <p:spPr>
          <a:xfrm>
            <a:off x="1403648" y="2924944"/>
            <a:ext cx="432048" cy="37472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/>
          <p:cNvSpPr txBox="1"/>
          <p:nvPr/>
        </p:nvSpPr>
        <p:spPr>
          <a:xfrm>
            <a:off x="1979712" y="2987660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 открывшемся окне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62366670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 smtClean="0">
                <a:latin typeface="+mj-lt"/>
                <a:cs typeface="Arial" pitchFamily="34" charset="0"/>
              </a:rPr>
              <a:t>Создание </a:t>
            </a:r>
            <a:r>
              <a:rPr lang="en-US" sz="3600" b="1" dirty="0" smtClean="0">
                <a:latin typeface="+mj-lt"/>
                <a:cs typeface="Arial" pitchFamily="34" charset="0"/>
              </a:rPr>
              <a:t> </a:t>
            </a:r>
            <a:r>
              <a:rPr lang="ru-RU" sz="3600" b="1" dirty="0" smtClean="0">
                <a:latin typeface="+mj-lt"/>
                <a:cs typeface="Arial" pitchFamily="34" charset="0"/>
              </a:rPr>
              <a:t>схемы в </a:t>
            </a:r>
            <a:r>
              <a:rPr lang="en-US" sz="3600" b="1" dirty="0" err="1"/>
              <a:t>DBeaver</a:t>
            </a:r>
            <a:endParaRPr lang="ru-RU" sz="3600" b="1" dirty="0"/>
          </a:p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+mj-lt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Реляционные базы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47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800" y="1106041"/>
            <a:ext cx="4019922" cy="246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6752" y="4164918"/>
            <a:ext cx="2598018" cy="2221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4236945"/>
            <a:ext cx="2880320" cy="2344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Стрелка влево 7"/>
          <p:cNvSpPr/>
          <p:nvPr/>
        </p:nvSpPr>
        <p:spPr>
          <a:xfrm flipH="1">
            <a:off x="4283968" y="5258520"/>
            <a:ext cx="1512168" cy="57606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Результат</a:t>
            </a:r>
            <a:endParaRPr lang="ru-RU" dirty="0"/>
          </a:p>
        </p:txBody>
      </p:sp>
      <p:sp>
        <p:nvSpPr>
          <p:cNvPr id="9" name="Стрелка вниз 8"/>
          <p:cNvSpPr/>
          <p:nvPr/>
        </p:nvSpPr>
        <p:spPr>
          <a:xfrm>
            <a:off x="1403648" y="3645024"/>
            <a:ext cx="432048" cy="37472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/>
          <p:cNvSpPr txBox="1"/>
          <p:nvPr/>
        </p:nvSpPr>
        <p:spPr>
          <a:xfrm>
            <a:off x="1979712" y="3707740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 открывшемся окне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5269018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79512" y="692696"/>
            <a:ext cx="8712968" cy="5688632"/>
          </a:xfrm>
        </p:spPr>
        <p:txBody>
          <a:bodyPr rtlCol="0">
            <a:noAutofit/>
          </a:bodyPr>
          <a:lstStyle/>
          <a:p>
            <a:pPr marL="6350" indent="-6350" algn="ctr">
              <a:spcBef>
                <a:spcPts val="0"/>
              </a:spcBef>
              <a:buNone/>
              <a:defRPr/>
            </a:pPr>
            <a:endParaRPr lang="ru-RU" sz="2400"/>
          </a:p>
          <a:p>
            <a:pPr marL="6350" indent="-6350" algn="ctr">
              <a:lnSpc>
                <a:spcPct val="150000"/>
              </a:lnSpc>
              <a:spcBef>
                <a:spcPts val="0"/>
              </a:spcBef>
              <a:buNone/>
              <a:defRPr/>
            </a:pPr>
            <a:endParaRPr lang="ru-RU" sz="3600" b="1">
              <a:solidFill>
                <a:srgbClr val="002060"/>
              </a:solidFill>
            </a:endParaRPr>
          </a:p>
          <a:p>
            <a:pPr marL="6350" indent="-6350" algn="ctr">
              <a:spcBef>
                <a:spcPts val="0"/>
              </a:spcBef>
              <a:buNone/>
              <a:defRPr/>
            </a:pPr>
            <a:endParaRPr lang="ru-RU" sz="2000" b="1">
              <a:latin typeface="Arial" pitchFamily="34" charset="0"/>
              <a:cs typeface="Arial" pitchFamily="34" charset="0"/>
            </a:endParaRPr>
          </a:p>
          <a:p>
            <a:pPr marL="6350" indent="-6350" algn="ctr">
              <a:spcBef>
                <a:spcPts val="0"/>
              </a:spcBef>
              <a:buNone/>
              <a:defRPr/>
            </a:pPr>
            <a:endParaRPr lang="ru-RU" sz="240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ru-RU" sz="2400" b="1">
                <a:latin typeface="Arial" pitchFamily="34" charset="0"/>
                <a:cs typeface="Arial" pitchFamily="34" charset="0"/>
              </a:rPr>
              <a:t> </a:t>
            </a:r>
            <a:endParaRPr lang="ru-RU" sz="2400">
              <a:latin typeface="Arial" pitchFamily="34" charset="0"/>
              <a:cs typeface="Arial" pitchFamily="34" charset="0"/>
            </a:endParaRPr>
          </a:p>
          <a:p>
            <a:pPr marL="6350" indent="-6350" algn="ctr">
              <a:spcBef>
                <a:spcPts val="0"/>
              </a:spcBef>
              <a:buNone/>
              <a:defRPr/>
            </a:pPr>
            <a:endParaRPr lang="ru-RU" sz="2400"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Рисунок 5" descr="kartinka-spasibo-za-vnimanie-dlya-prezentatsij-6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941" y="1"/>
            <a:ext cx="9134059" cy="6865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dissolv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ткрытая">
  <a:themeElements>
    <a:clrScheme name="Открытая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Открытая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Открытая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9409</TotalTime>
  <Words>1565</Words>
  <Application>Microsoft Office PowerPoint</Application>
  <PresentationFormat>Экран (4:3)</PresentationFormat>
  <Paragraphs>455</Paragraphs>
  <Slides>48</Slides>
  <Notes>4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48</vt:i4>
      </vt:variant>
    </vt:vector>
  </HeadingPairs>
  <TitlesOfParts>
    <vt:vector size="49" baseType="lpstr">
      <vt:lpstr>Открытая</vt:lpstr>
      <vt:lpstr> </vt:lpstr>
      <vt:lpstr>       Реляционные базы данных  </vt:lpstr>
      <vt:lpstr>       Реляционные базы данных  </vt:lpstr>
      <vt:lpstr>       Реляционные базы данных  </vt:lpstr>
      <vt:lpstr>       Реляционные базы данных  </vt:lpstr>
      <vt:lpstr>       Реляционные базы данных  </vt:lpstr>
      <vt:lpstr>       Реляционные базы данных  </vt:lpstr>
      <vt:lpstr>       Реляционные базы данных  </vt:lpstr>
      <vt:lpstr>       Реляционные базы данных  </vt:lpstr>
      <vt:lpstr>       Реляционные базы данных  </vt:lpstr>
      <vt:lpstr>       Реляционные базы данных  </vt:lpstr>
      <vt:lpstr>       Реляционные базы данных  </vt:lpstr>
      <vt:lpstr>       Реляционные базы данных  </vt:lpstr>
      <vt:lpstr>       Реляционные базы данных  </vt:lpstr>
      <vt:lpstr>       Реляционные базы данных  </vt:lpstr>
      <vt:lpstr>       Реляционные базы данных  </vt:lpstr>
      <vt:lpstr>       Реляционные базы данных  </vt:lpstr>
      <vt:lpstr>       Реляционные базы данных  </vt:lpstr>
      <vt:lpstr>       Реляционные базы данных  </vt:lpstr>
      <vt:lpstr>       Реляционные базы данных  </vt:lpstr>
      <vt:lpstr>       Реляционные базы данных  </vt:lpstr>
      <vt:lpstr>       Реляционные базы данных  </vt:lpstr>
      <vt:lpstr>       Реляционные базы данных  </vt:lpstr>
      <vt:lpstr>       Реляционные базы данных  </vt:lpstr>
      <vt:lpstr>       Реляционные базы данных  </vt:lpstr>
      <vt:lpstr>       Реляционные базы данных  </vt:lpstr>
      <vt:lpstr>       Реляционные базы данных  </vt:lpstr>
      <vt:lpstr>       Реляционные базы данных  </vt:lpstr>
      <vt:lpstr>   Реляционные базы данных  </vt:lpstr>
      <vt:lpstr>   Реляционные базы данных  </vt:lpstr>
      <vt:lpstr>  Реляционные базы данных  </vt:lpstr>
      <vt:lpstr>   Реляционные базы данных  </vt:lpstr>
      <vt:lpstr>       Реляционные базы данных  </vt:lpstr>
      <vt:lpstr>       Реляционные базы данных  </vt:lpstr>
      <vt:lpstr>       Реляционные базы данных  </vt:lpstr>
      <vt:lpstr>       Реляционные базы данных  </vt:lpstr>
      <vt:lpstr>       Реляционные базы данных  </vt:lpstr>
      <vt:lpstr>       Реляционные базы данных  </vt:lpstr>
      <vt:lpstr>       Реляционные базы данных  </vt:lpstr>
      <vt:lpstr>       Реляционные базы данных  </vt:lpstr>
      <vt:lpstr>       Реляционные базы данных  </vt:lpstr>
      <vt:lpstr>       Реляционные базы данных  </vt:lpstr>
      <vt:lpstr>       Реляционные базы данных  </vt:lpstr>
      <vt:lpstr>       Реляционные базы данных  </vt:lpstr>
      <vt:lpstr>       Реляционные базы данных  </vt:lpstr>
      <vt:lpstr>       Реляционные базы данных  </vt:lpstr>
      <vt:lpstr>       Реляционные базы данных  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</dc:title>
  <dc:creator>MON</dc:creator>
  <cp:lastModifiedBy>*</cp:lastModifiedBy>
  <cp:revision>736</cp:revision>
  <dcterms:created xsi:type="dcterms:W3CDTF">2020-10-04T20:01:59Z</dcterms:created>
  <dcterms:modified xsi:type="dcterms:W3CDTF">2025-10-16T15:19:00Z</dcterms:modified>
</cp:coreProperties>
</file>