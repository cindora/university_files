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50"/>
  </p:notesMasterIdLst>
  <p:handoutMasterIdLst>
    <p:handoutMasterId r:id="rId51"/>
  </p:handoutMasterIdLst>
  <p:sldIdLst>
    <p:sldId id="30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82" r:id="rId24"/>
    <p:sldId id="280" r:id="rId25"/>
    <p:sldId id="281" r:id="rId26"/>
    <p:sldId id="284" r:id="rId27"/>
    <p:sldId id="283" r:id="rId28"/>
    <p:sldId id="290" r:id="rId29"/>
    <p:sldId id="286" r:id="rId30"/>
    <p:sldId id="287" r:id="rId31"/>
    <p:sldId id="288" r:id="rId32"/>
    <p:sldId id="289" r:id="rId33"/>
    <p:sldId id="291" r:id="rId34"/>
    <p:sldId id="292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8" r:id="rId48"/>
    <p:sldId id="307" r:id="rId4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93A9B-63F6-49E1-9148-C5B11ECC2355}" type="datetimeFigureOut">
              <a:rPr lang="ru-RU" smtClean="0"/>
              <a:pPr/>
              <a:t>03.10.2025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8FB3E-5EC3-4489-84FB-7BC64930C18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4597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03.10.2025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1НФ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1НФ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1НФ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39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1НФ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40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03.10.2025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9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chemeClr val="bg2"/>
                </a:solidFill>
              </a:rPr>
              <a:t>Лекция  </a:t>
            </a:r>
            <a:r>
              <a:rPr lang="en-US" sz="5400" smtClean="0">
                <a:solidFill>
                  <a:schemeClr val="bg2"/>
                </a:solidFill>
              </a:rPr>
              <a:t>5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700808"/>
            <a:ext cx="6400800" cy="4320480"/>
          </a:xfrm>
        </p:spPr>
        <p:txBody>
          <a:bodyPr>
            <a:normAutofit/>
          </a:bodyPr>
          <a:lstStyle/>
          <a:p>
            <a:pPr algn="ctr"/>
            <a:r>
              <a:rPr lang="ru-RU" sz="5400" b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Нормализация</a:t>
            </a:r>
          </a:p>
          <a:p>
            <a:pPr algn="ctr"/>
            <a:r>
              <a:rPr lang="ru-RU" sz="5400" b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логической модели </a:t>
            </a: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данных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43131" y="6488668"/>
            <a:ext cx="2000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FFC000"/>
                </a:solidFill>
              </a:rPr>
              <a:t>©Монахов В.И.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7" name="Рисунок 6" descr="Каф АСОИиУ логотип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0"/>
            <a:ext cx="1525124" cy="134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196752"/>
            <a:ext cx="8964488" cy="1728764"/>
          </a:xfrm>
        </p:spPr>
        <p:txBody>
          <a:bodyPr rtlCol="0">
            <a:noAutofit/>
          </a:bodyPr>
          <a:lstStyle/>
          <a:p>
            <a:pPr marL="725488" indent="-544513" algn="just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1. Логическое проектирование БД –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создание</a:t>
            </a: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B050"/>
                </a:solidFill>
                <a:cs typeface="Arial" pitchFamily="34" charset="0"/>
              </a:rPr>
              <a:t>непротиворечивого и эффективного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B050"/>
                </a:solidFill>
                <a:cs typeface="Arial" pitchFamily="34" charset="0"/>
              </a:rPr>
              <a:t>отображения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реальных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объектов предметной области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в абстрактные объекты модели данных</a:t>
            </a:r>
            <a:endParaRPr lang="ru-RU" sz="2400" b="1" dirty="0">
              <a:solidFill>
                <a:srgbClr val="0070C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Основные этапы проектирования БД</a:t>
            </a:r>
            <a:endParaRPr lang="ru-RU" sz="3600"/>
          </a:p>
        </p:txBody>
      </p:sp>
      <p:sp>
        <p:nvSpPr>
          <p:cNvPr id="11" name="TextBox 10"/>
          <p:cNvSpPr txBox="1"/>
          <p:nvPr/>
        </p:nvSpPr>
        <p:spPr>
          <a:xfrm>
            <a:off x="0" y="2930168"/>
            <a:ext cx="8892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138" indent="-536575" algn="just"/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2.   Физическое проектирование БД  - 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преобразование</a:t>
            </a: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представления абстрактных объектов логической модели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в структуры данных конкретной СУБД 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для обеспечения </a:t>
            </a:r>
            <a:r>
              <a:rPr lang="ru-RU" sz="2400" b="1" dirty="0" smtClean="0">
                <a:solidFill>
                  <a:srgbClr val="00B050"/>
                </a:solidFill>
                <a:cs typeface="Arial" pitchFamily="34" charset="0"/>
              </a:rPr>
              <a:t>эффективности выполнения запросов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164"/>
            <a:ext cx="8352928" cy="576636"/>
          </a:xfrm>
        </p:spPr>
        <p:txBody>
          <a:bodyPr rtlCol="0">
            <a:noAutofit/>
          </a:bodyPr>
          <a:lstStyle/>
          <a:p>
            <a:pPr marL="725488" indent="-544513" algn="just" fontAlgn="auto">
              <a:lnSpc>
                <a:spcPct val="150000"/>
              </a:lnSpc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1.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Выбор отношений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и составляющих их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атрибутов</a:t>
            </a:r>
            <a:endParaRPr lang="ru-RU" sz="2400" b="1" dirty="0">
              <a:solidFill>
                <a:srgbClr val="0070C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827584" y="3212976"/>
            <a:ext cx="7056784" cy="72008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268288" marR="0" lvl="0" indent="-255588" algn="just" defTabSz="914400" rtl="0" eaLnBrk="1" fontAlgn="auto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Нормализация</a:t>
            </a: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 – </a:t>
            </a:r>
            <a:r>
              <a:rPr kumimoji="0" lang="ru-RU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метод 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ea typeface="+mn-ea"/>
                <a:cs typeface="Arial" pitchFamily="34" charset="0"/>
              </a:rPr>
              <a:t>получения эффективной логической модели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Задачи логического проектирования</a:t>
            </a:r>
            <a:endParaRPr lang="ru-RU" sz="360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1916832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indent="-444500"/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</a:t>
            </a: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Выполнение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нормализации отношений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логической модели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4293096"/>
            <a:ext cx="734481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/>
              <a:t>Нормализованная модель данных позволяет</a:t>
            </a:r>
            <a:r>
              <a:rPr lang="ru-RU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57188" indent="-357188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минимизировать дублирование данных</a:t>
            </a:r>
          </a:p>
          <a:p>
            <a:pPr marL="357188" indent="-357188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без проблем выполнять операции изменения данных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1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268188"/>
            <a:ext cx="8548460" cy="432620"/>
          </a:xfrm>
        </p:spPr>
        <p:txBody>
          <a:bodyPr rtlCol="0">
            <a:noAutofit/>
          </a:bodyPr>
          <a:lstStyle/>
          <a:p>
            <a:pPr marL="809625" indent="-460375" fontAlgn="auto">
              <a:spcAft>
                <a:spcPts val="0"/>
              </a:spcAft>
              <a:buClrTx/>
              <a:buSzPct val="100000"/>
              <a:buFont typeface="Wingdings" pitchFamily="2" charset="2"/>
              <a:buChar char="q"/>
              <a:defRPr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Существует несколько видов нормальных форм</a:t>
            </a:r>
          </a:p>
          <a:p>
            <a:pPr marL="365125" indent="-6350" algn="just" fontAlgn="auto">
              <a:spcAft>
                <a:spcPts val="0"/>
              </a:spcAft>
              <a:buFont typeface="Wingdings" pitchFamily="2" charset="2"/>
              <a:buChar char="q"/>
              <a:defRPr/>
            </a:pPr>
            <a:endParaRPr lang="ru-RU" sz="240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/>
            </a:pP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Основные принципы </a:t>
            </a:r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нормализации</a:t>
            </a:r>
            <a:endParaRPr lang="ru-RU" sz="3600" b="1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1988840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9625" indent="-457200" algn="just">
              <a:buFont typeface="Wingdings" pitchFamily="2" charset="2"/>
              <a:buChar char="q"/>
              <a:defRPr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Каждой форме соответствует набор ограничений</a:t>
            </a:r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251520" y="270892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9625" indent="-457200" algn="just">
              <a:buFont typeface="Wingdings" pitchFamily="2" charset="2"/>
              <a:buChar char="q"/>
              <a:defRPr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Каждая следующая нормальная форма в некотором смысле лучше (эффективней) предыдущей</a:t>
            </a:r>
            <a:endParaRPr lang="ru-RU" sz="2400"/>
          </a:p>
        </p:txBody>
      </p:sp>
      <p:sp>
        <p:nvSpPr>
          <p:cNvPr id="13" name="TextBox 12"/>
          <p:cNvSpPr txBox="1"/>
          <p:nvPr/>
        </p:nvSpPr>
        <p:spPr>
          <a:xfrm>
            <a:off x="251520" y="4163596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9625" indent="-457200" algn="just">
              <a:buFont typeface="Wingdings" pitchFamily="2" charset="2"/>
              <a:buChar char="q"/>
              <a:defRPr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При переходе к следующей нормальной форме  свойства предыдущих нормальных форм сохраняются</a:t>
            </a:r>
          </a:p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340196"/>
            <a:ext cx="8548460" cy="432620"/>
          </a:xfrm>
        </p:spPr>
        <p:txBody>
          <a:bodyPr rtlCol="0">
            <a:noAutofit/>
          </a:bodyPr>
          <a:lstStyle/>
          <a:p>
            <a:pPr marL="901700" indent="-549275" fontAlgn="auto">
              <a:spcAft>
                <a:spcPts val="0"/>
              </a:spcAft>
              <a:buClrTx/>
              <a:buSzPct val="100000"/>
              <a:buFont typeface="Wingdings" pitchFamily="2" charset="2"/>
              <a:buChar char="q"/>
              <a:defRPr/>
            </a:pPr>
            <a:r>
              <a:rPr lang="ru-RU" sz="2400" smtClean="0">
                <a:cs typeface="Arial" pitchFamily="34" charset="0"/>
              </a:rPr>
              <a:t>первая </a:t>
            </a:r>
            <a:r>
              <a:rPr lang="ru-RU" sz="2400" dirty="0" smtClean="0">
                <a:cs typeface="Arial" pitchFamily="34" charset="0"/>
              </a:rPr>
              <a:t>нормальная форма (</a:t>
            </a:r>
            <a:r>
              <a:rPr lang="ru-RU" sz="2400" smtClean="0">
                <a:cs typeface="Arial" pitchFamily="34" charset="0"/>
              </a:rPr>
              <a:t>1НФ)</a:t>
            </a: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Основные виды нормальных форм</a:t>
            </a:r>
            <a:endParaRPr lang="ru-RU" sz="3600"/>
          </a:p>
        </p:txBody>
      </p:sp>
      <p:sp>
        <p:nvSpPr>
          <p:cNvPr id="12" name="TextBox 11"/>
          <p:cNvSpPr txBox="1"/>
          <p:nvPr/>
        </p:nvSpPr>
        <p:spPr>
          <a:xfrm>
            <a:off x="251520" y="2011487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lvl="0" indent="-549275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вторая нормальная форма (2НФ)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2659559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lvl="0" indent="-549275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третья нормальная форма (3НФ);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3307631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lvl="0" indent="-549275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нормальная форма Бойса-Кодда (БКНФ)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520" y="3955703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lvl="0" indent="-549275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четвертая нормальная форма (4НФ);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520" y="4603775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5350" indent="-544513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пятая нормальная форма, или нормальная форма  проекции-соединения (5НФ)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 descr="Нормальные формы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908720"/>
            <a:ext cx="7997482" cy="5040560"/>
          </a:xfrm>
          <a:prstGeom prst="rect">
            <a:avLst/>
          </a:prstGeom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Вложенная структура нормальных форм</a:t>
            </a:r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7544" y="1364003"/>
            <a:ext cx="8208912" cy="2232820"/>
          </a:xfrm>
        </p:spPr>
        <p:txBody>
          <a:bodyPr rtlCol="0">
            <a:noAutofit/>
          </a:bodyPr>
          <a:lstStyle/>
          <a:p>
            <a:pPr marL="534988" indent="-446088" algn="just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400" dirty="0" smtClean="0">
                <a:cs typeface="Arial" pitchFamily="34" charset="0"/>
              </a:rPr>
              <a:t>Нормализация выполняется путем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декомпозиции </a:t>
            </a:r>
            <a:r>
              <a:rPr lang="ru-RU" sz="2400" b="1" smtClean="0">
                <a:solidFill>
                  <a:srgbClr val="7030A0"/>
                </a:solidFill>
                <a:cs typeface="Arial" pitchFamily="34" charset="0"/>
              </a:rPr>
              <a:t>(разбиения)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отношения</a:t>
            </a:r>
            <a:r>
              <a:rPr lang="ru-RU" sz="2400" dirty="0" smtClean="0">
                <a:cs typeface="Arial" pitchFamily="34" charset="0"/>
              </a:rPr>
              <a:t>, </a:t>
            </a:r>
          </a:p>
          <a:p>
            <a:pPr marL="355600" indent="-6350" algn="just">
              <a:buNone/>
              <a:defRPr/>
            </a:pPr>
            <a:r>
              <a:rPr lang="ru-RU" sz="2400" dirty="0" smtClean="0">
                <a:cs typeface="Arial" pitchFamily="34" charset="0"/>
              </a:rPr>
              <a:t>находящегося в  предыдущей нормальной форме, в два или </a:t>
            </a:r>
            <a:r>
              <a:rPr lang="ru-RU" sz="2400" smtClean="0">
                <a:cs typeface="Arial" pitchFamily="34" charset="0"/>
              </a:rPr>
              <a:t>более отношений, </a:t>
            </a:r>
            <a:r>
              <a:rPr lang="ru-RU" sz="2400" dirty="0" smtClean="0">
                <a:cs typeface="Arial" pitchFamily="34" charset="0"/>
              </a:rPr>
              <a:t>удовлетворяющих требованиям (ограничениям) следующей нормальной формы</a:t>
            </a: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Суть процесса нормализации</a:t>
            </a:r>
            <a:endParaRPr lang="ru-RU" sz="3600"/>
          </a:p>
        </p:txBody>
      </p:sp>
      <p:sp>
        <p:nvSpPr>
          <p:cNvPr id="11" name="TextBox 10"/>
          <p:cNvSpPr txBox="1"/>
          <p:nvPr/>
        </p:nvSpPr>
        <p:spPr>
          <a:xfrm>
            <a:off x="899592" y="3933056"/>
            <a:ext cx="71287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buNone/>
              <a:defRPr/>
            </a:pPr>
            <a:r>
              <a:rPr lang="ru-RU" sz="2400" dirty="0" smtClean="0">
                <a:cs typeface="Arial" pitchFamily="34" charset="0"/>
              </a:rPr>
              <a:t>В каждой новой форме получается </a:t>
            </a:r>
          </a:p>
          <a:p>
            <a:pPr marL="363538" indent="-6350">
              <a:buNone/>
              <a:defRPr/>
            </a:pP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большее  количество</a:t>
            </a:r>
            <a:r>
              <a:rPr lang="ru-RU" sz="2400" b="1" dirty="0" smtClean="0">
                <a:cs typeface="Arial" pitchFamily="34" charset="0"/>
              </a:rPr>
              <a:t> </a:t>
            </a:r>
          </a:p>
          <a:p>
            <a:pPr marL="363538" indent="-6350">
              <a:buNone/>
              <a:defRPr/>
            </a:pPr>
            <a:r>
              <a:rPr lang="ru-RU" sz="2400" b="1" dirty="0" smtClean="0">
                <a:solidFill>
                  <a:srgbClr val="00B050"/>
                </a:solidFill>
                <a:cs typeface="Arial" pitchFamily="34" charset="0"/>
              </a:rPr>
              <a:t>более простых</a:t>
            </a:r>
            <a:r>
              <a:rPr lang="ru-RU" sz="2400" dirty="0" smtClean="0">
                <a:cs typeface="Arial" pitchFamily="34" charset="0"/>
              </a:rPr>
              <a:t> отношений</a:t>
            </a:r>
            <a:endParaRPr lang="ru-RU" sz="2400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164"/>
            <a:ext cx="8764484" cy="2088804"/>
          </a:xfrm>
        </p:spPr>
        <p:txBody>
          <a:bodyPr rtlCol="0">
            <a:noAutofit/>
          </a:bodyPr>
          <a:lstStyle/>
          <a:p>
            <a:pPr marL="188913" indent="-6350" fontAlgn="auto">
              <a:spcAft>
                <a:spcPts val="0"/>
              </a:spcAft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Цель -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получение эффективных структур данных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для:</a:t>
            </a:r>
          </a:p>
          <a:p>
            <a:pPr marL="996950" indent="-276225">
              <a:spcBef>
                <a:spcPts val="1800"/>
              </a:spcBef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экономии места</a:t>
            </a:r>
            <a:r>
              <a:rPr lang="ru-RU" sz="2400" dirty="0" smtClean="0">
                <a:cs typeface="Arial" pitchFamily="34" charset="0"/>
              </a:rPr>
              <a:t>, занимаемого данными</a:t>
            </a:r>
          </a:p>
          <a:p>
            <a:pPr marL="992188" indent="-271463">
              <a:spcBef>
                <a:spcPts val="1800"/>
              </a:spcBef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минимизации количества операций </a:t>
            </a:r>
          </a:p>
          <a:p>
            <a:pPr>
              <a:buNone/>
            </a:pPr>
            <a:r>
              <a:rPr lang="ru-RU" sz="2400" dirty="0" smtClean="0">
                <a:cs typeface="Arial" pitchFamily="34" charset="0"/>
              </a:rPr>
              <a:t>           при изменениях данных  </a:t>
            </a:r>
            <a:endParaRPr lang="ru-RU" sz="2400" dirty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Цели и принципы нормализации</a:t>
            </a:r>
            <a:endParaRPr lang="ru-RU" sz="3600"/>
          </a:p>
        </p:txBody>
      </p:sp>
      <p:sp>
        <p:nvSpPr>
          <p:cNvPr id="11" name="TextBox 10"/>
          <p:cNvSpPr txBox="1"/>
          <p:nvPr/>
        </p:nvSpPr>
        <p:spPr>
          <a:xfrm>
            <a:off x="251520" y="3645024"/>
            <a:ext cx="889248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138" indent="-536575">
              <a:buNone/>
            </a:pPr>
            <a:r>
              <a:rPr lang="ru-RU" sz="2400" b="1" smtClean="0">
                <a:cs typeface="Arial" pitchFamily="34" charset="0"/>
              </a:rPr>
              <a:t>Основные принципы построения эффективной модели</a:t>
            </a:r>
          </a:p>
          <a:p>
            <a:pPr marL="719138" indent="-536575">
              <a:buNone/>
            </a:pPr>
            <a:r>
              <a:rPr lang="ru-RU" sz="2400" b="1" smtClean="0">
                <a:cs typeface="Arial" pitchFamily="34" charset="0"/>
              </a:rPr>
              <a:t> </a:t>
            </a:r>
          </a:p>
          <a:p>
            <a:pPr marL="1254125" indent="-444500"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информация об одном объекте хранится в одном месте</a:t>
            </a:r>
          </a:p>
          <a:p>
            <a:pPr marL="1254125" indent="-444500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400" smtClean="0">
                <a:cs typeface="Arial" pitchFamily="34" charset="0"/>
              </a:rPr>
              <a:t>изменение данных одного объекта                      - одна операция</a:t>
            </a:r>
          </a:p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1052164"/>
            <a:ext cx="8604448" cy="4681092"/>
          </a:xfrm>
        </p:spPr>
        <p:txBody>
          <a:bodyPr rtlCol="0">
            <a:noAutofit/>
          </a:bodyPr>
          <a:lstStyle/>
          <a:p>
            <a:pPr marL="6350" indent="-6350" algn="just">
              <a:spcBef>
                <a:spcPts val="0"/>
              </a:spcBef>
              <a:buNone/>
              <a:defRPr/>
            </a:pPr>
            <a:r>
              <a:rPr lang="ru-RU" sz="2400" dirty="0" smtClean="0">
                <a:cs typeface="Arial" pitchFamily="34" charset="0"/>
              </a:rPr>
              <a:t>Модель включает информацию о сотрудниках </a:t>
            </a:r>
          </a:p>
          <a:p>
            <a:pPr marL="6350" indent="-6350" algn="just">
              <a:spcBef>
                <a:spcPts val="0"/>
              </a:spcBef>
              <a:buNone/>
              <a:defRPr/>
            </a:pPr>
            <a:r>
              <a:rPr lang="ru-RU" sz="2400" dirty="0" smtClean="0">
                <a:cs typeface="Arial" pitchFamily="34" charset="0"/>
              </a:rPr>
              <a:t>              и выполняемых ими работах. </a:t>
            </a:r>
          </a:p>
          <a:p>
            <a:pPr marL="352425" indent="-352425" algn="just">
              <a:spcBef>
                <a:spcPts val="1200"/>
              </a:spcBef>
              <a:buNone/>
              <a:defRPr/>
            </a:pPr>
            <a:r>
              <a:rPr lang="ru-RU" sz="2400" i="1" dirty="0" smtClean="0">
                <a:cs typeface="Arial" pitchFamily="34" charset="0"/>
              </a:rPr>
              <a:t>Каждый сотрудник</a:t>
            </a: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cs typeface="Arial" pitchFamily="34" charset="0"/>
              </a:rPr>
              <a:t>может участвовать в нескольких проектах</a:t>
            </a:r>
            <a:r>
              <a:rPr lang="ru-RU" sz="2400" dirty="0" smtClean="0">
                <a:cs typeface="Arial" pitchFamily="34" charset="0"/>
              </a:rPr>
              <a:t>, выполняя в каждом из них одну из работ. </a:t>
            </a:r>
          </a:p>
          <a:p>
            <a:pPr marL="352425" indent="-352425" algn="just">
              <a:spcBef>
                <a:spcPts val="1200"/>
              </a:spcBef>
              <a:buNone/>
              <a:defRPr/>
            </a:pP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</a:rPr>
              <a:t>Каждый проект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имеет </a:t>
            </a:r>
            <a:r>
              <a:rPr lang="ru-RU" sz="2400" b="1" i="1" dirty="0" smtClean="0">
                <a:cs typeface="Arial" pitchFamily="34" charset="0"/>
              </a:rPr>
              <a:t>уникальный номер  </a:t>
            </a:r>
            <a:r>
              <a:rPr lang="ru-RU" sz="2400" dirty="0" smtClean="0">
                <a:cs typeface="Arial" pitchFamily="34" charset="0"/>
              </a:rPr>
              <a:t>и включает перечень работ. </a:t>
            </a:r>
          </a:p>
          <a:p>
            <a:pPr marL="352425" indent="-352425" algn="just">
              <a:spcBef>
                <a:spcPts val="1200"/>
              </a:spcBef>
              <a:buNone/>
              <a:defRPr/>
            </a:pP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</a:rPr>
              <a:t>Каждый сотрудник</a:t>
            </a:r>
            <a:r>
              <a:rPr lang="ru-RU" sz="2400" dirty="0" smtClean="0">
                <a:cs typeface="Arial" pitchFamily="34" charset="0"/>
              </a:rPr>
              <a:t> имеет </a:t>
            </a:r>
            <a:r>
              <a:rPr lang="ru-RU" sz="2400" b="1" i="1" dirty="0" smtClean="0">
                <a:cs typeface="Arial" pitchFamily="34" charset="0"/>
              </a:rPr>
              <a:t>уникальный табельный номер</a:t>
            </a:r>
            <a:r>
              <a:rPr lang="ru-RU" sz="2400" dirty="0" smtClean="0">
                <a:cs typeface="Arial" pitchFamily="34" charset="0"/>
              </a:rPr>
              <a:t>. </a:t>
            </a:r>
          </a:p>
          <a:p>
            <a:pPr marL="352425" indent="-352425" algn="just">
              <a:spcBef>
                <a:spcPts val="1200"/>
              </a:spcBef>
              <a:buNone/>
              <a:defRPr/>
            </a:pPr>
            <a:r>
              <a:rPr lang="ru-RU" sz="2400" b="1" i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Оклад сотрудника определяется тарифным разрядом</a:t>
            </a:r>
            <a:r>
              <a:rPr lang="ru-RU" sz="2400" dirty="0" smtClean="0">
                <a:cs typeface="Arial" pitchFamily="34" charset="0"/>
              </a:rPr>
              <a:t>.</a:t>
            </a:r>
          </a:p>
          <a:p>
            <a:pPr marL="6350" indent="-6350" algn="just" fontAlgn="auto">
              <a:spcAft>
                <a:spcPts val="0"/>
              </a:spcAft>
              <a:buNone/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Пример</a:t>
            </a:r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052164"/>
            <a:ext cx="9144000" cy="46810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ru-RU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000" b="1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 descr="Таблица Выполняемые проекты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768"/>
            <a:ext cx="8943774" cy="4392488"/>
          </a:xfrm>
          <a:prstGeom prst="rect">
            <a:avLst/>
          </a:prstGeom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76672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Таблица отношения    Проекты-Сотрудники</a:t>
            </a:r>
            <a:endParaRPr lang="ru-RU" sz="3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55576" y="5013176"/>
            <a:ext cx="8064896" cy="432620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b="1" i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Первичный ключ</a:t>
            </a: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:   ТАБ_НОМЕР + НОМЕР_ПРОЕКТА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8140" y="1412776"/>
            <a:ext cx="4004095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Отношение Проекты-Сотрудники</a:t>
            </a:r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1052164"/>
            <a:ext cx="8604448" cy="4681092"/>
          </a:xfrm>
        </p:spPr>
        <p:txBody>
          <a:bodyPr rtlCol="0">
            <a:noAutofit/>
          </a:bodyPr>
          <a:lstStyle/>
          <a:p>
            <a:pPr marL="6350" indent="-6350" algn="ctr" fontAlgn="auto">
              <a:lnSpc>
                <a:spcPct val="200000"/>
              </a:lnSpc>
              <a:spcAft>
                <a:spcPts val="0"/>
              </a:spcAft>
              <a:buNone/>
              <a:defRPr/>
            </a:pPr>
            <a:r>
              <a:rPr lang="ru-RU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В процессе нормализации </a:t>
            </a:r>
          </a:p>
          <a:p>
            <a:pPr marL="6350" indent="-6350" algn="ctr" fontAlgn="auto">
              <a:lnSpc>
                <a:spcPct val="200000"/>
              </a:lnSpc>
              <a:spcAft>
                <a:spcPts val="0"/>
              </a:spcAft>
              <a:buNone/>
              <a:defRPr/>
            </a:pPr>
            <a:r>
              <a:rPr lang="ru-RU" sz="28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важное место занимает </a:t>
            </a:r>
          </a:p>
          <a:p>
            <a:pPr marL="6350" indent="-6350" algn="ctr" fontAlgn="auto">
              <a:lnSpc>
                <a:spcPct val="200000"/>
              </a:lnSpc>
              <a:spcAft>
                <a:spcPts val="0"/>
              </a:spcAft>
              <a:buNone/>
              <a:defRPr/>
            </a:pPr>
            <a:r>
              <a:rPr lang="ru-RU" sz="28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понятие</a:t>
            </a:r>
          </a:p>
          <a:p>
            <a:pPr marL="6350" indent="-6350" algn="ctr" fontAlgn="auto">
              <a:lnSpc>
                <a:spcPct val="200000"/>
              </a:lnSpc>
              <a:spcAft>
                <a:spcPts val="0"/>
              </a:spcAft>
              <a:buNone/>
              <a:defRPr/>
            </a:pPr>
            <a:r>
              <a:rPr lang="ru-RU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функциональных зависимостей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124172"/>
            <a:ext cx="8064896" cy="2592860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отношении </a:t>
            </a:r>
            <a:r>
              <a:rPr lang="ru-RU" sz="2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атрибут </a:t>
            </a:r>
            <a:r>
              <a:rPr lang="ru-RU" sz="2400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функционально зависит </a:t>
            </a:r>
          </a:p>
          <a:p>
            <a:pPr marL="173038" indent="-6350">
              <a:buNone/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от атрибута </a:t>
            </a:r>
            <a:r>
              <a:rPr lang="ru-RU" sz="2400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(X и Y могут быть составными) </a:t>
            </a:r>
          </a:p>
          <a:p>
            <a:pPr marL="173038" indent="-6350">
              <a:buNone/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том и только в том случае, </a:t>
            </a:r>
          </a:p>
          <a:p>
            <a:pPr marL="6350" indent="-6350">
              <a:buNone/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    если каждому значению X соответствует </a:t>
            </a:r>
          </a:p>
          <a:p>
            <a:pPr marL="6350" indent="-6350">
              <a:buNone/>
              <a:defRPr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    в точности одно </a:t>
            </a:r>
            <a:r>
              <a:rPr lang="ru-RU" sz="2400" smtClean="0">
                <a:latin typeface="Arial" pitchFamily="34" charset="0"/>
                <a:cs typeface="Arial" pitchFamily="34" charset="0"/>
              </a:rPr>
              <a:t>значение Y :   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6350" indent="-6350"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                        </a:t>
            </a:r>
            <a:r>
              <a:rPr lang="ru-RU" sz="3600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latin typeface="Arial" pitchFamily="34" charset="0"/>
                <a:cs typeface="Arial" pitchFamily="34" charset="0"/>
                <a:sym typeface="Symbol"/>
              </a:rPr>
              <a:t>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ru-RU" sz="2400" dirty="0" smtClean="0"/>
              <a:t>  </a:t>
            </a:r>
          </a:p>
          <a:p>
            <a:pPr marL="6350" indent="-6350">
              <a:buNone/>
              <a:defRPr/>
            </a:pPr>
            <a:endParaRPr lang="ru-RU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трелка вниз 5"/>
          <p:cNvSpPr/>
          <p:nvPr/>
        </p:nvSpPr>
        <p:spPr>
          <a:xfrm>
            <a:off x="3456430" y="4509120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4077072"/>
            <a:ext cx="2699792" cy="1990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Функциональная зависимость</a:t>
            </a:r>
            <a:endParaRPr lang="ru-RU" sz="360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4047455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buNone/>
              <a:defRPr/>
            </a:pPr>
            <a:r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Пример   </a:t>
            </a:r>
            <a:r>
              <a:rPr lang="ru-RU" sz="2400" smtClean="0"/>
              <a:t>ТАБ_НОМЕР </a:t>
            </a:r>
            <a:r>
              <a:rPr lang="ru-RU" sz="2400" smtClean="0">
                <a:sym typeface="Symbol"/>
              </a:rPr>
              <a:t></a:t>
            </a:r>
            <a:r>
              <a:rPr lang="ru-RU" sz="2400" smtClean="0"/>
              <a:t> ФАМИЛИЯ</a:t>
            </a:r>
            <a:r>
              <a:rPr lang="ru-RU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79512" y="4941168"/>
            <a:ext cx="72728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buNone/>
              <a:defRPr/>
            </a:pPr>
            <a:r>
              <a:rPr lang="ru-RU" sz="2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«Фамилия </a:t>
            </a:r>
            <a:r>
              <a:rPr lang="ru-RU" sz="2200" b="1" i="1" dirty="0" smtClean="0">
                <a:solidFill>
                  <a:srgbClr val="0070C0"/>
                </a:solidFill>
                <a:cs typeface="Arial" pitchFamily="34" charset="0"/>
              </a:rPr>
              <a:t>зависит от</a:t>
            </a:r>
            <a:r>
              <a:rPr lang="ru-RU" sz="2200" dirty="0" smtClean="0">
                <a:solidFill>
                  <a:srgbClr val="0070C0"/>
                </a:solidFill>
                <a:cs typeface="Arial" pitchFamily="34" charset="0"/>
              </a:rPr>
              <a:t> </a:t>
            </a:r>
            <a:r>
              <a:rPr lang="ru-RU" sz="2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Табельного номера» </a:t>
            </a:r>
          </a:p>
          <a:p>
            <a:pPr marL="6350" indent="-6350">
              <a:buNone/>
              <a:defRPr/>
            </a:pPr>
            <a:r>
              <a:rPr lang="ru-RU" sz="2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      или  </a:t>
            </a:r>
          </a:p>
          <a:p>
            <a:pPr marL="6350" indent="-6350">
              <a:buNone/>
              <a:defRPr/>
            </a:pPr>
            <a:r>
              <a:rPr lang="ru-RU" sz="2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«Табельный номер </a:t>
            </a:r>
            <a:r>
              <a:rPr lang="ru-RU" sz="2200" b="1" i="1" dirty="0" smtClean="0">
                <a:solidFill>
                  <a:srgbClr val="00B050"/>
                </a:solidFill>
                <a:cs typeface="Arial" pitchFamily="34" charset="0"/>
              </a:rPr>
              <a:t>определяет</a:t>
            </a:r>
            <a:r>
              <a:rPr lang="ru-RU" sz="2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Фамилию»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1560" y="4365104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buNone/>
              <a:defRPr/>
            </a:pPr>
            <a:r>
              <a:rPr lang="ru-RU" sz="2400" smtClean="0">
                <a:cs typeface="Arial" pitchFamily="34" charset="0"/>
              </a:rPr>
              <a:t>Пример   КОД_ПРОДУКЦИИ + СОРТ</a:t>
            </a:r>
            <a:r>
              <a:rPr lang="ru-RU" sz="2400" smtClean="0"/>
              <a:t> </a:t>
            </a:r>
            <a:r>
              <a:rPr lang="ru-RU" sz="2400" smtClean="0">
                <a:sym typeface="Symbol"/>
              </a:rPr>
              <a:t></a:t>
            </a:r>
            <a:r>
              <a:rPr lang="ru-RU" sz="2400" smtClean="0"/>
              <a:t> ЦЕНА</a:t>
            </a:r>
          </a:p>
          <a:p>
            <a:pPr marL="6350" indent="-6350">
              <a:buNone/>
              <a:defRPr/>
            </a:pPr>
            <a:r>
              <a:rPr lang="ru-RU" sz="2400" smtClean="0">
                <a:cs typeface="Arial" pitchFamily="34" charset="0"/>
              </a:rPr>
              <a:t>     </a:t>
            </a:r>
          </a:p>
          <a:p>
            <a:pPr marL="6350" indent="-6350">
              <a:buNone/>
              <a:defRPr/>
            </a:pPr>
            <a:r>
              <a:rPr lang="ru-RU" sz="2400" smtClean="0">
                <a:cs typeface="Arial" pitchFamily="34" charset="0"/>
              </a:rPr>
              <a:t>              КОД_ПРОДУКЦИИ </a:t>
            </a:r>
            <a:r>
              <a:rPr lang="ru-RU" sz="2400" smtClean="0"/>
              <a:t> </a:t>
            </a:r>
            <a:r>
              <a:rPr lang="ru-RU" sz="2400" smtClean="0">
                <a:sym typeface="Symbol"/>
              </a:rPr>
              <a:t></a:t>
            </a:r>
            <a:r>
              <a:rPr lang="ru-RU" sz="2400" smtClean="0"/>
              <a:t> ЦЕНА</a:t>
            </a:r>
            <a:r>
              <a:rPr lang="ru-RU" sz="2400" smtClean="0">
                <a:cs typeface="Arial" pitchFamily="34" charset="0"/>
              </a:rPr>
              <a:t> </a:t>
            </a:r>
          </a:p>
          <a:p>
            <a:pPr marL="6350" indent="-6350">
              <a:buNone/>
              <a:defRPr/>
            </a:pPr>
            <a:r>
              <a:rPr lang="ru-RU" sz="2400" smtClean="0">
                <a:cs typeface="Arial" pitchFamily="34" charset="0"/>
              </a:rPr>
              <a:t>              СОРТ   </a:t>
            </a:r>
            <a:r>
              <a:rPr lang="ru-RU" sz="2400" smtClean="0"/>
              <a:t> </a:t>
            </a:r>
            <a:r>
              <a:rPr lang="ru-RU" sz="2400" smtClean="0">
                <a:sym typeface="Symbol"/>
              </a:rPr>
              <a:t></a:t>
            </a:r>
            <a:r>
              <a:rPr lang="ru-RU" sz="2400" smtClean="0"/>
              <a:t> ЦЕНА</a:t>
            </a:r>
            <a:r>
              <a:rPr lang="ru-RU" sz="2400" smtClean="0">
                <a:cs typeface="Arial" pitchFamily="34" charset="0"/>
              </a:rPr>
              <a:t>                 </a:t>
            </a:r>
            <a:endParaRPr lang="ru-RU" sz="2400" b="1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endParaRPr lang="ru-RU" sz="240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268188"/>
            <a:ext cx="8064896" cy="2664868"/>
          </a:xfrm>
        </p:spPr>
        <p:txBody>
          <a:bodyPr rtlCol="0">
            <a:noAutofit/>
          </a:bodyPr>
          <a:lstStyle/>
          <a:p>
            <a:pPr marL="6350" indent="-6350">
              <a:buNone/>
              <a:defRPr/>
            </a:pPr>
            <a:r>
              <a:rPr lang="ru-RU" sz="2400" dirty="0" smtClean="0">
                <a:cs typeface="Arial" pitchFamily="34" charset="0"/>
              </a:rPr>
              <a:t>Функциональная зависимость </a:t>
            </a:r>
            <a:r>
              <a:rPr lang="ru-RU" sz="2400" dirty="0" smtClean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X</a:t>
            </a: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  <a:sym typeface="Symbol"/>
              </a:rPr>
              <a:t></a:t>
            </a:r>
            <a:r>
              <a:rPr lang="ru-RU" sz="2400" dirty="0" smtClean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Y</a:t>
            </a:r>
            <a:r>
              <a:rPr lang="ru-RU" sz="2400" dirty="0" smtClean="0">
                <a:cs typeface="Arial" pitchFamily="34" charset="0"/>
              </a:rPr>
              <a:t> называется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полной</a:t>
            </a:r>
            <a:r>
              <a:rPr lang="ru-RU" sz="2400" dirty="0" smtClean="0">
                <a:cs typeface="Arial" pitchFamily="34" charset="0"/>
              </a:rPr>
              <a:t>, если атрибут Y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не зависит функционально </a:t>
            </a:r>
          </a:p>
          <a:p>
            <a:pPr marL="6350" indent="-6350">
              <a:buNone/>
              <a:defRPr/>
            </a:pP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       от любого подмножества</a:t>
            </a:r>
            <a:r>
              <a:rPr lang="ru-RU" sz="2400" dirty="0" smtClean="0">
                <a:cs typeface="Arial" pitchFamily="34" charset="0"/>
              </a:rPr>
              <a:t>   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  <a:cs typeface="Arial" pitchFamily="34" charset="0"/>
              </a:rPr>
              <a:t>X</a:t>
            </a:r>
            <a:r>
              <a:rPr lang="en-US" sz="2400" dirty="0" smtClean="0">
                <a:cs typeface="Arial" pitchFamily="34" charset="0"/>
              </a:rPr>
              <a:t> ′</a:t>
            </a: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/>
              <a:t>∈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X</a:t>
            </a:r>
            <a:r>
              <a:rPr lang="en-US" sz="2400" dirty="0" smtClean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  </a:t>
            </a:r>
          </a:p>
          <a:p>
            <a:pPr marL="6350" indent="-6350">
              <a:buNone/>
              <a:defRPr/>
            </a:pPr>
            <a:r>
              <a:rPr lang="ru-RU" sz="2400" dirty="0" smtClean="0">
                <a:cs typeface="Arial" pitchFamily="34" charset="0"/>
              </a:rPr>
              <a:t>              </a:t>
            </a:r>
            <a:r>
              <a:rPr lang="ru-RU" sz="2800" b="1" dirty="0" smtClean="0"/>
              <a:t>∀</a:t>
            </a:r>
            <a:r>
              <a:rPr lang="ru-RU" sz="2800" dirty="0" smtClean="0">
                <a:cs typeface="Arial" pitchFamily="34" charset="0"/>
              </a:rPr>
              <a:t> </a:t>
            </a:r>
            <a:r>
              <a:rPr lang="ru-RU" sz="2800" dirty="0" smtClean="0">
                <a:solidFill>
                  <a:schemeClr val="accent4">
                    <a:lumMod val="75000"/>
                  </a:schemeClr>
                </a:solidFill>
                <a:cs typeface="Arial" pitchFamily="34" charset="0"/>
              </a:rPr>
              <a:t>X′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  </a:t>
            </a:r>
            <a:r>
              <a:rPr lang="ru-RU" sz="2800" dirty="0" smtClean="0">
                <a:cs typeface="Arial" pitchFamily="34" charset="0"/>
              </a:rPr>
              <a:t> </a:t>
            </a:r>
            <a:r>
              <a:rPr lang="ru-RU" sz="2800" dirty="0" smtClean="0">
                <a:solidFill>
                  <a:schemeClr val="accent4">
                    <a:lumMod val="75000"/>
                  </a:schemeClr>
                </a:solidFill>
                <a:cs typeface="Arial" pitchFamily="34" charset="0"/>
              </a:rPr>
              <a:t>X′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ru-RU" sz="2800" dirty="0" smtClean="0">
                <a:cs typeface="Arial" pitchFamily="34" charset="0"/>
                <a:sym typeface="Symbol"/>
              </a:rPr>
              <a:t></a:t>
            </a:r>
            <a:r>
              <a:rPr lang="ru-RU" sz="2800" dirty="0" smtClean="0">
                <a:cs typeface="Arial" pitchFamily="34" charset="0"/>
              </a:rPr>
              <a:t> 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Y</a:t>
            </a:r>
            <a:r>
              <a:rPr lang="ru-RU" sz="2800" dirty="0" smtClean="0"/>
              <a:t>  </a:t>
            </a:r>
          </a:p>
          <a:p>
            <a:pPr marL="6350" indent="-6350">
              <a:buNone/>
              <a:defRPr/>
            </a:pPr>
            <a:endParaRPr lang="ru-RU" sz="2400" i="1" dirty="0" smtClean="0"/>
          </a:p>
          <a:p>
            <a:pPr marL="6350" indent="-6350">
              <a:buNone/>
              <a:defRPr/>
            </a:pPr>
            <a:r>
              <a:rPr lang="ru-RU" sz="2400" i="1" dirty="0" smtClean="0"/>
              <a:t>Х – множество атрибутов    </a:t>
            </a:r>
            <a:r>
              <a:rPr lang="ru-RU" sz="2400" dirty="0" smtClean="0">
                <a:solidFill>
                  <a:schemeClr val="accent4">
                    <a:lumMod val="75000"/>
                  </a:schemeClr>
                </a:solidFill>
                <a:cs typeface="Arial" pitchFamily="34" charset="0"/>
              </a:rPr>
              <a:t>X′ - его подмножество</a:t>
            </a:r>
            <a:endParaRPr lang="ru-RU" sz="2400" i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3707904" y="2420888"/>
            <a:ext cx="288032" cy="576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3779912" y="2492896"/>
            <a:ext cx="144016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4932040" y="5085184"/>
            <a:ext cx="288032" cy="36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3203848" y="5517232"/>
            <a:ext cx="288032" cy="3600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5004048" y="5013176"/>
            <a:ext cx="144016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3275856" y="5517232"/>
            <a:ext cx="144016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Полная функциональная зависимость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1268760"/>
            <a:ext cx="8280920" cy="1584176"/>
          </a:xfrm>
        </p:spPr>
        <p:txBody>
          <a:bodyPr rtlCol="0">
            <a:noAutofit/>
          </a:bodyPr>
          <a:lstStyle/>
          <a:p>
            <a:pPr marL="4763" indent="-4763">
              <a:buNone/>
            </a:pPr>
            <a:r>
              <a:rPr lang="ru-RU" sz="2400" dirty="0" smtClean="0">
                <a:cs typeface="Arial" pitchFamily="34" charset="0"/>
              </a:rPr>
              <a:t>Функциональная зависимость </a:t>
            </a:r>
            <a:r>
              <a:rPr lang="ru-RU" sz="2400" b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X</a:t>
            </a:r>
            <a:r>
              <a:rPr lang="ru-RU" sz="2400" b="1" dirty="0" smtClean="0">
                <a:cs typeface="Arial" pitchFamily="34" charset="0"/>
              </a:rPr>
              <a:t> </a:t>
            </a:r>
            <a:r>
              <a:rPr lang="ru-RU" sz="2400" b="1" dirty="0" smtClean="0">
                <a:cs typeface="Arial" pitchFamily="34" charset="0"/>
                <a:sym typeface="Symbol"/>
              </a:rPr>
              <a:t>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Y</a:t>
            </a:r>
            <a:r>
              <a:rPr lang="ru-RU" sz="2400" dirty="0" smtClean="0">
                <a:cs typeface="Arial" pitchFamily="34" charset="0"/>
              </a:rPr>
              <a:t> называется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транзитивной</a:t>
            </a:r>
            <a:r>
              <a:rPr lang="ru-RU" sz="2400" i="1" dirty="0" smtClean="0">
                <a:cs typeface="Arial" pitchFamily="34" charset="0"/>
              </a:rPr>
              <a:t>, если существует такой атрибут </a:t>
            </a:r>
            <a:r>
              <a:rPr lang="ru-RU" sz="2400" b="1" i="1" dirty="0" smtClean="0">
                <a:solidFill>
                  <a:srgbClr val="00B050"/>
                </a:solidFill>
                <a:cs typeface="Arial" pitchFamily="34" charset="0"/>
              </a:rPr>
              <a:t>Z</a:t>
            </a:r>
            <a:r>
              <a:rPr lang="ru-RU" sz="2400" i="1" dirty="0" smtClean="0">
                <a:cs typeface="Arial" pitchFamily="34" charset="0"/>
              </a:rPr>
              <a:t>, </a:t>
            </a:r>
          </a:p>
          <a:p>
            <a:pPr marL="4763" indent="-4763">
              <a:buNone/>
            </a:pPr>
            <a:r>
              <a:rPr lang="ru-RU" sz="2400" i="1" dirty="0" smtClean="0">
                <a:cs typeface="Arial" pitchFamily="34" charset="0"/>
              </a:rPr>
              <a:t>что имеются функциональные зависимости </a:t>
            </a:r>
          </a:p>
          <a:p>
            <a:pPr marL="4763" indent="-4763">
              <a:buNone/>
            </a:pPr>
            <a:r>
              <a:rPr lang="ru-RU" sz="2400" i="1" dirty="0" smtClean="0">
                <a:cs typeface="Arial" pitchFamily="34" charset="0"/>
              </a:rPr>
              <a:t>                   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X</a:t>
            </a:r>
            <a:r>
              <a:rPr lang="ru-RU" sz="2400" b="1" i="1" dirty="0" smtClean="0">
                <a:cs typeface="Arial" pitchFamily="34" charset="0"/>
              </a:rPr>
              <a:t> </a:t>
            </a:r>
            <a:r>
              <a:rPr lang="ru-RU" sz="2400" b="1" i="1" dirty="0" smtClean="0">
                <a:cs typeface="Arial" pitchFamily="34" charset="0"/>
                <a:sym typeface="Symbol"/>
              </a:rPr>
              <a:t></a:t>
            </a:r>
            <a:r>
              <a:rPr lang="en-US" sz="2400" b="1" i="1" dirty="0" smtClean="0">
                <a:solidFill>
                  <a:srgbClr val="00B050"/>
                </a:solidFill>
                <a:cs typeface="Arial" pitchFamily="34" charset="0"/>
              </a:rPr>
              <a:t>Z</a:t>
            </a:r>
            <a:r>
              <a:rPr lang="ru-RU" sz="2400" i="1" dirty="0" smtClean="0">
                <a:cs typeface="Arial" pitchFamily="34" charset="0"/>
              </a:rPr>
              <a:t>     и       </a:t>
            </a:r>
            <a:r>
              <a:rPr lang="en-US" sz="2400" b="1" i="1" dirty="0" smtClean="0">
                <a:solidFill>
                  <a:srgbClr val="00B050"/>
                </a:solidFill>
                <a:cs typeface="Arial" pitchFamily="34" charset="0"/>
              </a:rPr>
              <a:t>Z</a:t>
            </a:r>
            <a:r>
              <a:rPr lang="en-US" sz="2400" b="1" i="1" dirty="0" smtClean="0">
                <a:cs typeface="Arial" pitchFamily="34" charset="0"/>
              </a:rPr>
              <a:t> </a:t>
            </a:r>
            <a:r>
              <a:rPr lang="ru-RU" sz="2400" b="1" i="1" dirty="0" smtClean="0">
                <a:cs typeface="Arial" pitchFamily="34" charset="0"/>
                <a:sym typeface="Symbol"/>
              </a:rPr>
              <a:t></a:t>
            </a: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</a:rPr>
              <a:t>Y</a:t>
            </a:r>
            <a:endParaRPr lang="ru-RU" sz="2400" b="1" dirty="0" smtClean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04664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Транзитивная функциональная зависимость</a:t>
            </a:r>
            <a:endParaRPr lang="ru-RU" sz="300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9592" y="3501008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6688" indent="-1436688" algn="just">
              <a:buNone/>
              <a:defRPr/>
            </a:pPr>
            <a:r>
              <a:rPr lang="ru-RU" sz="2400" i="1" dirty="0" smtClean="0">
                <a:cs typeface="Arial" pitchFamily="34" charset="0"/>
              </a:rPr>
              <a:t>Пример</a:t>
            </a:r>
            <a:r>
              <a:rPr lang="en-US" sz="2400" i="1" dirty="0" smtClean="0">
                <a:cs typeface="Arial" pitchFamily="34" charset="0"/>
              </a:rPr>
              <a:t>.</a:t>
            </a:r>
            <a:r>
              <a:rPr lang="en-US" sz="2400" dirty="0" smtClean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Сотрудник  с </a:t>
            </a:r>
            <a:r>
              <a:rPr lang="ru-RU" sz="2400" b="1" i="1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Таб.номером</a:t>
            </a:r>
            <a:r>
              <a:rPr lang="ru-RU" sz="2400" i="1" dirty="0" smtClean="0">
                <a:cs typeface="Arial" pitchFamily="34" charset="0"/>
              </a:rPr>
              <a:t>    </a:t>
            </a:r>
            <a:r>
              <a:rPr lang="ru-RU" sz="2400" b="1" i="1" dirty="0" smtClean="0">
                <a:cs typeface="Arial" pitchFamily="34" charset="0"/>
              </a:rPr>
              <a:t>0105</a:t>
            </a:r>
            <a:r>
              <a:rPr lang="ru-RU" sz="2400" dirty="0" smtClean="0">
                <a:cs typeface="Arial" pitchFamily="34" charset="0"/>
              </a:rPr>
              <a:t> занимает </a:t>
            </a:r>
            <a:r>
              <a:rPr lang="ru-RU" sz="2400" i="1" dirty="0" smtClean="0">
                <a:cs typeface="Arial" pitchFamily="34" charset="0"/>
              </a:rPr>
              <a:t>Должность</a:t>
            </a:r>
            <a:r>
              <a:rPr lang="ru-RU" sz="2400" dirty="0" smtClean="0">
                <a:cs typeface="Arial" pitchFamily="34" charset="0"/>
              </a:rPr>
              <a:t>  программист </a:t>
            </a:r>
          </a:p>
          <a:p>
            <a:pPr marL="1436688" algn="just">
              <a:buNone/>
              <a:defRPr/>
            </a:pPr>
            <a:r>
              <a:rPr lang="ru-RU" sz="2400" dirty="0" smtClean="0">
                <a:cs typeface="Arial" pitchFamily="34" charset="0"/>
              </a:rPr>
              <a:t>и имеет </a:t>
            </a: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</a:rPr>
              <a:t>Оклад</a:t>
            </a:r>
            <a:r>
              <a:rPr lang="ru-RU" sz="2400" dirty="0" smtClean="0">
                <a:cs typeface="Arial" pitchFamily="34" charset="0"/>
              </a:rPr>
              <a:t>  40000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4869160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buNone/>
              <a:defRPr/>
            </a:pP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i="1" dirty="0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X  </a:t>
            </a:r>
            <a:r>
              <a:rPr lang="ru-RU" sz="2400" dirty="0" smtClean="0">
                <a:cs typeface="Arial" pitchFamily="34" charset="0"/>
              </a:rPr>
              <a:t>(</a:t>
            </a:r>
            <a:r>
              <a:rPr lang="ru-RU" sz="2400" dirty="0" err="1" smtClean="0">
                <a:solidFill>
                  <a:schemeClr val="accent3">
                    <a:lumMod val="50000"/>
                  </a:schemeClr>
                </a:solidFill>
                <a:cs typeface="Arial" pitchFamily="34" charset="0"/>
              </a:rPr>
              <a:t>Таб.номер</a:t>
            </a:r>
            <a:r>
              <a:rPr lang="ru-RU" sz="2400" dirty="0" smtClean="0">
                <a:cs typeface="Arial" pitchFamily="34" charset="0"/>
              </a:rPr>
              <a:t>)</a:t>
            </a:r>
            <a:r>
              <a:rPr lang="ru-RU" sz="2400" b="1" i="1" dirty="0" smtClean="0">
                <a:cs typeface="Arial" pitchFamily="34" charset="0"/>
                <a:sym typeface="Symbol"/>
              </a:rPr>
              <a:t>  </a:t>
            </a: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</a:rPr>
              <a:t>Y </a:t>
            </a:r>
            <a:r>
              <a:rPr lang="ru-RU" sz="2400" i="1" dirty="0" smtClean="0">
                <a:cs typeface="Arial" pitchFamily="34" charset="0"/>
                <a:sym typeface="Symbol"/>
              </a:rPr>
              <a:t>(</a:t>
            </a:r>
            <a:r>
              <a:rPr lang="ru-RU" sz="2400" b="1" i="1" dirty="0" smtClean="0">
                <a:solidFill>
                  <a:srgbClr val="7030A0"/>
                </a:solidFill>
                <a:cs typeface="Arial" pitchFamily="34" charset="0"/>
                <a:sym typeface="Symbol"/>
              </a:rPr>
              <a:t>Оклад</a:t>
            </a:r>
            <a:r>
              <a:rPr lang="ru-RU" sz="2400" i="1" dirty="0" smtClean="0">
                <a:cs typeface="Arial" pitchFamily="34" charset="0"/>
                <a:sym typeface="Symbol"/>
              </a:rPr>
              <a:t>)  - транзитивная зависимость</a:t>
            </a:r>
          </a:p>
          <a:p>
            <a:pPr marL="6350" indent="-6350">
              <a:buNone/>
              <a:defRPr/>
            </a:pPr>
            <a:r>
              <a:rPr lang="ru-RU" sz="2400" dirty="0" smtClean="0">
                <a:cs typeface="Arial" pitchFamily="34" charset="0"/>
              </a:rPr>
              <a:t>             через атрибут   </a:t>
            </a:r>
            <a:r>
              <a:rPr lang="ru-RU" sz="2400" b="1" i="1" dirty="0" smtClean="0">
                <a:solidFill>
                  <a:srgbClr val="00B050"/>
                </a:solidFill>
                <a:cs typeface="Arial" pitchFamily="34" charset="0"/>
              </a:rPr>
              <a:t>Z  </a:t>
            </a:r>
            <a:r>
              <a:rPr lang="ru-RU" sz="2400" b="1" i="1" dirty="0" smtClean="0">
                <a:cs typeface="Arial" pitchFamily="34" charset="0"/>
              </a:rPr>
              <a:t>-   </a:t>
            </a:r>
            <a:r>
              <a:rPr lang="ru-RU" sz="2400" b="1" i="1" dirty="0" smtClean="0">
                <a:solidFill>
                  <a:srgbClr val="00B050"/>
                </a:solidFill>
                <a:cs typeface="Arial" pitchFamily="34" charset="0"/>
              </a:rPr>
              <a:t>Должность</a:t>
            </a:r>
            <a:endParaRPr lang="ru-RU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72927"/>
            <a:ext cx="8064896" cy="699889"/>
          </a:xfrm>
        </p:spPr>
        <p:txBody>
          <a:bodyPr rtlCol="0">
            <a:noAutofit/>
          </a:bodyPr>
          <a:lstStyle/>
          <a:p>
            <a:pPr marL="185738" indent="-185738" fontAlgn="auto">
              <a:spcAft>
                <a:spcPts val="0"/>
              </a:spcAft>
              <a:buNone/>
              <a:defRPr/>
            </a:pPr>
            <a:r>
              <a:rPr lang="ru-RU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Ключ (потенциальный ключ) </a:t>
            </a:r>
            <a:r>
              <a:rPr lang="ru-RU" sz="2000" b="1" dirty="0" smtClean="0">
                <a:cs typeface="Arial" pitchFamily="34" charset="0"/>
              </a:rPr>
              <a:t>– </a:t>
            </a:r>
            <a:r>
              <a:rPr lang="ru-RU" sz="2200" dirty="0" smtClean="0">
                <a:cs typeface="Arial" pitchFamily="34" charset="0"/>
              </a:rPr>
              <a:t>атрибут или группа атрибутов, которые могут быть первичным ключом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844824"/>
            <a:ext cx="2627784" cy="193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Свойства атрибутов</a:t>
            </a:r>
            <a:endParaRPr lang="ru-RU" sz="3600" b="1"/>
          </a:p>
        </p:txBody>
      </p:sp>
      <p:sp>
        <p:nvSpPr>
          <p:cNvPr id="12" name="TextBox 11"/>
          <p:cNvSpPr txBox="1"/>
          <p:nvPr/>
        </p:nvSpPr>
        <p:spPr>
          <a:xfrm>
            <a:off x="251520" y="4707141"/>
            <a:ext cx="75785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ru-RU" sz="2200" dirty="0" smtClean="0">
                <a:cs typeface="Arial" pitchFamily="34" charset="0"/>
              </a:rPr>
              <a:t>    </a:t>
            </a:r>
            <a:r>
              <a:rPr lang="ru-RU" sz="2200" b="1" dirty="0" smtClean="0">
                <a:solidFill>
                  <a:srgbClr val="7030A0"/>
                </a:solidFill>
                <a:cs typeface="Arial" pitchFamily="34" charset="0"/>
              </a:rPr>
              <a:t>Взаимно независимые атрибуты </a:t>
            </a:r>
            <a:endParaRPr lang="ru-RU" sz="2200" dirty="0" smtClean="0">
              <a:solidFill>
                <a:srgbClr val="7030A0"/>
              </a:solidFill>
              <a:cs typeface="Arial" pitchFamily="34" charset="0"/>
            </a:endParaRPr>
          </a:p>
          <a:p>
            <a:pPr marL="719138" algn="just">
              <a:buNone/>
            </a:pPr>
            <a:r>
              <a:rPr lang="ru-RU" sz="2200" dirty="0" smtClean="0">
                <a:cs typeface="Arial" pitchFamily="34" charset="0"/>
              </a:rPr>
              <a:t>Два или более атрибута взаимно независимы, если ни один из этих атрибутов не является функционально зависимым от других</a:t>
            </a:r>
            <a:endParaRPr lang="ru-RU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251520" y="1917993"/>
            <a:ext cx="6336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i="1" smtClean="0">
                <a:cs typeface="Arial" pitchFamily="34" charset="0"/>
              </a:rPr>
              <a:t>Пример.</a:t>
            </a:r>
            <a:r>
              <a:rPr lang="ru-RU" sz="2200" smtClean="0">
                <a:cs typeface="Arial" pitchFamily="34" charset="0"/>
              </a:rPr>
              <a:t>  ТАБ_НОМЕР+НОМЕР_ПРОЕКТА</a:t>
            </a:r>
            <a:endParaRPr lang="ru-RU" sz="2200"/>
          </a:p>
        </p:txBody>
      </p:sp>
      <p:sp>
        <p:nvSpPr>
          <p:cNvPr id="14" name="TextBox 13"/>
          <p:cNvSpPr txBox="1"/>
          <p:nvPr/>
        </p:nvSpPr>
        <p:spPr>
          <a:xfrm>
            <a:off x="251520" y="2492896"/>
            <a:ext cx="60486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 algn="just">
              <a:buNone/>
            </a:pPr>
            <a:r>
              <a:rPr lang="ru-RU" sz="2200" b="1" dirty="0" err="1" smtClean="0">
                <a:solidFill>
                  <a:srgbClr val="7030A0"/>
                </a:solidFill>
                <a:cs typeface="Arial" pitchFamily="34" charset="0"/>
              </a:rPr>
              <a:t>Неключевой</a:t>
            </a:r>
            <a:r>
              <a:rPr lang="ru-RU" sz="2200" b="1" dirty="0" smtClean="0">
                <a:solidFill>
                  <a:srgbClr val="7030A0"/>
                </a:solidFill>
                <a:cs typeface="Arial" pitchFamily="34" charset="0"/>
              </a:rPr>
              <a:t> атрибут </a:t>
            </a:r>
            <a:r>
              <a:rPr lang="ru-RU" sz="2200" b="1" dirty="0" smtClean="0">
                <a:cs typeface="Arial" pitchFamily="34" charset="0"/>
              </a:rPr>
              <a:t>- </a:t>
            </a:r>
            <a:r>
              <a:rPr lang="ru-RU" sz="2200" dirty="0" smtClean="0">
                <a:cs typeface="Arial" pitchFamily="34" charset="0"/>
              </a:rPr>
              <a:t>любой  атрибут  отношения,  не входящий в состав  потенциального ключа  </a:t>
            </a:r>
          </a:p>
          <a:p>
            <a:pPr marL="352425">
              <a:buNone/>
            </a:pPr>
            <a:r>
              <a:rPr lang="ru-RU" sz="2200" dirty="0" smtClean="0">
                <a:cs typeface="Arial" pitchFamily="34" charset="0"/>
              </a:rPr>
              <a:t>(в частности, первичного)</a:t>
            </a:r>
            <a:endParaRPr lang="ru-RU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520" y="4077072"/>
            <a:ext cx="6408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i="1" smtClean="0">
                <a:cs typeface="Arial" pitchFamily="34" charset="0"/>
              </a:rPr>
              <a:t>Пример</a:t>
            </a:r>
            <a:r>
              <a:rPr lang="ru-RU" sz="2200" smtClean="0">
                <a:cs typeface="Arial" pitchFamily="34" charset="0"/>
              </a:rPr>
              <a:t>.  РАБОТА, ОКЛАД</a:t>
            </a:r>
            <a:endParaRPr lang="ru-RU" sz="2200"/>
          </a:p>
        </p:txBody>
      </p:sp>
      <p:sp>
        <p:nvSpPr>
          <p:cNvPr id="16" name="TextBox 15"/>
          <p:cNvSpPr txBox="1"/>
          <p:nvPr/>
        </p:nvSpPr>
        <p:spPr>
          <a:xfrm>
            <a:off x="3491880" y="6237312"/>
            <a:ext cx="5364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>
                <a:cs typeface="Arial" pitchFamily="34" charset="0"/>
              </a:rPr>
              <a:t> </a:t>
            </a:r>
            <a:r>
              <a:rPr lang="ru-RU" sz="2200" i="1" smtClean="0">
                <a:cs typeface="Arial" pitchFamily="34" charset="0"/>
              </a:rPr>
              <a:t>Пример</a:t>
            </a:r>
            <a:r>
              <a:rPr lang="ru-RU" sz="2200" smtClean="0">
                <a:cs typeface="Arial" pitchFamily="34" charset="0"/>
              </a:rPr>
              <a:t>.  РАБОТА, ТАРИФ_РАЗРЯД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/>
      <p:bldP spid="13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15616" y="3717032"/>
            <a:ext cx="7200800" cy="2304256"/>
          </a:xfrm>
        </p:spPr>
        <p:txBody>
          <a:bodyPr rtlCol="0">
            <a:noAutofit/>
          </a:bodyPr>
          <a:lstStyle/>
          <a:p>
            <a:pPr marL="438150" indent="-6350" fontAlgn="auto">
              <a:spcAft>
                <a:spcPts val="0"/>
              </a:spcAft>
              <a:buNone/>
              <a:defRPr/>
            </a:pPr>
            <a:r>
              <a:rPr lang="ru-RU" sz="2200" smtClean="0"/>
              <a:t>ТАБ_НОМЕР </a:t>
            </a:r>
            <a:r>
              <a:rPr lang="ru-RU" sz="2200" dirty="0" smtClean="0">
                <a:sym typeface="Symbol"/>
              </a:rPr>
              <a:t></a:t>
            </a:r>
            <a:r>
              <a:rPr lang="ru-RU" sz="2200" dirty="0" smtClean="0"/>
              <a:t> ФАМИЛИЯ    </a:t>
            </a:r>
          </a:p>
          <a:p>
            <a:pPr>
              <a:buNone/>
            </a:pPr>
            <a:r>
              <a:rPr lang="ru-RU" sz="2200" dirty="0" smtClean="0"/>
              <a:t>    ТАБ_НОМЕР </a:t>
            </a:r>
            <a:r>
              <a:rPr lang="ru-RU" sz="2200" dirty="0" smtClean="0">
                <a:sym typeface="Symbol"/>
              </a:rPr>
              <a:t></a:t>
            </a:r>
            <a:r>
              <a:rPr lang="ru-RU" sz="2200" dirty="0" smtClean="0"/>
              <a:t> ОТДЕЛ    </a:t>
            </a:r>
          </a:p>
          <a:p>
            <a:pPr>
              <a:buNone/>
            </a:pPr>
            <a:r>
              <a:rPr lang="ru-RU" sz="2200" dirty="0" smtClean="0"/>
              <a:t>    ТАБ_НОМЕР </a:t>
            </a:r>
            <a:r>
              <a:rPr lang="ru-RU" sz="2200" dirty="0" smtClean="0">
                <a:sym typeface="Symbol"/>
              </a:rPr>
              <a:t></a:t>
            </a:r>
            <a:r>
              <a:rPr lang="ru-RU" sz="2200" dirty="0" smtClean="0"/>
              <a:t> ТАРИФ_РАЗРЯД   </a:t>
            </a:r>
          </a:p>
          <a:p>
            <a:pPr>
              <a:buNone/>
            </a:pPr>
            <a:r>
              <a:rPr lang="ru-RU" sz="2200" dirty="0" smtClean="0"/>
              <a:t>    ТАБ_НОМЕР </a:t>
            </a:r>
            <a:r>
              <a:rPr lang="ru-RU" sz="2200" dirty="0" smtClean="0">
                <a:sym typeface="Symbol"/>
              </a:rPr>
              <a:t></a:t>
            </a:r>
            <a:r>
              <a:rPr lang="ru-RU" sz="2200" dirty="0" smtClean="0"/>
              <a:t> ОКЛАД   </a:t>
            </a:r>
          </a:p>
          <a:p>
            <a:pPr>
              <a:buNone/>
            </a:pPr>
            <a:r>
              <a:rPr lang="ru-RU" sz="2200" smtClean="0"/>
              <a:t>    ТАБ_НОМЕР + </a:t>
            </a:r>
            <a:r>
              <a:rPr lang="ru-RU" sz="2200" dirty="0" smtClean="0"/>
              <a:t>НОМЕР_ПРОЕКТА </a:t>
            </a:r>
            <a:r>
              <a:rPr lang="ru-RU" sz="2200" dirty="0" smtClean="0">
                <a:sym typeface="Symbol"/>
              </a:rPr>
              <a:t></a:t>
            </a:r>
            <a:r>
              <a:rPr lang="ru-RU" sz="2200" dirty="0" smtClean="0"/>
              <a:t> РАБОТА</a:t>
            </a:r>
          </a:p>
          <a:p>
            <a:pPr>
              <a:buNone/>
            </a:pPr>
            <a:r>
              <a:rPr lang="ru-RU" sz="2200" smtClean="0"/>
              <a:t>    ТАРИФ_РАЗРЯД </a:t>
            </a:r>
            <a:r>
              <a:rPr lang="ru-RU" sz="2200" smtClean="0">
                <a:sym typeface="Symbol"/>
              </a:rPr>
              <a:t> </a:t>
            </a:r>
            <a:r>
              <a:rPr lang="ru-RU" sz="2200" smtClean="0"/>
              <a:t>ОКЛАД</a:t>
            </a:r>
            <a:r>
              <a:rPr lang="ru-RU" sz="22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ru-RU" sz="2200" b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200" b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24744"/>
            <a:ext cx="332047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/>
              <a:t>Функциональные зависимости в примере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412776"/>
            <a:ext cx="8892480" cy="3456384"/>
          </a:xfrm>
        </p:spPr>
        <p:txBody>
          <a:bodyPr rtlCol="0">
            <a:noAutofit/>
          </a:bodyPr>
          <a:lstStyle/>
          <a:p>
            <a:pPr marL="627063" indent="-627063" fontAlgn="auto">
              <a:spcAft>
                <a:spcPts val="0"/>
              </a:spcAft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400" dirty="0" smtClean="0">
                <a:cs typeface="Arial" pitchFamily="34" charset="0"/>
              </a:rPr>
              <a:t>Отношение находится </a:t>
            </a:r>
            <a:r>
              <a:rPr lang="ru-RU" sz="2400" b="1" dirty="0" smtClean="0">
                <a:cs typeface="Arial" pitchFamily="34" charset="0"/>
              </a:rPr>
              <a:t>в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1-й нормальной форме </a:t>
            </a:r>
            <a:r>
              <a:rPr lang="ru-RU" sz="2400" b="1" dirty="0" smtClean="0">
                <a:cs typeface="Arial" pitchFamily="34" charset="0"/>
              </a:rPr>
              <a:t>(1НФ)</a:t>
            </a:r>
            <a:r>
              <a:rPr lang="ru-RU" sz="2400" dirty="0" smtClean="0">
                <a:cs typeface="Arial" pitchFamily="34" charset="0"/>
              </a:rPr>
              <a:t>   тогда и только тогда, когда </a:t>
            </a:r>
          </a:p>
          <a:p>
            <a:pPr marL="809625" indent="-700088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все атрибуты содержат 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атомарные</a:t>
            </a:r>
            <a:r>
              <a:rPr lang="ru-RU" sz="2400" dirty="0" smtClean="0">
                <a:cs typeface="Arial" pitchFamily="34" charset="0"/>
              </a:rPr>
              <a:t> (логически </a:t>
            </a:r>
          </a:p>
          <a:p>
            <a:pPr marL="109537" indent="0">
              <a:buClrTx/>
              <a:buSzPct val="100000"/>
              <a:buNone/>
            </a:pPr>
            <a:r>
              <a:rPr lang="ru-RU" sz="2400" dirty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        неделимые) значения</a:t>
            </a:r>
          </a:p>
          <a:p>
            <a:pPr marL="809625" lvl="0" indent="-700088">
              <a:buClrTx/>
              <a:buSzPct val="100000"/>
              <a:buFont typeface="Wingdings" pitchFamily="2" charset="2"/>
              <a:buChar char="q"/>
            </a:pPr>
            <a:r>
              <a:rPr lang="ru-RU" sz="2400" b="1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нет повторяющихся</a:t>
            </a:r>
            <a:r>
              <a:rPr lang="ru-RU" sz="2400" dirty="0" smtClean="0">
                <a:cs typeface="Arial" pitchFamily="34" charset="0"/>
              </a:rPr>
              <a:t> экземпляров (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строк</a:t>
            </a:r>
            <a:r>
              <a:rPr lang="ru-RU" sz="2400" dirty="0" smtClean="0">
                <a:cs typeface="Arial" pitchFamily="34" charset="0"/>
              </a:rPr>
              <a:t>)</a:t>
            </a:r>
          </a:p>
          <a:p>
            <a:pPr marL="809625" lvl="0" indent="-700088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нет повторяющихся групп </a:t>
            </a:r>
            <a:r>
              <a:rPr lang="ru-RU" sz="2400" dirty="0" smtClean="0">
                <a:cs typeface="Arial" pitchFamily="34" charset="0"/>
              </a:rPr>
              <a:t>атрибутов</a:t>
            </a:r>
          </a:p>
          <a:p>
            <a:pPr marL="809625" lvl="0" indent="-700088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нет атрибутов, хранящих 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разные по смыслу </a:t>
            </a:r>
          </a:p>
          <a:p>
            <a:pPr marL="109537" lvl="0" indent="0">
              <a:buClrTx/>
              <a:buSzPct val="100000"/>
              <a:buNone/>
            </a:pPr>
            <a:r>
              <a:rPr lang="ru-RU" sz="2400" b="1" dirty="0">
                <a:solidFill>
                  <a:srgbClr val="C00000"/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  <a:cs typeface="Arial" pitchFamily="34" charset="0"/>
              </a:rPr>
              <a:t>        значения</a:t>
            </a:r>
          </a:p>
          <a:p>
            <a:pPr>
              <a:buNone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400" b="1" dirty="0" smtClean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Первая нормальная форма</a:t>
            </a:r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1268760"/>
            <a:ext cx="8424936" cy="3528392"/>
          </a:xfrm>
        </p:spPr>
        <p:txBody>
          <a:bodyPr rtlCol="0">
            <a:noAutofit/>
          </a:bodyPr>
          <a:lstStyle/>
          <a:p>
            <a:pPr marL="6350" indent="-6350" algn="just" fontAlgn="auto">
              <a:spcAft>
                <a:spcPts val="0"/>
              </a:spcAft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400" dirty="0" smtClean="0"/>
              <a:t>Для приведения отношения к 1НФ следует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566928" lvl="0" indent="-457200" algn="just">
              <a:spcBef>
                <a:spcPts val="800"/>
              </a:spcBef>
              <a:buClrTx/>
              <a:buSzPct val="100000"/>
              <a:buFont typeface="+mj-lt"/>
              <a:buAutoNum type="arabicParenR"/>
            </a:pPr>
            <a:r>
              <a:rPr lang="ru-RU" sz="2400" b="1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разделить</a:t>
            </a:r>
            <a:r>
              <a:rPr lang="ru-RU" sz="2400" dirty="0" smtClean="0"/>
              <a:t> сложные атрибуты </a:t>
            </a:r>
            <a:r>
              <a:rPr lang="ru-RU" sz="2400" b="1" dirty="0" smtClean="0">
                <a:solidFill>
                  <a:srgbClr val="7030A0"/>
                </a:solidFill>
              </a:rPr>
              <a:t>на атомарные</a:t>
            </a:r>
          </a:p>
          <a:p>
            <a:pPr marL="566928" lvl="0" indent="-457200" algn="just">
              <a:spcBef>
                <a:spcPts val="800"/>
              </a:spcBef>
              <a:buClrTx/>
              <a:buSzPct val="100000"/>
              <a:buFont typeface="+mj-lt"/>
              <a:buAutoNum type="arabicParenR"/>
            </a:pPr>
            <a:r>
              <a:rPr lang="ru-RU" sz="2400" dirty="0" smtClean="0"/>
              <a:t> для повторяющихся групп атрибутов </a:t>
            </a:r>
            <a:r>
              <a:rPr lang="ru-RU" sz="2400" b="1" dirty="0" smtClean="0">
                <a:solidFill>
                  <a:srgbClr val="7030A0"/>
                </a:solidFill>
              </a:rPr>
              <a:t>создать новое отношение</a:t>
            </a:r>
            <a:r>
              <a:rPr lang="ru-RU" sz="2400" dirty="0" smtClean="0"/>
              <a:t> и перенести в него все повторяющиеся атрибуты</a:t>
            </a:r>
          </a:p>
          <a:p>
            <a:pPr marL="566928" lvl="0" indent="-457200" algn="just">
              <a:spcBef>
                <a:spcPts val="800"/>
              </a:spcBef>
              <a:buClrTx/>
              <a:buSzPct val="100000"/>
              <a:buFont typeface="+mj-lt"/>
              <a:buAutoNum type="arabicParenR"/>
            </a:pPr>
            <a:r>
              <a:rPr lang="ru-RU" sz="2400" b="1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выбрать</a:t>
            </a:r>
            <a:r>
              <a:rPr lang="ru-RU" sz="2400" dirty="0" smtClean="0"/>
              <a:t> в новом отношении </a:t>
            </a:r>
            <a:r>
              <a:rPr lang="ru-RU" sz="2400" b="1" dirty="0" smtClean="0">
                <a:solidFill>
                  <a:srgbClr val="7030A0"/>
                </a:solidFill>
              </a:rPr>
              <a:t>первичный ключ</a:t>
            </a:r>
          </a:p>
          <a:p>
            <a:pPr marL="566928" lvl="0" indent="-457200" algn="just">
              <a:spcBef>
                <a:spcPts val="800"/>
              </a:spcBef>
              <a:buClrTx/>
              <a:buSzPct val="100000"/>
              <a:buFont typeface="+mj-lt"/>
              <a:buAutoNum type="arabicParenR"/>
            </a:pPr>
            <a:r>
              <a:rPr lang="ru-RU" sz="2400" b="1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установить связь</a:t>
            </a:r>
            <a:r>
              <a:rPr lang="ru-RU" sz="2400" b="1" dirty="0" smtClean="0"/>
              <a:t> </a:t>
            </a:r>
            <a:r>
              <a:rPr lang="ru-RU" sz="2400" dirty="0" smtClean="0"/>
              <a:t>между новым отношением (оно будет родительским) и прежним (дочерним)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Приведение к 1 НФ</a:t>
            </a:r>
            <a:endParaRPr lang="ru-RU" sz="36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060848"/>
            <a:ext cx="694328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3" y="4509120"/>
            <a:ext cx="6036257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835696" y="908720"/>
            <a:ext cx="51125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>
                <a:cs typeface="Arial" pitchFamily="34" charset="0"/>
              </a:rPr>
              <a:t>Ненормализованное отношение </a:t>
            </a:r>
          </a:p>
          <a:p>
            <a:r>
              <a:rPr lang="ru-RU" sz="2200" dirty="0" smtClean="0">
                <a:cs typeface="Arial" pitchFamily="34" charset="0"/>
              </a:rPr>
              <a:t>(наличие </a:t>
            </a:r>
            <a:r>
              <a:rPr lang="ru-RU" sz="2200" dirty="0" smtClean="0">
                <a:cs typeface="Arial" pitchFamily="34" charset="0"/>
              </a:rPr>
              <a:t>колонок, имеющих табличные значения) </a:t>
            </a:r>
            <a:endParaRPr lang="ru-RU" sz="2200" dirty="0"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4077072"/>
            <a:ext cx="4752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>
                <a:cs typeface="Arial" pitchFamily="34" charset="0"/>
              </a:rPr>
              <a:t>Нормализованное отношение</a:t>
            </a:r>
            <a:endParaRPr lang="ru-RU" sz="2200" dirty="0">
              <a:cs typeface="Arial" pitchFamily="34" charset="0"/>
            </a:endParaRPr>
          </a:p>
        </p:txBody>
      </p:sp>
      <p:sp>
        <p:nvSpPr>
          <p:cNvPr id="13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4509120"/>
            <a:ext cx="8064896" cy="987921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400" dirty="0" smtClean="0"/>
              <a:t>Отношение из примера  находится  в 1НФ, </a:t>
            </a:r>
          </a:p>
          <a:p>
            <a:pPr marL="633413" indent="-6350" fontAlgn="auto">
              <a:spcAft>
                <a:spcPts val="0"/>
              </a:spcAft>
              <a:buNone/>
              <a:defRPr/>
            </a:pPr>
            <a:r>
              <a:rPr lang="ru-RU" sz="2400" dirty="0" smtClean="0"/>
              <a:t>т.к. удовлетворяет </a:t>
            </a:r>
            <a:r>
              <a:rPr lang="ru-RU" sz="2400" dirty="0" smtClean="0"/>
              <a:t>всем </a:t>
            </a:r>
            <a:r>
              <a:rPr lang="ru-RU" sz="2400" dirty="0" smtClean="0"/>
              <a:t>ее ограничениям </a:t>
            </a:r>
          </a:p>
          <a:p>
            <a:pPr>
              <a:buNone/>
            </a:pPr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marL="6350" indent="-6350" fontAlgn="auto">
              <a:spcAft>
                <a:spcPts val="0"/>
              </a:spcAft>
              <a:buNone/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700808"/>
            <a:ext cx="332047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Первая нормальная форма</a:t>
            </a:r>
            <a:endParaRPr lang="ru-RU" sz="36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785029"/>
            <a:ext cx="8496944" cy="432048"/>
          </a:xfrm>
        </p:spPr>
        <p:txBody>
          <a:bodyPr rtlCol="0">
            <a:noAutofit/>
          </a:bodyPr>
          <a:lstStyle/>
          <a:p>
            <a:pPr>
              <a:buNone/>
            </a:pPr>
            <a:r>
              <a:rPr lang="ru-RU" sz="2200" b="1" i="1" smtClean="0">
                <a:latin typeface="Arial" pitchFamily="34" charset="0"/>
                <a:cs typeface="Arial" pitchFamily="34" charset="0"/>
              </a:rPr>
              <a:t>Недостатки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исходного нормализованного </a:t>
            </a:r>
            <a:r>
              <a:rPr lang="ru-RU" sz="2200" smtClean="0">
                <a:latin typeface="Arial" pitchFamily="34" charset="0"/>
                <a:cs typeface="Arial" pitchFamily="34" charset="0"/>
              </a:rPr>
              <a:t>отношения:</a:t>
            </a:r>
            <a:endParaRPr lang="ru-RU" sz="2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3200" b="1" smtClean="0">
                <a:cs typeface="Arial" pitchFamily="34" charset="0"/>
              </a:rPr>
              <a:t>Проблемы первой нормальной формы</a:t>
            </a:r>
            <a:endParaRPr lang="ru-RU" sz="3200"/>
          </a:p>
        </p:txBody>
      </p:sp>
      <p:sp>
        <p:nvSpPr>
          <p:cNvPr id="12" name="TextBox 11"/>
          <p:cNvSpPr txBox="1"/>
          <p:nvPr/>
        </p:nvSpPr>
        <p:spPr>
          <a:xfrm>
            <a:off x="3851920" y="6381328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mtClean="0">
                <a:latin typeface="Arial" pitchFamily="34" charset="0"/>
                <a:cs typeface="Arial" pitchFamily="34" charset="0"/>
              </a:rPr>
              <a:t>Это приводит к аномалиям при обновлениях</a:t>
            </a:r>
          </a:p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51520" y="1196752"/>
            <a:ext cx="8676456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lang="ru-RU" sz="2100" smtClean="0">
                <a:cs typeface="Arial" pitchFamily="34" charset="0"/>
              </a:rPr>
              <a:t> </a:t>
            </a:r>
            <a:r>
              <a:rPr lang="ru-RU" sz="1900" smtClean="0">
                <a:cs typeface="Arial" pitchFamily="34" charset="0"/>
              </a:rPr>
              <a:t>1) </a:t>
            </a:r>
            <a:r>
              <a:rPr lang="ru-RU" sz="1900" b="1" i="1" smtClean="0">
                <a:solidFill>
                  <a:srgbClr val="FF0000"/>
                </a:solidFill>
                <a:cs typeface="Arial" pitchFamily="34" charset="0"/>
              </a:rPr>
              <a:t>избыточность</a:t>
            </a:r>
            <a:r>
              <a:rPr lang="ru-RU" sz="1900" smtClean="0">
                <a:cs typeface="Arial" pitchFamily="34" charset="0"/>
              </a:rPr>
              <a:t>:  для каждого сотрудника указана фамилия,</a:t>
            </a:r>
          </a:p>
          <a:p>
            <a:pPr lvl="0">
              <a:buNone/>
            </a:pPr>
            <a:r>
              <a:rPr lang="ru-RU" sz="1900" smtClean="0">
                <a:cs typeface="Arial" pitchFamily="34" charset="0"/>
              </a:rPr>
              <a:t>        название отдела, тарифный разряд и оклад в кортежах </a:t>
            </a:r>
          </a:p>
          <a:p>
            <a:pPr lvl="0">
              <a:buNone/>
            </a:pPr>
            <a:r>
              <a:rPr lang="ru-RU" sz="1900" smtClean="0">
                <a:cs typeface="Arial" pitchFamily="34" charset="0"/>
              </a:rPr>
              <a:t>        по всем проектам, в которых он участвует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2060848"/>
            <a:ext cx="864096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lang="ru-RU" sz="1900" smtClean="0">
                <a:cs typeface="Arial" pitchFamily="34" charset="0"/>
              </a:rPr>
              <a:t> 2) </a:t>
            </a:r>
            <a:r>
              <a:rPr lang="ru-RU" sz="1900" b="1" i="1" smtClean="0">
                <a:solidFill>
                  <a:srgbClr val="7030A0"/>
                </a:solidFill>
                <a:cs typeface="Arial" pitchFamily="34" charset="0"/>
              </a:rPr>
              <a:t>зависимость  атрибутов от части первичного ключа </a:t>
            </a:r>
            <a:r>
              <a:rPr lang="ru-RU" sz="1900" i="1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1900" smtClean="0"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ru-RU" sz="1900" smtClean="0">
                <a:cs typeface="Arial" pitchFamily="34" charset="0"/>
              </a:rPr>
              <a:t>                ТАБ_НОМЕР </a:t>
            </a:r>
            <a:r>
              <a:rPr lang="ru-RU" sz="1900" smtClean="0">
                <a:cs typeface="Arial" pitchFamily="34" charset="0"/>
                <a:sym typeface="Symbol"/>
              </a:rPr>
              <a:t></a:t>
            </a:r>
            <a:r>
              <a:rPr lang="ru-RU" sz="1900" smtClean="0">
                <a:cs typeface="Arial" pitchFamily="34" charset="0"/>
              </a:rPr>
              <a:t> ФАМИЛИЯ</a:t>
            </a:r>
          </a:p>
          <a:p>
            <a:pPr>
              <a:buNone/>
            </a:pPr>
            <a:r>
              <a:rPr lang="ru-RU" sz="1900" smtClean="0">
                <a:cs typeface="Arial" pitchFamily="34" charset="0"/>
              </a:rPr>
              <a:t>                ТАБ_НОМЕР </a:t>
            </a:r>
            <a:r>
              <a:rPr lang="ru-RU" sz="1900" smtClean="0">
                <a:cs typeface="Arial" pitchFamily="34" charset="0"/>
                <a:sym typeface="Symbol"/>
              </a:rPr>
              <a:t></a:t>
            </a:r>
            <a:r>
              <a:rPr lang="ru-RU" sz="1900" smtClean="0">
                <a:cs typeface="Arial" pitchFamily="34" charset="0"/>
              </a:rPr>
              <a:t> ОТДЕЛ</a:t>
            </a:r>
            <a:endParaRPr lang="ru-RU" sz="19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05" y="3068960"/>
            <a:ext cx="761047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124744"/>
            <a:ext cx="8064896" cy="1728192"/>
          </a:xfrm>
        </p:spPr>
        <p:txBody>
          <a:bodyPr rtlCol="0">
            <a:noAutofit/>
          </a:bodyPr>
          <a:lstStyle/>
          <a:p>
            <a:pPr marL="534988" indent="-534988" algn="just">
              <a:buNone/>
              <a:defRPr/>
            </a:pPr>
            <a:r>
              <a:rPr lang="ru-RU" sz="21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100" b="1" smtClean="0">
                <a:cs typeface="Arial" pitchFamily="34" charset="0"/>
              </a:rPr>
              <a:t>1) </a:t>
            </a:r>
            <a:r>
              <a:rPr lang="en-US" sz="2100" b="1" smtClean="0">
                <a:solidFill>
                  <a:srgbClr val="7030A0"/>
                </a:solidFill>
                <a:cs typeface="Arial" pitchFamily="34" charset="0"/>
              </a:rPr>
              <a:t>INSERT</a:t>
            </a:r>
            <a:r>
              <a:rPr lang="ru-RU" sz="2100" b="1" smtClean="0">
                <a:cs typeface="Arial" pitchFamily="34" charset="0"/>
              </a:rPr>
              <a:t>  </a:t>
            </a:r>
            <a:r>
              <a:rPr lang="en-US" sz="2100" b="1" smtClean="0">
                <a:cs typeface="Arial" pitchFamily="34" charset="0"/>
              </a:rPr>
              <a:t>-&gt;</a:t>
            </a:r>
            <a:r>
              <a:rPr lang="ru-RU" sz="2100" b="1" smtClean="0">
                <a:cs typeface="Arial" pitchFamily="34" charset="0"/>
              </a:rPr>
              <a:t> </a:t>
            </a:r>
            <a:r>
              <a:rPr lang="ru-RU" sz="2100" smtClean="0">
                <a:cs typeface="Arial" pitchFamily="34" charset="0"/>
              </a:rPr>
              <a:t> Нельзя в отношение </a:t>
            </a:r>
            <a:r>
              <a:rPr lang="en-US" sz="2100" smtClean="0">
                <a:cs typeface="Arial" pitchFamily="34" charset="0"/>
              </a:rPr>
              <a:t>                    </a:t>
            </a:r>
            <a:r>
              <a:rPr lang="ru-RU" sz="2100" smtClean="0">
                <a:cs typeface="Arial" pitchFamily="34" charset="0"/>
              </a:rPr>
              <a:t>ПРОЕКТЫ-СОТРУДНИКИ </a:t>
            </a:r>
            <a:r>
              <a:rPr lang="en-US" sz="2100" smtClean="0">
                <a:cs typeface="Arial" pitchFamily="34" charset="0"/>
              </a:rPr>
              <a:t>  </a:t>
            </a:r>
            <a:r>
              <a:rPr lang="ru-RU" sz="2100" smtClean="0">
                <a:cs typeface="Arial" pitchFamily="34" charset="0"/>
              </a:rPr>
              <a:t>вставить кортеж, </a:t>
            </a:r>
          </a:p>
          <a:p>
            <a:pPr marL="534988" indent="0" algn="just" fontAlgn="auto">
              <a:spcAft>
                <a:spcPts val="0"/>
              </a:spcAft>
              <a:buNone/>
              <a:defRPr/>
            </a:pPr>
            <a:r>
              <a:rPr lang="ru-RU" sz="2100" smtClean="0">
                <a:cs typeface="Arial" pitchFamily="34" charset="0"/>
              </a:rPr>
              <a:t>описывающий </a:t>
            </a:r>
            <a:r>
              <a:rPr lang="ru-RU" sz="2100" dirty="0" smtClean="0">
                <a:cs typeface="Arial" pitchFamily="34" charset="0"/>
              </a:rPr>
              <a:t>сотрудника, который еще не выполняет никакого </a:t>
            </a:r>
            <a:r>
              <a:rPr lang="ru-RU" sz="2100" smtClean="0">
                <a:cs typeface="Arial" pitchFamily="34" charset="0"/>
              </a:rPr>
              <a:t>проекта (</a:t>
            </a:r>
            <a:r>
              <a:rPr lang="ru-RU" sz="2100" dirty="0" smtClean="0">
                <a:cs typeface="Arial" pitchFamily="34" charset="0"/>
              </a:rPr>
              <a:t>первичный ключ не может содержать неопределенное </a:t>
            </a:r>
            <a:r>
              <a:rPr lang="ru-RU" sz="2100" smtClean="0">
                <a:cs typeface="Arial" pitchFamily="34" charset="0"/>
              </a:rPr>
              <a:t>значение)</a:t>
            </a:r>
            <a:endParaRPr lang="ru-RU" sz="21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3797"/>
            <a:ext cx="8784976" cy="2383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Проблемы 1НФ при добавлении</a:t>
            </a:r>
            <a:endParaRPr lang="ru-RU" sz="36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7544" y="1144935"/>
            <a:ext cx="8064896" cy="1347961"/>
          </a:xfrm>
        </p:spPr>
        <p:txBody>
          <a:bodyPr rtlCol="0">
            <a:noAutofit/>
          </a:bodyPr>
          <a:lstStyle/>
          <a:p>
            <a:pPr algn="just">
              <a:buNone/>
            </a:pPr>
            <a:r>
              <a:rPr lang="ru-RU" sz="2200" b="1" smtClean="0">
                <a:cs typeface="Arial" pitchFamily="34" charset="0"/>
              </a:rPr>
              <a:t>2) </a:t>
            </a:r>
            <a:r>
              <a:rPr lang="en-US" sz="2200" b="1" smtClean="0">
                <a:solidFill>
                  <a:srgbClr val="7030A0"/>
                </a:solidFill>
                <a:cs typeface="Arial" pitchFamily="34" charset="0"/>
              </a:rPr>
              <a:t>DELETE</a:t>
            </a:r>
            <a:r>
              <a:rPr lang="en-US" sz="2200" b="1" smtClean="0">
                <a:cs typeface="Arial" pitchFamily="34" charset="0"/>
              </a:rPr>
              <a:t> -&gt;</a:t>
            </a:r>
            <a:r>
              <a:rPr lang="ru-RU" sz="2200" smtClean="0">
                <a:cs typeface="Arial" pitchFamily="34" charset="0"/>
              </a:rPr>
              <a:t>  </a:t>
            </a:r>
            <a:r>
              <a:rPr lang="ru-RU" sz="2200" dirty="0" smtClean="0">
                <a:cs typeface="Arial" pitchFamily="34" charset="0"/>
              </a:rPr>
              <a:t>При удалении кортежа с последней работой данного сотрудника не только разрушается связь данного сотрудника с данным проектом</a:t>
            </a:r>
            <a:r>
              <a:rPr lang="ru-RU" sz="2200" smtClean="0">
                <a:cs typeface="Arial" pitchFamily="34" charset="0"/>
              </a:rPr>
              <a:t>, </a:t>
            </a:r>
          </a:p>
          <a:p>
            <a:pPr>
              <a:buNone/>
            </a:pPr>
            <a:r>
              <a:rPr lang="ru-RU" sz="2200" smtClean="0">
                <a:cs typeface="Arial" pitchFamily="34" charset="0"/>
              </a:rPr>
              <a:t>   но и утрачивается </a:t>
            </a:r>
            <a:r>
              <a:rPr lang="ru-RU" sz="2200" dirty="0" smtClean="0">
                <a:cs typeface="Arial" pitchFamily="34" charset="0"/>
              </a:rPr>
              <a:t>информация об </a:t>
            </a:r>
            <a:r>
              <a:rPr lang="ru-RU" sz="2200" smtClean="0">
                <a:cs typeface="Arial" pitchFamily="34" charset="0"/>
              </a:rPr>
              <a:t>этом сотруднике</a:t>
            </a:r>
            <a:endParaRPr lang="ru-RU" sz="22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708920"/>
            <a:ext cx="8223935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Проблемы 1 НФ при  удалении</a:t>
            </a:r>
            <a:endParaRPr lang="ru-RU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144935"/>
            <a:ext cx="8064896" cy="1059929"/>
          </a:xfrm>
        </p:spPr>
        <p:txBody>
          <a:bodyPr rtlCol="0">
            <a:noAutofit/>
          </a:bodyPr>
          <a:lstStyle/>
          <a:p>
            <a:pPr algn="just">
              <a:buNone/>
            </a:pPr>
            <a:r>
              <a:rPr lang="ru-RU" sz="2200" b="1" smtClean="0">
                <a:cs typeface="Arial" pitchFamily="34" charset="0"/>
              </a:rPr>
              <a:t>3) </a:t>
            </a:r>
            <a:r>
              <a:rPr lang="en-US" sz="2200" b="1" smtClean="0">
                <a:solidFill>
                  <a:srgbClr val="7030A0"/>
                </a:solidFill>
                <a:cs typeface="Arial" pitchFamily="34" charset="0"/>
              </a:rPr>
              <a:t>UPDATE</a:t>
            </a:r>
            <a:r>
              <a:rPr lang="en-US" sz="2200" b="1" smtClean="0">
                <a:cs typeface="Arial" pitchFamily="34" charset="0"/>
              </a:rPr>
              <a:t> -&gt;</a:t>
            </a:r>
            <a:r>
              <a:rPr lang="ru-RU" sz="2200" smtClean="0">
                <a:cs typeface="Arial" pitchFamily="34" charset="0"/>
              </a:rPr>
              <a:t>  При </a:t>
            </a:r>
            <a:r>
              <a:rPr lang="ru-RU" sz="2200" dirty="0" smtClean="0">
                <a:cs typeface="Arial" pitchFamily="34" charset="0"/>
              </a:rPr>
              <a:t>переводе </a:t>
            </a:r>
            <a:r>
              <a:rPr lang="ru-RU" sz="2200" smtClean="0">
                <a:cs typeface="Arial" pitchFamily="34" charset="0"/>
              </a:rPr>
              <a:t>сотрудника  на другой тарифный разряд необходимо модифицировать </a:t>
            </a:r>
            <a:r>
              <a:rPr lang="ru-RU" sz="2200" dirty="0" smtClean="0">
                <a:cs typeface="Arial" pitchFamily="34" charset="0"/>
              </a:rPr>
              <a:t>все кортежи, описывающие этого сотрудника</a:t>
            </a: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endParaRPr lang="ru-RU" sz="2200" smtClean="0">
              <a:cs typeface="Arial" pitchFamily="34" charset="0"/>
            </a:endParaRPr>
          </a:p>
          <a:p>
            <a:pPr>
              <a:buNone/>
            </a:pPr>
            <a:endParaRPr lang="ru-RU" sz="2200" smtClean="0">
              <a:cs typeface="Arial" pitchFamily="34" charset="0"/>
            </a:endParaRPr>
          </a:p>
          <a:p>
            <a:pPr>
              <a:buNone/>
            </a:pPr>
            <a:endParaRPr lang="ru-RU" sz="2200" smtClean="0">
              <a:cs typeface="Arial" pitchFamily="34" charset="0"/>
            </a:endParaRPr>
          </a:p>
          <a:p>
            <a:pPr>
              <a:buNone/>
            </a:pPr>
            <a:endParaRPr lang="ru-RU" sz="2200" smtClean="0">
              <a:cs typeface="Arial" pitchFamily="34" charset="0"/>
            </a:endParaRPr>
          </a:p>
          <a:p>
            <a:pPr>
              <a:buNone/>
            </a:pPr>
            <a:endParaRPr lang="ru-RU" sz="2200" smtClean="0"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ru-RU" sz="2200" b="1" i="1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36912"/>
            <a:ext cx="873727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584" y="5085184"/>
            <a:ext cx="8316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smtClean="0">
                <a:cs typeface="Arial" pitchFamily="34" charset="0"/>
              </a:rPr>
              <a:t>Такие аномалии устраняются путем нормализации -–                       </a:t>
            </a:r>
            <a:r>
              <a:rPr lang="ru-RU" sz="2400" b="1" i="1" smtClean="0">
                <a:cs typeface="Arial" pitchFamily="34" charset="0"/>
              </a:rPr>
              <a:t>приведением отношений к 2НФ</a:t>
            </a:r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Проблемы 1 НФ при  обновлении</a:t>
            </a:r>
            <a:endParaRPr lang="ru-RU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2016224"/>
          </a:xfrm>
        </p:spPr>
        <p:txBody>
          <a:bodyPr rtlCol="0">
            <a:noAutofit/>
          </a:bodyPr>
          <a:lstStyle/>
          <a:p>
            <a:pPr>
              <a:buNone/>
            </a:pPr>
            <a:r>
              <a:rPr lang="ru-RU" sz="2400" dirty="0" smtClean="0">
                <a:cs typeface="Arial" pitchFamily="34" charset="0"/>
              </a:rPr>
              <a:t>Отношение находится во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2-й нормальной форме </a:t>
            </a:r>
            <a:r>
              <a:rPr lang="ru-RU" sz="2400" b="1" dirty="0" smtClean="0">
                <a:cs typeface="Arial" pitchFamily="34" charset="0"/>
              </a:rPr>
              <a:t>(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2НФ</a:t>
            </a:r>
            <a:r>
              <a:rPr lang="ru-RU" sz="2400" b="1" dirty="0" smtClean="0">
                <a:cs typeface="Arial" pitchFamily="34" charset="0"/>
              </a:rPr>
              <a:t>)</a:t>
            </a:r>
            <a:r>
              <a:rPr lang="ru-RU" sz="2400" dirty="0" smtClean="0"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ru-RU" sz="2400" dirty="0" smtClean="0">
                <a:cs typeface="Arial" pitchFamily="34" charset="0"/>
              </a:rPr>
              <a:t>    в том и только в том случае, </a:t>
            </a:r>
          </a:p>
          <a:p>
            <a:pPr marL="534988" indent="-425450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когда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находится в 1НФ  </a:t>
            </a:r>
          </a:p>
          <a:p>
            <a:pPr marL="534988" indent="-425450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и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каждый </a:t>
            </a:r>
            <a:r>
              <a:rPr lang="ru-RU" sz="2400" b="1" dirty="0" err="1" smtClean="0">
                <a:solidFill>
                  <a:srgbClr val="0070C0"/>
                </a:solidFill>
                <a:cs typeface="Arial" pitchFamily="34" charset="0"/>
              </a:rPr>
              <a:t>неключевой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 атрибут полностью зависит </a:t>
            </a:r>
          </a:p>
          <a:p>
            <a:pPr marL="534988" indent="-425450">
              <a:buClrTx/>
              <a:buSzPct val="100000"/>
              <a:buNone/>
            </a:pP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      от первичного ключа</a:t>
            </a: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SzPct val="100000"/>
              <a:buFont typeface="Wingdings" pitchFamily="2" charset="2"/>
              <a:buChar char="ü"/>
            </a:pPr>
            <a:endParaRPr lang="ru-RU" sz="2400" b="1" i="1" dirty="0" smtClean="0">
              <a:cs typeface="Arial" pitchFamily="34" charset="0"/>
            </a:endParaRPr>
          </a:p>
          <a:p>
            <a:pPr>
              <a:buNone/>
            </a:pPr>
            <a:endParaRPr lang="ru-RU" sz="2400" dirty="0" smtClean="0">
              <a:cs typeface="Arial" pitchFamily="34" charset="0"/>
            </a:endParaRPr>
          </a:p>
          <a:p>
            <a:pPr>
              <a:buNone/>
            </a:pP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Вторая нормальная форма</a:t>
            </a:r>
            <a:endParaRPr lang="ru-RU" sz="360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8034" y="3573016"/>
            <a:ext cx="332047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51520" y="3652569"/>
            <a:ext cx="54726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200" smtClean="0">
                <a:cs typeface="Arial" pitchFamily="34" charset="0"/>
              </a:rPr>
              <a:t>В отношении ПРОЕКТЫ-СОТРУДНИКИ  есть зависимости от части первичного ключа:</a:t>
            </a:r>
          </a:p>
          <a:p>
            <a:pPr marL="352425">
              <a:buNone/>
            </a:pPr>
            <a:r>
              <a:rPr lang="en-US" sz="2200" smtClean="0">
                <a:cs typeface="Arial" pitchFamily="34" charset="0"/>
              </a:rPr>
              <a:t>TA</a:t>
            </a:r>
            <a:r>
              <a:rPr lang="ru-RU" sz="2200" smtClean="0">
                <a:cs typeface="Arial" pitchFamily="34" charset="0"/>
              </a:rPr>
              <a:t>Б_НОМЕР </a:t>
            </a:r>
            <a:r>
              <a:rPr lang="en-US" sz="2200" smtClean="0">
                <a:cs typeface="Arial" pitchFamily="34" charset="0"/>
                <a:sym typeface="Symbol"/>
              </a:rPr>
              <a:t></a:t>
            </a:r>
            <a:r>
              <a:rPr lang="ru-RU" sz="2200" smtClean="0">
                <a:cs typeface="Arial" pitchFamily="34" charset="0"/>
                <a:sym typeface="Symbol"/>
              </a:rPr>
              <a:t> </a:t>
            </a:r>
            <a:r>
              <a:rPr lang="ru-RU" sz="2200" smtClean="0">
                <a:cs typeface="Arial" pitchFamily="34" charset="0"/>
              </a:rPr>
              <a:t>ФАМИЛИЯ </a:t>
            </a:r>
          </a:p>
          <a:p>
            <a:pPr marL="352425">
              <a:buNone/>
            </a:pPr>
            <a:r>
              <a:rPr lang="en-US" sz="2200" smtClean="0">
                <a:cs typeface="Arial" pitchFamily="34" charset="0"/>
              </a:rPr>
              <a:t>TA</a:t>
            </a:r>
            <a:r>
              <a:rPr lang="ru-RU" sz="2200" smtClean="0">
                <a:cs typeface="Arial" pitchFamily="34" charset="0"/>
              </a:rPr>
              <a:t>Б_НОМЕР </a:t>
            </a:r>
            <a:r>
              <a:rPr lang="en-US" sz="2200" smtClean="0">
                <a:cs typeface="Arial" pitchFamily="34" charset="0"/>
                <a:sym typeface="Symbol"/>
              </a:rPr>
              <a:t></a:t>
            </a:r>
            <a:r>
              <a:rPr lang="ru-RU" sz="2200" smtClean="0">
                <a:cs typeface="Arial" pitchFamily="34" charset="0"/>
                <a:sym typeface="Symbol"/>
              </a:rPr>
              <a:t> ОТДЕЛ</a:t>
            </a:r>
            <a:endParaRPr lang="ru-RU" sz="2200" smtClean="0">
              <a:cs typeface="Arial" pitchFamily="34" charset="0"/>
            </a:endParaRPr>
          </a:p>
          <a:p>
            <a:pPr marL="352425">
              <a:buNone/>
            </a:pPr>
            <a:r>
              <a:rPr lang="en-US" sz="2200" smtClean="0">
                <a:cs typeface="Arial" pitchFamily="34" charset="0"/>
              </a:rPr>
              <a:t>TA</a:t>
            </a:r>
            <a:r>
              <a:rPr lang="ru-RU" sz="2200" smtClean="0">
                <a:cs typeface="Arial" pitchFamily="34" charset="0"/>
              </a:rPr>
              <a:t>Б_НОМЕР </a:t>
            </a:r>
            <a:r>
              <a:rPr lang="en-US" sz="2200" smtClean="0">
                <a:cs typeface="Arial" pitchFamily="34" charset="0"/>
                <a:sym typeface="Symbol"/>
              </a:rPr>
              <a:t></a:t>
            </a:r>
            <a:r>
              <a:rPr lang="ru-RU" sz="2200" smtClean="0">
                <a:cs typeface="Arial" pitchFamily="34" charset="0"/>
                <a:sym typeface="Symbol"/>
              </a:rPr>
              <a:t> ТАР_РАЗРЯД</a:t>
            </a:r>
            <a:endParaRPr lang="ru-RU" sz="2200" smtClean="0">
              <a:cs typeface="Arial" pitchFamily="34" charset="0"/>
            </a:endParaRPr>
          </a:p>
          <a:p>
            <a:pPr marL="352425">
              <a:buNone/>
            </a:pPr>
            <a:r>
              <a:rPr lang="en-US" sz="2200" smtClean="0">
                <a:cs typeface="Arial" pitchFamily="34" charset="0"/>
              </a:rPr>
              <a:t>TA</a:t>
            </a:r>
            <a:r>
              <a:rPr lang="ru-RU" sz="2200" smtClean="0">
                <a:cs typeface="Arial" pitchFamily="34" charset="0"/>
              </a:rPr>
              <a:t>Б_НОМЕР </a:t>
            </a:r>
            <a:r>
              <a:rPr lang="en-US" sz="2200" smtClean="0">
                <a:cs typeface="Arial" pitchFamily="34" charset="0"/>
                <a:sym typeface="Symbol"/>
              </a:rPr>
              <a:t></a:t>
            </a:r>
            <a:r>
              <a:rPr lang="ru-RU" sz="2200" smtClean="0">
                <a:cs typeface="Arial" pitchFamily="34" charset="0"/>
                <a:sym typeface="Symbol"/>
              </a:rPr>
              <a:t> ОКЛАД</a:t>
            </a:r>
            <a:endParaRPr lang="ru-RU" sz="2200" smtClean="0">
              <a:cs typeface="Arial" pitchFamily="34" charset="0"/>
            </a:endParaRPr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2492896"/>
            <a:ext cx="8208912" cy="3240360"/>
          </a:xfrm>
        </p:spPr>
        <p:txBody>
          <a:bodyPr rtlCol="0">
            <a:noAutofit/>
          </a:bodyPr>
          <a:lstStyle/>
          <a:p>
            <a:pPr marL="812800" lvl="0" indent="-342900" algn="just">
              <a:buClr>
                <a:schemeClr val="tx1"/>
              </a:buClr>
              <a:buSzPct val="100000"/>
              <a:buAutoNum type="arabicParenR"/>
            </a:pP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создать новое отношение</a:t>
            </a:r>
            <a:r>
              <a:rPr lang="ru-RU" sz="2400" dirty="0" smtClean="0"/>
              <a:t> и </a:t>
            </a:r>
            <a:r>
              <a:rPr lang="ru-RU" sz="2400" dirty="0" smtClean="0">
                <a:solidFill>
                  <a:srgbClr val="0070C0"/>
                </a:solidFill>
              </a:rPr>
              <a:t>перенести в него атрибуты, которые зависят только от части первичного ключа, вместе с ключевым атрибутом</a:t>
            </a:r>
          </a:p>
          <a:p>
            <a:pPr marL="812800" lvl="0" indent="-342900" algn="just">
              <a:buClr>
                <a:schemeClr val="tx1"/>
              </a:buClr>
              <a:buSzPct val="100000"/>
              <a:buFont typeface="+mj-lt"/>
              <a:buAutoNum type="arabicParenR" startAt="2"/>
            </a:pPr>
            <a:r>
              <a:rPr lang="ru-RU" sz="2400" dirty="0" smtClean="0"/>
              <a:t>  </a:t>
            </a:r>
            <a:r>
              <a:rPr lang="ru-RU" sz="2400" dirty="0" smtClean="0">
                <a:solidFill>
                  <a:srgbClr val="7030A0"/>
                </a:solidFill>
              </a:rPr>
              <a:t>задать в новом отношении ключевой атрибут</a:t>
            </a:r>
            <a:r>
              <a:rPr lang="ru-RU" sz="2400" dirty="0" smtClean="0"/>
              <a:t> </a:t>
            </a:r>
          </a:p>
          <a:p>
            <a:pPr marL="812800" lvl="0" indent="-342900" algn="just">
              <a:buClr>
                <a:schemeClr val="tx1"/>
              </a:buClr>
              <a:buSzPct val="100000"/>
              <a:buFont typeface="+mj-lt"/>
              <a:buAutoNum type="arabicParenR" startAt="2"/>
            </a:pP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установить связь</a:t>
            </a:r>
            <a:r>
              <a:rPr lang="ru-RU" sz="2400" dirty="0" smtClean="0"/>
              <a:t> (</a:t>
            </a:r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</a:rPr>
              <a:t>идентифицирующую</a:t>
            </a:r>
            <a:r>
              <a:rPr lang="ru-RU" sz="2400" dirty="0" smtClean="0"/>
              <a:t>)        от нового отношения к прежнему</a:t>
            </a:r>
          </a:p>
          <a:p>
            <a:pPr algn="just"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5580112" y="548680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 Перевод</a:t>
            </a:r>
            <a:r>
              <a:rPr lang="ru-RU" sz="3600" smtClean="0"/>
              <a:t>  </a:t>
            </a:r>
            <a:r>
              <a:rPr lang="ru-RU" sz="3600" b="1" smtClean="0">
                <a:cs typeface="Arial" pitchFamily="34" charset="0"/>
              </a:rPr>
              <a:t>1НФ       2НФ</a:t>
            </a:r>
            <a:endParaRPr lang="ru-RU" sz="3600"/>
          </a:p>
        </p:txBody>
      </p:sp>
      <p:sp>
        <p:nvSpPr>
          <p:cNvPr id="12" name="TextBox 11"/>
          <p:cNvSpPr txBox="1"/>
          <p:nvPr/>
        </p:nvSpPr>
        <p:spPr>
          <a:xfrm>
            <a:off x="251520" y="112474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algn="just"/>
            <a:r>
              <a:rPr lang="ru-RU" sz="2400" smtClean="0"/>
              <a:t>Выполнить декомпозицию исходного отношения в несколько более простых отношений в соответствии с  функциональными зависимостями от части ключа: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980728"/>
            <a:ext cx="9001000" cy="17281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000" b="1" smtClean="0"/>
              <a:t>Декомпозици</a:t>
            </a:r>
            <a:r>
              <a:rPr lang="ru-RU" sz="2000" smtClean="0"/>
              <a:t>я отношения ПРОЕКТЫ-СОТРУДНИКИ в два отношения:</a:t>
            </a:r>
          </a:p>
          <a:p>
            <a:pPr>
              <a:buNone/>
            </a:pPr>
            <a:r>
              <a:rPr lang="ru-RU" sz="2000" smtClean="0"/>
              <a:t>                                              - </a:t>
            </a:r>
            <a:r>
              <a:rPr lang="ru-RU" sz="2000" b="1" smtClean="0"/>
              <a:t>новое</a:t>
            </a:r>
            <a:r>
              <a:rPr lang="ru-RU" sz="2000" smtClean="0"/>
              <a:t> СОТРУДНИКИ  </a:t>
            </a:r>
          </a:p>
          <a:p>
            <a:pPr>
              <a:buNone/>
            </a:pPr>
            <a:r>
              <a:rPr lang="ru-RU" sz="2000" smtClean="0"/>
              <a:t>                                              - </a:t>
            </a:r>
            <a:r>
              <a:rPr lang="ru-RU" sz="2000" b="1" smtClean="0"/>
              <a:t>измененное</a:t>
            </a:r>
            <a:r>
              <a:rPr lang="ru-RU" sz="2000" smtClean="0"/>
              <a:t> ПРОЕКТЫ-СОТРУДНИКИ</a:t>
            </a:r>
            <a:endParaRPr lang="ru-RU" sz="2000" dirty="0" smtClean="0"/>
          </a:p>
          <a:p>
            <a:pPr>
              <a:buNone/>
            </a:pPr>
            <a:r>
              <a:rPr lang="ru-RU" sz="2000" smtClean="0"/>
              <a:t>  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706" y="1556792"/>
            <a:ext cx="3619500" cy="1628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4638" y="2879204"/>
            <a:ext cx="3219450" cy="14859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4077072"/>
            <a:ext cx="3267075" cy="25622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Пример.  Переход  к  2НФ</a:t>
            </a:r>
            <a:endParaRPr lang="ru-RU" sz="360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04331" y="2186513"/>
            <a:ext cx="388843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smtClean="0">
                <a:solidFill>
                  <a:srgbClr val="FF0000"/>
                </a:solidFill>
              </a:rPr>
              <a:t>1.</a:t>
            </a:r>
            <a:r>
              <a:rPr lang="ru-RU" smtClean="0"/>
              <a:t> Создать новое отношение</a:t>
            </a:r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5553397" y="2852936"/>
            <a:ext cx="348309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73050" indent="-273050" algn="just"/>
            <a:r>
              <a:rPr lang="ru-RU" b="1">
                <a:solidFill>
                  <a:srgbClr val="FF0000"/>
                </a:solidFill>
              </a:rPr>
              <a:t>2</a:t>
            </a:r>
            <a:r>
              <a:rPr lang="ru-RU" b="1" smtClean="0">
                <a:solidFill>
                  <a:srgbClr val="FF0000"/>
                </a:solidFill>
              </a:rPr>
              <a:t>.</a:t>
            </a:r>
            <a:r>
              <a:rPr lang="ru-RU" smtClean="0"/>
              <a:t> Перенести в новое отношение атрибуты, зависящие от части ключа</a:t>
            </a:r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95844" y="4725144"/>
            <a:ext cx="435930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73050" indent="-273050"/>
            <a:r>
              <a:rPr lang="ru-RU" b="1">
                <a:solidFill>
                  <a:srgbClr val="FF0000"/>
                </a:solidFill>
              </a:rPr>
              <a:t>3</a:t>
            </a:r>
            <a:r>
              <a:rPr lang="ru-RU" b="1" smtClean="0">
                <a:solidFill>
                  <a:srgbClr val="FF0000"/>
                </a:solidFill>
              </a:rPr>
              <a:t>.</a:t>
            </a:r>
            <a:r>
              <a:rPr lang="ru-RU" smtClean="0"/>
              <a:t> Установить </a:t>
            </a:r>
            <a:r>
              <a:rPr lang="ru-RU"/>
              <a:t>идентифицирующую </a:t>
            </a:r>
            <a:r>
              <a:rPr lang="ru-RU" b="1" i="1" smtClean="0"/>
              <a:t> </a:t>
            </a:r>
            <a:r>
              <a:rPr lang="ru-RU" smtClean="0"/>
              <a:t>связь  </a:t>
            </a:r>
            <a:r>
              <a:rPr lang="ru-RU"/>
              <a:t>от </a:t>
            </a:r>
            <a:r>
              <a:rPr lang="ru-RU" smtClean="0"/>
              <a:t>нового  отношения  </a:t>
            </a:r>
            <a:r>
              <a:rPr lang="ru-RU"/>
              <a:t>к прежнему</a:t>
            </a: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  <p:bldP spid="10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1124744"/>
            <a:ext cx="8064896" cy="46810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2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r>
              <a:rPr lang="ru-RU" sz="2200" smtClean="0">
                <a:cs typeface="Arial" pitchFamily="34" charset="0"/>
              </a:rPr>
              <a:t>Функциональные </a:t>
            </a:r>
            <a:r>
              <a:rPr lang="ru-RU" sz="2200" dirty="0" smtClean="0">
                <a:cs typeface="Arial" pitchFamily="34" charset="0"/>
              </a:rPr>
              <a:t>зависимости: </a:t>
            </a:r>
          </a:p>
          <a:p>
            <a:pPr>
              <a:buNone/>
            </a:pPr>
            <a:r>
              <a:rPr lang="ru-RU" sz="2200" b="1" dirty="0" smtClean="0">
                <a:cs typeface="Arial" pitchFamily="34" charset="0"/>
              </a:rPr>
              <a:t>СОТРУДНИКИ</a:t>
            </a: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ТАБ_НОМЕР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ФАМИЛИЯ </a:t>
            </a: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ТАБ_НОМЕР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ОТДЕЛ </a:t>
            </a: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ТАБ_НОМЕР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ТАРИФ_РАЗРЯД </a:t>
            </a: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ТАБ_НОМЕР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ОКЛАД</a:t>
            </a: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ТАРИФ_РАЗРЯД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ОКЛАД </a:t>
            </a: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r>
              <a:rPr lang="ru-RU" sz="2200" b="1" dirty="0" smtClean="0">
                <a:cs typeface="Arial" pitchFamily="34" charset="0"/>
              </a:rPr>
              <a:t>ПРОЕКТЫ-СОТРУДНИКИ</a:t>
            </a: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ТАБ_НОМЕР + НОМЕР_ПРОЕКТА </a:t>
            </a:r>
            <a:r>
              <a:rPr lang="ru-RU" sz="2200" dirty="0" smtClean="0">
                <a:cs typeface="Arial" pitchFamily="34" charset="0"/>
                <a:sym typeface="Symbol"/>
              </a:rPr>
              <a:t></a:t>
            </a:r>
            <a:r>
              <a:rPr lang="ru-RU" sz="2200" dirty="0" smtClean="0">
                <a:cs typeface="Arial" pitchFamily="34" charset="0"/>
              </a:rPr>
              <a:t> РАБОТА </a:t>
            </a: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r>
              <a:rPr lang="ru-RU" sz="2200" dirty="0" smtClean="0">
                <a:cs typeface="Arial" pitchFamily="34" charset="0"/>
              </a:rPr>
              <a:t>Каждое из этих двух отношений находится во 2НФ, и в них устранены отмеченные выше аномалии</a:t>
            </a: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  <a:p>
            <a:pPr>
              <a:buNone/>
            </a:pPr>
            <a:endParaRPr lang="ru-RU" sz="22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7532" y="1628800"/>
            <a:ext cx="4356004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Модель  2 НФ</a:t>
            </a:r>
            <a:endParaRPr lang="ru-RU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1152128"/>
          </a:xfrm>
        </p:spPr>
        <p:txBody>
          <a:bodyPr rtlCol="0">
            <a:noAutofit/>
          </a:bodyPr>
          <a:lstStyle/>
          <a:p>
            <a:pPr algn="just">
              <a:buNone/>
            </a:pPr>
            <a:r>
              <a:rPr lang="ru-RU" sz="2400" b="1" smtClean="0">
                <a:cs typeface="Arial" pitchFamily="34" charset="0"/>
              </a:rPr>
              <a:t>1)</a:t>
            </a:r>
            <a:r>
              <a:rPr lang="ru-RU" sz="2400" smtClean="0">
                <a:cs typeface="Arial" pitchFamily="34" charset="0"/>
              </a:rPr>
              <a:t>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INSERT</a:t>
            </a:r>
            <a:r>
              <a:rPr lang="ru-RU" sz="2400" smtClean="0">
                <a:cs typeface="Arial" pitchFamily="34" charset="0"/>
              </a:rPr>
              <a:t> </a:t>
            </a:r>
            <a:r>
              <a:rPr lang="en-US" sz="2400" smtClean="0">
                <a:cs typeface="Arial" pitchFamily="34" charset="0"/>
              </a:rPr>
              <a:t>-&gt;</a:t>
            </a:r>
            <a:r>
              <a:rPr lang="ru-RU" sz="2400" smtClean="0">
                <a:cs typeface="Arial" pitchFamily="34" charset="0"/>
              </a:rPr>
              <a:t>   Можно </a:t>
            </a:r>
            <a:r>
              <a:rPr lang="ru-RU" sz="2400" dirty="0" smtClean="0">
                <a:cs typeface="Arial" pitchFamily="34" charset="0"/>
              </a:rPr>
              <a:t>добавить информацию о новом </a:t>
            </a:r>
            <a:r>
              <a:rPr lang="ru-RU" sz="2400" smtClean="0">
                <a:cs typeface="Arial" pitchFamily="34" charset="0"/>
              </a:rPr>
              <a:t>сотруднике без  </a:t>
            </a:r>
            <a:r>
              <a:rPr lang="ru-RU" sz="2400" dirty="0" smtClean="0">
                <a:cs typeface="Arial" pitchFamily="34" charset="0"/>
              </a:rPr>
              <a:t>привязки к какому-то проекту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6016" y="1988267"/>
            <a:ext cx="5112568" cy="4838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2 НФ  Добавление сотрудника</a:t>
            </a:r>
            <a:endParaRPr lang="ru-RU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1052164"/>
            <a:ext cx="8712968" cy="1440732"/>
          </a:xfrm>
        </p:spPr>
        <p:txBody>
          <a:bodyPr rtlCol="0">
            <a:noAutofit/>
          </a:bodyPr>
          <a:lstStyle/>
          <a:p>
            <a:pPr algn="just">
              <a:buNone/>
            </a:pPr>
            <a:r>
              <a:rPr lang="ru-RU" sz="2400" b="1" smtClean="0">
                <a:cs typeface="Arial" pitchFamily="34" charset="0"/>
              </a:rPr>
              <a:t>2)</a:t>
            </a:r>
            <a:r>
              <a:rPr lang="ru-RU" sz="2400" smtClean="0">
                <a:cs typeface="Arial" pitchFamily="34" charset="0"/>
              </a:rPr>
              <a:t>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DELETE</a:t>
            </a:r>
            <a:r>
              <a:rPr lang="ru-RU" sz="2400" smtClean="0">
                <a:cs typeface="Arial" pitchFamily="34" charset="0"/>
              </a:rPr>
              <a:t> </a:t>
            </a:r>
            <a:r>
              <a:rPr lang="en-US" sz="2400" smtClean="0">
                <a:cs typeface="Arial" pitchFamily="34" charset="0"/>
              </a:rPr>
              <a:t>-&gt;</a:t>
            </a:r>
            <a:r>
              <a:rPr lang="ru-RU" sz="2400" smtClean="0">
                <a:cs typeface="Arial" pitchFamily="34" charset="0"/>
              </a:rPr>
              <a:t>  При </a:t>
            </a:r>
            <a:r>
              <a:rPr lang="ru-RU" sz="2400" dirty="0" smtClean="0">
                <a:cs typeface="Arial" pitchFamily="34" charset="0"/>
              </a:rPr>
              <a:t>удалении кортежа с последней работой данного сотрудника разрушается только связь данного сотрудника с данным проектом, но НЕ УТРАЧИВАЕТСЯ информация об </a:t>
            </a:r>
            <a:r>
              <a:rPr lang="ru-RU" sz="2400" smtClean="0">
                <a:cs typeface="Arial" pitchFamily="34" charset="0"/>
              </a:rPr>
              <a:t>этом сотруднике </a:t>
            </a: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2579722"/>
            <a:ext cx="4896222" cy="4278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/>
              <a:t>2 НФ. Удаление работы  сотрудника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052736"/>
            <a:ext cx="8064896" cy="1080120"/>
          </a:xfrm>
        </p:spPr>
        <p:txBody>
          <a:bodyPr rtlCol="0">
            <a:noAutofit/>
          </a:bodyPr>
          <a:lstStyle/>
          <a:p>
            <a:pPr marL="1789113" indent="-1789113" algn="just" fontAlgn="auto">
              <a:spcAft>
                <a:spcPts val="0"/>
              </a:spcAft>
              <a:buNone/>
              <a:defRPr/>
            </a:pPr>
            <a:r>
              <a:rPr lang="ru-RU" sz="2400" smtClean="0">
                <a:cs typeface="Arial" pitchFamily="34" charset="0"/>
              </a:rPr>
              <a:t>3)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UPDATE</a:t>
            </a:r>
            <a:r>
              <a:rPr lang="ru-RU" sz="2400" smtClean="0">
                <a:cs typeface="Arial" pitchFamily="34" charset="0"/>
              </a:rPr>
              <a:t> </a:t>
            </a:r>
            <a:r>
              <a:rPr lang="en-US" sz="2400" smtClean="0">
                <a:cs typeface="Arial" pitchFamily="34" charset="0"/>
              </a:rPr>
              <a:t>-&gt;</a:t>
            </a:r>
            <a:r>
              <a:rPr lang="ru-RU" sz="2400" smtClean="0">
                <a:cs typeface="Arial" pitchFamily="34" charset="0"/>
              </a:rPr>
              <a:t>  При изменении разряда сотрудника необходимо </a:t>
            </a:r>
            <a:r>
              <a:rPr lang="ru-RU" sz="2400" dirty="0" smtClean="0">
                <a:cs typeface="Arial" pitchFamily="34" charset="0"/>
              </a:rPr>
              <a:t>модифицировать только </a:t>
            </a:r>
            <a:r>
              <a:rPr lang="ru-RU" sz="2400" smtClean="0">
                <a:cs typeface="Arial" pitchFamily="34" charset="0"/>
              </a:rPr>
              <a:t>один кортеж </a:t>
            </a:r>
            <a:r>
              <a:rPr lang="ru-RU" sz="2400" dirty="0" smtClean="0">
                <a:cs typeface="Arial" pitchFamily="34" charset="0"/>
              </a:rPr>
              <a:t>этого сотрудника</a:t>
            </a:r>
          </a:p>
          <a:p>
            <a:pPr algn="just">
              <a:buNone/>
            </a:pPr>
            <a:endParaRPr lang="ru-RU" sz="2400" dirty="0" smtClean="0">
              <a:cs typeface="Arial" pitchFamily="34" charset="0"/>
            </a:endParaRPr>
          </a:p>
          <a:p>
            <a:pPr algn="just">
              <a:buNone/>
            </a:pP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348880"/>
            <a:ext cx="5160496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smtClean="0"/>
              <a:t>2 НФ. Изменение информации о сотруднике</a:t>
            </a:r>
            <a:endParaRPr lang="ru-RU" sz="30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112" y="908720"/>
            <a:ext cx="734915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>
                <a:cs typeface="Arial" pitchFamily="34" charset="0"/>
              </a:rPr>
              <a:t>Проблемы второй нормальной формы</a:t>
            </a:r>
            <a:endParaRPr lang="ru-RU" sz="3200" b="1"/>
          </a:p>
        </p:txBody>
      </p:sp>
      <p:sp>
        <p:nvSpPr>
          <p:cNvPr id="13" name="TextBox 12"/>
          <p:cNvSpPr txBox="1"/>
          <p:nvPr/>
        </p:nvSpPr>
        <p:spPr>
          <a:xfrm>
            <a:off x="251520" y="407707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400" smtClean="0"/>
              <a:t>Проблемы являются следствием </a:t>
            </a:r>
          </a:p>
          <a:p>
            <a:pPr>
              <a:buNone/>
            </a:pPr>
            <a:r>
              <a:rPr lang="ru-RU" sz="2400"/>
              <a:t> </a:t>
            </a:r>
            <a:r>
              <a:rPr lang="ru-RU" sz="2400" smtClean="0"/>
              <a:t>                транзитивной функциональной зависимости         </a:t>
            </a:r>
          </a:p>
          <a:p>
            <a:pPr>
              <a:buNone/>
            </a:pPr>
            <a:r>
              <a:rPr lang="ru-RU" sz="2400" b="1">
                <a:solidFill>
                  <a:srgbClr val="7030A0"/>
                </a:solidFill>
              </a:rPr>
              <a:t> </a:t>
            </a:r>
            <a:r>
              <a:rPr lang="ru-RU" sz="2400" b="1" smtClean="0">
                <a:solidFill>
                  <a:srgbClr val="7030A0"/>
                </a:solidFill>
              </a:rPr>
              <a:t>                       </a:t>
            </a:r>
            <a:r>
              <a:rPr lang="ru-RU" sz="2000" b="1" smtClean="0">
                <a:solidFill>
                  <a:srgbClr val="7030A0"/>
                </a:solidFill>
              </a:rPr>
              <a:t>ТАБ_НОМЕР </a:t>
            </a:r>
            <a:r>
              <a:rPr lang="ru-RU" sz="2000" b="1" smtClean="0">
                <a:solidFill>
                  <a:srgbClr val="7030A0"/>
                </a:solidFill>
                <a:sym typeface="Symbol"/>
              </a:rPr>
              <a:t></a:t>
            </a:r>
            <a:r>
              <a:rPr lang="ru-RU" sz="2000" b="1" smtClean="0">
                <a:solidFill>
                  <a:srgbClr val="7030A0"/>
                </a:solidFill>
              </a:rPr>
              <a:t> </a:t>
            </a:r>
            <a:r>
              <a:rPr lang="ru-RU" sz="2000" b="1" smtClean="0">
                <a:solidFill>
                  <a:srgbClr val="0070C0"/>
                </a:solidFill>
              </a:rPr>
              <a:t>ОКЛАД</a:t>
            </a:r>
            <a:r>
              <a:rPr lang="ru-RU" sz="2400" smtClean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552" y="5334307"/>
            <a:ext cx="8496944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/>
              <a:t>Оклад сотрудника является характеристикой не сотрудника, а разряда, который назначен сотруднику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-108520" y="4025255"/>
            <a:ext cx="9108504" cy="1924025"/>
          </a:xfrm>
        </p:spPr>
        <p:txBody>
          <a:bodyPr rtlCol="0">
            <a:noAutofit/>
          </a:bodyPr>
          <a:lstStyle/>
          <a:p>
            <a:pPr>
              <a:buNone/>
            </a:pPr>
            <a:r>
              <a:rPr lang="ru-RU" sz="2200" smtClean="0"/>
              <a:t>Модель 2НФ  с транзитивной зависимостью имеет недостатки:</a:t>
            </a:r>
          </a:p>
          <a:p>
            <a:pPr marL="627063" lvl="0" indent="-517525" algn="just">
              <a:buNone/>
            </a:pPr>
            <a:r>
              <a:rPr lang="ru-RU" sz="2200" smtClean="0">
                <a:cs typeface="Arial" pitchFamily="34" charset="0"/>
              </a:rPr>
              <a:t> 1) </a:t>
            </a:r>
            <a:r>
              <a:rPr lang="ru-RU" sz="2200" smtClean="0">
                <a:solidFill>
                  <a:srgbClr val="FF0000"/>
                </a:solidFill>
              </a:rPr>
              <a:t>дублирование данных </a:t>
            </a:r>
            <a:r>
              <a:rPr lang="ru-RU" sz="2200" smtClean="0"/>
              <a:t>об окладе для всех сотрудников, имеющих одинаковый разряд (обновление требует многих операций)</a:t>
            </a:r>
            <a:endParaRPr lang="ru-RU" sz="2200" smtClean="0">
              <a:cs typeface="Arial" pitchFamily="34" charset="0"/>
            </a:endParaRPr>
          </a:p>
          <a:p>
            <a:pPr lvl="0">
              <a:buNone/>
            </a:pPr>
            <a:r>
              <a:rPr lang="ru-RU" sz="2200" smtClean="0">
                <a:cs typeface="Arial" pitchFamily="34" charset="0"/>
              </a:rPr>
              <a:t> 2) </a:t>
            </a:r>
            <a:r>
              <a:rPr lang="ru-RU" sz="2200" smtClean="0">
                <a:solidFill>
                  <a:srgbClr val="FF0000"/>
                </a:solidFill>
              </a:rPr>
              <a:t>проблемы в операциях </a:t>
            </a:r>
            <a:r>
              <a:rPr lang="ru-RU" sz="2200" smtClean="0"/>
              <a:t>с сотрудниками</a:t>
            </a:r>
          </a:p>
          <a:p>
            <a:pPr>
              <a:buNone/>
            </a:pPr>
            <a:endParaRPr lang="ru-RU" sz="22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202" y="836712"/>
            <a:ext cx="734915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>
                <a:cs typeface="Arial" pitchFamily="34" charset="0"/>
              </a:rPr>
              <a:t>Проблемы второй нормальной формы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7544" y="1052736"/>
            <a:ext cx="8064896" cy="1275953"/>
          </a:xfrm>
        </p:spPr>
        <p:txBody>
          <a:bodyPr rtlCol="0">
            <a:noAutofit/>
          </a:bodyPr>
          <a:lstStyle/>
          <a:p>
            <a:pPr marL="541338" indent="-541338" algn="just" fontAlgn="auto">
              <a:spcAft>
                <a:spcPts val="0"/>
              </a:spcAft>
              <a:buNone/>
              <a:defRPr/>
            </a:pPr>
            <a:r>
              <a:rPr lang="ru-RU" sz="2400" b="1" smtClean="0">
                <a:cs typeface="Arial" pitchFamily="34" charset="0"/>
              </a:rPr>
              <a:t>1)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INSERT</a:t>
            </a:r>
            <a:r>
              <a:rPr lang="ru-RU" sz="2400" smtClean="0">
                <a:cs typeface="Arial" pitchFamily="34" charset="0"/>
              </a:rPr>
              <a:t> -</a:t>
            </a:r>
            <a:r>
              <a:rPr lang="en-US" sz="2400" smtClean="0">
                <a:cs typeface="Arial" pitchFamily="34" charset="0"/>
              </a:rPr>
              <a:t>&gt;</a:t>
            </a:r>
            <a:r>
              <a:rPr lang="ru-RU" sz="2400" smtClean="0">
                <a:cs typeface="Arial" pitchFamily="34" charset="0"/>
              </a:rPr>
              <a:t> Нельзя добавить в БД информацию о новом тарифном разряде, до тех пор, пока на этот разряд не назначен хотя бы один сотрудник (первичный ключ не может содержать неопределенное значение)</a:t>
            </a: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3" y="3140968"/>
            <a:ext cx="6679228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Проблемы 2НФ при добавлении</a:t>
            </a:r>
            <a:endParaRPr lang="ru-RU" sz="36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052736"/>
            <a:ext cx="8280920" cy="1512168"/>
          </a:xfrm>
        </p:spPr>
        <p:txBody>
          <a:bodyPr rtlCol="0">
            <a:noAutofit/>
          </a:bodyPr>
          <a:lstStyle/>
          <a:p>
            <a:pPr marL="365125" indent="-365125" algn="just">
              <a:buNone/>
            </a:pPr>
            <a:r>
              <a:rPr lang="ru-RU" sz="2400" b="1" smtClean="0">
                <a:cs typeface="Arial" pitchFamily="34" charset="0"/>
              </a:rPr>
              <a:t>2)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DELETE</a:t>
            </a:r>
            <a:r>
              <a:rPr lang="ru-RU" sz="2400" b="1" smtClean="0">
                <a:cs typeface="Arial" pitchFamily="34" charset="0"/>
              </a:rPr>
              <a:t> </a:t>
            </a:r>
            <a:r>
              <a:rPr lang="en-US" sz="2400" b="1" smtClean="0">
                <a:cs typeface="Arial" pitchFamily="34" charset="0"/>
              </a:rPr>
              <a:t> -&gt;</a:t>
            </a:r>
            <a:r>
              <a:rPr lang="ru-RU" sz="2400" smtClean="0">
                <a:cs typeface="Arial" pitchFamily="34" charset="0"/>
              </a:rPr>
              <a:t>  При удалении кортежа, описывающего последнего сотрудника, имеющего некоторый тарифный разряд,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400" smtClean="0">
                <a:cs typeface="Arial" pitchFamily="34" charset="0"/>
              </a:rPr>
              <a:t>   удаляется и информация об этом разряде</a:t>
            </a: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924944"/>
            <a:ext cx="7595683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Проблемы 2НФ при удалении</a:t>
            </a:r>
            <a:endParaRPr lang="ru-RU" sz="36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1052736"/>
            <a:ext cx="8352928" cy="1203945"/>
          </a:xfrm>
        </p:spPr>
        <p:txBody>
          <a:bodyPr rtlCol="0">
            <a:noAutofit/>
          </a:bodyPr>
          <a:lstStyle/>
          <a:p>
            <a:pPr marL="1162050" indent="-1162050" algn="just" fontAlgn="auto">
              <a:spcAft>
                <a:spcPts val="0"/>
              </a:spcAft>
              <a:buNone/>
              <a:defRPr/>
            </a:pPr>
            <a:r>
              <a:rPr lang="ru-RU" sz="2400" b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ru-RU" sz="2400" b="1" smtClean="0">
                <a:cs typeface="Arial" pitchFamily="34" charset="0"/>
              </a:rPr>
              <a:t>3)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UPDATE</a:t>
            </a:r>
            <a:r>
              <a:rPr lang="ru-RU" sz="2400" b="1" smtClean="0">
                <a:cs typeface="Arial" pitchFamily="34" charset="0"/>
              </a:rPr>
              <a:t> </a:t>
            </a:r>
            <a:r>
              <a:rPr lang="ru-RU" sz="2400" smtClean="0">
                <a:cs typeface="Arial" pitchFamily="34" charset="0"/>
              </a:rPr>
              <a:t>-</a:t>
            </a:r>
            <a:r>
              <a:rPr lang="en-US" sz="2400" smtClean="0">
                <a:cs typeface="Arial" pitchFamily="34" charset="0"/>
              </a:rPr>
              <a:t>&gt;</a:t>
            </a:r>
            <a:r>
              <a:rPr lang="ru-RU" sz="2400" smtClean="0">
                <a:cs typeface="Arial" pitchFamily="34" charset="0"/>
              </a:rPr>
              <a:t> при изменении окладов по тарифным разрядам необходимо  эту операцию повторить для всех сотрудников, </a:t>
            </a:r>
          </a:p>
          <a:p>
            <a:pPr marL="1162050" indent="-12700" algn="just">
              <a:spcBef>
                <a:spcPts val="0"/>
              </a:spcBef>
              <a:buNone/>
            </a:pPr>
            <a:r>
              <a:rPr lang="ru-RU" sz="2400" smtClean="0">
                <a:cs typeface="Arial" pitchFamily="34" charset="0"/>
              </a:rPr>
              <a:t>имеющих эти разряды </a:t>
            </a: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3" y="2676331"/>
            <a:ext cx="8568264" cy="3200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cs typeface="Arial" pitchFamily="34" charset="0"/>
              </a:rPr>
              <a:t>Проблемы 2НФ при изменениях</a:t>
            </a:r>
            <a:endParaRPr lang="ru-RU" sz="3600" b="1"/>
          </a:p>
        </p:txBody>
      </p:sp>
      <p:sp>
        <p:nvSpPr>
          <p:cNvPr id="8" name="TextBox 7"/>
          <p:cNvSpPr txBox="1"/>
          <p:nvPr/>
        </p:nvSpPr>
        <p:spPr>
          <a:xfrm>
            <a:off x="2267744" y="6093296"/>
            <a:ext cx="6876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200" smtClean="0"/>
              <a:t> Проблемы можно устранить переходом  к 3НФ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1872208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2400" dirty="0" smtClean="0">
                <a:cs typeface="Arial" pitchFamily="34" charset="0"/>
              </a:rPr>
              <a:t>Отношение находится в </a:t>
            </a: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третьей нормальной форме </a:t>
            </a:r>
            <a:r>
              <a:rPr lang="ru-RU" sz="2400" b="1" dirty="0" smtClean="0">
                <a:cs typeface="Arial" pitchFamily="34" charset="0"/>
              </a:rPr>
              <a:t>(3НФ)</a:t>
            </a:r>
            <a:r>
              <a:rPr lang="ru-RU" sz="2400" dirty="0" smtClean="0">
                <a:cs typeface="Arial" pitchFamily="34" charset="0"/>
              </a:rPr>
              <a:t> в том и только в том случае, </a:t>
            </a:r>
          </a:p>
          <a:p>
            <a:pPr marL="719138" indent="-366713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  когда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находится в 2НФ</a:t>
            </a:r>
            <a:r>
              <a:rPr lang="ru-RU" sz="2400" dirty="0" smtClean="0">
                <a:solidFill>
                  <a:srgbClr val="0070C0"/>
                </a:solidFill>
                <a:cs typeface="Arial" pitchFamily="34" charset="0"/>
              </a:rPr>
              <a:t>  </a:t>
            </a:r>
          </a:p>
          <a:p>
            <a:pPr marL="901700" indent="-547688">
              <a:buClrTx/>
              <a:buSzPct val="100000"/>
              <a:buFont typeface="Wingdings" pitchFamily="2" charset="2"/>
              <a:buChar char="q"/>
            </a:pPr>
            <a:r>
              <a:rPr lang="ru-RU" sz="2400" dirty="0" smtClean="0">
                <a:cs typeface="Arial" pitchFamily="34" charset="0"/>
              </a:rPr>
              <a:t>и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каждый </a:t>
            </a:r>
            <a:r>
              <a:rPr lang="ru-RU" sz="2400" b="1" dirty="0" err="1" smtClean="0">
                <a:solidFill>
                  <a:srgbClr val="0070C0"/>
                </a:solidFill>
                <a:cs typeface="Arial" pitchFamily="34" charset="0"/>
              </a:rPr>
              <a:t>неключевой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 атрибут </a:t>
            </a:r>
            <a:r>
              <a:rPr lang="ru-RU" sz="2400" b="1" dirty="0" err="1" smtClean="0">
                <a:solidFill>
                  <a:srgbClr val="0070C0"/>
                </a:solidFill>
                <a:cs typeface="Arial" pitchFamily="34" charset="0"/>
              </a:rPr>
              <a:t>нетразитивно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 зависит от первичного ключа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Третья нормальная форма</a:t>
            </a:r>
            <a:endParaRPr lang="ru-RU" sz="3600" b="1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3356992"/>
            <a:ext cx="864096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ru-RU" sz="2400" dirty="0" smtClean="0">
                <a:cs typeface="Arial" pitchFamily="34" charset="0"/>
              </a:rPr>
              <a:t>В отношении СОТРУДНИКИ  есть  транзитивная зависимость, обусловленная зависимостью</a:t>
            </a:r>
            <a:r>
              <a:rPr lang="en-US" sz="2400" dirty="0" smtClean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между </a:t>
            </a:r>
            <a:r>
              <a:rPr lang="ru-RU" sz="2400" dirty="0" err="1" smtClean="0">
                <a:cs typeface="Arial" pitchFamily="34" charset="0"/>
              </a:rPr>
              <a:t>неключевыми</a:t>
            </a:r>
            <a:r>
              <a:rPr lang="ru-RU" sz="2400" dirty="0" smtClean="0">
                <a:cs typeface="Arial" pitchFamily="34" charset="0"/>
              </a:rPr>
              <a:t> атрибутами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121150" algn="just">
              <a:buNone/>
            </a:pPr>
            <a:r>
              <a:rPr lang="en-US" sz="2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TA</a:t>
            </a:r>
            <a:r>
              <a:rPr lang="ru-RU" sz="2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Б_НОМЕР </a:t>
            </a:r>
            <a:r>
              <a:rPr lang="en-US" sz="2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  <a:sym typeface="Symbol"/>
              </a:rPr>
              <a:t></a:t>
            </a:r>
            <a:r>
              <a:rPr lang="ru-RU" sz="2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  <a:sym typeface="Symbol"/>
              </a:rPr>
              <a:t> ОКЛАД</a:t>
            </a:r>
            <a:endParaRPr lang="ru-RU" sz="2200" dirty="0" smtClean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6024" y="5229200"/>
            <a:ext cx="889248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cs typeface="Arial" pitchFamily="34" charset="0"/>
              </a:rPr>
              <a:t> </a:t>
            </a:r>
            <a:r>
              <a:rPr lang="en-US" sz="2300" b="1" dirty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TA</a:t>
            </a:r>
            <a:r>
              <a:rPr lang="ru-RU" sz="2300" b="1" dirty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Б_НОМЕР </a:t>
            </a:r>
            <a:r>
              <a:rPr lang="en-US" sz="2300" dirty="0">
                <a:cs typeface="Arial" pitchFamily="34" charset="0"/>
                <a:sym typeface="Symbol"/>
              </a:rPr>
              <a:t></a:t>
            </a:r>
            <a:r>
              <a:rPr lang="ru-RU" sz="2300" dirty="0">
                <a:cs typeface="Arial" pitchFamily="34" charset="0"/>
                <a:sym typeface="Symbol"/>
              </a:rPr>
              <a:t> </a:t>
            </a:r>
            <a:r>
              <a:rPr lang="ru-RU" sz="2300" b="1" dirty="0">
                <a:solidFill>
                  <a:srgbClr val="7030A0"/>
                </a:solidFill>
                <a:cs typeface="Arial" pitchFamily="34" charset="0"/>
                <a:sym typeface="Symbol"/>
              </a:rPr>
              <a:t>ТАР_РАЗРЯД</a:t>
            </a:r>
            <a:r>
              <a:rPr lang="ru-RU" sz="2300" dirty="0">
                <a:cs typeface="Arial" pitchFamily="34" charset="0"/>
                <a:sym typeface="Symbol"/>
              </a:rPr>
              <a:t>       </a:t>
            </a:r>
            <a:r>
              <a:rPr lang="ru-RU" sz="2300" b="1" dirty="0">
                <a:solidFill>
                  <a:srgbClr val="7030A0"/>
                </a:solidFill>
                <a:cs typeface="Arial" pitchFamily="34" charset="0"/>
                <a:sym typeface="Symbol"/>
              </a:rPr>
              <a:t>ТАРИФ_РАЗРЯД</a:t>
            </a:r>
            <a:r>
              <a:rPr lang="ru-RU" sz="2300" b="1" dirty="0">
                <a:solidFill>
                  <a:srgbClr val="7030A0"/>
                </a:solidFill>
                <a:cs typeface="Arial" pitchFamily="34" charset="0"/>
              </a:rPr>
              <a:t> </a:t>
            </a:r>
            <a:r>
              <a:rPr lang="en-US" sz="2300" dirty="0">
                <a:cs typeface="Arial" pitchFamily="34" charset="0"/>
                <a:sym typeface="Symbol"/>
              </a:rPr>
              <a:t></a:t>
            </a:r>
            <a:r>
              <a:rPr lang="ru-RU" sz="2300" dirty="0">
                <a:cs typeface="Arial" pitchFamily="34" charset="0"/>
                <a:sym typeface="Symbol"/>
              </a:rPr>
              <a:t> </a:t>
            </a:r>
            <a:r>
              <a:rPr lang="ru-RU" sz="2300" b="1" dirty="0">
                <a:solidFill>
                  <a:schemeClr val="accent3">
                    <a:lumMod val="75000"/>
                  </a:schemeClr>
                </a:solidFill>
                <a:cs typeface="Arial" pitchFamily="34" charset="0"/>
                <a:sym typeface="Symbol"/>
              </a:rPr>
              <a:t>ОКЛАД</a:t>
            </a:r>
            <a:endParaRPr lang="ru-RU" sz="2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Стрелка вправо с вырезом 3"/>
          <p:cNvSpPr/>
          <p:nvPr/>
        </p:nvSpPr>
        <p:spPr>
          <a:xfrm>
            <a:off x="4697760" y="5373216"/>
            <a:ext cx="234280" cy="124841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1" grpId="0"/>
      <p:bldP spid="2" grpId="0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7544" y="1124744"/>
            <a:ext cx="8424936" cy="4681092"/>
          </a:xfrm>
        </p:spPr>
        <p:txBody>
          <a:bodyPr rtlCol="0">
            <a:noAutofit/>
          </a:bodyPr>
          <a:lstStyle/>
          <a:p>
            <a:pPr marL="365125" indent="-4763">
              <a:buNone/>
            </a:pPr>
            <a:r>
              <a:rPr lang="ru-RU" sz="2400" b="1" dirty="0" smtClean="0">
                <a:solidFill>
                  <a:srgbClr val="7030A0"/>
                </a:solidFill>
                <a:cs typeface="Arial" pitchFamily="34" charset="0"/>
              </a:rPr>
              <a:t>Выполнить декомпозицию </a:t>
            </a:r>
            <a:r>
              <a:rPr lang="ru-RU" sz="2400" dirty="0" smtClean="0">
                <a:cs typeface="Arial" pitchFamily="34" charset="0"/>
              </a:rPr>
              <a:t>исходного отношения в несколько более простых в соответствие с  функциональными зависимостями по </a:t>
            </a:r>
            <a:r>
              <a:rPr lang="ru-RU" sz="2400" dirty="0" err="1" smtClean="0">
                <a:cs typeface="Arial" pitchFamily="34" charset="0"/>
              </a:rPr>
              <a:t>неключевым</a:t>
            </a:r>
            <a:r>
              <a:rPr lang="ru-RU" sz="2400" dirty="0" smtClean="0">
                <a:cs typeface="Arial" pitchFamily="34" charset="0"/>
              </a:rPr>
              <a:t> атрибутам:</a:t>
            </a:r>
          </a:p>
          <a:p>
            <a:pPr marL="812800" lvl="0" indent="-342900">
              <a:spcBef>
                <a:spcPts val="1200"/>
              </a:spcBef>
              <a:buClr>
                <a:schemeClr val="tx1"/>
              </a:buClr>
              <a:buSzPct val="100000"/>
              <a:buAutoNum type="arabicParenR"/>
            </a:pP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создать новое отношение</a:t>
            </a:r>
            <a:r>
              <a:rPr lang="ru-RU" sz="2400" dirty="0" smtClean="0">
                <a:cs typeface="Arial" pitchFamily="34" charset="0"/>
              </a:rPr>
              <a:t> </a:t>
            </a:r>
          </a:p>
          <a:p>
            <a:pPr marL="812800" lvl="0" indent="-342900">
              <a:buClr>
                <a:schemeClr val="tx1"/>
              </a:buClr>
              <a:buSzPct val="100000"/>
              <a:buAutoNum type="arabicParenR"/>
            </a:pP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перенести</a:t>
            </a:r>
            <a:r>
              <a:rPr lang="ru-RU" sz="2400" dirty="0" smtClean="0">
                <a:cs typeface="Arial" pitchFamily="34" charset="0"/>
              </a:rPr>
              <a:t> в него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атрибуты</a:t>
            </a:r>
            <a:r>
              <a:rPr lang="ru-RU" sz="2400" dirty="0" smtClean="0">
                <a:cs typeface="Arial" pitchFamily="34" charset="0"/>
              </a:rPr>
              <a:t>, которые </a:t>
            </a:r>
            <a:r>
              <a:rPr lang="ru-RU" sz="2400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образуют зависимость по </a:t>
            </a:r>
            <a:r>
              <a:rPr lang="ru-RU" sz="2400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неключевым</a:t>
            </a:r>
            <a:r>
              <a:rPr lang="ru-RU" sz="2400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 атрибутам</a:t>
            </a:r>
            <a:r>
              <a:rPr lang="ru-RU" sz="2400" dirty="0" smtClean="0">
                <a:cs typeface="Arial" pitchFamily="34" charset="0"/>
              </a:rPr>
              <a:t>,  </a:t>
            </a:r>
          </a:p>
          <a:p>
            <a:pPr marL="812800" lvl="0" indent="-342900">
              <a:buClr>
                <a:schemeClr val="tx1"/>
              </a:buClr>
              <a:buSzPct val="100000"/>
              <a:buAutoNum type="arabicParenR"/>
            </a:pPr>
            <a:r>
              <a:rPr lang="ru-RU" sz="2400" dirty="0">
                <a:cs typeface="Arial" pitchFamily="34" charset="0"/>
              </a:rPr>
              <a:t> </a:t>
            </a: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задать</a:t>
            </a:r>
            <a:r>
              <a:rPr lang="ru-RU" sz="2400" dirty="0" smtClean="0">
                <a:cs typeface="Arial" pitchFamily="34" charset="0"/>
              </a:rPr>
              <a:t> в новом отношении </a:t>
            </a:r>
            <a:r>
              <a:rPr lang="ru-RU" sz="2400" dirty="0" smtClean="0">
                <a:solidFill>
                  <a:srgbClr val="0070C0"/>
                </a:solidFill>
                <a:cs typeface="Arial" pitchFamily="34" charset="0"/>
              </a:rPr>
              <a:t>ключевой атрибут </a:t>
            </a:r>
          </a:p>
          <a:p>
            <a:pPr marL="927100" lvl="0" indent="-457200">
              <a:buClr>
                <a:schemeClr val="tx1"/>
              </a:buClr>
              <a:buSzPct val="100000"/>
              <a:buFont typeface="+mj-lt"/>
              <a:buAutoNum type="arabicParenR" startAt="4"/>
            </a:pPr>
            <a:r>
              <a:rPr lang="ru-RU" sz="2400" dirty="0" smtClean="0"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cs typeface="Arial" pitchFamily="34" charset="0"/>
              </a:rPr>
              <a:t>установить связь</a:t>
            </a:r>
            <a:r>
              <a:rPr lang="ru-RU" sz="2400" dirty="0" smtClean="0">
                <a:cs typeface="Arial" pitchFamily="34" charset="0"/>
              </a:rPr>
              <a:t> (</a:t>
            </a:r>
            <a:r>
              <a:rPr lang="ru-RU" sz="2400" b="1" i="1" dirty="0" err="1" smtClean="0">
                <a:solidFill>
                  <a:schemeClr val="accent2">
                    <a:lumMod val="50000"/>
                  </a:schemeClr>
                </a:solidFill>
                <a:cs typeface="Arial" pitchFamily="34" charset="0"/>
              </a:rPr>
              <a:t>неидентифицирующую</a:t>
            </a:r>
            <a:r>
              <a:rPr lang="ru-RU" sz="2400" dirty="0" smtClean="0">
                <a:cs typeface="Arial" pitchFamily="34" charset="0"/>
              </a:rPr>
              <a:t>) </a:t>
            </a:r>
          </a:p>
          <a:p>
            <a:pPr marL="812800" lvl="0" indent="-342900">
              <a:buClr>
                <a:schemeClr val="tx1"/>
              </a:buClr>
              <a:buSzPct val="100000"/>
              <a:buNone/>
            </a:pPr>
            <a:r>
              <a:rPr lang="ru-RU" sz="2400" dirty="0" smtClean="0">
                <a:cs typeface="Arial" pitchFamily="34" charset="0"/>
              </a:rPr>
              <a:t>       между новым отношением и прежнем</a:t>
            </a:r>
          </a:p>
          <a:p>
            <a:pPr>
              <a:buNone/>
            </a:pP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5652120" y="620688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Перевод</a:t>
            </a:r>
            <a:r>
              <a:rPr lang="ru-RU" sz="3600" smtClean="0">
                <a:latin typeface="+mj-lt"/>
                <a:cs typeface="Arial" pitchFamily="34" charset="0"/>
              </a:rPr>
              <a:t>   </a:t>
            </a:r>
            <a:r>
              <a:rPr lang="ru-RU" sz="3600" b="1" smtClean="0">
                <a:latin typeface="+mj-lt"/>
                <a:cs typeface="Arial" pitchFamily="34" charset="0"/>
              </a:rPr>
              <a:t>2НФ     3НФ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692696"/>
            <a:ext cx="8064896" cy="46810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pPr marL="0" indent="0"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             </a:t>
            </a:r>
            <a:endParaRPr lang="ru-RU" sz="1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556792"/>
            <a:ext cx="3778980" cy="144016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Пример.  Переход  к  3НФ</a:t>
            </a:r>
            <a:endParaRPr lang="ru-RU" sz="3600">
              <a:latin typeface="+mj-lt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1115616" y="980728"/>
            <a:ext cx="8064896" cy="108012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6350" marR="0" lvl="0" indent="-63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Декомпозици</a:t>
            </a: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 отношения СОТРУДНИКИ в два отношения: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- </a:t>
            </a:r>
            <a:r>
              <a:rPr kumimoji="0" lang="ru-RU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новое</a:t>
            </a: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ТАРИФНЫЕ РАЗРЯДЫ 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- </a:t>
            </a:r>
            <a:r>
              <a:rPr kumimoji="0" lang="ru-RU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измененное</a:t>
            </a: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СОТРУДНИКИ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2339588"/>
            <a:ext cx="388843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smtClean="0">
                <a:solidFill>
                  <a:srgbClr val="FF0000"/>
                </a:solidFill>
              </a:rPr>
              <a:t>1.</a:t>
            </a:r>
            <a:r>
              <a:rPr lang="ru-RU" smtClean="0"/>
              <a:t> Создать новое отношение</a:t>
            </a:r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652120" y="3009726"/>
            <a:ext cx="341987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73050" indent="-273050" algn="just"/>
            <a:r>
              <a:rPr lang="ru-RU" b="1" dirty="0" smtClean="0">
                <a:solidFill>
                  <a:srgbClr val="FF0000"/>
                </a:solidFill>
              </a:rPr>
              <a:t>2-3.</a:t>
            </a:r>
            <a:r>
              <a:rPr lang="ru-RU" dirty="0" smtClean="0"/>
              <a:t> Перенести в новое отношение </a:t>
            </a:r>
            <a:r>
              <a:rPr lang="ru-RU" dirty="0" err="1" smtClean="0"/>
              <a:t>неключевые</a:t>
            </a:r>
            <a:r>
              <a:rPr lang="ru-RU" dirty="0" smtClean="0"/>
              <a:t> атрибуты, образующие зависимость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5496" y="5085184"/>
            <a:ext cx="45671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73050" indent="-273050" algn="just"/>
            <a:r>
              <a:rPr lang="ru-RU" b="1" dirty="0" smtClean="0">
                <a:solidFill>
                  <a:srgbClr val="FF0000"/>
                </a:solidFill>
              </a:rPr>
              <a:t>4.</a:t>
            </a:r>
            <a:r>
              <a:rPr lang="ru-RU" dirty="0" smtClean="0"/>
              <a:t> Установить </a:t>
            </a:r>
            <a:r>
              <a:rPr lang="ru-RU" dirty="0" err="1" smtClean="0"/>
              <a:t>неидентифицирующую</a:t>
            </a:r>
            <a:r>
              <a:rPr lang="ru-RU" dirty="0" smtClean="0"/>
              <a:t> </a:t>
            </a:r>
            <a:r>
              <a:rPr lang="ru-RU" b="1" i="1" dirty="0" smtClean="0"/>
              <a:t> </a:t>
            </a:r>
            <a:r>
              <a:rPr lang="ru-RU" dirty="0" smtClean="0"/>
              <a:t>связь  </a:t>
            </a:r>
            <a:r>
              <a:rPr lang="ru-RU" dirty="0"/>
              <a:t>от </a:t>
            </a:r>
            <a:r>
              <a:rPr lang="ru-RU" dirty="0" smtClean="0"/>
              <a:t>нового  отношения  </a:t>
            </a:r>
            <a:r>
              <a:rPr lang="ru-RU" dirty="0"/>
              <a:t>к прежнему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678" y="4352925"/>
            <a:ext cx="42481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43411"/>
            <a:ext cx="40290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2636912"/>
            <a:ext cx="8280920" cy="2860129"/>
          </a:xfrm>
        </p:spPr>
        <p:txBody>
          <a:bodyPr rtlCol="0">
            <a:noAutofit/>
          </a:bodyPr>
          <a:lstStyle/>
          <a:p>
            <a:pPr>
              <a:buNone/>
            </a:pPr>
            <a:r>
              <a:rPr lang="ru-RU" sz="2400" smtClean="0">
                <a:cs typeface="Arial" pitchFamily="34" charset="0"/>
              </a:rPr>
              <a:t>Функциональные </a:t>
            </a:r>
            <a:r>
              <a:rPr lang="ru-RU" sz="2400" dirty="0" smtClean="0">
                <a:cs typeface="Arial" pitchFamily="34" charset="0"/>
              </a:rPr>
              <a:t>зависимости: </a:t>
            </a:r>
          </a:p>
          <a:p>
            <a:pPr>
              <a:buNone/>
            </a:pPr>
            <a:r>
              <a:rPr lang="ru-RU" sz="2400" b="1" smtClean="0">
                <a:solidFill>
                  <a:srgbClr val="7030A0"/>
                </a:solidFill>
                <a:cs typeface="Arial" pitchFamily="34" charset="0"/>
              </a:rPr>
              <a:t>СОТРУДНИКИ</a:t>
            </a:r>
          </a:p>
          <a:p>
            <a:pPr>
              <a:buNone/>
            </a:pPr>
            <a:r>
              <a:rPr lang="ru-RU" sz="2400" smtClean="0">
                <a:cs typeface="Arial" pitchFamily="34" charset="0"/>
              </a:rPr>
              <a:t>ТАБ_НОМЕР </a:t>
            </a:r>
            <a:r>
              <a:rPr lang="ru-RU" sz="2400" dirty="0" smtClean="0">
                <a:cs typeface="Arial" pitchFamily="34" charset="0"/>
                <a:sym typeface="Symbol"/>
              </a:rPr>
              <a:t></a:t>
            </a:r>
            <a:r>
              <a:rPr lang="ru-RU" sz="2400" dirty="0" smtClean="0">
                <a:cs typeface="Arial" pitchFamily="34" charset="0"/>
              </a:rPr>
              <a:t> ФАМИЛИЯ </a:t>
            </a:r>
          </a:p>
          <a:p>
            <a:pPr>
              <a:buNone/>
            </a:pPr>
            <a:r>
              <a:rPr lang="ru-RU" sz="2400" dirty="0" smtClean="0">
                <a:cs typeface="Arial" pitchFamily="34" charset="0"/>
              </a:rPr>
              <a:t>ТАБ_НОМЕР </a:t>
            </a:r>
            <a:r>
              <a:rPr lang="ru-RU" sz="2400" dirty="0" smtClean="0">
                <a:cs typeface="Arial" pitchFamily="34" charset="0"/>
                <a:sym typeface="Symbol"/>
              </a:rPr>
              <a:t></a:t>
            </a:r>
            <a:r>
              <a:rPr lang="ru-RU" sz="2400" dirty="0" smtClean="0">
                <a:cs typeface="Arial" pitchFamily="34" charset="0"/>
              </a:rPr>
              <a:t> ОТДЕЛ </a:t>
            </a:r>
          </a:p>
          <a:p>
            <a:pPr>
              <a:buNone/>
            </a:pPr>
            <a:r>
              <a:rPr lang="ru-RU" sz="2400" dirty="0" smtClean="0">
                <a:cs typeface="Arial" pitchFamily="34" charset="0"/>
              </a:rPr>
              <a:t>ТАБ_НОМЕР </a:t>
            </a:r>
            <a:r>
              <a:rPr lang="ru-RU" sz="2400" smtClean="0">
                <a:cs typeface="Arial" pitchFamily="34" charset="0"/>
                <a:sym typeface="Symbol"/>
              </a:rPr>
              <a:t></a:t>
            </a:r>
            <a:r>
              <a:rPr lang="ru-RU" sz="2400" smtClean="0">
                <a:cs typeface="Arial" pitchFamily="34" charset="0"/>
              </a:rPr>
              <a:t> ТАРИФ_РАЗРЯД </a:t>
            </a:r>
            <a:endParaRPr lang="ru-RU" sz="2400" dirty="0" smtClean="0">
              <a:cs typeface="Arial" pitchFamily="34" charset="0"/>
            </a:endParaRPr>
          </a:p>
          <a:p>
            <a:pPr>
              <a:buNone/>
            </a:pPr>
            <a:endParaRPr lang="ru-RU" sz="1400" dirty="0" smtClean="0"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solidFill>
                  <a:srgbClr val="7030A0"/>
                </a:solidFill>
                <a:cs typeface="Arial" pitchFamily="34" charset="0"/>
              </a:rPr>
              <a:t>ТАРИФНЫЕ РАЗРЯДЫ</a:t>
            </a:r>
            <a:endParaRPr lang="ru-RU" sz="2400" dirty="0" smtClean="0">
              <a:solidFill>
                <a:srgbClr val="7030A0"/>
              </a:solidFill>
              <a:cs typeface="Arial" pitchFamily="34" charset="0"/>
            </a:endParaRPr>
          </a:p>
          <a:p>
            <a:pPr>
              <a:buNone/>
            </a:pPr>
            <a:r>
              <a:rPr lang="ru-RU" sz="2400" smtClean="0">
                <a:cs typeface="Arial" pitchFamily="34" charset="0"/>
              </a:rPr>
              <a:t>ТАРИФ_РАЗРЯД </a:t>
            </a:r>
            <a:r>
              <a:rPr lang="ru-RU" sz="2400" smtClean="0">
                <a:cs typeface="Arial" pitchFamily="34" charset="0"/>
                <a:sym typeface="Symbol"/>
              </a:rPr>
              <a:t></a:t>
            </a:r>
            <a:r>
              <a:rPr lang="ru-RU" sz="2400" smtClean="0">
                <a:cs typeface="Arial" pitchFamily="34" charset="0"/>
              </a:rPr>
              <a:t> ОКЛАД </a:t>
            </a:r>
            <a:endParaRPr lang="ru-RU" sz="2400" dirty="0" smtClean="0">
              <a:cs typeface="Arial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980728"/>
            <a:ext cx="6896114" cy="1757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latin typeface="+mj-lt"/>
                <a:cs typeface="Arial" pitchFamily="34" charset="0"/>
              </a:rPr>
              <a:t>Модель  3 НФ</a:t>
            </a:r>
            <a:endParaRPr lang="ru-RU" sz="3600" b="1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55776" y="5877272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000" smtClean="0">
                <a:cs typeface="Arial" pitchFamily="34" charset="0"/>
              </a:rPr>
              <a:t>Каждое из этих двух отношений находится в 3НФ,    </a:t>
            </a:r>
          </a:p>
          <a:p>
            <a:pPr>
              <a:buNone/>
            </a:pPr>
            <a:r>
              <a:rPr lang="ru-RU" sz="2000" smtClean="0">
                <a:cs typeface="Arial" pitchFamily="34" charset="0"/>
              </a:rPr>
              <a:t>и в них устранены отмеченные выше аномалии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288951"/>
            <a:ext cx="8712968" cy="987921"/>
          </a:xfrm>
        </p:spPr>
        <p:txBody>
          <a:bodyPr rtlCol="0">
            <a:noAutofit/>
          </a:bodyPr>
          <a:lstStyle/>
          <a:p>
            <a:pPr marL="1077913" indent="-968375" algn="just">
              <a:buNone/>
            </a:pPr>
            <a:r>
              <a:rPr lang="ru-RU" sz="2400" b="1" smtClean="0">
                <a:cs typeface="Arial" pitchFamily="34" charset="0"/>
              </a:rPr>
              <a:t>1) </a:t>
            </a:r>
            <a:r>
              <a:rPr lang="en-US" sz="2400" b="1" smtClean="0">
                <a:solidFill>
                  <a:srgbClr val="7030A0"/>
                </a:solidFill>
                <a:cs typeface="Arial" pitchFamily="34" charset="0"/>
              </a:rPr>
              <a:t>INSERT</a:t>
            </a:r>
            <a:r>
              <a:rPr lang="ru-RU" sz="2400" smtClean="0">
                <a:cs typeface="Arial" pitchFamily="34" charset="0"/>
              </a:rPr>
              <a:t>  -</a:t>
            </a:r>
            <a:r>
              <a:rPr lang="en-US" sz="2400" smtClean="0">
                <a:cs typeface="Arial" pitchFamily="34" charset="0"/>
              </a:rPr>
              <a:t>&gt; </a:t>
            </a:r>
            <a:r>
              <a:rPr lang="ru-RU" sz="2400" smtClean="0">
                <a:cs typeface="Arial" pitchFamily="34" charset="0"/>
              </a:rPr>
              <a:t>Можно добавить в БД информацию о новом тарифном разряде даже, если этот разряд не назначен ни одиному из</a:t>
            </a:r>
            <a:r>
              <a:rPr lang="en-US" sz="2400" smtClean="0">
                <a:cs typeface="Arial" pitchFamily="34" charset="0"/>
              </a:rPr>
              <a:t> </a:t>
            </a:r>
            <a:r>
              <a:rPr lang="ru-RU" sz="2400" smtClean="0">
                <a:cs typeface="Arial" pitchFamily="34" charset="0"/>
              </a:rPr>
              <a:t>сотрудников</a:t>
            </a: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>
              <a:cs typeface="Arial" pitchFamily="34" charset="0"/>
            </a:endParaRPr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  <a:p>
            <a:pPr algn="just">
              <a:buNone/>
            </a:pPr>
            <a:endParaRPr lang="ru-RU" sz="24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996952"/>
            <a:ext cx="877057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/>
              <a:t>3 НФ.  Добавление нового разряда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83568" y="1052736"/>
            <a:ext cx="8064896" cy="1368152"/>
          </a:xfrm>
        </p:spPr>
        <p:txBody>
          <a:bodyPr rtlCol="0">
            <a:noAutofit/>
          </a:bodyPr>
          <a:lstStyle/>
          <a:p>
            <a:pPr marL="1254125" indent="-1254125" algn="just" fontAlgn="auto">
              <a:spcAft>
                <a:spcPts val="0"/>
              </a:spcAft>
              <a:buNone/>
              <a:defRPr/>
            </a:pPr>
            <a:r>
              <a:rPr lang="ru-RU" sz="2200" b="1" smtClean="0">
                <a:cs typeface="Arial" pitchFamily="34" charset="0"/>
              </a:rPr>
              <a:t>2)</a:t>
            </a:r>
            <a:r>
              <a:rPr lang="ru-RU" sz="2200" smtClean="0">
                <a:cs typeface="Arial" pitchFamily="34" charset="0"/>
              </a:rPr>
              <a:t> </a:t>
            </a:r>
            <a:r>
              <a:rPr lang="en-US" sz="2200" b="1" smtClean="0">
                <a:solidFill>
                  <a:srgbClr val="7030A0"/>
                </a:solidFill>
                <a:cs typeface="Arial" pitchFamily="34" charset="0"/>
              </a:rPr>
              <a:t>DELETE</a:t>
            </a:r>
            <a:r>
              <a:rPr lang="ru-RU" sz="2200" smtClean="0">
                <a:cs typeface="Arial" pitchFamily="34" charset="0"/>
              </a:rPr>
              <a:t>  </a:t>
            </a:r>
            <a:r>
              <a:rPr lang="en-US" sz="2200" smtClean="0">
                <a:cs typeface="Arial" pitchFamily="34" charset="0"/>
              </a:rPr>
              <a:t> -&gt; </a:t>
            </a:r>
            <a:r>
              <a:rPr lang="ru-RU" sz="2200" smtClean="0">
                <a:cs typeface="Arial" pitchFamily="34" charset="0"/>
              </a:rPr>
              <a:t> При </a:t>
            </a:r>
            <a:r>
              <a:rPr lang="ru-RU" sz="2200" dirty="0" smtClean="0">
                <a:cs typeface="Arial" pitchFamily="34" charset="0"/>
              </a:rPr>
              <a:t>удалении кортежа с последним сотрудником на некотором разряде разрушается только связь </a:t>
            </a:r>
            <a:r>
              <a:rPr lang="ru-RU" sz="2200" smtClean="0">
                <a:cs typeface="Arial" pitchFamily="34" charset="0"/>
              </a:rPr>
              <a:t>данного  разряда  </a:t>
            </a:r>
            <a:r>
              <a:rPr lang="ru-RU" sz="2200" dirty="0" smtClean="0">
                <a:cs typeface="Arial" pitchFamily="34" charset="0"/>
              </a:rPr>
              <a:t>с данным сотрудником, но НЕ УТРАЧИВАЕТСЯ информация об этом разряде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986" y="2852936"/>
            <a:ext cx="8836962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/>
              <a:t>3 НФ.  Удаление сотрудника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5536" y="1196752"/>
            <a:ext cx="8064896" cy="987921"/>
          </a:xfrm>
        </p:spPr>
        <p:txBody>
          <a:bodyPr rtlCol="0">
            <a:noAutofit/>
          </a:bodyPr>
          <a:lstStyle/>
          <a:p>
            <a:pPr marL="1881188" indent="-1881188" algn="just" fontAlgn="auto">
              <a:spcAft>
                <a:spcPts val="0"/>
              </a:spcAft>
              <a:buNone/>
              <a:defRPr/>
            </a:pPr>
            <a:r>
              <a:rPr lang="ru-RU" sz="2200" b="1" smtClean="0">
                <a:cs typeface="Arial" pitchFamily="34" charset="0"/>
              </a:rPr>
              <a:t>3</a:t>
            </a:r>
            <a:r>
              <a:rPr lang="ru-RU" sz="2200" b="1" dirty="0" smtClean="0">
                <a:cs typeface="Arial" pitchFamily="34" charset="0"/>
              </a:rPr>
              <a:t>) </a:t>
            </a:r>
            <a:r>
              <a:rPr lang="en-US" sz="2200" b="1" smtClean="0">
                <a:solidFill>
                  <a:srgbClr val="7030A0"/>
                </a:solidFill>
                <a:cs typeface="Arial" pitchFamily="34" charset="0"/>
              </a:rPr>
              <a:t>UPDATE</a:t>
            </a:r>
            <a:r>
              <a:rPr lang="ru-RU" sz="2200" b="1" smtClean="0">
                <a:cs typeface="Arial" pitchFamily="34" charset="0"/>
              </a:rPr>
              <a:t> </a:t>
            </a:r>
            <a:r>
              <a:rPr lang="ru-RU" sz="2200" smtClean="0">
                <a:cs typeface="Arial" pitchFamily="34" charset="0"/>
              </a:rPr>
              <a:t>  </a:t>
            </a:r>
            <a:r>
              <a:rPr lang="en-US" sz="2200" smtClean="0">
                <a:cs typeface="Arial" pitchFamily="34" charset="0"/>
              </a:rPr>
              <a:t>-&gt; </a:t>
            </a:r>
            <a:r>
              <a:rPr lang="ru-RU" sz="2200" smtClean="0">
                <a:cs typeface="Arial" pitchFamily="34" charset="0"/>
              </a:rPr>
              <a:t>При </a:t>
            </a:r>
            <a:r>
              <a:rPr lang="ru-RU" sz="2200" dirty="0" smtClean="0">
                <a:cs typeface="Arial" pitchFamily="34" charset="0"/>
              </a:rPr>
              <a:t>изменении окладов по </a:t>
            </a:r>
            <a:r>
              <a:rPr lang="ru-RU" sz="2200" smtClean="0">
                <a:cs typeface="Arial" pitchFamily="34" charset="0"/>
              </a:rPr>
              <a:t>тарифным разрядам </a:t>
            </a:r>
            <a:r>
              <a:rPr lang="ru-RU" sz="2200" dirty="0" smtClean="0">
                <a:cs typeface="Arial" pitchFamily="34" charset="0"/>
              </a:rPr>
              <a:t>эту операцию надо выполнять по 1 разу </a:t>
            </a:r>
            <a:r>
              <a:rPr lang="ru-RU" sz="2200" smtClean="0">
                <a:cs typeface="Arial" pitchFamily="34" charset="0"/>
              </a:rPr>
              <a:t>для каждого </a:t>
            </a:r>
            <a:r>
              <a:rPr lang="ru-RU" sz="2200" dirty="0" smtClean="0">
                <a:cs typeface="Arial" pitchFamily="34" charset="0"/>
              </a:rPr>
              <a:t>разряда </a:t>
            </a:r>
          </a:p>
          <a:p>
            <a:pPr algn="just">
              <a:buNone/>
            </a:pPr>
            <a:endParaRPr lang="ru-RU" sz="2200" dirty="0" smtClean="0">
              <a:cs typeface="Arial" pitchFamily="34" charset="0"/>
            </a:endParaRPr>
          </a:p>
          <a:p>
            <a:pPr algn="just">
              <a:buNone/>
            </a:pPr>
            <a:endParaRPr lang="ru-RU" sz="2200" dirty="0" smtClean="0">
              <a:cs typeface="Arial" pitchFamily="34" charset="0"/>
            </a:endParaRPr>
          </a:p>
          <a:p>
            <a:pPr algn="just">
              <a:buNone/>
            </a:pPr>
            <a:endParaRPr lang="ru-RU" sz="2200" dirty="0" smtClean="0">
              <a:cs typeface="Arial" pitchFamily="34" charset="0"/>
            </a:endParaRPr>
          </a:p>
          <a:p>
            <a:pPr algn="just">
              <a:buNone/>
            </a:pPr>
            <a:endParaRPr lang="ru-RU" sz="2200" dirty="0" smtClean="0">
              <a:cs typeface="Arial" pitchFamily="34" charset="0"/>
            </a:endParaRPr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endParaRPr lang="ru-RU" sz="2200" dirty="0" smtClean="0"/>
          </a:p>
          <a:p>
            <a:pPr algn="just">
              <a:buNone/>
            </a:pPr>
            <a:r>
              <a:rPr lang="ru-RU" sz="2200" dirty="0" smtClean="0"/>
              <a:t>                                       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455" y="2852936"/>
            <a:ext cx="886258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3265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smtClean="0"/>
              <a:t>3 НФ.  Изменения тарифных разрядов</a:t>
            </a:r>
            <a:endParaRPr lang="ru-RU" sz="3200" b="1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640879"/>
            <a:ext cx="8064896" cy="46810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endParaRPr lang="ru-RU" sz="1800" smtClean="0"/>
          </a:p>
          <a:p>
            <a:pPr>
              <a:buNone/>
            </a:pPr>
            <a:endParaRPr lang="ru-RU" sz="1800" smtClean="0"/>
          </a:p>
          <a:p>
            <a:pPr>
              <a:buNone/>
            </a:pPr>
            <a:r>
              <a:rPr lang="ru-RU" sz="1800" smtClean="0"/>
              <a:t>                                        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1628800"/>
            <a:ext cx="79208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smtClean="0"/>
              <a:t>На практике третья нормальная форма отношений логической модели данных достаточна в большинстве случаев</a:t>
            </a:r>
          </a:p>
          <a:p>
            <a:pPr algn="ctr"/>
            <a:endParaRPr lang="ru-RU" sz="2800" smtClean="0"/>
          </a:p>
          <a:p>
            <a:pPr algn="ctr"/>
            <a:r>
              <a:rPr lang="ru-RU" sz="2800" smtClean="0"/>
              <a:t>Приведением к 3НФ процесс  </a:t>
            </a:r>
          </a:p>
          <a:p>
            <a:pPr algn="ctr"/>
            <a:r>
              <a:rPr lang="ru-RU" sz="2800" smtClean="0"/>
              <a:t>логического проектирования </a:t>
            </a:r>
          </a:p>
          <a:p>
            <a:pPr algn="ctr"/>
            <a:r>
              <a:rPr lang="ru-RU" sz="2800" smtClean="0"/>
              <a:t>реляционной БД </a:t>
            </a:r>
          </a:p>
          <a:p>
            <a:pPr algn="ctr"/>
            <a:r>
              <a:rPr lang="ru-RU" sz="2800" smtClean="0"/>
              <a:t>обычно заканчивается !!!</a:t>
            </a:r>
            <a:endParaRPr lang="ru-RU" sz="28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3265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latin typeface="+mj-lt"/>
                <a:cs typeface="Arial" pitchFamily="34" charset="0"/>
              </a:rPr>
              <a:t>Что дальше ?</a:t>
            </a:r>
            <a:endParaRPr lang="ru-RU" sz="3600" b="1" dirty="0">
              <a:latin typeface="+mj-lt"/>
              <a:cs typeface="Arial" pitchFamily="34" charset="0"/>
            </a:endParaRPr>
          </a:p>
        </p:txBody>
      </p:sp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640879"/>
            <a:ext cx="8064896" cy="4681092"/>
          </a:xfrm>
        </p:spPr>
        <p:txBody>
          <a:bodyPr rtlCol="0">
            <a:noAutofit/>
          </a:bodyPr>
          <a:lstStyle/>
          <a:p>
            <a:pPr marL="6350" indent="-6350" fontAlgn="auto">
              <a:spcAft>
                <a:spcPts val="0"/>
              </a:spcAft>
              <a:buNone/>
              <a:defRPr/>
            </a:pPr>
            <a:r>
              <a:rPr lang="ru-RU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ru-RU" sz="1800" dirty="0" smtClean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0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r>
              <a:rPr lang="ru-RU" sz="2000" smtClean="0">
                <a:solidFill>
                  <a:srgbClr val="0070C0"/>
                </a:solidFill>
              </a:rPr>
              <a:t/>
            </a:r>
            <a:br>
              <a:rPr lang="ru-RU" sz="2000" smtClean="0">
                <a:solidFill>
                  <a:srgbClr val="0070C0"/>
                </a:solidFill>
              </a:rPr>
            </a:br>
            <a: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908720"/>
            <a:ext cx="853244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ru-RU" sz="1900" dirty="0" smtClean="0"/>
              <a:t>Внимательно прочитать задание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1900" dirty="0" smtClean="0"/>
              <a:t>Выписать все атрибуты в одну сущность. Название сущности определить по заданию. </a:t>
            </a:r>
          </a:p>
          <a:p>
            <a:pPr marL="342900" indent="-342900"/>
            <a:r>
              <a:rPr lang="ru-RU" sz="1900" dirty="0" smtClean="0"/>
              <a:t>     Уметь различать названия частных сущностей и их атрибуты. Включать только атрибуты, а не сущности.</a:t>
            </a:r>
          </a:p>
          <a:p>
            <a:pPr marL="342900" indent="-342900"/>
            <a:r>
              <a:rPr lang="ru-RU" sz="1900" dirty="0" smtClean="0"/>
              <a:t>     Например, Клиент, Организация – сущности</a:t>
            </a:r>
          </a:p>
          <a:p>
            <a:pPr marL="342900" indent="-342900"/>
            <a:r>
              <a:rPr lang="ru-RU" sz="1900" dirty="0" smtClean="0"/>
              <a:t>          ФИО, код клиента, Название, адрес организации - атрибуты 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ru-RU" sz="1900" dirty="0" smtClean="0"/>
              <a:t>Выбрать ключевые атрибуты (никаких идентификаторов не добавлять)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ru-RU" sz="1900" dirty="0" smtClean="0"/>
              <a:t>Выписать все функциональные зависимости (полные или частичные) от ключевых атрибутов, также добавить транзитивную зависимость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ru-RU" sz="1900" dirty="0" smtClean="0"/>
              <a:t>Показать  преподавателю и только после этого выполнять нормализацию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ru-RU" sz="1900" dirty="0" smtClean="0"/>
              <a:t>Выполнить преобразование 1НФ -</a:t>
            </a:r>
            <a:r>
              <a:rPr lang="en-US" sz="1900" dirty="0" smtClean="0"/>
              <a:t>&gt; </a:t>
            </a:r>
            <a:r>
              <a:rPr lang="ru-RU" sz="1900" dirty="0" smtClean="0"/>
              <a:t>2НФ</a:t>
            </a:r>
          </a:p>
          <a:p>
            <a:pPr marL="342900" indent="-342900">
              <a:buFont typeface="+mj-lt"/>
              <a:buAutoNum type="arabicParenR" startAt="3"/>
            </a:pPr>
            <a:r>
              <a:rPr lang="ru-RU" sz="1900" smtClean="0"/>
              <a:t>Выполнить преобразование 2НФ </a:t>
            </a:r>
            <a:r>
              <a:rPr lang="ru-RU" sz="1900" dirty="0" smtClean="0"/>
              <a:t>-</a:t>
            </a:r>
            <a:r>
              <a:rPr lang="en-US" sz="1900" dirty="0" smtClean="0"/>
              <a:t>&gt; </a:t>
            </a:r>
            <a:r>
              <a:rPr lang="ru-RU" sz="1900" dirty="0" smtClean="0"/>
              <a:t>3НФ</a:t>
            </a:r>
          </a:p>
          <a:p>
            <a:pPr marL="342900" indent="-342900"/>
            <a:r>
              <a:rPr lang="ru-RU" sz="1900" dirty="0" smtClean="0"/>
              <a:t>          </a:t>
            </a:r>
          </a:p>
          <a:p>
            <a:pPr marL="342900" indent="-342900"/>
            <a:r>
              <a:rPr lang="ru-RU" sz="1900" smtClean="0"/>
              <a:t>                       Примечание</a:t>
            </a:r>
            <a:r>
              <a:rPr lang="ru-RU" sz="1900" dirty="0" smtClean="0"/>
              <a:t>. Каждую нормальную </a:t>
            </a:r>
            <a:r>
              <a:rPr lang="ru-RU" sz="1900" smtClean="0"/>
              <a:t>форму               </a:t>
            </a:r>
          </a:p>
          <a:p>
            <a:pPr marL="342900" indent="-342900"/>
            <a:r>
              <a:rPr lang="ru-RU" sz="1900" smtClean="0"/>
              <a:t>                                         сохранять в </a:t>
            </a:r>
            <a:r>
              <a:rPr lang="ru-RU" sz="1900" dirty="0" smtClean="0"/>
              <a:t>отдельном файле</a:t>
            </a:r>
          </a:p>
          <a:p>
            <a:endParaRPr lang="ru-RU" sz="1900" dirty="0" smtClean="0"/>
          </a:p>
        </p:txBody>
      </p:sp>
      <p:sp>
        <p:nvSpPr>
          <p:cNvPr id="10" name="Прямоугольник 9"/>
          <p:cNvSpPr/>
          <p:nvPr/>
        </p:nvSpPr>
        <p:spPr>
          <a:xfrm>
            <a:off x="35496" y="332656"/>
            <a:ext cx="9108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cs typeface="Arial" pitchFamily="34" charset="0"/>
              </a:rPr>
              <a:t>Как делать ЛР 3?</a:t>
            </a:r>
            <a:endParaRPr lang="ru-RU" sz="36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/>
          </a:bodyPr>
          <a:lstStyle/>
          <a:p>
            <a:pPr algn="r">
              <a:defRPr/>
            </a:pPr>
            <a:r>
              <a:rPr lang="ru-RU" sz="18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Нормализация логической модели данных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ВОПРОСЫ  К ЛЕКЦИИ</a:t>
            </a:r>
            <a:endParaRPr lang="ru-RU" sz="3600" b="1"/>
          </a:p>
        </p:txBody>
      </p:sp>
      <p:sp>
        <p:nvSpPr>
          <p:cNvPr id="10" name="TextBox 9"/>
          <p:cNvSpPr txBox="1"/>
          <p:nvPr/>
        </p:nvSpPr>
        <p:spPr>
          <a:xfrm>
            <a:off x="251520" y="2659559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3"/>
            </a:pPr>
            <a:r>
              <a:rPr lang="ru-RU" sz="2200" dirty="0" smtClean="0"/>
              <a:t>Укажите транзитивную зависимость в перечне: </a:t>
            </a:r>
          </a:p>
          <a:p>
            <a:pPr marL="457200" indent="-192088"/>
            <a:r>
              <a:rPr lang="ru-RU" sz="2200" smtClean="0">
                <a:solidFill>
                  <a:srgbClr val="0070C0"/>
                </a:solidFill>
              </a:rPr>
              <a:t> </a:t>
            </a:r>
            <a:r>
              <a:rPr lang="ru-RU">
                <a:solidFill>
                  <a:srgbClr val="0070C0"/>
                </a:solidFill>
              </a:rPr>
              <a:t>№ договора, Арендатор, Адрес помещения, Категория, Цена аренды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520" y="1867471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2"/>
            </a:pPr>
            <a:r>
              <a:rPr lang="ru-RU" sz="2200" dirty="0" smtClean="0"/>
              <a:t>Укажите взаимно независимые атрибуты в перечне: </a:t>
            </a:r>
          </a:p>
          <a:p>
            <a:pPr marL="457200" indent="-192088"/>
            <a:r>
              <a:rPr lang="ru-RU" sz="2200" smtClean="0"/>
              <a:t> </a:t>
            </a:r>
            <a:r>
              <a:rPr lang="ru-RU">
                <a:solidFill>
                  <a:srgbClr val="0070C0"/>
                </a:solidFill>
              </a:rPr>
              <a:t>№ договора, Арендатор, Адрес помещения, Категория, Цена аренды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075383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200" dirty="0" smtClean="0"/>
              <a:t>Укажите функциональные зависимости в перечне: </a:t>
            </a:r>
          </a:p>
          <a:p>
            <a:pPr marL="185738" indent="-185738"/>
            <a:r>
              <a:rPr lang="ru-RU" sz="2200" smtClean="0"/>
              <a:t>      </a:t>
            </a:r>
            <a:r>
              <a:rPr lang="ru-RU" smtClean="0">
                <a:solidFill>
                  <a:srgbClr val="0070C0"/>
                </a:solidFill>
              </a:rPr>
              <a:t>№ договора, Арендатор, Адрес помещения, Категория, Цена аренды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520" y="3430161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4. Назовите свойства (ограничения)  отношения в 1НФ  </a:t>
            </a:r>
            <a:endParaRPr lang="ru-RU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520" y="393305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5. Какие зависимости устраняются при переходе к 2НФ ?</a:t>
            </a:r>
            <a:endParaRPr lang="ru-RU" sz="2200"/>
          </a:p>
        </p:txBody>
      </p:sp>
      <p:sp>
        <p:nvSpPr>
          <p:cNvPr id="16" name="TextBox 15"/>
          <p:cNvSpPr txBox="1"/>
          <p:nvPr/>
        </p:nvSpPr>
        <p:spPr>
          <a:xfrm>
            <a:off x="251520" y="4437112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200" smtClean="0"/>
              <a:t>6</a:t>
            </a:r>
            <a:r>
              <a:rPr lang="ru-RU" sz="2200" smtClean="0"/>
              <a:t>. Назовите новое свойство отношения в 2НФ</a:t>
            </a:r>
            <a:endParaRPr lang="ru-RU" sz="2200"/>
          </a:p>
        </p:txBody>
      </p:sp>
      <p:sp>
        <p:nvSpPr>
          <p:cNvPr id="17" name="TextBox 16"/>
          <p:cNvSpPr txBox="1"/>
          <p:nvPr/>
        </p:nvSpPr>
        <p:spPr>
          <a:xfrm>
            <a:off x="251520" y="5014337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200" smtClean="0"/>
              <a:t>7</a:t>
            </a:r>
            <a:r>
              <a:rPr lang="ru-RU" sz="2200" smtClean="0"/>
              <a:t>. Какие зависимости устраняются при переходе к 3НФ ?</a:t>
            </a:r>
            <a:endParaRPr lang="ru-RU" sz="2200"/>
          </a:p>
        </p:txBody>
      </p:sp>
      <p:sp>
        <p:nvSpPr>
          <p:cNvPr id="18" name="TextBox 17"/>
          <p:cNvSpPr txBox="1"/>
          <p:nvPr/>
        </p:nvSpPr>
        <p:spPr>
          <a:xfrm>
            <a:off x="251520" y="5590401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dirty="0" smtClean="0"/>
              <a:t>8. Назовите новое свойство </a:t>
            </a:r>
            <a:r>
              <a:rPr lang="ru-RU" sz="2200" smtClean="0"/>
              <a:t>(ограничение) отношения </a:t>
            </a:r>
            <a:r>
              <a:rPr lang="ru-RU" sz="2200" dirty="0" smtClean="0"/>
              <a:t>в 3НФ 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2109</TotalTime>
  <Words>2011</Words>
  <Application>Microsoft Office PowerPoint</Application>
  <PresentationFormat>Экран (4:3)</PresentationFormat>
  <Paragraphs>447</Paragraphs>
  <Slides>48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49" baseType="lpstr">
      <vt:lpstr>Открытая</vt:lpstr>
      <vt:lpstr>Лекция  5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      Нормализация логической модели данных  </vt:lpstr>
      <vt:lpstr>Нормализация логической модели данных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207</cp:revision>
  <dcterms:created xsi:type="dcterms:W3CDTF">2020-10-04T20:01:59Z</dcterms:created>
  <dcterms:modified xsi:type="dcterms:W3CDTF">2025-10-02T22:24:18Z</dcterms:modified>
</cp:coreProperties>
</file>