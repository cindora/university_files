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01" r:id="rId3"/>
    <p:sldId id="302" r:id="rId4"/>
    <p:sldId id="324" r:id="rId5"/>
    <p:sldId id="303" r:id="rId6"/>
    <p:sldId id="323" r:id="rId7"/>
    <p:sldId id="304" r:id="rId8"/>
    <p:sldId id="305" r:id="rId9"/>
    <p:sldId id="306" r:id="rId10"/>
    <p:sldId id="307" r:id="rId11"/>
    <p:sldId id="325" r:id="rId12"/>
    <p:sldId id="327" r:id="rId13"/>
    <p:sldId id="326" r:id="rId14"/>
    <p:sldId id="308" r:id="rId15"/>
    <p:sldId id="309" r:id="rId16"/>
    <p:sldId id="328" r:id="rId17"/>
    <p:sldId id="310" r:id="rId18"/>
    <p:sldId id="311" r:id="rId19"/>
    <p:sldId id="312" r:id="rId20"/>
    <p:sldId id="314" r:id="rId21"/>
    <p:sldId id="313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291" r:id="rId39"/>
    <p:sldId id="292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420FB-3134-4AFB-8A7B-878DBFF2DCBE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D46D9-5F95-4A4A-80A2-82906EEBF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702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19.09.2025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332659"/>
            <a:ext cx="7772400" cy="1008110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>
                <a:solidFill>
                  <a:schemeClr val="bg2"/>
                </a:solidFill>
              </a:rPr>
              <a:t>Лекция 3</a:t>
            </a:r>
            <a:endParaRPr lang="ru-RU" sz="5400" dirty="0">
              <a:solidFill>
                <a:schemeClr val="bg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39" y="1700808"/>
            <a:ext cx="6811925" cy="4320480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Реляционная модель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143131" y="6488668"/>
            <a:ext cx="2000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ru-RU" b="1" dirty="0" smtClean="0">
                <a:solidFill>
                  <a:srgbClr val="FFC000"/>
                </a:solidFill>
              </a:rPr>
              <a:t>©Монахов В.И.</a:t>
            </a:r>
            <a:endParaRPr lang="ru-RU" dirty="0">
              <a:solidFill>
                <a:srgbClr val="FFC000"/>
              </a:solidFill>
            </a:endParaRPr>
          </a:p>
        </p:txBody>
      </p:sp>
      <p:pic>
        <p:nvPicPr>
          <p:cNvPr id="7" name="Рисунок 6" descr="Каф АСОИиУ логотип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0"/>
            <a:ext cx="1525124" cy="1340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smtClean="0"/>
              <a:t>Реляционный подход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973172"/>
            <a:ext cx="87129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 теории БД  был найден подход, позволивший упростить описание </a:t>
            </a:r>
            <a:r>
              <a:rPr lang="ru-RU" sz="2400" dirty="0" smtClean="0"/>
              <a:t>данных -  </a:t>
            </a:r>
            <a:r>
              <a:rPr lang="ru-RU" sz="2400" dirty="0"/>
              <a:t>метод </a:t>
            </a:r>
            <a:r>
              <a:rPr lang="ru-RU" sz="2400" b="1" dirty="0" smtClean="0"/>
              <a:t>нормализации</a:t>
            </a:r>
            <a:r>
              <a:rPr lang="ru-RU" sz="2400" dirty="0" smtClean="0"/>
              <a:t> 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Этот </a:t>
            </a:r>
            <a:r>
              <a:rPr lang="ru-RU" sz="2400" dirty="0"/>
              <a:t>метод был разработан </a:t>
            </a:r>
            <a:r>
              <a:rPr lang="ru-RU" sz="2400" dirty="0" err="1"/>
              <a:t>Э.Ф.Коддом</a:t>
            </a:r>
            <a:r>
              <a:rPr lang="ru-RU" sz="2400" dirty="0"/>
              <a:t> в 1970 г., когда он сформулировал принципы реляционной модели </a:t>
            </a:r>
            <a:r>
              <a:rPr lang="ru-RU" sz="2400" dirty="0" smtClean="0"/>
              <a:t>данных (12 правил  Кодда), которые относятся </a:t>
            </a:r>
            <a:r>
              <a:rPr lang="ru-RU" sz="2400" dirty="0"/>
              <a:t>к логическому представлению </a:t>
            </a:r>
            <a:r>
              <a:rPr lang="ru-RU" sz="2400" dirty="0" smtClean="0"/>
              <a:t>данных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Реляционные системы далеко не сразу получили широкое распространение. </a:t>
            </a:r>
            <a:r>
              <a:rPr lang="ru-RU" sz="2400" dirty="0" smtClean="0"/>
              <a:t>Основные </a:t>
            </a:r>
            <a:r>
              <a:rPr lang="ru-RU" sz="2400" dirty="0"/>
              <a:t>теоретические результаты </a:t>
            </a:r>
            <a:r>
              <a:rPr lang="ru-RU" sz="2400" dirty="0" smtClean="0"/>
              <a:t>представления данных и </a:t>
            </a:r>
            <a:r>
              <a:rPr lang="ru-RU" sz="2400" dirty="0"/>
              <a:t>первые прототипы реляционных СУБД </a:t>
            </a:r>
            <a:r>
              <a:rPr lang="ru-RU" sz="2400" dirty="0" smtClean="0"/>
              <a:t>были </a:t>
            </a:r>
            <a:r>
              <a:rPr lang="ru-RU" sz="2400" dirty="0"/>
              <a:t>получены еще в 70-х, </a:t>
            </a:r>
            <a:r>
              <a:rPr lang="ru-RU" sz="2400" dirty="0" smtClean="0"/>
              <a:t>но </a:t>
            </a:r>
            <a:r>
              <a:rPr lang="ru-RU" sz="2400" dirty="0"/>
              <a:t>долгое время считалось невозможным добиться эффективной реализации таких </a:t>
            </a:r>
            <a:r>
              <a:rPr lang="ru-RU" sz="2400" dirty="0" smtClean="0"/>
              <a:t>систем 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3. </a:t>
            </a: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65570561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smtClean="0"/>
              <a:t>Достоинства  реляционного подхода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1055052"/>
            <a:ext cx="864096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lvl="0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М</a:t>
            </a:r>
            <a:r>
              <a:rPr lang="ru-RU" sz="2400" dirty="0" smtClean="0"/>
              <a:t>одель </a:t>
            </a:r>
            <a:r>
              <a:rPr lang="ru-RU" sz="2400" dirty="0" smtClean="0"/>
              <a:t>данных содержит </a:t>
            </a:r>
            <a:r>
              <a:rPr lang="ru-RU" sz="2400" b="1" dirty="0" smtClean="0"/>
              <a:t>небольшой набор </a:t>
            </a:r>
            <a:r>
              <a:rPr lang="ru-RU" sz="2400" b="1" dirty="0"/>
              <a:t>абстракций</a:t>
            </a:r>
            <a:r>
              <a:rPr lang="ru-RU" sz="2400" dirty="0"/>
              <a:t>, которые позволяют сравнительно </a:t>
            </a:r>
            <a:r>
              <a:rPr lang="ru-RU" sz="2400" b="1" dirty="0"/>
              <a:t>просто моделировать</a:t>
            </a:r>
            <a:r>
              <a:rPr lang="ru-RU" sz="2400" dirty="0"/>
              <a:t> большую часть распространенных предметных </a:t>
            </a:r>
            <a:r>
              <a:rPr lang="ru-RU" sz="2400" dirty="0" smtClean="0"/>
              <a:t>областей </a:t>
            </a:r>
            <a:endParaRPr lang="ru-RU" sz="2400" dirty="0"/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Р</a:t>
            </a:r>
            <a:r>
              <a:rPr lang="ru-RU" sz="2400" dirty="0" smtClean="0"/>
              <a:t>еляционный </a:t>
            </a:r>
            <a:r>
              <a:rPr lang="ru-RU" sz="2400" dirty="0" smtClean="0"/>
              <a:t>подход </a:t>
            </a:r>
            <a:r>
              <a:rPr lang="ru-RU" sz="2400" dirty="0"/>
              <a:t>к организации </a:t>
            </a:r>
            <a:r>
              <a:rPr lang="ru-RU" sz="2400" dirty="0" smtClean="0"/>
              <a:t>БД базируется  на математическом аппарате </a:t>
            </a:r>
            <a:r>
              <a:rPr lang="ru-RU" sz="2400" b="1" dirty="0" smtClean="0"/>
              <a:t>теории </a:t>
            </a:r>
            <a:r>
              <a:rPr lang="ru-RU" sz="2400" b="1" dirty="0"/>
              <a:t>множеств</a:t>
            </a:r>
            <a:r>
              <a:rPr lang="ru-RU" sz="2400" dirty="0"/>
              <a:t> и </a:t>
            </a:r>
            <a:r>
              <a:rPr lang="ru-RU" sz="2400" b="1" dirty="0" smtClean="0"/>
              <a:t>математической логики</a:t>
            </a:r>
            <a:r>
              <a:rPr lang="ru-RU" sz="2400" dirty="0" smtClean="0"/>
              <a:t>, что позволяет дать точные формальные определения данных, которые в то же время являются </a:t>
            </a:r>
            <a:r>
              <a:rPr lang="ru-RU" sz="2400" dirty="0"/>
              <a:t>интуитивно понятными</a:t>
            </a:r>
            <a:r>
              <a:rPr lang="ru-RU" sz="2400" b="1" dirty="0" smtClean="0"/>
              <a:t> </a:t>
            </a:r>
            <a:endParaRPr lang="ru-RU" sz="2400" dirty="0" smtClean="0"/>
          </a:p>
          <a:p>
            <a:pPr marL="446088" lvl="0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Реализована в</a:t>
            </a:r>
            <a:r>
              <a:rPr lang="ru-RU" sz="2400" dirty="0" smtClean="0"/>
              <a:t>озможность </a:t>
            </a:r>
            <a:r>
              <a:rPr lang="ru-RU" sz="2400" b="1" dirty="0" smtClean="0"/>
              <a:t>декларативного </a:t>
            </a:r>
            <a:r>
              <a:rPr lang="ru-RU" sz="2400" b="1" dirty="0"/>
              <a:t>манипулирования данными</a:t>
            </a:r>
            <a:r>
              <a:rPr lang="ru-RU" sz="2400" dirty="0"/>
              <a:t> без необходимости знания конкретной физической организации </a:t>
            </a:r>
            <a:r>
              <a:rPr lang="ru-RU" sz="2400" dirty="0" smtClean="0"/>
              <a:t>БД </a:t>
            </a:r>
            <a:r>
              <a:rPr lang="ru-RU" sz="2400" dirty="0"/>
              <a:t>во внешней </a:t>
            </a:r>
            <a:r>
              <a:rPr lang="ru-RU" sz="2400" dirty="0" smtClean="0"/>
              <a:t>памяти 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3. </a:t>
            </a: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27056334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/>
              <a:t>Становление  реляционного подхода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1055052"/>
            <a:ext cx="864096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1970-х гг. модель </a:t>
            </a:r>
            <a:r>
              <a:rPr lang="ru-RU" sz="2400" dirty="0"/>
              <a:t>разрабатывалась как </a:t>
            </a:r>
            <a:r>
              <a:rPr lang="ru-RU" sz="2400" dirty="0" smtClean="0"/>
              <a:t> </a:t>
            </a:r>
            <a:r>
              <a:rPr lang="ru-RU" sz="2400" dirty="0"/>
              <a:t>теоретический способ описания свойств коллекций данных и языков </a:t>
            </a:r>
            <a:r>
              <a:rPr lang="ru-RU" sz="2400" dirty="0" smtClean="0"/>
              <a:t>запросов: </a:t>
            </a:r>
          </a:p>
          <a:p>
            <a:pPr marL="534988" lvl="0" indent="-1778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400" dirty="0" smtClean="0"/>
              <a:t>Теоретики </a:t>
            </a:r>
            <a:r>
              <a:rPr lang="ru-RU" sz="2400" dirty="0"/>
              <a:t>подчеркивали, что реляционная модель </a:t>
            </a:r>
            <a:r>
              <a:rPr lang="ru-RU" sz="2400" dirty="0" smtClean="0"/>
              <a:t>не </a:t>
            </a:r>
            <a:r>
              <a:rPr lang="ru-RU" sz="2400" dirty="0"/>
              <a:t>решает вопросы организации хранения </a:t>
            </a:r>
            <a:r>
              <a:rPr lang="ru-RU" sz="2400" dirty="0" smtClean="0"/>
              <a:t>данных</a:t>
            </a:r>
          </a:p>
          <a:p>
            <a:pPr marL="534988" lvl="0" indent="-1778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400" dirty="0" smtClean="0"/>
              <a:t>Практики утверждали, </a:t>
            </a:r>
            <a:r>
              <a:rPr lang="ru-RU" sz="2400" dirty="0"/>
              <a:t>что эффективная реализация реляционной </a:t>
            </a:r>
            <a:r>
              <a:rPr lang="ru-RU" sz="2400" dirty="0" smtClean="0"/>
              <a:t>модели невозможна</a:t>
            </a:r>
          </a:p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 </a:t>
            </a:r>
            <a:r>
              <a:rPr lang="ru-RU" sz="2400" dirty="0" smtClean="0"/>
              <a:t>1980-х гг. </a:t>
            </a:r>
            <a:r>
              <a:rPr lang="ru-RU" sz="2400" dirty="0"/>
              <a:t>были исследованы методы и структуры хранения и поиска, а также способы оптимизации запросов, позволившие создать </a:t>
            </a:r>
            <a:r>
              <a:rPr lang="ru-RU" sz="2400" dirty="0" smtClean="0"/>
              <a:t>СУБД на базе  </a:t>
            </a:r>
            <a:r>
              <a:rPr lang="ru-RU" sz="2400" dirty="0"/>
              <a:t>реляционной модели </a:t>
            </a:r>
            <a:r>
              <a:rPr lang="ru-RU" sz="2400" dirty="0" smtClean="0"/>
              <a:t>с эффективной </a:t>
            </a:r>
            <a:r>
              <a:rPr lang="ru-RU" sz="2400" dirty="0"/>
              <a:t>массовой </a:t>
            </a:r>
            <a:r>
              <a:rPr lang="ru-RU" sz="2400" dirty="0" smtClean="0"/>
              <a:t>обработкой данных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3. </a:t>
            </a: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66579988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/>
              <a:t>Трактовка реляционной модели К.Дейта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9141"/>
            <a:ext cx="878497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ru-RU" sz="2600" dirty="0" smtClean="0"/>
              <a:t>Крис </a:t>
            </a:r>
            <a:r>
              <a:rPr lang="ru-RU" sz="2600" dirty="0" err="1" smtClean="0"/>
              <a:t>Дейт</a:t>
            </a:r>
            <a:r>
              <a:rPr lang="ru-RU" sz="2600" dirty="0" smtClean="0"/>
              <a:t> </a:t>
            </a:r>
            <a:r>
              <a:rPr lang="ru-RU" sz="2600" dirty="0" smtClean="0"/>
              <a:t>предложил </a:t>
            </a:r>
            <a:r>
              <a:rPr lang="ru-RU" sz="2600" dirty="0"/>
              <a:t>н</a:t>
            </a:r>
            <a:r>
              <a:rPr lang="ru-RU" sz="2600" dirty="0" smtClean="0"/>
              <a:t>аиболее распространенную трактовку (изложение)  </a:t>
            </a:r>
            <a:r>
              <a:rPr lang="ru-RU" sz="2600" dirty="0"/>
              <a:t>реляционной модели </a:t>
            </a:r>
            <a:r>
              <a:rPr lang="ru-RU" sz="2600" dirty="0" smtClean="0"/>
              <a:t>данных </a:t>
            </a:r>
          </a:p>
          <a:p>
            <a:pPr lvl="0" algn="just">
              <a:spcBef>
                <a:spcPts val="600"/>
              </a:spcBef>
            </a:pPr>
            <a:r>
              <a:rPr lang="ru-RU" sz="28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800" b="1" spc="-100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К.Дж.Дейт</a:t>
            </a:r>
            <a:r>
              <a:rPr lang="ru-RU" sz="28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b="1" spc="-100" dirty="0" smtClean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Введение в системы баз данных</a:t>
            </a:r>
            <a:endParaRPr lang="ru-RU" sz="2800" b="1" spc="-100" dirty="0" smtClean="0">
              <a:solidFill>
                <a:schemeClr val="accent2">
                  <a:lumMod val="50000"/>
                </a:schemeClr>
              </a:solidFill>
            </a:endParaRPr>
          </a:p>
          <a:p>
            <a:endParaRPr lang="ru-RU" sz="2600" dirty="0" smtClean="0"/>
          </a:p>
          <a:p>
            <a:pPr algn="just"/>
            <a:r>
              <a:rPr lang="ru-RU" sz="2600" dirty="0" smtClean="0"/>
              <a:t>Согласно </a:t>
            </a:r>
            <a:r>
              <a:rPr lang="ru-RU" sz="2600" dirty="0" err="1" smtClean="0"/>
              <a:t>Дейту</a:t>
            </a:r>
            <a:r>
              <a:rPr lang="ru-RU" sz="2600" dirty="0" smtClean="0"/>
              <a:t>, </a:t>
            </a:r>
            <a:r>
              <a:rPr lang="ru-RU" sz="2600" dirty="0"/>
              <a:t>реляционная модель состоит из трех частей, описывающих разные аспекты реляционного подхода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600" dirty="0"/>
              <a:t> </a:t>
            </a:r>
          </a:p>
          <a:p>
            <a:pPr marL="712788" lvl="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600" dirty="0"/>
              <a:t>С</a:t>
            </a:r>
            <a:r>
              <a:rPr lang="ru-RU" sz="2600" dirty="0" smtClean="0"/>
              <a:t>труктура </a:t>
            </a:r>
            <a:r>
              <a:rPr lang="ru-RU" sz="2600" dirty="0"/>
              <a:t>данных (объекты данных)</a:t>
            </a:r>
          </a:p>
          <a:p>
            <a:pPr marL="712788" lvl="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600" dirty="0"/>
              <a:t>Ц</a:t>
            </a:r>
            <a:r>
              <a:rPr lang="ru-RU" sz="2600" dirty="0" smtClean="0"/>
              <a:t>елостность </a:t>
            </a:r>
            <a:r>
              <a:rPr lang="ru-RU" sz="2600" dirty="0"/>
              <a:t>данных</a:t>
            </a:r>
          </a:p>
          <a:p>
            <a:pPr marL="712788" lvl="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600" dirty="0" smtClean="0"/>
              <a:t>Операции над данными</a:t>
            </a:r>
            <a:endParaRPr lang="ru-RU" sz="2600" dirty="0"/>
          </a:p>
          <a:p>
            <a:pPr lvl="0" algn="just">
              <a:spcBef>
                <a:spcPts val="600"/>
              </a:spcBef>
            </a:pPr>
            <a:endParaRPr lang="ru-RU" sz="26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</a:t>
            </a: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406655098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8600" y="1268760"/>
            <a:ext cx="9144000" cy="1368152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400" b="1" smtClean="0"/>
              <a:t>Структура  данных</a:t>
            </a:r>
          </a:p>
          <a:p>
            <a:pPr marL="6350" indent="-6350" algn="ctr">
              <a:buNone/>
              <a:defRPr/>
            </a:pPr>
            <a:r>
              <a:rPr lang="ru-RU" sz="4400" b="1" smtClean="0"/>
              <a:t> </a:t>
            </a:r>
            <a:r>
              <a:rPr lang="ru-RU" sz="4400" b="1"/>
              <a:t>реляционной </a:t>
            </a:r>
            <a:r>
              <a:rPr lang="ru-RU" sz="4400" b="1" smtClean="0"/>
              <a:t>модели</a:t>
            </a:r>
            <a:endParaRPr lang="ru-RU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</a:t>
            </a: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09378413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smtClean="0"/>
              <a:t>Представление данных по Кодду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08720"/>
            <a:ext cx="864096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err="1" smtClean="0"/>
              <a:t>Э.Ф.Кодд</a:t>
            </a:r>
            <a:r>
              <a:rPr lang="ru-RU" sz="2400" dirty="0"/>
              <a:t>, математик по образованию, </a:t>
            </a:r>
            <a:r>
              <a:rPr lang="ru-RU" sz="2400" dirty="0" smtClean="0"/>
              <a:t> предложил </a:t>
            </a:r>
            <a:r>
              <a:rPr lang="ru-RU" sz="2400" dirty="0"/>
              <a:t>использовать </a:t>
            </a:r>
            <a:r>
              <a:rPr lang="ru-RU" sz="2400" dirty="0" smtClean="0"/>
              <a:t>математические дисциплины, </a:t>
            </a:r>
            <a:r>
              <a:rPr lang="ru-RU" sz="2400" dirty="0"/>
              <a:t>чтобы привнести в область управления данными строгие принципы и точность. </a:t>
            </a:r>
            <a:endParaRPr lang="ru-RU" sz="2400" dirty="0" smtClean="0"/>
          </a:p>
          <a:p>
            <a:pPr marL="354013" algn="just"/>
            <a:r>
              <a:rPr lang="ru-RU" sz="2400" dirty="0" smtClean="0"/>
              <a:t>Идеи </a:t>
            </a:r>
            <a:r>
              <a:rPr lang="ru-RU" sz="2400" dirty="0"/>
              <a:t>Кодда подробно рассмотрены в классической работе </a:t>
            </a:r>
            <a:r>
              <a:rPr lang="en-US" sz="2400" b="1" i="1" dirty="0" smtClean="0">
                <a:solidFill>
                  <a:srgbClr val="7030A0"/>
                </a:solidFill>
              </a:rPr>
              <a:t>A </a:t>
            </a:r>
            <a:r>
              <a:rPr lang="en-US" sz="2400" b="1" i="1" dirty="0">
                <a:solidFill>
                  <a:srgbClr val="7030A0"/>
                </a:solidFill>
              </a:rPr>
              <a:t>Relational Model of Data for Large Shared Data </a:t>
            </a:r>
            <a:r>
              <a:rPr lang="en-US" sz="2400" b="1" i="1" dirty="0" smtClean="0">
                <a:solidFill>
                  <a:srgbClr val="7030A0"/>
                </a:solidFill>
              </a:rPr>
              <a:t>Banks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(1970, CASM, 13 № 6</a:t>
            </a:r>
            <a:r>
              <a:rPr lang="en-US" sz="2400" dirty="0"/>
              <a:t>) </a:t>
            </a:r>
            <a:endParaRPr lang="ru-RU" sz="2400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/>
              <a:t>Кодд предложил использовать для описания и обработки данных аппарат теории множеств (объединение, пересечение, разность, декартово произведение</a:t>
            </a:r>
            <a:r>
              <a:rPr lang="ru-RU" sz="2400" dirty="0" smtClean="0"/>
              <a:t>)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Кодд </a:t>
            </a:r>
            <a:r>
              <a:rPr lang="ru-RU" sz="2400" dirty="0"/>
              <a:t>показал, что любое представление данных сводится к совокупности двумерных таблиц особого вида, </a:t>
            </a:r>
            <a:r>
              <a:rPr lang="ru-RU" sz="2400" dirty="0" smtClean="0"/>
              <a:t>называемых в математике отношениями</a:t>
            </a:r>
          </a:p>
          <a:p>
            <a:pPr algn="just"/>
            <a:r>
              <a:rPr lang="ru-RU" sz="1000" dirty="0"/>
              <a:t> </a:t>
            </a:r>
            <a:r>
              <a:rPr lang="ru-RU" sz="1000" dirty="0" smtClean="0"/>
              <a:t>                                 </a:t>
            </a:r>
          </a:p>
          <a:p>
            <a:pPr algn="just"/>
            <a:r>
              <a:rPr lang="ru-RU" sz="2400" b="1" i="1" dirty="0"/>
              <a:t> </a:t>
            </a:r>
            <a:r>
              <a:rPr lang="ru-RU" sz="2400" b="1" i="1" dirty="0" smtClean="0"/>
              <a:t>                                      Отношение</a:t>
            </a:r>
            <a:r>
              <a:rPr lang="ru-RU" sz="2400" dirty="0" smtClean="0"/>
              <a:t>  (англ.  </a:t>
            </a:r>
            <a:r>
              <a:rPr lang="en-US" sz="2400" b="1" i="1" dirty="0" smtClean="0"/>
              <a:t>r</a:t>
            </a:r>
            <a:r>
              <a:rPr lang="ru-RU" sz="2400" b="1" i="1" dirty="0" err="1" smtClean="0"/>
              <a:t>elation</a:t>
            </a:r>
            <a:r>
              <a:rPr lang="ru-RU" sz="2400" b="1" i="1" dirty="0" smtClean="0"/>
              <a:t>)</a:t>
            </a:r>
            <a:endParaRPr lang="ru-RU" sz="2400" dirty="0"/>
          </a:p>
          <a:p>
            <a:pPr algn="just"/>
            <a:endParaRPr lang="ru-RU" sz="2400" dirty="0" smtClean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00124453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/>
              <a:t>Основные понятия  реляционных структур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08720"/>
            <a:ext cx="8640960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400" dirty="0"/>
              <a:t>Основными понятиями </a:t>
            </a:r>
            <a:r>
              <a:rPr lang="ru-RU" sz="2400" dirty="0" smtClean="0"/>
              <a:t>структурной части реляционной теории баз </a:t>
            </a:r>
            <a:r>
              <a:rPr lang="ru-RU" sz="2400" dirty="0"/>
              <a:t>данных </a:t>
            </a:r>
            <a:r>
              <a:rPr lang="ru-RU" sz="2400" dirty="0" smtClean="0"/>
              <a:t>являются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</a:p>
          <a:p>
            <a:pPr marL="1262063" indent="-63976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а</a:t>
            </a:r>
            <a:r>
              <a:rPr lang="ru-RU" sz="2400" dirty="0" smtClean="0"/>
              <a:t>томарное значение</a:t>
            </a:r>
          </a:p>
          <a:p>
            <a:pPr marL="1262063" indent="-63976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т</a:t>
            </a:r>
            <a:r>
              <a:rPr lang="ru-RU" sz="2400" dirty="0" smtClean="0"/>
              <a:t>ип данных</a:t>
            </a:r>
          </a:p>
          <a:p>
            <a:pPr marL="1262063" indent="-63976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домен</a:t>
            </a:r>
          </a:p>
          <a:p>
            <a:pPr marL="1262063" indent="-63976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атрибут</a:t>
            </a:r>
          </a:p>
          <a:p>
            <a:pPr marL="1262063" indent="-63976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кортеж </a:t>
            </a:r>
          </a:p>
          <a:p>
            <a:pPr marL="1262063" indent="-63976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первичный </a:t>
            </a:r>
            <a:r>
              <a:rPr lang="ru-RU" sz="2400" dirty="0"/>
              <a:t>ключ </a:t>
            </a:r>
            <a:endParaRPr lang="ru-RU" sz="2400" dirty="0" smtClean="0"/>
          </a:p>
          <a:p>
            <a:pPr marL="1262063" indent="-63976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отношение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4892967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Рассмотрим смысл этих понятий на примере отношения </a:t>
            </a:r>
            <a:r>
              <a:rPr lang="ru-RU" sz="2400" b="1" dirty="0">
                <a:solidFill>
                  <a:srgbClr val="7030A0"/>
                </a:solidFill>
              </a:rPr>
              <a:t>СОТРУДНИКИ</a:t>
            </a:r>
            <a:r>
              <a:rPr lang="ru-RU" sz="2400" dirty="0"/>
              <a:t>, содержащего информацию о сотрудниках некоторой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192000157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Атомарное значение данных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31007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2938" lvl="0" indent="-457200" algn="just">
              <a:buFont typeface="Wingdings" panose="05000000000000000000" pitchFamily="2" charset="2"/>
              <a:buChar char="q"/>
            </a:pPr>
            <a:r>
              <a:rPr lang="ru-RU" sz="2700" dirty="0" smtClean="0"/>
              <a:t>Это </a:t>
            </a:r>
            <a:r>
              <a:rPr lang="ru-RU" sz="2700" b="1" dirty="0" smtClean="0">
                <a:solidFill>
                  <a:srgbClr val="7030A0"/>
                </a:solidFill>
              </a:rPr>
              <a:t>наименьшая единица</a:t>
            </a:r>
            <a:r>
              <a:rPr lang="ru-RU" sz="2700" dirty="0" smtClean="0"/>
              <a:t> </a:t>
            </a:r>
            <a:r>
              <a:rPr lang="ru-RU" sz="2700" dirty="0"/>
              <a:t>данных реляционной модели – </a:t>
            </a:r>
            <a:r>
              <a:rPr lang="ru-RU" sz="2700" b="1" dirty="0" smtClean="0">
                <a:solidFill>
                  <a:srgbClr val="7030A0"/>
                </a:solidFill>
              </a:rPr>
              <a:t>неразложимая</a:t>
            </a:r>
            <a:r>
              <a:rPr lang="ru-RU" sz="2700" dirty="0" smtClean="0"/>
              <a:t> </a:t>
            </a:r>
            <a:r>
              <a:rPr lang="ru-RU" sz="2700" dirty="0"/>
              <a:t>на более мелкие элементы без потери </a:t>
            </a:r>
            <a:r>
              <a:rPr lang="ru-RU" sz="2700" dirty="0" smtClean="0"/>
              <a:t>смысла</a:t>
            </a:r>
          </a:p>
          <a:p>
            <a:pPr marL="185738" lvl="0" algn="just"/>
            <a:r>
              <a:rPr lang="ru-RU" sz="2700" b="1" dirty="0" smtClean="0"/>
              <a:t>Пример </a:t>
            </a:r>
          </a:p>
          <a:p>
            <a:pPr marL="642938" lvl="0" indent="-457200" algn="just">
              <a:buFont typeface="Wingdings" panose="05000000000000000000" pitchFamily="2" charset="2"/>
              <a:buChar char="§"/>
            </a:pPr>
            <a:r>
              <a:rPr lang="ru-RU" sz="2700" i="1" dirty="0" smtClean="0"/>
              <a:t>Иванов Петр Сергеевич </a:t>
            </a:r>
            <a:r>
              <a:rPr lang="ru-RU" sz="2700" dirty="0" smtClean="0"/>
              <a:t>можно представить в виде отдельных значений</a:t>
            </a:r>
            <a:r>
              <a:rPr lang="ru-RU" sz="2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443038" lvl="0" indent="-457200" algn="just">
              <a:buFont typeface="Arial" panose="020B0604020202020204" pitchFamily="34" charset="0"/>
              <a:buChar char="•"/>
            </a:pPr>
            <a:r>
              <a:rPr lang="ru-RU" sz="2700" dirty="0" smtClean="0"/>
              <a:t>Фамилия (</a:t>
            </a:r>
            <a:r>
              <a:rPr lang="ru-RU" sz="2700" i="1" dirty="0" smtClean="0"/>
              <a:t>Иванов</a:t>
            </a:r>
            <a:r>
              <a:rPr lang="ru-RU" sz="2700" dirty="0" smtClean="0"/>
              <a:t>)</a:t>
            </a:r>
          </a:p>
          <a:p>
            <a:pPr marL="1443038" lvl="0" indent="-457200" algn="just">
              <a:buFont typeface="Arial" panose="020B0604020202020204" pitchFamily="34" charset="0"/>
              <a:buChar char="•"/>
            </a:pPr>
            <a:r>
              <a:rPr lang="ru-RU" sz="2700" dirty="0" smtClean="0"/>
              <a:t>Имя (</a:t>
            </a:r>
            <a:r>
              <a:rPr lang="ru-RU" sz="2700" i="1" dirty="0" smtClean="0"/>
              <a:t>Петр</a:t>
            </a:r>
            <a:r>
              <a:rPr lang="ru-RU" sz="2700" dirty="0" smtClean="0"/>
              <a:t>)</a:t>
            </a:r>
          </a:p>
          <a:p>
            <a:pPr marL="1443038" lvl="0" indent="-457200" algn="just">
              <a:buFont typeface="Arial" panose="020B0604020202020204" pitchFamily="34" charset="0"/>
              <a:buChar char="•"/>
            </a:pPr>
            <a:r>
              <a:rPr lang="ru-RU" sz="2700" dirty="0" smtClean="0"/>
              <a:t>Отчество (</a:t>
            </a:r>
            <a:r>
              <a:rPr lang="ru-RU" sz="2700" i="1" dirty="0" smtClean="0"/>
              <a:t>Сергеевич</a:t>
            </a:r>
            <a:r>
              <a:rPr lang="ru-RU" sz="2700" dirty="0" smtClean="0"/>
              <a:t>)</a:t>
            </a:r>
          </a:p>
          <a:p>
            <a:pPr marL="642938" lvl="0" indent="-457200" algn="just">
              <a:buFont typeface="Wingdings" panose="05000000000000000000" pitchFamily="2" charset="2"/>
              <a:buChar char="§"/>
            </a:pPr>
            <a:r>
              <a:rPr lang="ru-RU" sz="2700" dirty="0" smtClean="0"/>
              <a:t>Фамилия </a:t>
            </a:r>
            <a:r>
              <a:rPr lang="ru-RU" sz="2700" dirty="0"/>
              <a:t>состоит из букв, но </a:t>
            </a:r>
            <a:r>
              <a:rPr lang="ru-RU" sz="2700" dirty="0" smtClean="0"/>
              <a:t>разбив  </a:t>
            </a:r>
            <a:r>
              <a:rPr lang="ru-RU" sz="2700" dirty="0"/>
              <a:t>фамилию по буквам мы потеряем значение (смысл</a:t>
            </a:r>
            <a:r>
              <a:rPr lang="ru-RU" sz="2700" dirty="0" smtClean="0"/>
              <a:t>)</a:t>
            </a:r>
            <a:endParaRPr lang="ru-RU" sz="2700" dirty="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0" y="0"/>
            <a:ext cx="9144000" cy="2606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</a:t>
            </a: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модель</a:t>
            </a: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94682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124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Домен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8638" lvl="0" indent="-528638" algn="just">
              <a:buFont typeface="Wingdings" panose="05000000000000000000" pitchFamily="2" charset="2"/>
              <a:buChar char="q"/>
            </a:pPr>
            <a:r>
              <a:rPr lang="ru-RU" sz="2400" b="1" dirty="0" smtClean="0"/>
              <a:t>Домен (</a:t>
            </a:r>
            <a:r>
              <a:rPr lang="en-US" sz="2400" b="1" dirty="0" smtClean="0"/>
              <a:t>D)</a:t>
            </a:r>
            <a:r>
              <a:rPr lang="en-US" sz="2400" dirty="0" smtClean="0"/>
              <a:t> – </a:t>
            </a:r>
            <a:r>
              <a:rPr lang="ru-RU" sz="2400" dirty="0" smtClean="0"/>
              <a:t>это множество </a:t>
            </a:r>
            <a:r>
              <a:rPr lang="ru-RU" sz="2400" dirty="0"/>
              <a:t>атомарных значений </a:t>
            </a:r>
            <a:r>
              <a:rPr lang="ru-RU" sz="2400" dirty="0" smtClean="0"/>
              <a:t>определенного типа </a:t>
            </a:r>
            <a:r>
              <a:rPr lang="ru-RU" sz="2400" dirty="0"/>
              <a:t>и </a:t>
            </a:r>
            <a:r>
              <a:rPr lang="ru-RU" sz="2400" dirty="0" smtClean="0"/>
              <a:t>произвольное логическое выражение, применяемое </a:t>
            </a:r>
            <a:r>
              <a:rPr lang="ru-RU" sz="2400" dirty="0"/>
              <a:t>к элементу </a:t>
            </a:r>
            <a:r>
              <a:rPr lang="ru-RU" sz="2400" dirty="0" smtClean="0"/>
              <a:t>данных </a:t>
            </a:r>
            <a:endParaRPr lang="ru-RU" sz="2400" dirty="0" smtClean="0"/>
          </a:p>
          <a:p>
            <a:pPr marL="528638" lvl="0" indent="-52863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Если </a:t>
            </a:r>
            <a:r>
              <a:rPr lang="ru-RU" sz="2400" dirty="0"/>
              <a:t>вычисление этого логического выражения </a:t>
            </a:r>
            <a:r>
              <a:rPr lang="ru-RU" sz="2400" dirty="0" smtClean="0"/>
              <a:t>для элемента дает </a:t>
            </a:r>
            <a:r>
              <a:rPr lang="ru-RU" sz="2400" dirty="0"/>
              <a:t>результат "истина", то </a:t>
            </a:r>
            <a:r>
              <a:rPr lang="ru-RU" sz="2400" dirty="0" smtClean="0"/>
              <a:t>этот элемент </a:t>
            </a:r>
            <a:r>
              <a:rPr lang="ru-RU" sz="2400" dirty="0"/>
              <a:t>данных является элементом </a:t>
            </a:r>
            <a:r>
              <a:rPr lang="ru-RU" sz="2400" dirty="0" smtClean="0"/>
              <a:t>домена </a:t>
            </a:r>
            <a:endParaRPr lang="ru-RU" sz="2400" dirty="0" smtClean="0"/>
          </a:p>
          <a:p>
            <a:pPr marL="185738" lvl="0" algn="just">
              <a:spcBef>
                <a:spcPts val="1200"/>
              </a:spcBef>
            </a:pPr>
            <a:r>
              <a:rPr lang="ru-RU" sz="2400" b="1" dirty="0" smtClean="0"/>
              <a:t>Пример.</a:t>
            </a:r>
            <a:r>
              <a:rPr lang="ru-RU" sz="2400" dirty="0" smtClean="0"/>
              <a:t> </a:t>
            </a:r>
          </a:p>
          <a:p>
            <a:pPr marL="185738" lvl="0" algn="just">
              <a:spcBef>
                <a:spcPts val="1200"/>
              </a:spcBef>
            </a:pPr>
            <a:r>
              <a:rPr lang="ru-RU" sz="2400" dirty="0" smtClean="0"/>
              <a:t>Для объекта Сотрудник доменами являются:</a:t>
            </a:r>
          </a:p>
          <a:p>
            <a:pPr marL="539750" lvl="0" indent="-277813" algn="just"/>
            <a:r>
              <a:rPr lang="ru-RU" sz="2400" dirty="0" smtClean="0"/>
              <a:t>«</a:t>
            </a:r>
            <a:r>
              <a:rPr lang="ru-RU" sz="2400" dirty="0"/>
              <a:t>фамилия сотрудника» – множество правильных </a:t>
            </a:r>
            <a:r>
              <a:rPr lang="ru-RU" sz="2400" dirty="0" smtClean="0"/>
              <a:t>фамилий </a:t>
            </a:r>
          </a:p>
          <a:p>
            <a:pPr marL="539750" lvl="0" indent="-277813" algn="just"/>
            <a:r>
              <a:rPr lang="ru-RU" sz="2400" dirty="0" smtClean="0"/>
              <a:t>«</a:t>
            </a:r>
            <a:r>
              <a:rPr lang="ru-RU" sz="2400" dirty="0"/>
              <a:t>оклад» – множество действительных положительных чисел (денежного типа)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6438317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124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Операции над элементами домена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08720"/>
            <a:ext cx="88924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На </a:t>
            </a:r>
            <a:r>
              <a:rPr lang="ru-RU" sz="2400" dirty="0" smtClean="0"/>
              <a:t>доменах:</a:t>
            </a:r>
          </a:p>
          <a:p>
            <a:pPr marL="711200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должны быть определены отношения сравнения, позволяющее определить совпадение значений</a:t>
            </a:r>
          </a:p>
          <a:p>
            <a:pPr marL="714375" indent="-357188">
              <a:buFont typeface="Wingdings" panose="05000000000000000000" pitchFamily="2" charset="2"/>
              <a:buChar char="§"/>
            </a:pPr>
            <a:r>
              <a:rPr lang="ru-RU" sz="2400" dirty="0"/>
              <a:t>м</a:t>
            </a:r>
            <a:r>
              <a:rPr lang="ru-RU" sz="2400" dirty="0" smtClean="0"/>
              <a:t>огут быть определены другие </a:t>
            </a:r>
            <a:r>
              <a:rPr lang="ru-RU" sz="2400" dirty="0"/>
              <a:t>отношения, операции и </a:t>
            </a:r>
            <a:r>
              <a:rPr lang="ru-RU" sz="2400" dirty="0" smtClean="0"/>
              <a:t>функции </a:t>
            </a:r>
          </a:p>
          <a:p>
            <a:endParaRPr lang="ru-RU" sz="1200" dirty="0" smtClean="0"/>
          </a:p>
          <a:p>
            <a:pPr marL="357188" indent="-357188"/>
            <a:r>
              <a:rPr lang="ru-RU" sz="2400" dirty="0" smtClean="0"/>
              <a:t>В доменах с числовыми значениями </a:t>
            </a:r>
            <a:r>
              <a:rPr lang="ru-RU" sz="2400" dirty="0"/>
              <a:t>можно </a:t>
            </a:r>
            <a:r>
              <a:rPr lang="ru-RU" sz="2400" dirty="0" smtClean="0"/>
              <a:t>определить:</a:t>
            </a:r>
            <a:endParaRPr lang="ru-RU" sz="2400" dirty="0"/>
          </a:p>
          <a:p>
            <a:pPr marL="714375" indent="-357188">
              <a:buFont typeface="Wingdings" panose="05000000000000000000" pitchFamily="2" charset="2"/>
              <a:buChar char="§"/>
            </a:pPr>
            <a:r>
              <a:rPr lang="ru-RU" sz="2400" dirty="0" smtClean="0"/>
              <a:t>отношения </a:t>
            </a:r>
            <a:r>
              <a:rPr lang="ru-RU" sz="2400" dirty="0"/>
              <a:t>упорядочивания &lt;, </a:t>
            </a:r>
            <a:r>
              <a:rPr lang="en-US" sz="2400" dirty="0"/>
              <a:t>&lt;=</a:t>
            </a:r>
            <a:r>
              <a:rPr lang="ru-RU" sz="2400" dirty="0"/>
              <a:t>,</a:t>
            </a:r>
            <a:r>
              <a:rPr lang="en-US" sz="2400" dirty="0" smtClean="0"/>
              <a:t>=</a:t>
            </a:r>
            <a:r>
              <a:rPr lang="ru-RU" sz="2400" dirty="0" smtClean="0"/>
              <a:t>&gt;, &gt;</a:t>
            </a:r>
            <a:endParaRPr lang="ru-RU" sz="2400" dirty="0"/>
          </a:p>
          <a:p>
            <a:pPr marL="714375" indent="-357188">
              <a:buFont typeface="Wingdings" panose="05000000000000000000" pitchFamily="2" charset="2"/>
              <a:buChar char="§"/>
            </a:pPr>
            <a:r>
              <a:rPr lang="ru-RU" sz="2400" dirty="0" smtClean="0"/>
              <a:t>арифметические операции  </a:t>
            </a:r>
            <a:r>
              <a:rPr lang="ru-RU" sz="2400" dirty="0"/>
              <a:t>+, −, ×, </a:t>
            </a:r>
            <a:r>
              <a:rPr lang="ru-RU" sz="2400" dirty="0" smtClean="0"/>
              <a:t>÷</a:t>
            </a:r>
            <a:endParaRPr lang="ru-RU" sz="2400" dirty="0"/>
          </a:p>
          <a:p>
            <a:pPr marL="714375" indent="-357188">
              <a:buFont typeface="Wingdings" panose="05000000000000000000" pitchFamily="2" charset="2"/>
              <a:buChar char="§"/>
            </a:pPr>
            <a:r>
              <a:rPr lang="ru-RU" sz="2400" dirty="0" smtClean="0"/>
              <a:t>функции</a:t>
            </a:r>
            <a:r>
              <a:rPr lang="ru-RU" sz="2400" dirty="0"/>
              <a:t>, принимающие скалярные </a:t>
            </a:r>
            <a:r>
              <a:rPr lang="ru-RU" sz="2400" dirty="0" smtClean="0"/>
              <a:t>значения (например, </a:t>
            </a:r>
            <a:r>
              <a:rPr lang="ru-RU" sz="2400" dirty="0" smtClean="0"/>
              <a:t>возведение в степень</a:t>
            </a:r>
            <a:r>
              <a:rPr lang="ru-RU" sz="2400" dirty="0" smtClean="0"/>
              <a:t>)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7544" y="4941168"/>
            <a:ext cx="867645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Пример. </a:t>
            </a:r>
            <a:r>
              <a:rPr lang="ru-RU" sz="2000" dirty="0" smtClean="0"/>
              <a:t>Домен длин объектов </a:t>
            </a:r>
          </a:p>
          <a:p>
            <a:r>
              <a:rPr lang="ru-RU" sz="2000" dirty="0" smtClean="0"/>
              <a:t>       Значения </a:t>
            </a:r>
            <a:r>
              <a:rPr lang="ru-RU" sz="2000" dirty="0"/>
              <a:t>можно складывать и </a:t>
            </a:r>
            <a:r>
              <a:rPr lang="ru-RU" sz="2000" dirty="0" smtClean="0"/>
              <a:t>вычитать </a:t>
            </a:r>
          </a:p>
          <a:p>
            <a:pPr marL="1527175" indent="-1527175"/>
            <a:r>
              <a:rPr lang="ru-RU" sz="2000" dirty="0" smtClean="0"/>
              <a:t>       Операция </a:t>
            </a:r>
            <a:r>
              <a:rPr lang="ru-RU" sz="2000" dirty="0"/>
              <a:t>умножения приведет к значениям из доменов другого типа </a:t>
            </a:r>
            <a:r>
              <a:rPr lang="ru-RU" sz="2000" dirty="0" smtClean="0"/>
              <a:t>(площадей) </a:t>
            </a:r>
          </a:p>
          <a:p>
            <a:r>
              <a:rPr lang="ru-RU" sz="2000" dirty="0" smtClean="0"/>
              <a:t>                        Нельзя складывать значения доменов длин и весов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6179120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Отношение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74216"/>
            <a:ext cx="87129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Отношение - это 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400" dirty="0" smtClean="0"/>
              <a:t>-</a:t>
            </a:r>
            <a:r>
              <a:rPr lang="ru-RU" sz="2400" dirty="0" err="1" smtClean="0"/>
              <a:t>арный</a:t>
            </a:r>
            <a:r>
              <a:rPr lang="ru-RU" sz="2400" dirty="0" smtClean="0"/>
              <a:t> </a:t>
            </a:r>
            <a:r>
              <a:rPr lang="ru-RU" sz="2400" dirty="0"/>
              <a:t>предикат, </a:t>
            </a:r>
            <a:r>
              <a:rPr lang="ru-RU" sz="2400" dirty="0" smtClean="0"/>
              <a:t>т.е</a:t>
            </a:r>
            <a:r>
              <a:rPr lang="ru-RU" sz="2400" dirty="0"/>
              <a:t>. функция с 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400" dirty="0"/>
              <a:t> </a:t>
            </a:r>
            <a:r>
              <a:rPr lang="ru-RU" sz="2400" dirty="0" smtClean="0"/>
              <a:t>аргументами (атрибутами), </a:t>
            </a:r>
            <a:r>
              <a:rPr lang="ru-RU" sz="2400" dirty="0"/>
              <a:t>принимающая булево значение: </a:t>
            </a:r>
            <a:endParaRPr lang="ru-RU" sz="2400" dirty="0" smtClean="0"/>
          </a:p>
          <a:p>
            <a:pPr marL="811213" indent="-35242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истина </a:t>
            </a:r>
            <a:r>
              <a:rPr lang="ru-RU" sz="2400" dirty="0"/>
              <a:t>(</a:t>
            </a:r>
            <a:r>
              <a:rPr lang="ru-RU" sz="2400" dirty="0" err="1"/>
              <a:t>true</a:t>
            </a:r>
            <a:r>
              <a:rPr lang="ru-RU" sz="2400" dirty="0"/>
              <a:t>) </a:t>
            </a:r>
            <a:r>
              <a:rPr lang="ru-RU" sz="2400" dirty="0" smtClean="0"/>
              <a:t>– если значения атрибутов соответствуют объекту</a:t>
            </a:r>
          </a:p>
          <a:p>
            <a:pPr marL="811213" indent="-35242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ложь </a:t>
            </a:r>
            <a:r>
              <a:rPr lang="ru-RU" sz="2400" dirty="0"/>
              <a:t>(</a:t>
            </a:r>
            <a:r>
              <a:rPr lang="ru-RU" sz="2400" dirty="0" err="1"/>
              <a:t>false</a:t>
            </a:r>
            <a:r>
              <a:rPr lang="ru-RU" sz="2400" dirty="0" smtClean="0"/>
              <a:t>) – в противном случае </a:t>
            </a:r>
          </a:p>
          <a:p>
            <a:pPr marL="446088" indent="-4460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К</a:t>
            </a:r>
            <a:r>
              <a:rPr lang="ru-RU" sz="2400" dirty="0" smtClean="0"/>
              <a:t>ортеж </a:t>
            </a:r>
            <a:r>
              <a:rPr lang="ru-RU" sz="2400" dirty="0"/>
              <a:t>— это набор значений </a:t>
            </a:r>
            <a:r>
              <a:rPr lang="ru-RU" sz="2400" dirty="0" smtClean="0"/>
              <a:t>атрибутов</a:t>
            </a:r>
            <a:r>
              <a:rPr lang="ru-RU" sz="2400" dirty="0"/>
              <a:t>, для которого можно вычислить предикат, соответствующий </a:t>
            </a:r>
            <a:r>
              <a:rPr lang="ru-RU" sz="2400" dirty="0" smtClean="0"/>
              <a:t>отношению </a:t>
            </a:r>
            <a:endParaRPr lang="ru-RU" sz="2400" dirty="0" smtClean="0"/>
          </a:p>
          <a:p>
            <a:pPr marL="446088" indent="-4460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К</a:t>
            </a:r>
            <a:r>
              <a:rPr lang="ru-RU" sz="2400" dirty="0" smtClean="0"/>
              <a:t>ортеж </a:t>
            </a:r>
            <a:r>
              <a:rPr lang="ru-RU" sz="2400" dirty="0"/>
              <a:t>принадлежит отношению, если предикат принимает истинное значение на этом </a:t>
            </a:r>
            <a:r>
              <a:rPr lang="ru-RU" sz="2400" dirty="0" smtClean="0"/>
              <a:t>кортеже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401661566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Отношение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908720"/>
            <a:ext cx="8712968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buFont typeface="Wingdings" panose="05000000000000000000" pitchFamily="2" charset="2"/>
              <a:buChar char="q"/>
            </a:pPr>
            <a:r>
              <a:rPr lang="ru-RU" sz="2400" dirty="0"/>
              <a:t>Для каждого атрибута задан домен, из которого могут выбираться его значения</a:t>
            </a:r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Один и тот же домен может быть связан с несколькими различными атрибутами</a:t>
            </a:r>
          </a:p>
          <a:p>
            <a:pPr marL="185738" lvl="0" indent="-185738" algn="just"/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6088" indent="-446088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В </a:t>
            </a:r>
            <a:r>
              <a:rPr lang="ru-RU" sz="2400" dirty="0"/>
              <a:t>отличие от </a:t>
            </a:r>
            <a:r>
              <a:rPr lang="ru-RU" sz="2400" dirty="0" smtClean="0"/>
              <a:t>математической </a:t>
            </a:r>
            <a:r>
              <a:rPr lang="ru-RU" sz="2400" dirty="0"/>
              <a:t>нотации в реляционной теории используются именованные, а не позиционные (</a:t>
            </a:r>
            <a:r>
              <a:rPr lang="ru-RU" sz="2400" dirty="0" smtClean="0"/>
              <a:t>т.е</a:t>
            </a:r>
            <a:r>
              <a:rPr lang="ru-RU" sz="2400" dirty="0"/>
              <a:t>. занумерованные натуральными числами) </a:t>
            </a:r>
            <a:r>
              <a:rPr lang="ru-RU" sz="2400" dirty="0" smtClean="0"/>
              <a:t>аргументы </a:t>
            </a:r>
            <a:r>
              <a:rPr lang="ru-RU" sz="2400" dirty="0" smtClean="0"/>
              <a:t> или атрибуты </a:t>
            </a:r>
            <a:endParaRPr lang="ru-RU" sz="2400" dirty="0" smtClean="0"/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Использование </a:t>
            </a:r>
            <a:r>
              <a:rPr lang="ru-RU" sz="2400" dirty="0"/>
              <a:t>имен позволяет при необходимости записывать атрибуты в произвольном </a:t>
            </a:r>
            <a:r>
              <a:rPr lang="ru-RU" sz="2400" dirty="0" smtClean="0"/>
              <a:t>порядке</a:t>
            </a:r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Имена атрибутов одного отношения обязательно должны быть попарно различными</a:t>
            </a:r>
          </a:p>
          <a:p>
            <a:pPr marL="185738" lvl="0" indent="-185738" algn="just"/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2698910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Отношение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908720"/>
            <a:ext cx="885698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lvl="0" indent="-185738" algn="just"/>
            <a:r>
              <a:rPr lang="ru-RU" sz="2400" b="1" dirty="0"/>
              <a:t>Отношение</a:t>
            </a:r>
            <a:r>
              <a:rPr lang="ru-RU" sz="2400" dirty="0"/>
              <a:t> на доменах </a:t>
            </a:r>
            <a:r>
              <a:rPr lang="ru-RU" sz="2400" b="1" dirty="0"/>
              <a:t>D</a:t>
            </a:r>
            <a:r>
              <a:rPr lang="ru-RU" sz="2400" b="1" baseline="-25000" dirty="0"/>
              <a:t>1</a:t>
            </a:r>
            <a:r>
              <a:rPr lang="ru-RU" sz="2400" dirty="0"/>
              <a:t>, </a:t>
            </a:r>
            <a:r>
              <a:rPr lang="ru-RU" sz="2400" b="1" dirty="0"/>
              <a:t>D</a:t>
            </a:r>
            <a:r>
              <a:rPr lang="ru-RU" sz="2400" b="1" baseline="-25000" dirty="0"/>
              <a:t>2</a:t>
            </a:r>
            <a:r>
              <a:rPr lang="ru-RU" sz="2400" dirty="0"/>
              <a:t>, ..., </a:t>
            </a:r>
            <a:r>
              <a:rPr lang="ru-RU" sz="2400" b="1" dirty="0" err="1"/>
              <a:t>D</a:t>
            </a:r>
            <a:r>
              <a:rPr lang="ru-RU" sz="2400" b="1" baseline="-25000" dirty="0" err="1"/>
              <a:t>n</a:t>
            </a:r>
            <a:r>
              <a:rPr lang="ru-RU" sz="2400" dirty="0"/>
              <a:t> состоит из заголовка и </a:t>
            </a:r>
            <a:r>
              <a:rPr lang="ru-RU" sz="2400" dirty="0" smtClean="0"/>
              <a:t>тела</a:t>
            </a:r>
          </a:p>
          <a:p>
            <a:pPr marL="446088" indent="-446088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b="1" dirty="0"/>
              <a:t>Заголовок</a:t>
            </a:r>
            <a:r>
              <a:rPr lang="ru-RU" sz="2400" dirty="0"/>
              <a:t> состоит из </a:t>
            </a:r>
            <a:endParaRPr lang="ru-RU" sz="2400" dirty="0" smtClean="0"/>
          </a:p>
          <a:p>
            <a:pPr marL="446088" algn="just"/>
            <a:r>
              <a:rPr lang="ru-RU" sz="2400" dirty="0" smtClean="0"/>
              <a:t>фиксированного </a:t>
            </a:r>
            <a:r>
              <a:rPr lang="ru-RU" sz="2400" dirty="0"/>
              <a:t>множества </a:t>
            </a:r>
            <a:r>
              <a:rPr lang="ru-RU" sz="2400" dirty="0" smtClean="0"/>
              <a:t>атрибутов   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b="1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b="1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b="1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400" dirty="0" smtClean="0"/>
              <a:t> </a:t>
            </a:r>
          </a:p>
          <a:p>
            <a:pPr marL="446088" algn="just"/>
            <a:r>
              <a:rPr lang="ru-RU" sz="2400" dirty="0" smtClean="0"/>
              <a:t>и </a:t>
            </a:r>
            <a:r>
              <a:rPr lang="ru-RU" sz="2400" dirty="0"/>
              <a:t>множества определяющих их доменов </a:t>
            </a:r>
            <a:r>
              <a:rPr lang="ru-RU" sz="2400" dirty="0" smtClean="0"/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ru-RU" sz="2400" b="1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2400" b="1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2400" b="1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ru-RU" sz="2400" baseline="-25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6088" algn="just"/>
            <a:r>
              <a:rPr lang="ru-RU" sz="2400" dirty="0" err="1" smtClean="0"/>
              <a:t>Т.е</a:t>
            </a:r>
            <a:r>
              <a:rPr lang="ru-RU" sz="2400" dirty="0" smtClean="0"/>
              <a:t> </a:t>
            </a:r>
            <a:r>
              <a:rPr lang="ru-RU" sz="2400" dirty="0"/>
              <a:t>заголовок </a:t>
            </a:r>
            <a:r>
              <a:rPr lang="ru-RU" sz="2400" dirty="0" smtClean="0"/>
              <a:t>– это множество </a:t>
            </a:r>
            <a:r>
              <a:rPr lang="ru-RU" sz="2400" dirty="0"/>
              <a:t>пар  </a:t>
            </a:r>
            <a:endParaRPr lang="ru-RU" sz="2400" dirty="0" smtClean="0"/>
          </a:p>
          <a:p>
            <a:pPr marL="354013"/>
            <a:r>
              <a:rPr lang="ru-RU" sz="2400" b="1" dirty="0"/>
              <a:t> </a:t>
            </a:r>
            <a:r>
              <a:rPr lang="ru-RU" sz="2400" b="1" dirty="0" smtClean="0"/>
              <a:t>      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ru-RU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ru-RU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…, &lt;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b="1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2400" b="1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6088" algn="just"/>
            <a:r>
              <a:rPr lang="ru-RU" sz="2400" dirty="0"/>
              <a:t>Все имена атрибутов </a:t>
            </a:r>
            <a:r>
              <a:rPr lang="ru-RU" sz="2400" dirty="0" smtClean="0"/>
              <a:t>должны быть уникальными </a:t>
            </a:r>
            <a:r>
              <a:rPr lang="ru-RU" sz="2400" dirty="0"/>
              <a:t>в пределах одного </a:t>
            </a:r>
            <a:r>
              <a:rPr lang="ru-RU" sz="2400" dirty="0" smtClean="0"/>
              <a:t>отношения</a:t>
            </a:r>
          </a:p>
          <a:p>
            <a:pPr marL="446088" indent="-4460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b="1" dirty="0"/>
              <a:t>Тело</a:t>
            </a:r>
            <a:r>
              <a:rPr lang="ru-RU" sz="2400" dirty="0"/>
              <a:t> отношения состоит из меняющегося во времени множества </a:t>
            </a:r>
            <a:r>
              <a:rPr lang="ru-RU" sz="2400" b="1" dirty="0"/>
              <a:t>кортежей</a:t>
            </a:r>
            <a:r>
              <a:rPr lang="ru-RU" sz="2400" dirty="0"/>
              <a:t>, </a:t>
            </a:r>
            <a:r>
              <a:rPr lang="ru-RU" sz="2400" dirty="0" smtClean="0"/>
              <a:t>в котором </a:t>
            </a:r>
            <a:r>
              <a:rPr lang="ru-RU" sz="2400" dirty="0"/>
              <a:t>каждый кортеж состоит из множества пар «атрибут-значение» </a:t>
            </a:r>
            <a:endParaRPr lang="ru-RU" sz="2400" dirty="0" smtClean="0"/>
          </a:p>
          <a:p>
            <a:pPr algn="just"/>
            <a:r>
              <a:rPr lang="ru-RU" sz="2400" dirty="0"/>
              <a:t> </a:t>
            </a:r>
            <a:r>
              <a:rPr lang="ru-RU" sz="2400" dirty="0" smtClean="0"/>
              <a:t>                     (</a:t>
            </a:r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b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ru-RU" sz="2400" b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400" dirty="0"/>
              <a:t>), (i=1,2,...,n</a:t>
            </a:r>
            <a:r>
              <a:rPr lang="ru-RU" sz="2400" dirty="0" smtClean="0"/>
              <a:t>)  </a:t>
            </a:r>
          </a:p>
          <a:p>
            <a:pPr algn="just"/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где 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ru-RU" sz="2400" b="1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400" dirty="0" smtClean="0"/>
              <a:t> </a:t>
            </a:r>
            <a:r>
              <a:rPr lang="ru-RU" sz="2400" dirty="0"/>
              <a:t>является значением из домена 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ru-RU" sz="2400" b="1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3059215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" t="3425"/>
          <a:stretch/>
        </p:blipFill>
        <p:spPr bwMode="auto">
          <a:xfrm>
            <a:off x="734948" y="1185292"/>
            <a:ext cx="8373556" cy="555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Отношение </a:t>
            </a:r>
            <a:r>
              <a:rPr lang="ru-RU" sz="4000" b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Сотрудник</a:t>
            </a:r>
            <a:endParaRPr lang="ru-RU" sz="4000" smtClean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76679116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Отношение </a:t>
            </a:r>
            <a:r>
              <a:rPr lang="ru-RU" sz="40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Сотрудник</a:t>
            </a:r>
            <a:endParaRPr lang="ru-RU" sz="4000" dirty="0" smtClean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3478356"/>
            <a:ext cx="88569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И</a:t>
            </a:r>
            <a:r>
              <a:rPr lang="ru-RU" sz="2400" dirty="0" smtClean="0"/>
              <a:t>стинное </a:t>
            </a:r>
            <a:r>
              <a:rPr lang="ru-RU" sz="2400" dirty="0"/>
              <a:t>значение </a:t>
            </a:r>
            <a:r>
              <a:rPr lang="ru-RU" sz="2400" dirty="0" smtClean="0"/>
              <a:t>предиката </a:t>
            </a:r>
            <a:r>
              <a:rPr lang="ru-RU" sz="2400" dirty="0"/>
              <a:t>на следующих кортежах указывает на то, что упомянутые </a:t>
            </a:r>
            <a:r>
              <a:rPr lang="ru-RU" sz="2400" dirty="0" smtClean="0"/>
              <a:t> ниже сотрудники </a:t>
            </a:r>
            <a:r>
              <a:rPr lang="ru-RU" sz="2400" dirty="0" smtClean="0"/>
              <a:t>работают в настоящее </a:t>
            </a:r>
            <a:r>
              <a:rPr lang="ru-RU" sz="2400" dirty="0" smtClean="0"/>
              <a:t>время:</a:t>
            </a:r>
            <a:endParaRPr lang="ru-RU" sz="2400" dirty="0"/>
          </a:p>
          <a:p>
            <a:r>
              <a:rPr lang="ru-RU" sz="2400" dirty="0" smtClean="0"/>
              <a:t>Сотрудник</a:t>
            </a:r>
            <a:r>
              <a:rPr lang="en-US" sz="2400" dirty="0" smtClean="0"/>
              <a:t> </a:t>
            </a:r>
            <a:r>
              <a:rPr lang="en-US" sz="2400" dirty="0" smtClean="0"/>
              <a:t> c  </a:t>
            </a:r>
            <a:r>
              <a:rPr lang="ru-RU" sz="2400" dirty="0" err="1" smtClean="0"/>
              <a:t>Таб.ном</a:t>
            </a:r>
            <a:r>
              <a:rPr lang="ru-RU" sz="2400" dirty="0" smtClean="0"/>
              <a:t>. </a:t>
            </a:r>
            <a:r>
              <a:rPr lang="en-US" sz="2400" dirty="0" smtClean="0"/>
              <a:t>= </a:t>
            </a:r>
            <a:r>
              <a:rPr lang="ru-RU" sz="2400" dirty="0" smtClean="0"/>
              <a:t>2934</a:t>
            </a:r>
            <a:r>
              <a:rPr lang="en-US" sz="2400" dirty="0" smtClean="0"/>
              <a:t>, </a:t>
            </a:r>
            <a:r>
              <a:rPr lang="ru-RU" sz="2400" dirty="0" smtClean="0"/>
              <a:t>Фамилией </a:t>
            </a:r>
            <a:r>
              <a:rPr lang="en-US" sz="2400" dirty="0" smtClean="0"/>
              <a:t>= '</a:t>
            </a:r>
            <a:r>
              <a:rPr lang="ru-RU" sz="2400" dirty="0" smtClean="0"/>
              <a:t>Иванов</a:t>
            </a:r>
            <a:r>
              <a:rPr lang="en-US" sz="2400" dirty="0" smtClean="0"/>
              <a:t>', 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        </a:t>
            </a:r>
            <a:r>
              <a:rPr lang="ru-RU" sz="2400" dirty="0" smtClean="0"/>
              <a:t>Окладом</a:t>
            </a:r>
            <a:r>
              <a:rPr lang="en-US" sz="2400" dirty="0" smtClean="0"/>
              <a:t> </a:t>
            </a:r>
            <a:r>
              <a:rPr lang="en-US" sz="2400" dirty="0" smtClean="0"/>
              <a:t>= </a:t>
            </a:r>
            <a:r>
              <a:rPr lang="ru-RU" sz="2400" dirty="0" smtClean="0"/>
              <a:t>112000, </a:t>
            </a:r>
            <a:r>
              <a:rPr lang="ru-RU" sz="2400" dirty="0" err="1" smtClean="0"/>
              <a:t>Ном.отдела</a:t>
            </a:r>
            <a:r>
              <a:rPr lang="ru-RU" sz="2400" dirty="0" smtClean="0"/>
              <a:t> = '310'</a:t>
            </a:r>
            <a:r>
              <a:rPr lang="en-US" sz="2400" dirty="0" smtClean="0"/>
              <a:t>)</a:t>
            </a:r>
            <a:endParaRPr lang="ru-RU" sz="2400" dirty="0"/>
          </a:p>
          <a:p>
            <a:r>
              <a:rPr lang="ru-RU" sz="2400" dirty="0"/>
              <a:t>Сотрудник</a:t>
            </a:r>
            <a:r>
              <a:rPr lang="en-US" sz="2400" dirty="0"/>
              <a:t> </a:t>
            </a:r>
            <a:r>
              <a:rPr lang="ru-RU" sz="2400" dirty="0" smtClean="0"/>
              <a:t> с </a:t>
            </a:r>
            <a:r>
              <a:rPr lang="ru-RU" sz="2400" dirty="0" err="1" smtClean="0"/>
              <a:t>Таб.ном</a:t>
            </a:r>
            <a:r>
              <a:rPr lang="ru-RU" sz="2400" dirty="0" smtClean="0"/>
              <a:t>. </a:t>
            </a:r>
            <a:r>
              <a:rPr lang="en-US" sz="2400" dirty="0" smtClean="0"/>
              <a:t>= </a:t>
            </a:r>
            <a:r>
              <a:rPr lang="ru-RU" sz="2400" dirty="0" smtClean="0"/>
              <a:t>2935</a:t>
            </a:r>
            <a:r>
              <a:rPr lang="en-US" sz="2400" dirty="0" smtClean="0"/>
              <a:t>, </a:t>
            </a:r>
            <a:r>
              <a:rPr lang="ru-RU" sz="2400" dirty="0" smtClean="0"/>
              <a:t>Фамилией </a:t>
            </a:r>
            <a:r>
              <a:rPr lang="en-US" sz="2400" dirty="0" smtClean="0"/>
              <a:t>= '</a:t>
            </a:r>
            <a:r>
              <a:rPr lang="ru-RU" sz="2400" dirty="0" smtClean="0"/>
              <a:t>Петров</a:t>
            </a:r>
            <a:r>
              <a:rPr lang="en-US" sz="2400" dirty="0"/>
              <a:t>', </a:t>
            </a:r>
            <a:endParaRPr lang="ru-RU" sz="2400" dirty="0"/>
          </a:p>
          <a:p>
            <a:r>
              <a:rPr lang="ru-RU" sz="2400" dirty="0"/>
              <a:t>                </a:t>
            </a:r>
            <a:r>
              <a:rPr lang="ru-RU" sz="2400" dirty="0" smtClean="0"/>
              <a:t>Окладом</a:t>
            </a:r>
            <a:r>
              <a:rPr lang="en-US" sz="2400" dirty="0" smtClean="0"/>
              <a:t> </a:t>
            </a:r>
            <a:r>
              <a:rPr lang="en-US" sz="2400" dirty="0" smtClean="0"/>
              <a:t>= </a:t>
            </a:r>
            <a:r>
              <a:rPr lang="ru-RU" sz="2400" dirty="0" smtClean="0"/>
              <a:t>144000, </a:t>
            </a:r>
            <a:r>
              <a:rPr lang="ru-RU" sz="2400" dirty="0" err="1"/>
              <a:t>Ном.отдела</a:t>
            </a:r>
            <a:r>
              <a:rPr lang="ru-RU" sz="2400" dirty="0"/>
              <a:t>= '310</a:t>
            </a:r>
            <a:r>
              <a:rPr lang="ru-RU" sz="2400" dirty="0" smtClean="0"/>
              <a:t>'</a:t>
            </a:r>
            <a:endParaRPr lang="ru-RU" sz="2400" dirty="0"/>
          </a:p>
          <a:p>
            <a:pPr marL="185738" lvl="0" indent="-185738" algn="just"/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980728"/>
            <a:ext cx="6525261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37892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Дополнительные понятия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2816056"/>
            <a:ext cx="8820472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/>
            <a:r>
              <a:rPr lang="ru-RU" sz="2400" b="1" dirty="0" smtClean="0">
                <a:solidFill>
                  <a:srgbClr val="7030A0"/>
                </a:solidFill>
              </a:rPr>
              <a:t>Степень отношения</a:t>
            </a:r>
            <a:r>
              <a:rPr lang="ru-RU" sz="2400" dirty="0" smtClean="0"/>
              <a:t> </a:t>
            </a:r>
            <a:r>
              <a:rPr lang="ru-RU" sz="2400" dirty="0"/>
              <a:t>– это число его </a:t>
            </a:r>
            <a:r>
              <a:rPr lang="ru-RU" sz="2400" dirty="0" smtClean="0"/>
              <a:t>атрибутов</a:t>
            </a:r>
          </a:p>
          <a:p>
            <a:pPr marL="182563" indent="-182563"/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ru-RU" sz="2400" dirty="0"/>
              <a:t>Отношение степени 1 -унарное</a:t>
            </a:r>
            <a:r>
              <a:rPr lang="ru-RU" sz="2400" dirty="0" smtClean="0"/>
              <a:t>,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                              2 </a:t>
            </a:r>
            <a:r>
              <a:rPr lang="ru-RU" sz="2400" dirty="0"/>
              <a:t>- бинарное, </a:t>
            </a:r>
            <a:r>
              <a:rPr lang="ru-RU" sz="2400" dirty="0" smtClean="0"/>
              <a:t>..., 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                              n </a:t>
            </a:r>
            <a:r>
              <a:rPr lang="ru-RU" sz="2400" dirty="0"/>
              <a:t>– </a:t>
            </a:r>
            <a:r>
              <a:rPr lang="ru-RU" sz="2400" dirty="0" smtClean="0"/>
              <a:t>n-</a:t>
            </a:r>
            <a:r>
              <a:rPr lang="ru-RU" sz="2400" dirty="0" err="1" smtClean="0"/>
              <a:t>арное</a:t>
            </a:r>
            <a:endParaRPr lang="ru-RU" sz="2400" dirty="0"/>
          </a:p>
          <a:p>
            <a:pPr marL="896938"/>
            <a:r>
              <a:rPr lang="ru-RU" sz="2400" b="1" i="1" dirty="0">
                <a:solidFill>
                  <a:srgbClr val="0070C0"/>
                </a:solidFill>
              </a:rPr>
              <a:t>Упражнение</a:t>
            </a:r>
            <a:r>
              <a:rPr lang="ru-RU" sz="2400" dirty="0">
                <a:solidFill>
                  <a:srgbClr val="0070C0"/>
                </a:solidFill>
              </a:rPr>
              <a:t>.</a:t>
            </a:r>
            <a:r>
              <a:rPr lang="ru-RU" sz="2400" dirty="0"/>
              <a:t> </a:t>
            </a:r>
            <a:r>
              <a:rPr lang="ru-RU" sz="2400" dirty="0" smtClean="0"/>
              <a:t> Степень </a:t>
            </a:r>
            <a:r>
              <a:rPr lang="ru-RU" sz="2400" dirty="0"/>
              <a:t>отношения </a:t>
            </a:r>
            <a:r>
              <a:rPr lang="ru-RU" sz="2400" dirty="0" smtClean="0"/>
              <a:t>Сотрудники ?</a:t>
            </a:r>
          </a:p>
          <a:p>
            <a:endParaRPr lang="ru-RU" sz="2400" dirty="0"/>
          </a:p>
          <a:p>
            <a:pPr marL="438150" indent="-438150"/>
            <a:r>
              <a:rPr lang="ru-RU" sz="2400" b="1" dirty="0">
                <a:solidFill>
                  <a:srgbClr val="7030A0"/>
                </a:solidFill>
              </a:rPr>
              <a:t>Кардинальное число</a:t>
            </a:r>
            <a:r>
              <a:rPr lang="ru-RU" sz="2400" dirty="0"/>
              <a:t> </a:t>
            </a:r>
            <a:r>
              <a:rPr lang="ru-RU" sz="2400" dirty="0" smtClean="0"/>
              <a:t> или </a:t>
            </a:r>
            <a:r>
              <a:rPr lang="ru-RU" sz="2400" b="1" dirty="0">
                <a:solidFill>
                  <a:srgbClr val="7030A0"/>
                </a:solidFill>
              </a:rPr>
              <a:t>мощность отношения</a:t>
            </a:r>
            <a:r>
              <a:rPr lang="ru-RU" sz="2400" dirty="0">
                <a:solidFill>
                  <a:srgbClr val="7030A0"/>
                </a:solidFill>
              </a:rPr>
              <a:t> </a:t>
            </a:r>
            <a:r>
              <a:rPr lang="ru-RU" sz="2400" dirty="0"/>
              <a:t>– это число его кортежей, т.е. число заполненных </a:t>
            </a:r>
            <a:r>
              <a:rPr lang="ru-RU" sz="2400" dirty="0" smtClean="0"/>
              <a:t>строк</a:t>
            </a:r>
          </a:p>
          <a:p>
            <a:pPr marL="896938">
              <a:spcBef>
                <a:spcPts val="600"/>
              </a:spcBef>
            </a:pPr>
            <a:r>
              <a:rPr lang="ru-RU" sz="2400" b="1" i="1" dirty="0" smtClean="0">
                <a:solidFill>
                  <a:srgbClr val="0070C0"/>
                </a:solidFill>
              </a:rPr>
              <a:t>Упражнение</a:t>
            </a:r>
            <a:r>
              <a:rPr lang="ru-RU" sz="2400" dirty="0">
                <a:solidFill>
                  <a:srgbClr val="0070C0"/>
                </a:solidFill>
              </a:rPr>
              <a:t>.</a:t>
            </a:r>
            <a:r>
              <a:rPr lang="ru-RU" sz="2400" dirty="0"/>
              <a:t> М</a:t>
            </a:r>
            <a:r>
              <a:rPr lang="ru-RU" sz="2400" dirty="0" smtClean="0"/>
              <a:t>ощность отношения Сотрудники?</a:t>
            </a:r>
            <a:endParaRPr lang="ru-R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956478"/>
            <a:ext cx="5428109" cy="180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8294816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Общепринятые понятия РБД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1484784"/>
            <a:ext cx="8534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Определениям реляционной теории в реляционных базах данных соответствуют общепринятые понятия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42910" y="3071810"/>
          <a:ext cx="8001056" cy="2357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28"/>
                <a:gridCol w="4000528"/>
              </a:tblGrid>
              <a:tr h="78581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Термин</a:t>
                      </a:r>
                      <a:r>
                        <a:rPr lang="ru-RU" sz="2400" baseline="0" dirty="0" smtClean="0"/>
                        <a:t> реляционной теории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Термин реляционной БД</a:t>
                      </a:r>
                      <a:endParaRPr lang="ru-RU" sz="2400" dirty="0"/>
                    </a:p>
                  </a:txBody>
                  <a:tcPr/>
                </a:tc>
              </a:tr>
              <a:tr h="534362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Отношение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Таблица</a:t>
                      </a:r>
                      <a:endParaRPr lang="ru-RU" sz="2400" dirty="0"/>
                    </a:p>
                  </a:txBody>
                  <a:tcPr/>
                </a:tc>
              </a:tr>
              <a:tr h="534362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Кортеж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Строка</a:t>
                      </a:r>
                      <a:endParaRPr lang="ru-RU" sz="2400" dirty="0"/>
                    </a:p>
                  </a:txBody>
                  <a:tcPr/>
                </a:tc>
              </a:tr>
              <a:tr h="46577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Атрибут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Колонка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</a:t>
            </a: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87256306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/>
              <a:t>Фундаментальные свойства отношений</a:t>
            </a:r>
            <a:endParaRPr lang="ru-RU" sz="3200" b="1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124744"/>
            <a:ext cx="8640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smtClean="0"/>
              <a:t>Важные </a:t>
            </a:r>
            <a:r>
              <a:rPr lang="ru-RU" sz="2800"/>
              <a:t>свойства </a:t>
            </a:r>
            <a:r>
              <a:rPr lang="ru-RU" sz="2800" smtClean="0"/>
              <a:t>отношений являются  следствием </a:t>
            </a:r>
            <a:r>
              <a:rPr lang="ru-RU" sz="2800"/>
              <a:t>из </a:t>
            </a:r>
            <a:r>
              <a:rPr lang="ru-RU" sz="2800" smtClean="0"/>
              <a:t>приведенных </a:t>
            </a:r>
            <a:r>
              <a:rPr lang="ru-RU" sz="2800"/>
              <a:t>определений</a:t>
            </a:r>
            <a:endParaRPr lang="ru-RU" sz="2800" dirty="0" smtClean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2492896"/>
            <a:ext cx="86409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800" b="1"/>
              <a:t>В нормализованном отношении</a:t>
            </a:r>
            <a:r>
              <a:rPr lang="ru-RU" sz="280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895350" lvl="0" indent="-639763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/>
              <a:t>нет одинаковых </a:t>
            </a:r>
            <a:r>
              <a:rPr lang="ru-RU" sz="2800" smtClean="0"/>
              <a:t>кортежей</a:t>
            </a:r>
            <a:endParaRPr lang="ru-RU" sz="2800"/>
          </a:p>
          <a:p>
            <a:pPr marL="895350" lvl="0" indent="-639763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/>
              <a:t>кортежи не упорядочены сверху вниз</a:t>
            </a:r>
          </a:p>
          <a:p>
            <a:pPr marL="895350" lvl="0" indent="-639763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/>
              <a:t>атрибуты не упорядочены слева направо</a:t>
            </a:r>
          </a:p>
          <a:p>
            <a:pPr marL="895350" lvl="0" indent="-639763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/>
              <a:t>все значения атрибутов атомарны</a:t>
            </a:r>
          </a:p>
          <a:p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319896688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/>
              <a:t>Отсутствие кортежей-дубликатов</a:t>
            </a:r>
            <a:endParaRPr lang="ru-RU" sz="4000" b="1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258882"/>
            <a:ext cx="864096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Это свойство, следует из определения отношения как множества </a:t>
            </a:r>
            <a:r>
              <a:rPr lang="ru-RU" sz="2400" dirty="0" smtClean="0"/>
              <a:t>кортежей </a:t>
            </a:r>
          </a:p>
          <a:p>
            <a:pPr marL="446088" indent="-4460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классической </a:t>
            </a:r>
            <a:r>
              <a:rPr lang="ru-RU" sz="2400" dirty="0"/>
              <a:t>теории множеств по определению </a:t>
            </a:r>
            <a:r>
              <a:rPr lang="ru-RU" sz="2400" b="1" dirty="0"/>
              <a:t>каждое множество состоит из </a:t>
            </a:r>
            <a:r>
              <a:rPr lang="ru-RU" sz="2400" b="1" dirty="0" smtClean="0"/>
              <a:t>различающихся элементов </a:t>
            </a:r>
            <a:endParaRPr lang="ru-RU" sz="2400" b="1" dirty="0"/>
          </a:p>
          <a:p>
            <a:pPr marL="446088" indent="-4460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Важное следствие этого свойства - у каждого отношения существует </a:t>
            </a:r>
            <a:r>
              <a:rPr lang="ru-RU" sz="2400" b="1" dirty="0"/>
              <a:t>первичный ключ</a:t>
            </a:r>
            <a:r>
              <a:rPr lang="ru-RU" sz="2400" dirty="0"/>
              <a:t> - набор атрибутов, значения которых однозначно определяют кортеж </a:t>
            </a:r>
            <a:r>
              <a:rPr lang="ru-RU" sz="2400" dirty="0" smtClean="0"/>
              <a:t>отношения</a:t>
            </a:r>
          </a:p>
          <a:p>
            <a:pPr marL="446088" indent="-4460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Понятие </a:t>
            </a:r>
            <a:r>
              <a:rPr lang="ru-RU" sz="2400" i="1" dirty="0"/>
              <a:t>первичного ключа</a:t>
            </a:r>
            <a:r>
              <a:rPr lang="ru-RU" sz="2400" dirty="0"/>
              <a:t> является исключительно важным в связи с понятием целостности баз данных</a:t>
            </a:r>
            <a:endParaRPr lang="ru-RU" sz="2400" dirty="0" smtClean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44714184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/>
              <a:t>Отсутствие упорядоченности кортежей</a:t>
            </a:r>
            <a:endParaRPr lang="ru-RU" sz="3200" b="1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980728"/>
            <a:ext cx="8784976" cy="518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Это свойство также является следствием определения </a:t>
            </a:r>
            <a:r>
              <a:rPr lang="ru-RU" sz="2400" dirty="0" smtClean="0"/>
              <a:t>отношения </a:t>
            </a:r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600" b="1" spc="-100" dirty="0" smtClean="0">
                <a:latin typeface="+mj-lt"/>
                <a:cs typeface="Courier New" panose="02070309020205020404" pitchFamily="49" charset="0"/>
              </a:rPr>
              <a:t>Тело </a:t>
            </a:r>
            <a:r>
              <a:rPr lang="ru-RU" sz="2600" b="1" spc="-100" dirty="0">
                <a:latin typeface="+mj-lt"/>
                <a:cs typeface="Courier New" panose="02070309020205020404" pitchFamily="49" charset="0"/>
              </a:rPr>
              <a:t>отношения - это математическое множество, а элементы множества не </a:t>
            </a:r>
            <a:r>
              <a:rPr lang="ru-RU" sz="2600" b="1" spc="-100" dirty="0" smtClean="0">
                <a:latin typeface="+mj-lt"/>
                <a:cs typeface="Courier New" panose="02070309020205020404" pitchFamily="49" charset="0"/>
              </a:rPr>
              <a:t>упорядочены</a:t>
            </a:r>
            <a:r>
              <a:rPr lang="ru-RU" sz="2400" dirty="0" smtClean="0"/>
              <a:t> </a:t>
            </a:r>
            <a:endParaRPr lang="ru-RU" sz="2400" dirty="0"/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Отсутствие требования к поддержанию порядка на множестве кортежей отношения дает дополнительную гибкость СУБД при хранении баз данных во внешней памяти и при выполнении запросов к базе </a:t>
            </a:r>
            <a:r>
              <a:rPr lang="ru-RU" sz="2400" dirty="0" smtClean="0"/>
              <a:t>данных </a:t>
            </a:r>
            <a:endParaRPr lang="ru-RU" sz="2400" dirty="0"/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Это не противоречит тому, что при формулировании запроса к </a:t>
            </a:r>
            <a:r>
              <a:rPr lang="ru-RU" sz="2400" dirty="0" smtClean="0"/>
              <a:t>БД </a:t>
            </a:r>
            <a:r>
              <a:rPr lang="ru-RU" sz="2400" dirty="0"/>
              <a:t>на языке SQL можно потребовать сортировки </a:t>
            </a:r>
            <a:r>
              <a:rPr lang="ru-RU" sz="2400" dirty="0" smtClean="0"/>
              <a:t>результирующего набора данных </a:t>
            </a:r>
            <a:r>
              <a:rPr lang="ru-RU" sz="2400" dirty="0"/>
              <a:t>в соответствии со значениями некоторых </a:t>
            </a:r>
            <a:r>
              <a:rPr lang="ru-RU" sz="2400" dirty="0" smtClean="0"/>
              <a:t>столбцов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04627335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26841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/>
              <a:t>Отсутствие упорядоченности </a:t>
            </a:r>
            <a:r>
              <a:rPr lang="ru-RU" sz="3200" b="1" dirty="0" smtClean="0"/>
              <a:t>атрибутов</a:t>
            </a:r>
            <a:endParaRPr lang="ru-RU" sz="3200" b="1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974913"/>
            <a:ext cx="8640960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500" dirty="0"/>
              <a:t>Это свойство также </a:t>
            </a:r>
            <a:r>
              <a:rPr lang="ru-RU" sz="2500" dirty="0" smtClean="0"/>
              <a:t>является </a:t>
            </a:r>
            <a:r>
              <a:rPr lang="ru-RU" sz="2500" dirty="0"/>
              <a:t>следствием </a:t>
            </a:r>
            <a:r>
              <a:rPr lang="ru-RU" sz="2500" dirty="0" smtClean="0"/>
              <a:t>определения</a:t>
            </a:r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500" dirty="0" smtClean="0"/>
              <a:t>По </a:t>
            </a:r>
            <a:r>
              <a:rPr lang="ru-RU" sz="2500" dirty="0"/>
              <a:t>определению </a:t>
            </a:r>
            <a:r>
              <a:rPr lang="ru-RU" sz="2500" b="1" dirty="0"/>
              <a:t>заголовок есть множество </a:t>
            </a:r>
            <a:r>
              <a:rPr lang="ru-RU" sz="2500" b="1" dirty="0" smtClean="0"/>
              <a:t> пар </a:t>
            </a:r>
          </a:p>
          <a:p>
            <a:pPr algn="just">
              <a:spcBef>
                <a:spcPts val="600"/>
              </a:spcBef>
            </a:pPr>
            <a:r>
              <a:rPr lang="ru-RU" sz="2500" b="1" dirty="0">
                <a:solidFill>
                  <a:srgbClr val="7030A0"/>
                </a:solidFill>
              </a:rPr>
              <a:t> </a:t>
            </a:r>
            <a:r>
              <a:rPr lang="ru-RU" sz="2500" b="1" dirty="0" smtClean="0">
                <a:solidFill>
                  <a:srgbClr val="7030A0"/>
                </a:solidFill>
              </a:rPr>
              <a:t>       {</a:t>
            </a:r>
            <a:r>
              <a:rPr lang="ru-RU" sz="2500" b="1" dirty="0">
                <a:solidFill>
                  <a:srgbClr val="7030A0"/>
                </a:solidFill>
              </a:rPr>
              <a:t>имя </a:t>
            </a:r>
            <a:r>
              <a:rPr lang="ru-RU" sz="2500" b="1" dirty="0" smtClean="0">
                <a:solidFill>
                  <a:srgbClr val="7030A0"/>
                </a:solidFill>
              </a:rPr>
              <a:t>атрибута</a:t>
            </a:r>
            <a:r>
              <a:rPr lang="ru-RU" sz="25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500" b="1" dirty="0" smtClean="0">
                <a:solidFill>
                  <a:srgbClr val="7030A0"/>
                </a:solidFill>
              </a:rPr>
              <a:t> </a:t>
            </a:r>
            <a:r>
              <a:rPr lang="ru-RU" sz="2500" b="1" dirty="0">
                <a:solidFill>
                  <a:srgbClr val="7030A0"/>
                </a:solidFill>
              </a:rPr>
              <a:t>имя домена</a:t>
            </a:r>
            <a:r>
              <a:rPr lang="ru-RU" sz="2500" dirty="0" smtClean="0">
                <a:solidFill>
                  <a:srgbClr val="7030A0"/>
                </a:solidFill>
              </a:rPr>
              <a:t>}</a:t>
            </a:r>
            <a:r>
              <a:rPr lang="ru-RU" sz="2500" dirty="0" smtClean="0"/>
              <a:t> </a:t>
            </a:r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500" dirty="0" smtClean="0"/>
              <a:t>Для </a:t>
            </a:r>
            <a:r>
              <a:rPr lang="ru-RU" sz="2500" dirty="0"/>
              <a:t>ссылки на значение атрибута в кортеже отношения всегда используется </a:t>
            </a:r>
            <a:r>
              <a:rPr lang="ru-RU" sz="2500" b="1" dirty="0"/>
              <a:t>имя </a:t>
            </a:r>
            <a:r>
              <a:rPr lang="ru-RU" sz="2500" b="1" dirty="0" smtClean="0"/>
              <a:t>атрибута </a:t>
            </a:r>
            <a:endParaRPr lang="ru-RU" sz="2500" b="1" dirty="0"/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500" dirty="0"/>
              <a:t>Это свойство </a:t>
            </a:r>
            <a:r>
              <a:rPr lang="ru-RU" sz="2500" dirty="0" smtClean="0"/>
              <a:t>позволяет</a:t>
            </a:r>
            <a:r>
              <a:rPr lang="ru-RU" sz="2500" dirty="0"/>
              <a:t>, например, модифицировать существующие отношения не только путем добавления новых атрибутов, но и путем удаления существующих атрибутов. </a:t>
            </a:r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500" dirty="0"/>
              <a:t>В реальных </a:t>
            </a:r>
            <a:r>
              <a:rPr lang="ru-RU" sz="2500" dirty="0" smtClean="0"/>
              <a:t>БД </a:t>
            </a:r>
            <a:r>
              <a:rPr lang="ru-RU" sz="2500" dirty="0"/>
              <a:t>используется неявный порядок </a:t>
            </a:r>
            <a:r>
              <a:rPr lang="ru-RU" sz="2500" dirty="0" smtClean="0"/>
              <a:t>атрибутов, определяемый </a:t>
            </a:r>
            <a:r>
              <a:rPr lang="ru-RU" sz="2500" dirty="0"/>
              <a:t>последовательностью </a:t>
            </a:r>
            <a:endParaRPr lang="ru-RU" sz="2500" dirty="0" smtClean="0"/>
          </a:p>
          <a:p>
            <a:pPr algn="just"/>
            <a:r>
              <a:rPr lang="ru-RU" sz="2500" dirty="0"/>
              <a:t> </a:t>
            </a:r>
            <a:r>
              <a:rPr lang="ru-RU" sz="2500" dirty="0" smtClean="0"/>
              <a:t>                                         их </a:t>
            </a:r>
            <a:r>
              <a:rPr lang="ru-RU" sz="2500" dirty="0"/>
              <a:t>описания в заголовке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98945264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/>
              <a:t>Атомарность значений атрибутов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189196"/>
            <a:ext cx="8640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Это </a:t>
            </a:r>
            <a:r>
              <a:rPr lang="ru-RU" sz="2400" dirty="0"/>
              <a:t>следует из определения </a:t>
            </a:r>
            <a:r>
              <a:rPr lang="ru-RU" sz="2400" b="1" dirty="0"/>
              <a:t>домена как потенциального множества значений простого типа </a:t>
            </a:r>
            <a:r>
              <a:rPr lang="ru-RU" sz="2400" b="1" dirty="0" smtClean="0"/>
              <a:t>данных</a:t>
            </a:r>
            <a:endParaRPr lang="ru-RU" sz="2400" dirty="0" smtClean="0"/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 каждой позиции на пересечении столбца и строки должно быть в точности одно </a:t>
            </a:r>
            <a:r>
              <a:rPr lang="ru-RU" sz="2400" dirty="0" smtClean="0"/>
              <a:t>значение </a:t>
            </a:r>
            <a:endParaRPr lang="ru-RU" sz="2400" dirty="0"/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Значения </a:t>
            </a:r>
            <a:r>
              <a:rPr lang="ru-RU" sz="2400" dirty="0"/>
              <a:t>домена не могут содержаться множества </a:t>
            </a:r>
            <a:r>
              <a:rPr lang="ru-RU" sz="2400" dirty="0" smtClean="0"/>
              <a:t>значений (повторяющиеся группы) </a:t>
            </a:r>
          </a:p>
          <a:p>
            <a:pPr marL="446088" indent="-446088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b="1" dirty="0" smtClean="0"/>
              <a:t>Группы </a:t>
            </a:r>
            <a:r>
              <a:rPr lang="ru-RU" sz="2400" b="1" dirty="0"/>
              <a:t>повторения</a:t>
            </a:r>
            <a:r>
              <a:rPr lang="ru-RU" sz="2400" dirty="0"/>
              <a:t> – это столбец или комбинация столбцов, которая содержит несколько значений данных в каждой строке (причем в каждой строке разное количество</a:t>
            </a:r>
            <a:r>
              <a:rPr lang="ru-RU" sz="2400" dirty="0" smtClean="0"/>
              <a:t>), т.е. ячейка – это таблица</a:t>
            </a:r>
            <a:endParaRPr lang="ru-RU" sz="2400" dirty="0"/>
          </a:p>
          <a:p>
            <a:pPr algn="just">
              <a:spcBef>
                <a:spcPts val="600"/>
              </a:spcBef>
            </a:pP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52541450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smtClean="0"/>
              <a:t>Ненормализованное  отношение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085835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400" dirty="0" smtClean="0"/>
              <a:t>Пример </a:t>
            </a:r>
            <a:r>
              <a:rPr lang="ru-RU" sz="2400" dirty="0"/>
              <a:t>ненормализованного отношения </a:t>
            </a:r>
            <a:r>
              <a:rPr lang="ru-RU" sz="2400" dirty="0" smtClean="0"/>
              <a:t>– бинарное  отношение </a:t>
            </a:r>
            <a:r>
              <a:rPr lang="ru-RU" sz="2400" b="1" dirty="0" smtClean="0">
                <a:solidFill>
                  <a:srgbClr val="7030A0"/>
                </a:solidFill>
              </a:rPr>
              <a:t>Отдел </a:t>
            </a:r>
            <a:r>
              <a:rPr lang="ru-RU" sz="2400" dirty="0" smtClean="0"/>
              <a:t>, которое включает множественное значение - Сотрудники</a:t>
            </a:r>
            <a:endParaRPr lang="ru-RU" sz="2400" b="1" dirty="0">
              <a:solidFill>
                <a:srgbClr val="7030A0"/>
              </a:solidFill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1" y="2420889"/>
            <a:ext cx="8754400" cy="280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8660" y="5487615"/>
            <a:ext cx="8585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/>
              <a:t>Значения атрибута  Сотрудники -  отношения</a:t>
            </a:r>
          </a:p>
        </p:txBody>
      </p:sp>
    </p:spTree>
    <p:extLst>
      <p:ext uri="{BB962C8B-B14F-4D97-AF65-F5344CB8AC3E}">
        <p14:creationId xmlns:p14="http://schemas.microsoft.com/office/powerpoint/2010/main" val="206931134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smtClean="0"/>
              <a:t>Нормализованное  отношение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26876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400"/>
              <a:t>Нормализованный вариант отношения </a:t>
            </a:r>
            <a:r>
              <a:rPr lang="ru-RU" sz="2400" smtClean="0"/>
              <a:t>Отдел – отношение Сотрудники </a:t>
            </a:r>
            <a:endParaRPr lang="ru-RU" sz="240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8" y="2348880"/>
            <a:ext cx="8806202" cy="269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18755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smtClean="0"/>
              <a:t>Причина нормализации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268760"/>
            <a:ext cx="864096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 algn="just">
              <a:buFont typeface="Wingdings" panose="05000000000000000000" pitchFamily="2" charset="2"/>
              <a:buChar char="q"/>
            </a:pPr>
            <a:r>
              <a:rPr lang="ru-RU" sz="2400" dirty="0"/>
              <a:t>Причина нормализации таблиц в том, что с математической точки зрения нормализованные отношения имеют более простую структуру, а поэтому для работы с ними потребуется меньшее количество </a:t>
            </a:r>
            <a:r>
              <a:rPr lang="ru-RU" sz="2400" dirty="0" smtClean="0"/>
              <a:t>разных операторов</a:t>
            </a:r>
            <a:r>
              <a:rPr lang="ru-RU" sz="2400" dirty="0"/>
              <a:t>.</a:t>
            </a:r>
          </a:p>
          <a:p>
            <a:pPr marL="354013" indent="-354013" algn="just"/>
            <a:r>
              <a:rPr lang="ru-RU" sz="2400" b="1" dirty="0"/>
              <a:t>Пример</a:t>
            </a:r>
            <a:r>
              <a:rPr lang="ru-RU" sz="2400" dirty="0"/>
              <a:t>. Рассмотрим,  два идентичных оператора добавления кортежа: </a:t>
            </a:r>
          </a:p>
          <a:p>
            <a:pPr marL="363538" indent="-363538" algn="just">
              <a:spcBef>
                <a:spcPts val="600"/>
              </a:spcBef>
            </a:pPr>
            <a:r>
              <a:rPr lang="ru-RU" sz="2400" dirty="0" smtClean="0"/>
              <a:t>1) Зачислить </a:t>
            </a:r>
            <a:r>
              <a:rPr lang="ru-RU" sz="2400" dirty="0"/>
              <a:t>сотрудника Кузнецова (</a:t>
            </a:r>
            <a:r>
              <a:rPr lang="ru-RU" sz="2400" dirty="0" err="1" smtClean="0"/>
              <a:t>таб.номер</a:t>
            </a:r>
            <a:r>
              <a:rPr lang="ru-RU" sz="2400" dirty="0" smtClean="0"/>
              <a:t> </a:t>
            </a:r>
            <a:r>
              <a:rPr lang="ru-RU" sz="2400" dirty="0"/>
              <a:t>300, оклад </a:t>
            </a:r>
            <a:r>
              <a:rPr lang="ru-RU" sz="2400" dirty="0" smtClean="0"/>
              <a:t>75000</a:t>
            </a:r>
            <a:r>
              <a:rPr lang="ru-RU" sz="2400" dirty="0"/>
              <a:t>) в отдел номер 03 </a:t>
            </a:r>
            <a:r>
              <a:rPr lang="ru-RU" sz="2400" dirty="0" smtClean="0"/>
              <a:t> </a:t>
            </a:r>
            <a:endParaRPr lang="ru-RU" sz="2400" dirty="0"/>
          </a:p>
          <a:p>
            <a:pPr marL="363538" indent="-363538" algn="just">
              <a:spcBef>
                <a:spcPts val="600"/>
              </a:spcBef>
            </a:pPr>
            <a:r>
              <a:rPr lang="ru-RU" sz="2400" dirty="0" smtClean="0"/>
              <a:t>2) Зачислить </a:t>
            </a:r>
            <a:r>
              <a:rPr lang="ru-RU" sz="2400" dirty="0"/>
              <a:t>сотрудника Кузнецова (</a:t>
            </a:r>
            <a:r>
              <a:rPr lang="ru-RU" sz="2400" dirty="0" err="1" smtClean="0"/>
              <a:t>таб.номер</a:t>
            </a:r>
            <a:r>
              <a:rPr lang="ru-RU" sz="2400" dirty="0" smtClean="0"/>
              <a:t> </a:t>
            </a:r>
            <a:r>
              <a:rPr lang="ru-RU" sz="2400" dirty="0"/>
              <a:t>300, оклад </a:t>
            </a:r>
            <a:r>
              <a:rPr lang="ru-RU" sz="2400" dirty="0" smtClean="0"/>
              <a:t>75000</a:t>
            </a:r>
            <a:r>
              <a:rPr lang="ru-RU" sz="2400" dirty="0"/>
              <a:t>) в отдел номер 01. 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95708670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807" y="4431565"/>
            <a:ext cx="7649337" cy="2453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smtClean="0"/>
              <a:t>Добавление кортежа в ненормализованное отношение</a:t>
            </a:r>
            <a:endParaRPr lang="ru-RU" sz="32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412776"/>
            <a:ext cx="86409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 smtClean="0"/>
              <a:t>Требует  двух различных операторов</a:t>
            </a:r>
          </a:p>
          <a:p>
            <a:pPr algn="just"/>
            <a:r>
              <a:rPr lang="ru-RU" sz="2200" b="1" dirty="0" smtClean="0"/>
              <a:t>Оператор 1</a:t>
            </a:r>
            <a:r>
              <a:rPr lang="ru-RU" sz="2200" dirty="0" smtClean="0"/>
              <a:t> -  </a:t>
            </a:r>
            <a:r>
              <a:rPr lang="ru-RU" sz="2200" dirty="0"/>
              <a:t>Зачислить сотрудника Кузнецова </a:t>
            </a:r>
            <a:endParaRPr lang="en-US" sz="2200" dirty="0" smtClean="0"/>
          </a:p>
          <a:p>
            <a:pPr algn="just"/>
            <a:r>
              <a:rPr lang="en-US" sz="2200" dirty="0"/>
              <a:t> </a:t>
            </a:r>
            <a:r>
              <a:rPr lang="en-US" sz="2200" dirty="0" smtClean="0"/>
              <a:t>                </a:t>
            </a:r>
            <a:r>
              <a:rPr lang="ru-RU" sz="2200" dirty="0" smtClean="0"/>
              <a:t>(таб. </a:t>
            </a:r>
            <a:r>
              <a:rPr lang="ru-RU" sz="2200" dirty="0"/>
              <a:t>номер 300, оклад 75000) в отдел номер 03  </a:t>
            </a:r>
            <a:endParaRPr lang="ru-RU" sz="2200" dirty="0" smtClean="0"/>
          </a:p>
          <a:p>
            <a:pPr algn="just"/>
            <a:r>
              <a:rPr lang="ru-RU" sz="2200" dirty="0"/>
              <a:t> </a:t>
            </a:r>
            <a:r>
              <a:rPr lang="ru-RU" sz="2200" dirty="0" smtClean="0"/>
              <a:t>   </a:t>
            </a:r>
            <a:r>
              <a:rPr lang="ru-RU" sz="2200" b="1" dirty="0"/>
              <a:t>- это добавление кортежа</a:t>
            </a:r>
          </a:p>
          <a:p>
            <a:pPr algn="just"/>
            <a:r>
              <a:rPr lang="ru-RU" sz="2200" b="1" dirty="0" smtClean="0"/>
              <a:t>Оператор 2</a:t>
            </a:r>
            <a:r>
              <a:rPr lang="ru-RU" sz="2200" dirty="0" smtClean="0"/>
              <a:t> -  </a:t>
            </a:r>
            <a:r>
              <a:rPr lang="ru-RU" sz="2200" dirty="0"/>
              <a:t>Зачислить сотрудника Кузнецова </a:t>
            </a:r>
            <a:endParaRPr lang="en-US" sz="2200" dirty="0" smtClean="0"/>
          </a:p>
          <a:p>
            <a:pPr algn="just"/>
            <a:r>
              <a:rPr lang="en-US" sz="2200" dirty="0"/>
              <a:t> </a:t>
            </a:r>
            <a:r>
              <a:rPr lang="en-US" sz="2200" dirty="0" smtClean="0"/>
              <a:t>  </a:t>
            </a:r>
            <a:r>
              <a:rPr lang="ru-RU" sz="2200" dirty="0" smtClean="0"/>
              <a:t>(таб. </a:t>
            </a:r>
            <a:r>
              <a:rPr lang="ru-RU" sz="2200" dirty="0"/>
              <a:t>номер 300, оклад 75000) в отдел номер 01</a:t>
            </a:r>
            <a:endParaRPr lang="ru-RU" sz="2200" dirty="0" smtClean="0"/>
          </a:p>
          <a:p>
            <a:pPr algn="just"/>
            <a:r>
              <a:rPr lang="ru-RU" sz="2200" dirty="0" smtClean="0"/>
              <a:t> </a:t>
            </a:r>
            <a:r>
              <a:rPr lang="ru-RU" sz="2200" dirty="0"/>
              <a:t>- </a:t>
            </a:r>
            <a:r>
              <a:rPr lang="ru-RU" sz="2200" b="1" dirty="0"/>
              <a:t>это добавление информации о Кузнецове в множественное значение атрибута ОТДЕЛ в кортеж с первичным ключом </a:t>
            </a:r>
            <a:r>
              <a:rPr lang="ru-RU" sz="2200" b="1" dirty="0" smtClean="0"/>
              <a:t>01 (номер отдела) </a:t>
            </a:r>
            <a:endParaRPr lang="ru-RU" sz="2200" b="1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33243130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smtClean="0"/>
              <a:t>Добавление кортежа в нормализованное отношение</a:t>
            </a:r>
            <a:endParaRPr lang="ru-RU" sz="32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412776"/>
            <a:ext cx="864096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/>
            <a:r>
              <a:rPr lang="ru-RU" sz="2200" b="1" dirty="0" smtClean="0"/>
              <a:t>Оператор 1</a:t>
            </a:r>
            <a:r>
              <a:rPr lang="ru-RU" sz="2200" dirty="0" smtClean="0"/>
              <a:t> -  </a:t>
            </a:r>
            <a:r>
              <a:rPr lang="ru-RU" sz="2200" dirty="0"/>
              <a:t>Зачислить сотрудника Кузнецова </a:t>
            </a:r>
            <a:endParaRPr lang="ru-RU" sz="2200" dirty="0" smtClean="0"/>
          </a:p>
          <a:p>
            <a:pPr marL="363538" indent="-363538"/>
            <a:r>
              <a:rPr lang="ru-RU" sz="2200" dirty="0"/>
              <a:t> </a:t>
            </a:r>
            <a:r>
              <a:rPr lang="ru-RU" sz="2200" dirty="0" smtClean="0"/>
              <a:t>   (таб. </a:t>
            </a:r>
            <a:r>
              <a:rPr lang="ru-RU" sz="2200" dirty="0"/>
              <a:t>номер 300, оклад 75000) в отдел номер 03  </a:t>
            </a:r>
            <a:endParaRPr lang="ru-RU" sz="2200" dirty="0" smtClean="0"/>
          </a:p>
          <a:p>
            <a:pPr algn="just"/>
            <a:r>
              <a:rPr lang="ru-RU" sz="2200" dirty="0"/>
              <a:t> </a:t>
            </a:r>
            <a:r>
              <a:rPr lang="ru-RU" sz="2200" dirty="0" smtClean="0"/>
              <a:t>   и</a:t>
            </a:r>
            <a:endParaRPr lang="ru-RU" sz="2200" dirty="0"/>
          </a:p>
          <a:p>
            <a:r>
              <a:rPr lang="ru-RU" sz="2200" b="1" dirty="0" smtClean="0"/>
              <a:t>Оператор 2</a:t>
            </a:r>
            <a:r>
              <a:rPr lang="ru-RU" sz="2200" dirty="0" smtClean="0"/>
              <a:t> -  </a:t>
            </a:r>
            <a:r>
              <a:rPr lang="ru-RU" sz="2200" dirty="0"/>
              <a:t>Зачислить сотрудника Кузнецова </a:t>
            </a:r>
            <a:endParaRPr lang="ru-RU" sz="2200" dirty="0" smtClean="0"/>
          </a:p>
          <a:p>
            <a:r>
              <a:rPr lang="ru-RU" sz="2200" dirty="0"/>
              <a:t> </a:t>
            </a:r>
            <a:r>
              <a:rPr lang="ru-RU" sz="2200" dirty="0" smtClean="0"/>
              <a:t>   (</a:t>
            </a:r>
            <a:r>
              <a:rPr lang="ru-RU" sz="2200" dirty="0" err="1"/>
              <a:t>таб</a:t>
            </a:r>
            <a:r>
              <a:rPr lang="ru-RU" sz="2200" dirty="0"/>
              <a:t> номер 300, оклад 75000) в отдел номер 01</a:t>
            </a:r>
            <a:endParaRPr lang="ru-RU" sz="2200" dirty="0" smtClean="0"/>
          </a:p>
          <a:p>
            <a:endParaRPr lang="ru-RU" sz="2400" dirty="0" smtClean="0"/>
          </a:p>
          <a:p>
            <a:pPr algn="just"/>
            <a:r>
              <a:rPr lang="ru-RU" sz="2400" dirty="0" smtClean="0"/>
              <a:t>будут </a:t>
            </a:r>
            <a:r>
              <a:rPr lang="ru-RU" sz="2400" dirty="0"/>
              <a:t>выполняться одинаково </a:t>
            </a:r>
            <a:r>
              <a:rPr lang="ru-RU" sz="2400" dirty="0" smtClean="0"/>
              <a:t>- вставить </a:t>
            </a:r>
            <a:r>
              <a:rPr lang="ru-RU" sz="2400" dirty="0"/>
              <a:t>кортеж в отношение </a:t>
            </a:r>
            <a:r>
              <a:rPr lang="ru-RU" sz="2400" dirty="0" smtClean="0"/>
              <a:t>СОТРУДНИКИ</a:t>
            </a:r>
            <a:endParaRPr lang="ru-RU" sz="22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856" y="4431785"/>
            <a:ext cx="7920880" cy="242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21940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/>
              <a:t>Упрощенное определение реляционной БД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678156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Учитывая выше сказанное, </a:t>
            </a:r>
            <a:r>
              <a:rPr lang="ru-RU" sz="2800" dirty="0" smtClean="0"/>
              <a:t>введем упрощенное </a:t>
            </a:r>
            <a:r>
              <a:rPr lang="ru-RU" sz="2800" dirty="0"/>
              <a:t>определение реляционной </a:t>
            </a:r>
            <a:r>
              <a:rPr lang="ru-RU" sz="2800" dirty="0" smtClean="0"/>
              <a:t>БД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ru-RU" sz="3000" b="1" dirty="0" smtClean="0"/>
          </a:p>
          <a:p>
            <a:pPr algn="just"/>
            <a:r>
              <a:rPr lang="ru-RU" sz="2800" b="1" dirty="0" smtClean="0">
                <a:solidFill>
                  <a:schemeClr val="accent3">
                    <a:lumMod val="50000"/>
                  </a:schemeClr>
                </a:solidFill>
              </a:rPr>
              <a:t>Реляционная </a:t>
            </a: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</a:rPr>
              <a:t>БД</a:t>
            </a:r>
            <a:r>
              <a:rPr lang="ru-RU" sz="2800" dirty="0">
                <a:solidFill>
                  <a:schemeClr val="accent3">
                    <a:lumMod val="50000"/>
                  </a:schemeClr>
                </a:solidFill>
              </a:rPr>
              <a:t> – это БД, воспринимаемая пользователем, как набор нормализованных отношений разной </a:t>
            </a:r>
            <a:r>
              <a:rPr lang="ru-RU" sz="2800" dirty="0" smtClean="0">
                <a:solidFill>
                  <a:schemeClr val="accent3">
                    <a:lumMod val="50000"/>
                  </a:schemeClr>
                </a:solidFill>
              </a:rPr>
              <a:t>степени</a:t>
            </a:r>
            <a:endParaRPr lang="ru-RU" sz="2800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ru-RU" sz="22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216079887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Концептуальное моделирование БД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124744"/>
            <a:ext cx="8640960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600" dirty="0" smtClean="0"/>
              <a:t>Проектирование БД является сложной задачей, которая решается в процессе взаимодействия со специалистами предметной области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600" dirty="0" smtClean="0"/>
              <a:t>Для упрощения </a:t>
            </a:r>
            <a:r>
              <a:rPr lang="ru-RU" sz="2600" dirty="0" smtClean="0"/>
              <a:t>взаимопонимания </a:t>
            </a:r>
            <a:r>
              <a:rPr lang="ru-RU" sz="2600" dirty="0"/>
              <a:t>между специалистами предметной области </a:t>
            </a:r>
            <a:endParaRPr lang="ru-RU" sz="2600" dirty="0" smtClean="0"/>
          </a:p>
          <a:p>
            <a:pPr marL="446088" algn="just"/>
            <a:r>
              <a:rPr lang="ru-RU" sz="2600" dirty="0" smtClean="0"/>
              <a:t>и </a:t>
            </a:r>
            <a:r>
              <a:rPr lang="ru-RU" sz="2600" dirty="0"/>
              <a:t>разработчиками </a:t>
            </a:r>
            <a:r>
              <a:rPr lang="ru-RU" sz="2600" dirty="0" smtClean="0"/>
              <a:t>БД </a:t>
            </a:r>
          </a:p>
          <a:p>
            <a:pPr marL="446088" algn="just"/>
            <a:r>
              <a:rPr lang="ru-RU" sz="2600" dirty="0" smtClean="0"/>
              <a:t>используются разные </a:t>
            </a:r>
            <a:r>
              <a:rPr lang="ru-RU" sz="2600" dirty="0"/>
              <a:t>языки </a:t>
            </a:r>
            <a:r>
              <a:rPr lang="ru-RU" sz="2600" dirty="0" smtClean="0"/>
              <a:t>моделирования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600" dirty="0" smtClean="0"/>
              <a:t>Распространенные языки моделирования:</a:t>
            </a:r>
          </a:p>
          <a:p>
            <a:pPr marL="714375" indent="-357188" algn="just">
              <a:buFont typeface="Wingdings" panose="05000000000000000000" pitchFamily="2" charset="2"/>
              <a:buChar char="§"/>
            </a:pPr>
            <a:r>
              <a:rPr lang="ru-RU" sz="2300" dirty="0" smtClean="0"/>
              <a:t>Язык объектного моделирования </a:t>
            </a:r>
            <a:r>
              <a:rPr lang="en-US" sz="2300" dirty="0" smtClean="0"/>
              <a:t>UML - </a:t>
            </a:r>
            <a:r>
              <a:rPr lang="ru-RU" sz="2300" dirty="0" smtClean="0"/>
              <a:t>описывает свойства и поведение объектов системы</a:t>
            </a:r>
          </a:p>
          <a:p>
            <a:pPr marL="714375" indent="-357188" algn="just">
              <a:buFont typeface="Wingdings" panose="05000000000000000000" pitchFamily="2" charset="2"/>
              <a:buChar char="§"/>
            </a:pPr>
            <a:r>
              <a:rPr lang="ru-RU" sz="2300" dirty="0" smtClean="0"/>
              <a:t>Язык концептуального моделирования «сущность-связь» (</a:t>
            </a:r>
            <a:r>
              <a:rPr lang="en-US" sz="2300" b="1" dirty="0" smtClean="0">
                <a:solidFill>
                  <a:srgbClr val="7030A0"/>
                </a:solidFill>
              </a:rPr>
              <a:t>E</a:t>
            </a:r>
            <a:r>
              <a:rPr lang="en-US" sz="2300" dirty="0" smtClean="0"/>
              <a:t>ntity-</a:t>
            </a:r>
            <a:r>
              <a:rPr lang="en-US" sz="2300" b="1" dirty="0" smtClean="0">
                <a:solidFill>
                  <a:srgbClr val="7030A0"/>
                </a:solidFill>
              </a:rPr>
              <a:t>R</a:t>
            </a:r>
            <a:r>
              <a:rPr lang="en-US" sz="2300" dirty="0" smtClean="0"/>
              <a:t>elationship,   </a:t>
            </a:r>
            <a:r>
              <a:rPr lang="en-US" sz="2300" b="1" dirty="0" smtClean="0">
                <a:solidFill>
                  <a:srgbClr val="7030A0"/>
                </a:solidFill>
              </a:rPr>
              <a:t>ER</a:t>
            </a:r>
            <a:r>
              <a:rPr lang="en-US" sz="2300" dirty="0" smtClean="0"/>
              <a:t>) – </a:t>
            </a:r>
            <a:r>
              <a:rPr lang="ru-RU" sz="2300" dirty="0" smtClean="0"/>
              <a:t>описывает только свойства системы</a:t>
            </a:r>
            <a:endParaRPr lang="ru-RU" sz="26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31382975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Модель данных «сущность-связь»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2096269"/>
            <a:ext cx="864096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Основные понятия модели:</a:t>
            </a:r>
          </a:p>
          <a:p>
            <a:pPr marL="714375" indent="-457200" algn="just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Сущность – описание объекта предметной области</a:t>
            </a:r>
          </a:p>
          <a:p>
            <a:pPr marL="714375" indent="-457200" algn="just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Связь – отношение между сущностями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79397864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Сущность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052736"/>
            <a:ext cx="864096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Сущность описание объекта предметной области (реального мира)  по отдельным его </a:t>
            </a:r>
            <a:r>
              <a:rPr lang="ru-RU" sz="2400" b="1" dirty="0" smtClean="0"/>
              <a:t>признакам (свойствам)</a:t>
            </a:r>
            <a:r>
              <a:rPr lang="ru-RU" sz="2400" dirty="0" smtClean="0"/>
              <a:t>, которые принято называть </a:t>
            </a:r>
            <a:r>
              <a:rPr lang="ru-RU" sz="2400" b="1" dirty="0" smtClean="0">
                <a:solidFill>
                  <a:srgbClr val="7030A0"/>
                </a:solidFill>
              </a:rPr>
              <a:t>атрибутами</a:t>
            </a:r>
          </a:p>
          <a:p>
            <a:pPr marL="442913" indent="-44291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Атрибуты </a:t>
            </a:r>
            <a:r>
              <a:rPr lang="ru-RU" sz="2400" dirty="0"/>
              <a:t>сущностей имеют скалярные значения  и для идентификации атрибутов используются </a:t>
            </a:r>
            <a:r>
              <a:rPr lang="ru-RU" sz="2400" dirty="0" smtClean="0"/>
              <a:t>имена</a:t>
            </a:r>
          </a:p>
          <a:p>
            <a:pPr marL="534988" algn="just">
              <a:spcBef>
                <a:spcPts val="300"/>
              </a:spcBef>
            </a:pPr>
            <a:r>
              <a:rPr lang="ru-RU" sz="2400" b="1" i="1" dirty="0"/>
              <a:t>Пример</a:t>
            </a:r>
            <a:r>
              <a:rPr lang="ru-RU" sz="2400" dirty="0"/>
              <a:t>. Сущность </a:t>
            </a:r>
            <a:r>
              <a:rPr lang="ru-RU" sz="2400" dirty="0">
                <a:solidFill>
                  <a:srgbClr val="0070C0"/>
                </a:solidFill>
              </a:rPr>
              <a:t>Сотрудник</a:t>
            </a:r>
          </a:p>
          <a:p>
            <a:pPr marL="803275" algn="just"/>
            <a:r>
              <a:rPr lang="ru-RU" sz="2400" dirty="0"/>
              <a:t>   Атрибуты: </a:t>
            </a:r>
            <a:r>
              <a:rPr lang="ru-RU" sz="2400" dirty="0">
                <a:solidFill>
                  <a:srgbClr val="7030A0"/>
                </a:solidFill>
              </a:rPr>
              <a:t>ФИО, должность, оклад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Для привязки объекта к реальному миру один из атрибутов должен его однозначно </a:t>
            </a:r>
            <a:r>
              <a:rPr lang="ru-RU" sz="2400" b="1" dirty="0" smtClean="0"/>
              <a:t>идентифицировать</a:t>
            </a:r>
            <a:r>
              <a:rPr lang="ru-RU" sz="2400" dirty="0" smtClean="0"/>
              <a:t>, т.е. отличать от других однотипных объектов</a:t>
            </a:r>
          </a:p>
          <a:p>
            <a:pPr marL="534988" algn="just"/>
            <a:r>
              <a:rPr lang="ru-RU" sz="2400" b="1" i="1" dirty="0" smtClean="0"/>
              <a:t>Пример</a:t>
            </a:r>
            <a:r>
              <a:rPr lang="ru-RU" sz="2400" dirty="0" smtClean="0"/>
              <a:t>. </a:t>
            </a:r>
            <a:r>
              <a:rPr lang="ru-RU" sz="2400" dirty="0" smtClean="0">
                <a:solidFill>
                  <a:srgbClr val="7030A0"/>
                </a:solidFill>
              </a:rPr>
              <a:t>Табельный номер сотрудника</a:t>
            </a:r>
          </a:p>
          <a:p>
            <a:pPr algn="just"/>
            <a:r>
              <a:rPr lang="ru-RU" sz="2400" dirty="0"/>
              <a:t> </a:t>
            </a:r>
            <a:r>
              <a:rPr lang="ru-RU" sz="2400" dirty="0" smtClean="0"/>
              <a:t>                   </a:t>
            </a:r>
            <a:r>
              <a:rPr lang="ru-RU" sz="2400" dirty="0" smtClean="0">
                <a:solidFill>
                  <a:srgbClr val="7030A0"/>
                </a:solidFill>
              </a:rPr>
              <a:t>Номер паспорта у человека</a:t>
            </a:r>
          </a:p>
          <a:p>
            <a:pPr algn="just"/>
            <a:r>
              <a:rPr lang="ru-RU" sz="2400" dirty="0"/>
              <a:t> </a:t>
            </a:r>
            <a:r>
              <a:rPr lang="ru-RU" sz="2400" dirty="0" smtClean="0"/>
              <a:t>                          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406136619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Связь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052736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Связь определяет отношение между сущностями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Простая связь – указание идентифицирующего атрибута связанной (целевой) сущности</a:t>
            </a:r>
          </a:p>
          <a:p>
            <a:pPr algn="just"/>
            <a:r>
              <a:rPr lang="ru-RU" sz="2400" dirty="0" smtClean="0"/>
              <a:t>     </a:t>
            </a:r>
            <a:r>
              <a:rPr lang="ru-RU" sz="2400" b="1" i="1" dirty="0" smtClean="0"/>
              <a:t>Пример</a:t>
            </a:r>
            <a:r>
              <a:rPr lang="ru-RU" sz="2400" dirty="0" smtClean="0"/>
              <a:t>.    </a:t>
            </a:r>
            <a:r>
              <a:rPr lang="ru-RU" sz="2400" dirty="0" smtClean="0">
                <a:solidFill>
                  <a:srgbClr val="7030A0"/>
                </a:solidFill>
              </a:rPr>
              <a:t>Сотрудник</a:t>
            </a:r>
            <a:r>
              <a:rPr lang="ru-RU" sz="2400" dirty="0" smtClean="0"/>
              <a:t> – </a:t>
            </a:r>
            <a:r>
              <a:rPr lang="ru-RU" sz="2400" dirty="0" smtClean="0">
                <a:solidFill>
                  <a:srgbClr val="7030A0"/>
                </a:solidFill>
              </a:rPr>
              <a:t>Отдел</a:t>
            </a:r>
          </a:p>
          <a:p>
            <a:pPr marL="803275" indent="-268288"/>
            <a:r>
              <a:rPr lang="ru-RU" sz="2400" dirty="0" smtClean="0"/>
              <a:t>  Атрибут </a:t>
            </a:r>
            <a:r>
              <a:rPr lang="ru-RU" sz="2400" dirty="0" smtClean="0">
                <a:solidFill>
                  <a:srgbClr val="0070C0"/>
                </a:solidFill>
              </a:rPr>
              <a:t>Код отдела</a:t>
            </a:r>
            <a:r>
              <a:rPr lang="ru-RU" sz="2400" dirty="0" smtClean="0"/>
              <a:t>  в сущности </a:t>
            </a:r>
            <a:r>
              <a:rPr lang="ru-RU" sz="2400" dirty="0" smtClean="0">
                <a:solidFill>
                  <a:srgbClr val="7030A0"/>
                </a:solidFill>
              </a:rPr>
              <a:t>Сотрудник</a:t>
            </a:r>
            <a:r>
              <a:rPr lang="ru-RU" sz="2400" dirty="0" smtClean="0"/>
              <a:t> идентифицирует отдел, в котором он работает</a:t>
            </a:r>
          </a:p>
          <a:p>
            <a:pPr marL="441325" indent="-441325" algn="just" defTabSz="446088">
              <a:buFont typeface="Wingdings" panose="05000000000000000000" pitchFamily="2" charset="2"/>
              <a:buChar char="q"/>
            </a:pPr>
            <a:r>
              <a:rPr lang="ru-RU" sz="2400" dirty="0"/>
              <a:t>Связь через </a:t>
            </a:r>
            <a:r>
              <a:rPr lang="ru-RU" sz="2400" dirty="0" smtClean="0"/>
              <a:t>сущность, которая может иметь дополнительные атрибуты</a:t>
            </a:r>
          </a:p>
          <a:p>
            <a:pPr marL="534988" algn="just" defTabSz="446088"/>
            <a:r>
              <a:rPr lang="ru-RU" sz="2400" b="1" i="1" dirty="0" smtClean="0"/>
              <a:t>Пример</a:t>
            </a:r>
            <a:r>
              <a:rPr lang="ru-RU" sz="2400" dirty="0" smtClean="0"/>
              <a:t>.  </a:t>
            </a:r>
            <a:r>
              <a:rPr lang="ru-RU" sz="2400" dirty="0" smtClean="0">
                <a:solidFill>
                  <a:srgbClr val="7030A0"/>
                </a:solidFill>
              </a:rPr>
              <a:t>Поставщик</a:t>
            </a:r>
            <a:r>
              <a:rPr lang="ru-RU" sz="2400" dirty="0" smtClean="0"/>
              <a:t> – </a:t>
            </a:r>
            <a:r>
              <a:rPr lang="ru-RU" sz="2400" dirty="0" smtClean="0">
                <a:solidFill>
                  <a:srgbClr val="7030A0"/>
                </a:solidFill>
              </a:rPr>
              <a:t>Сырье</a:t>
            </a:r>
          </a:p>
          <a:p>
            <a:pPr marL="534988" algn="just" defTabSz="446088"/>
            <a:r>
              <a:rPr lang="ru-RU" sz="2400" dirty="0"/>
              <a:t> </a:t>
            </a:r>
            <a:r>
              <a:rPr lang="ru-RU" sz="2400" dirty="0" smtClean="0"/>
              <a:t> Связующая сущность </a:t>
            </a:r>
            <a:r>
              <a:rPr lang="ru-RU" sz="2400" b="1" dirty="0" smtClean="0">
                <a:solidFill>
                  <a:srgbClr val="7030A0"/>
                </a:solidFill>
              </a:rPr>
              <a:t>Поставка</a:t>
            </a:r>
            <a:r>
              <a:rPr lang="ru-RU" sz="2400" dirty="0" smtClean="0"/>
              <a:t> включает:</a:t>
            </a:r>
          </a:p>
          <a:p>
            <a:pPr marL="534988" algn="just" defTabSz="446088"/>
            <a:r>
              <a:rPr lang="ru-RU" sz="2400" dirty="0"/>
              <a:t> </a:t>
            </a:r>
            <a:r>
              <a:rPr lang="ru-RU" sz="2400" dirty="0" smtClean="0"/>
              <a:t>  идентифицирующие атрибуты:</a:t>
            </a:r>
          </a:p>
          <a:p>
            <a:pPr marL="534988" algn="just" defTabSz="446088"/>
            <a:r>
              <a:rPr lang="ru-RU" sz="2400" dirty="0"/>
              <a:t> </a:t>
            </a:r>
            <a:r>
              <a:rPr lang="ru-RU" sz="2400" dirty="0" smtClean="0"/>
              <a:t>            </a:t>
            </a:r>
            <a:r>
              <a:rPr lang="ru-RU" sz="2400" dirty="0">
                <a:solidFill>
                  <a:srgbClr val="0070C0"/>
                </a:solidFill>
              </a:rPr>
              <a:t>К</a:t>
            </a:r>
            <a:r>
              <a:rPr lang="ru-RU" sz="2400" dirty="0" smtClean="0">
                <a:solidFill>
                  <a:srgbClr val="0070C0"/>
                </a:solidFill>
              </a:rPr>
              <a:t>од сырья</a:t>
            </a:r>
            <a:r>
              <a:rPr lang="ru-RU" sz="2400" dirty="0" smtClean="0"/>
              <a:t> и </a:t>
            </a:r>
            <a:r>
              <a:rPr lang="ru-RU" sz="2400" dirty="0">
                <a:solidFill>
                  <a:srgbClr val="0070C0"/>
                </a:solidFill>
              </a:rPr>
              <a:t>К</a:t>
            </a:r>
            <a:r>
              <a:rPr lang="ru-RU" sz="2400" dirty="0" smtClean="0">
                <a:solidFill>
                  <a:srgbClr val="0070C0"/>
                </a:solidFill>
              </a:rPr>
              <a:t>од поставщика</a:t>
            </a:r>
          </a:p>
          <a:p>
            <a:pPr marL="534988" algn="just" defTabSz="446088"/>
            <a:r>
              <a:rPr lang="ru-RU" sz="2400" dirty="0"/>
              <a:t> </a:t>
            </a:r>
            <a:r>
              <a:rPr lang="ru-RU" sz="2400" dirty="0" smtClean="0"/>
              <a:t>  дополнительные атрибуты:   </a:t>
            </a:r>
          </a:p>
          <a:p>
            <a:pPr marL="534988" algn="just" defTabSz="446088"/>
            <a:r>
              <a:rPr lang="ru-RU" sz="2400" dirty="0"/>
              <a:t> </a:t>
            </a:r>
            <a:r>
              <a:rPr lang="ru-RU" sz="2400" dirty="0" smtClean="0"/>
              <a:t>            </a:t>
            </a:r>
            <a:r>
              <a:rPr lang="ru-RU" sz="2400" dirty="0" smtClean="0">
                <a:solidFill>
                  <a:srgbClr val="0070C0"/>
                </a:solidFill>
              </a:rPr>
              <a:t>Дата поставки</a:t>
            </a:r>
            <a:r>
              <a:rPr lang="ru-RU" sz="2400" dirty="0" smtClean="0"/>
              <a:t>, </a:t>
            </a:r>
            <a:r>
              <a:rPr lang="ru-RU" sz="2400" dirty="0" smtClean="0">
                <a:solidFill>
                  <a:srgbClr val="0070C0"/>
                </a:solidFill>
              </a:rPr>
              <a:t>Объем поставки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88050980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Представление </a:t>
            </a:r>
            <a:r>
              <a:rPr lang="en-US" sz="3600" b="1" dirty="0" smtClean="0"/>
              <a:t>ER-</a:t>
            </a:r>
            <a:r>
              <a:rPr lang="ru-RU" sz="3600" b="1" dirty="0" smtClean="0"/>
              <a:t>модели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052736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Для наглядности </a:t>
            </a:r>
            <a:r>
              <a:rPr lang="en-US" sz="2400" dirty="0" smtClean="0"/>
              <a:t>ER-</a:t>
            </a:r>
            <a:r>
              <a:rPr lang="ru-RU" sz="2400" dirty="0" smtClean="0"/>
              <a:t>модели представляют в виде диаграмм</a:t>
            </a:r>
          </a:p>
          <a:p>
            <a:pPr marL="446088" indent="-446088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Классическая диаграмма:</a:t>
            </a:r>
          </a:p>
          <a:p>
            <a:pPr marL="889000" indent="-342900" algn="just">
              <a:buFont typeface="Arial" panose="020B0604020202020204" pitchFamily="34" charset="0"/>
              <a:buChar char="•"/>
              <a:tabLst>
                <a:tab pos="1081088" algn="l"/>
              </a:tabLst>
            </a:pPr>
            <a:r>
              <a:rPr lang="ru-RU" sz="2400" dirty="0" smtClean="0"/>
              <a:t>сущность – прямоугольник</a:t>
            </a:r>
          </a:p>
          <a:p>
            <a:pPr marL="889000" indent="-342900" algn="just">
              <a:buFont typeface="Arial" panose="020B0604020202020204" pitchFamily="34" charset="0"/>
              <a:buChar char="•"/>
              <a:tabLst>
                <a:tab pos="1081088" algn="l"/>
              </a:tabLst>
            </a:pPr>
            <a:r>
              <a:rPr lang="ru-RU" sz="2400" dirty="0" smtClean="0"/>
              <a:t>связь – ромб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933700"/>
            <a:ext cx="53149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520" y="3975447"/>
            <a:ext cx="8712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/>
              <a:t>Диаграммы реляционной модели</a:t>
            </a:r>
          </a:p>
          <a:p>
            <a:pPr marL="8890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сущность – </a:t>
            </a:r>
            <a:r>
              <a:rPr lang="ru-RU" sz="2400" dirty="0" smtClean="0"/>
              <a:t>прямоугольник с перечнем атрибутов </a:t>
            </a:r>
            <a:endParaRPr lang="ru-RU" sz="2400" dirty="0"/>
          </a:p>
          <a:p>
            <a:pPr marL="889000" indent="-34290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связь </a:t>
            </a:r>
            <a:r>
              <a:rPr lang="ru-RU" sz="2400" dirty="0"/>
              <a:t>– </a:t>
            </a:r>
            <a:r>
              <a:rPr lang="ru-RU" sz="2400" dirty="0" smtClean="0"/>
              <a:t>линия</a:t>
            </a:r>
            <a:endParaRPr lang="ru-RU" sz="2400" dirty="0"/>
          </a:p>
          <a:p>
            <a:endParaRPr lang="ru-R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085184"/>
            <a:ext cx="664410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81293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Виды связей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052736"/>
            <a:ext cx="86409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По участию в идентификации объекта</a:t>
            </a:r>
          </a:p>
          <a:p>
            <a:pPr marL="889000" indent="-342900" algn="just">
              <a:buFont typeface="Arial" panose="020B0604020202020204" pitchFamily="34" charset="0"/>
              <a:buChar char="•"/>
              <a:tabLst>
                <a:tab pos="1081088" algn="l"/>
              </a:tabLst>
            </a:pPr>
            <a:r>
              <a:rPr lang="ru-RU" sz="2200" b="1" dirty="0" smtClean="0"/>
              <a:t>идентифицирующая</a:t>
            </a:r>
            <a:r>
              <a:rPr lang="ru-RU" sz="2200" dirty="0" smtClean="0"/>
              <a:t>: связующий атрибут входит в состав идентифицирующих атрибутов сущности – отображается сплошной линией</a:t>
            </a:r>
          </a:p>
          <a:p>
            <a:pPr marL="889000" indent="-342900" algn="just">
              <a:buFont typeface="Arial" panose="020B0604020202020204" pitchFamily="34" charset="0"/>
              <a:buChar char="•"/>
              <a:tabLst>
                <a:tab pos="1081088" algn="l"/>
              </a:tabLst>
            </a:pPr>
            <a:r>
              <a:rPr lang="ru-RU" sz="2200" b="1" dirty="0" err="1" smtClean="0"/>
              <a:t>неидентифцирующая</a:t>
            </a:r>
            <a:r>
              <a:rPr lang="ru-RU" sz="2200" dirty="0" smtClean="0"/>
              <a:t>: связующий атрибут не входит в состав </a:t>
            </a:r>
            <a:r>
              <a:rPr lang="ru-RU" sz="2200" dirty="0"/>
              <a:t>идентифицирующих атрибутов сущности – отображается </a:t>
            </a:r>
            <a:r>
              <a:rPr lang="ru-RU" sz="2200" dirty="0" smtClean="0"/>
              <a:t>пунктирной линией</a:t>
            </a:r>
          </a:p>
          <a:p>
            <a:pPr marL="357188" indent="-357188" algn="just">
              <a:buFont typeface="Wingdings" panose="05000000000000000000" pitchFamily="2" charset="2"/>
              <a:buChar char="q"/>
              <a:tabLst>
                <a:tab pos="1081088" algn="l"/>
              </a:tabLst>
            </a:pPr>
            <a:r>
              <a:rPr lang="ru-RU" sz="2400" dirty="0" smtClean="0"/>
              <a:t>По количеству соединяемых объектов сущности</a:t>
            </a:r>
          </a:p>
          <a:p>
            <a:pPr marL="892175" indent="-357188" algn="just">
              <a:buFont typeface="Arial" panose="020B0604020202020204" pitchFamily="34" charset="0"/>
              <a:buChar char="•"/>
              <a:tabLst>
                <a:tab pos="1081088" algn="l"/>
              </a:tabLst>
            </a:pPr>
            <a:r>
              <a:rPr lang="ru-RU" sz="2400" dirty="0" smtClean="0"/>
              <a:t>1 – участвует только один объект</a:t>
            </a:r>
          </a:p>
          <a:p>
            <a:pPr marL="892175" indent="-357188" algn="just">
              <a:buFont typeface="Arial" panose="020B0604020202020204" pitchFamily="34" charset="0"/>
              <a:buChar char="•"/>
              <a:tabLst>
                <a:tab pos="1081088" algn="l"/>
              </a:tabLst>
            </a:pPr>
            <a:r>
              <a:rPr lang="ru-RU" sz="2400" dirty="0" smtClean="0"/>
              <a:t>0 – участвует не более одного объекта</a:t>
            </a:r>
          </a:p>
          <a:p>
            <a:pPr marL="892175" indent="-357188" algn="just">
              <a:buFont typeface="Arial" panose="020B0604020202020204" pitchFamily="34" charset="0"/>
              <a:buChar char="•"/>
              <a:tabLst>
                <a:tab pos="1081088" algn="l"/>
              </a:tabLst>
            </a:pPr>
            <a:r>
              <a:rPr lang="en-US" sz="2400" dirty="0" smtClean="0"/>
              <a:t>M </a:t>
            </a:r>
            <a:r>
              <a:rPr lang="ru-RU" sz="2400" dirty="0" smtClean="0"/>
              <a:t>(</a:t>
            </a:r>
            <a:r>
              <a:rPr lang="ru-RU" sz="2400" dirty="0" smtClean="0">
                <a:latin typeface="Calibri"/>
                <a:cs typeface="Calibri"/>
              </a:rPr>
              <a:t>Ꚙ)</a:t>
            </a:r>
            <a:r>
              <a:rPr lang="en-US" sz="2400" dirty="0" smtClean="0"/>
              <a:t>– </a:t>
            </a:r>
            <a:r>
              <a:rPr lang="ru-RU" sz="2400" dirty="0" smtClean="0"/>
              <a:t>участвует много объектов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444208" y="2276872"/>
            <a:ext cx="1440160" cy="0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6452592" y="3356992"/>
            <a:ext cx="1440160" cy="0"/>
          </a:xfrm>
          <a:prstGeom prst="line">
            <a:avLst/>
          </a:prstGeom>
          <a:ln w="444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50" y="5766395"/>
            <a:ext cx="1771650" cy="542925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375" y="5084415"/>
            <a:ext cx="1724025" cy="504825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4191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Связь  «один-ко-многим»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544" y="3140967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1 – каждый сотрудник работает в </a:t>
            </a:r>
            <a:r>
              <a:rPr lang="ru-RU" sz="2400" b="1" dirty="0" smtClean="0"/>
              <a:t>одном</a:t>
            </a:r>
            <a:r>
              <a:rPr lang="ru-RU" sz="2400" dirty="0" smtClean="0"/>
              <a:t> отделе</a:t>
            </a:r>
          </a:p>
          <a:p>
            <a:endParaRPr lang="ru-RU" sz="2400" dirty="0" smtClean="0"/>
          </a:p>
          <a:p>
            <a:r>
              <a:rPr lang="ru-RU" sz="2400" dirty="0" smtClean="0"/>
              <a:t>М (много) – в каждом отделе работает 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               </a:t>
            </a:r>
            <a:r>
              <a:rPr lang="ru-RU" sz="2400" b="1" dirty="0" smtClean="0"/>
              <a:t>много</a:t>
            </a:r>
            <a:r>
              <a:rPr lang="ru-RU" sz="2400" dirty="0" smtClean="0"/>
              <a:t>  сотрудников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372" y="1124744"/>
            <a:ext cx="50292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902965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Связь  «многие-ко-многим»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>Лекция 3. Реляционная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576" y="2276872"/>
            <a:ext cx="77048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Один </a:t>
            </a:r>
            <a:r>
              <a:rPr lang="ru-RU" sz="2200" b="1" dirty="0" smtClean="0"/>
              <a:t>вид сырья</a:t>
            </a:r>
            <a:r>
              <a:rPr lang="ru-RU" sz="2200" dirty="0" smtClean="0"/>
              <a:t> может поставляться разными</a:t>
            </a:r>
          </a:p>
          <a:p>
            <a:r>
              <a:rPr lang="ru-RU" sz="2200" dirty="0"/>
              <a:t> </a:t>
            </a:r>
            <a:r>
              <a:rPr lang="ru-RU" sz="2200" dirty="0" smtClean="0"/>
              <a:t>                (многими) </a:t>
            </a:r>
            <a:r>
              <a:rPr lang="ru-RU" sz="2200" b="1" dirty="0" smtClean="0"/>
              <a:t>поставщиками</a:t>
            </a:r>
          </a:p>
          <a:p>
            <a:r>
              <a:rPr lang="ru-RU" sz="2200" dirty="0" smtClean="0"/>
              <a:t>Один </a:t>
            </a:r>
            <a:r>
              <a:rPr lang="ru-RU" sz="2200" b="1" dirty="0" smtClean="0"/>
              <a:t>поставщик</a:t>
            </a:r>
            <a:r>
              <a:rPr lang="ru-RU" sz="2200" dirty="0" smtClean="0"/>
              <a:t>  может поставлять разные </a:t>
            </a:r>
          </a:p>
          <a:p>
            <a:r>
              <a:rPr lang="ru-RU" sz="2200" dirty="0"/>
              <a:t> </a:t>
            </a:r>
            <a:r>
              <a:rPr lang="ru-RU" sz="2200" dirty="0" smtClean="0"/>
              <a:t>                (многие) </a:t>
            </a:r>
            <a:r>
              <a:rPr lang="ru-RU" sz="2200" b="1" dirty="0" smtClean="0"/>
              <a:t>виды сырья</a:t>
            </a:r>
            <a:endParaRPr lang="ru-RU" sz="2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611560" y="3742400"/>
            <a:ext cx="84249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Такая связь существует на логическом уровне и должна быть приведена к связям «один-ко-многим» через введение связующей сущности </a:t>
            </a:r>
            <a:r>
              <a:rPr lang="ru-RU" sz="2200" b="1" dirty="0" smtClean="0"/>
              <a:t>Поставка</a:t>
            </a:r>
            <a:endParaRPr lang="ru-RU" sz="2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80728"/>
            <a:ext cx="57912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981" y="4909145"/>
            <a:ext cx="684847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435045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26064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ВОПРОСЫ К ЛЕКЦИИ</a:t>
            </a:r>
            <a:endParaRPr lang="ru-RU" sz="3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51520" y="1052736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125" indent="-365125"/>
            <a:r>
              <a:rPr lang="ru-RU" sz="2200" dirty="0" smtClean="0"/>
              <a:t>1. Из каких частей состоит реляционная модель, согласно  </a:t>
            </a:r>
            <a:r>
              <a:rPr lang="ru-RU" sz="2200" dirty="0" err="1" smtClean="0"/>
              <a:t>К.Дейту</a:t>
            </a:r>
            <a:r>
              <a:rPr lang="ru-RU" sz="2200" dirty="0" smtClean="0"/>
              <a:t> ... </a:t>
            </a:r>
            <a:endParaRPr lang="ru-R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251520" y="1772816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2. Перечислите реляционные структуры данных ...</a:t>
            </a:r>
            <a:endParaRPr lang="ru-RU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251520" y="2206025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dirty="0" smtClean="0"/>
              <a:t>3. Дайте определение атомарному значению данных</a:t>
            </a:r>
            <a:endParaRPr lang="ru-RU" sz="2200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2636912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dirty="0"/>
              <a:t>4</a:t>
            </a:r>
            <a:r>
              <a:rPr lang="ru-RU" sz="2200" dirty="0" smtClean="0"/>
              <a:t>. Дайте определение домена ...</a:t>
            </a:r>
            <a:endParaRPr lang="ru-RU" sz="2200" dirty="0"/>
          </a:p>
        </p:txBody>
      </p:sp>
      <p:sp>
        <p:nvSpPr>
          <p:cNvPr id="17" name="TextBox 16"/>
          <p:cNvSpPr txBox="1"/>
          <p:nvPr/>
        </p:nvSpPr>
        <p:spPr>
          <a:xfrm>
            <a:off x="251520" y="3068960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dirty="0" smtClean="0"/>
              <a:t>5. Из чего состоит заголовок отношения </a:t>
            </a:r>
            <a:r>
              <a:rPr lang="en-US" sz="2200" dirty="0" smtClean="0"/>
              <a:t>?</a:t>
            </a:r>
            <a:endParaRPr lang="ru-RU" sz="2200" dirty="0"/>
          </a:p>
        </p:txBody>
      </p:sp>
      <p:sp>
        <p:nvSpPr>
          <p:cNvPr id="18" name="TextBox 17"/>
          <p:cNvSpPr txBox="1"/>
          <p:nvPr/>
        </p:nvSpPr>
        <p:spPr>
          <a:xfrm>
            <a:off x="251520" y="3501008"/>
            <a:ext cx="8712968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>
              <a:spcBef>
                <a:spcPts val="300"/>
              </a:spcBef>
            </a:pPr>
            <a:r>
              <a:rPr lang="ru-RU" sz="2200" dirty="0"/>
              <a:t>6</a:t>
            </a:r>
            <a:r>
              <a:rPr lang="ru-RU" sz="2200" dirty="0" smtClean="0"/>
              <a:t>. Из чего состоит тело отношения ?</a:t>
            </a:r>
          </a:p>
          <a:p>
            <a:pPr marL="354013" indent="-354013">
              <a:spcBef>
                <a:spcPts val="300"/>
              </a:spcBef>
            </a:pPr>
            <a:r>
              <a:rPr lang="ru-RU" sz="2200" dirty="0"/>
              <a:t>7</a:t>
            </a:r>
            <a:r>
              <a:rPr lang="ru-RU" sz="2200" dirty="0" smtClean="0"/>
              <a:t>. Что такое степень отношения ?</a:t>
            </a:r>
          </a:p>
          <a:p>
            <a:pPr marL="354013" indent="-354013">
              <a:spcBef>
                <a:spcPts val="300"/>
              </a:spcBef>
            </a:pPr>
            <a:r>
              <a:rPr lang="ru-RU" sz="2200" dirty="0" smtClean="0"/>
              <a:t>8. Какое </a:t>
            </a:r>
            <a:r>
              <a:rPr lang="ru-RU" sz="2200" dirty="0" smtClean="0"/>
              <a:t>из понятий является более постоянным: кардинальное число или степень отношения ? </a:t>
            </a:r>
          </a:p>
          <a:p>
            <a:pPr marL="354013" indent="-354013" algn="just">
              <a:spcBef>
                <a:spcPts val="300"/>
              </a:spcBef>
            </a:pPr>
            <a:r>
              <a:rPr lang="ru-RU" sz="2200" dirty="0" smtClean="0"/>
              <a:t>9. Назовите основные свойства реляционного отношения</a:t>
            </a:r>
            <a:endParaRPr lang="ru-RU" sz="2200" dirty="0"/>
          </a:p>
        </p:txBody>
      </p:sp>
      <p:sp>
        <p:nvSpPr>
          <p:cNvPr id="2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600" dirty="0">
                <a:solidFill>
                  <a:schemeClr val="accent4">
                    <a:lumMod val="75000"/>
                  </a:schemeClr>
                </a:solidFill>
              </a:rPr>
              <a:t>Лекция 3. </a:t>
            </a:r>
            <a:r>
              <a:rPr lang="ru-RU" sz="1800" dirty="0" smtClean="0">
                <a:solidFill>
                  <a:schemeClr val="tx1"/>
                </a:solidFill>
              </a:rPr>
              <a:t>Реляционная модель</a:t>
            </a:r>
            <a:br>
              <a:rPr lang="ru-RU" sz="18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13678252</TotalTime>
  <Words>2310</Words>
  <Application>Microsoft Office PowerPoint</Application>
  <PresentationFormat>Экран (4:3)</PresentationFormat>
  <Paragraphs>348</Paragraphs>
  <Slides>39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Открытая</vt:lpstr>
      <vt:lpstr>Лекция 3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Презентация PowerPoint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Лекция 3. Реляционная модель</vt:lpstr>
      <vt:lpstr>   Лекция 3. Реляционная модель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231</cp:revision>
  <dcterms:created xsi:type="dcterms:W3CDTF">2020-10-04T20:01:59Z</dcterms:created>
  <dcterms:modified xsi:type="dcterms:W3CDTF">2025-09-18T21:57:39Z</dcterms:modified>
</cp:coreProperties>
</file>