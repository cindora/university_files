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83" r:id="rId12"/>
    <p:sldId id="282" r:id="rId13"/>
    <p:sldId id="269" r:id="rId14"/>
    <p:sldId id="296" r:id="rId15"/>
    <p:sldId id="270" r:id="rId16"/>
    <p:sldId id="271" r:id="rId17"/>
    <p:sldId id="272" r:id="rId18"/>
    <p:sldId id="273" r:id="rId19"/>
    <p:sldId id="274" r:id="rId20"/>
    <p:sldId id="278" r:id="rId21"/>
    <p:sldId id="279" r:id="rId22"/>
    <p:sldId id="284" r:id="rId23"/>
    <p:sldId id="285" r:id="rId24"/>
    <p:sldId id="275" r:id="rId25"/>
    <p:sldId id="295" r:id="rId26"/>
    <p:sldId id="293" r:id="rId27"/>
    <p:sldId id="276" r:id="rId28"/>
    <p:sldId id="286" r:id="rId29"/>
    <p:sldId id="287" r:id="rId30"/>
    <p:sldId id="277" r:id="rId31"/>
    <p:sldId id="294" r:id="rId32"/>
    <p:sldId id="288" r:id="rId33"/>
    <p:sldId id="289" r:id="rId34"/>
    <p:sldId id="290" r:id="rId35"/>
    <p:sldId id="280" r:id="rId36"/>
    <p:sldId id="281" r:id="rId37"/>
    <p:sldId id="297" r:id="rId38"/>
    <p:sldId id="291" r:id="rId39"/>
    <p:sldId id="292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8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420FB-3134-4AFB-8A7B-878DBFF2DCBE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D46D9-5F95-4A4A-80A2-82906EEBF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702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93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25.09.2025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9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chemeClr val="bg2"/>
                </a:solidFill>
              </a:rPr>
              <a:t>Лекция 4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700808"/>
            <a:ext cx="6400800" cy="4320480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Целостность </a:t>
            </a:r>
            <a:r>
              <a:rPr lang="ru-RU" sz="5400" b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реляционной модели </a:t>
            </a: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данных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43131" y="6488668"/>
            <a:ext cx="2000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FFC000"/>
                </a:solidFill>
              </a:rPr>
              <a:t>©Монахов В.И.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7" name="Рисунок 6" descr="Каф АСОИиУ логотип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0"/>
            <a:ext cx="1525124" cy="134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164"/>
            <a:ext cx="8640960" cy="1224708"/>
          </a:xfrm>
        </p:spPr>
        <p:txBody>
          <a:bodyPr rtlCol="0">
            <a:noAutofit/>
          </a:bodyPr>
          <a:lstStyle/>
          <a:p>
            <a:pPr marL="365125" indent="-6350" algn="just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Целостность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(от англ.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integrity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– сохранность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, целостность) 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–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это 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правильность данных в любой момент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времени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реляционной модели данных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2564904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125" indent="-6350" algn="just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4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Цель поддержания целостности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БД  - защита от неверных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значений при вводе и изменениях данных</a:t>
            </a:r>
            <a:endParaRPr lang="ru-RU" sz="24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3933057"/>
            <a:ext cx="8568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algn="just"/>
            <a: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Целостность данных - это механизм поддержания соответствия базы данных предметной области</a:t>
            </a:r>
            <a:r>
              <a:rPr lang="ru-RU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 </a:t>
            </a:r>
            <a:endParaRPr lang="ru-RU" sz="2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Целостность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980728"/>
            <a:ext cx="856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Произвольные значения данных могут не соответствовать предметной области, превращаясь в некорректные (неправильные)  данные</a:t>
            </a:r>
            <a:endParaRPr lang="ru-RU" sz="24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60" y="234888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2400" i="1" smtClean="0">
                <a:ea typeface="Times New Roman" pitchFamily="18" charset="0"/>
                <a:cs typeface="Arial" pitchFamily="34" charset="0"/>
              </a:rPr>
              <a:t>Примеры некорректных значений:</a:t>
            </a:r>
            <a:r>
              <a:rPr lang="ru-RU" sz="2400" smtClean="0">
                <a:ea typeface="Times New Roman" pitchFamily="18" charset="0"/>
                <a:cs typeface="Arial" pitchFamily="34" charset="0"/>
              </a:rPr>
              <a:t> </a:t>
            </a:r>
            <a:endParaRPr lang="ru-RU" sz="2400"/>
          </a:p>
        </p:txBody>
      </p:sp>
      <p:sp>
        <p:nvSpPr>
          <p:cNvPr id="11" name="TextBox 10"/>
          <p:cNvSpPr txBox="1"/>
          <p:nvPr/>
        </p:nvSpPr>
        <p:spPr>
          <a:xfrm>
            <a:off x="251520" y="2924944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lvl="0" indent="-3540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530225" algn="l"/>
              </a:tabLst>
            </a:pPr>
            <a:r>
              <a:rPr lang="ru-RU" sz="2400" smtClean="0">
                <a:ea typeface="Times New Roman" pitchFamily="18" charset="0"/>
                <a:cs typeface="Arial" pitchFamily="34" charset="0"/>
              </a:rPr>
              <a:t>нулевой возраст у человека</a:t>
            </a:r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251520" y="3502169"/>
            <a:ext cx="889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lvl="0" indent="-3540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ru-RU" sz="2400" smtClean="0">
                <a:ea typeface="Times New Roman" pitchFamily="18" charset="0"/>
                <a:cs typeface="Arial" pitchFamily="34" charset="0"/>
              </a:rPr>
              <a:t>отрицательный остаток  наличных средств в кассе</a:t>
            </a:r>
            <a:endParaRPr lang="ru-RU" sz="2400"/>
          </a:p>
        </p:txBody>
      </p:sp>
      <p:sp>
        <p:nvSpPr>
          <p:cNvPr id="13" name="TextBox 12"/>
          <p:cNvSpPr txBox="1"/>
          <p:nvPr/>
        </p:nvSpPr>
        <p:spPr>
          <a:xfrm>
            <a:off x="251520" y="4038163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lvl="0" indent="-3540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ru-RU" sz="2400" smtClean="0">
                <a:ea typeface="Times New Roman" pitchFamily="18" charset="0"/>
                <a:cs typeface="Arial" pitchFamily="34" charset="0"/>
              </a:rPr>
              <a:t>оценка на экзамене 7 при 5-балльной шкале оценивания</a:t>
            </a:r>
            <a:endParaRPr lang="ru-RU" sz="2400"/>
          </a:p>
        </p:txBody>
      </p:sp>
      <p:sp>
        <p:nvSpPr>
          <p:cNvPr id="14" name="TextBox 13"/>
          <p:cNvSpPr txBox="1"/>
          <p:nvPr/>
        </p:nvSpPr>
        <p:spPr>
          <a:xfrm>
            <a:off x="251520" y="4797152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lvl="0" indent="-3540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ru-RU" sz="2400" smtClean="0">
                <a:ea typeface="Times New Roman" pitchFamily="18" charset="0"/>
                <a:cs typeface="Arial" pitchFamily="34" charset="0"/>
              </a:rPr>
              <a:t>наличие у двух разных людей паспорта с одним номером</a:t>
            </a:r>
            <a:endParaRPr lang="ru-RU" sz="2400"/>
          </a:p>
        </p:txBody>
      </p:sp>
      <p:sp>
        <p:nvSpPr>
          <p:cNvPr id="15" name="TextBox 14"/>
          <p:cNvSpPr txBox="1"/>
          <p:nvPr/>
        </p:nvSpPr>
        <p:spPr>
          <a:xfrm>
            <a:off x="251520" y="5559623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indent="-354013">
              <a:buFont typeface="Wingdings" pitchFamily="2" charset="2"/>
              <a:buChar char="§"/>
            </a:pPr>
            <a:r>
              <a:rPr lang="ru-RU" sz="2400" smtClean="0">
                <a:ea typeface="Times New Roman" pitchFamily="18" charset="0"/>
                <a:cs typeface="Arial" pitchFamily="34" charset="0"/>
              </a:rPr>
              <a:t>указание в адресе несуществующего номера дома</a:t>
            </a:r>
            <a:endParaRPr lang="ru-RU" sz="2400"/>
          </a:p>
        </p:txBody>
      </p:sp>
      <p:sp>
        <p:nvSpPr>
          <p:cNvPr id="19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Некорректные  данные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1254239"/>
            <a:ext cx="8352928" cy="936104"/>
          </a:xfrm>
        </p:spPr>
        <p:txBody>
          <a:bodyPr rtlCol="0">
            <a:noAutofit/>
          </a:bodyPr>
          <a:lstStyle/>
          <a:p>
            <a:pPr marL="180975" lvl="0" indent="0" algn="just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400" dirty="0" smtClean="0">
                <a:ea typeface="Times New Roman" pitchFamily="18" charset="0"/>
                <a:cs typeface="Arial" pitchFamily="34" charset="0"/>
              </a:rPr>
              <a:t>Для поддержания целостности в БД </a:t>
            </a:r>
            <a:r>
              <a:rPr lang="ru-RU" sz="2400" dirty="0" smtClean="0">
                <a:ea typeface="Times New Roman" pitchFamily="18" charset="0"/>
                <a:cs typeface="Arial" pitchFamily="34" charset="0"/>
              </a:rPr>
              <a:t>добавляют  </a:t>
            </a:r>
            <a:r>
              <a:rPr lang="ru-RU" sz="2400" dirty="0" smtClean="0">
                <a:ea typeface="Times New Roman" pitchFamily="18" charset="0"/>
                <a:cs typeface="Arial" pitchFamily="34" charset="0"/>
              </a:rPr>
              <a:t>специальные правила (ограничения)  </a:t>
            </a:r>
          </a:p>
          <a:p>
            <a:pPr marL="180975" lvl="0" indent="0" algn="just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400" dirty="0" smtClean="0">
                <a:ea typeface="Times New Roman" pitchFamily="18" charset="0"/>
                <a:cs typeface="Arial" pitchFamily="34" charset="0"/>
              </a:rPr>
              <a:t>-  </a:t>
            </a:r>
            <a:r>
              <a:rPr lang="ru-RU" sz="2400" b="1" i="1" dirty="0" smtClean="0">
                <a:ea typeface="Times New Roman" pitchFamily="18" charset="0"/>
                <a:cs typeface="Arial" pitchFamily="34" charset="0"/>
              </a:rPr>
              <a:t>правила целостности</a:t>
            </a:r>
            <a:endParaRPr lang="ru-RU" sz="2400" b="1" dirty="0" smtClean="0">
              <a:ea typeface="Times New Roman" pitchFamily="18" charset="0"/>
              <a:cs typeface="Arial" pitchFamily="34" charset="0"/>
            </a:endParaRPr>
          </a:p>
          <a:p>
            <a:pPr marL="180975" lvl="0" indent="0" algn="just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2400" dirty="0" smtClean="0">
              <a:ea typeface="Times New Roman" pitchFamily="18" charset="0"/>
              <a:cs typeface="Arial" pitchFamily="34" charset="0"/>
            </a:endParaRPr>
          </a:p>
          <a:p>
            <a:pPr marL="180975" lvl="0" indent="0" algn="just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2400" dirty="0" smtClean="0">
              <a:ea typeface="Times New Roman" pitchFamily="18" charset="0"/>
              <a:cs typeface="Arial" pitchFamily="34" charset="0"/>
            </a:endParaRPr>
          </a:p>
          <a:p>
            <a:pPr marL="180975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2400" dirty="0" smtClean="0">
              <a:ea typeface="Times New Roman" pitchFamily="18" charset="0"/>
              <a:cs typeface="Arial" pitchFamily="34" charset="0"/>
            </a:endParaRPr>
          </a:p>
          <a:p>
            <a:pPr marL="180975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400" dirty="0" smtClean="0">
                <a:ea typeface="Times New Roman" pitchFamily="18" charset="0"/>
                <a:cs typeface="Arial" pitchFamily="34" charset="0"/>
              </a:rPr>
              <a:t> </a:t>
            </a:r>
            <a:endParaRPr lang="ru-RU" sz="3200" dirty="0" smtClean="0">
              <a:cs typeface="Arial" pitchFamily="34" charset="0"/>
            </a:endParaRPr>
          </a:p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0" y="6858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720000" algn="just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2694399"/>
            <a:ext cx="8280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i="1" smtClean="0">
                <a:ea typeface="Times New Roman" pitchFamily="18" charset="0"/>
                <a:cs typeface="Arial" pitchFamily="34" charset="0"/>
              </a:rPr>
              <a:t>Назначение правил целостности</a:t>
            </a:r>
            <a:r>
              <a:rPr lang="ru-RU" sz="2800" smtClean="0">
                <a:ea typeface="Times New Roman" pitchFamily="18" charset="0"/>
                <a:cs typeface="Arial" pitchFamily="34" charset="0"/>
              </a:rPr>
              <a:t> - информировать СУБД об ограничениях предметной области для предотвращения появление недопустимых конфигураций данных</a:t>
            </a:r>
            <a:endParaRPr lang="ru-RU" sz="280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Обеспечение целостности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ru-RU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196752"/>
            <a:ext cx="8820472" cy="504056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endParaRPr lang="ru-RU" sz="2800" dirty="0" smtClean="0"/>
          </a:p>
          <a:p>
            <a:endParaRPr lang="ru-RU" sz="2800" dirty="0" smtClean="0">
              <a:latin typeface="Arial" pitchFamily="34" charset="0"/>
              <a:cs typeface="Arial" pitchFamily="34" charset="0"/>
            </a:endParaRPr>
          </a:p>
          <a:p>
            <a:endParaRPr lang="ru-RU" sz="2800" dirty="0">
              <a:latin typeface="Arial" pitchFamily="34" charset="0"/>
              <a:cs typeface="Arial" pitchFamily="34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4326195"/>
            <a:ext cx="763284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cs typeface="Arial" pitchFamily="34" charset="0"/>
              </a:rPr>
              <a:t>Правила  1-3 являются </a:t>
            </a:r>
            <a:r>
              <a:rPr lang="ru-RU" sz="2400" b="1" dirty="0" smtClean="0">
                <a:cs typeface="Arial" pitchFamily="34" charset="0"/>
              </a:rPr>
              <a:t>базовыми</a:t>
            </a:r>
            <a:r>
              <a:rPr lang="ru-RU" sz="2400" dirty="0" smtClean="0">
                <a:cs typeface="Arial" pitchFamily="34" charset="0"/>
              </a:rPr>
              <a:t> и должны поддерживаться в любой реляционной </a:t>
            </a:r>
            <a:r>
              <a:rPr lang="ru-RU" sz="2400" dirty="0" smtClean="0">
                <a:cs typeface="Arial" pitchFamily="34" charset="0"/>
              </a:rPr>
              <a:t>СУБД</a:t>
            </a:r>
          </a:p>
          <a:p>
            <a:pPr algn="just">
              <a:spcBef>
                <a:spcPts val="1200"/>
              </a:spcBef>
            </a:pPr>
            <a:r>
              <a:rPr lang="ru-RU" sz="2400" dirty="0" smtClean="0">
                <a:cs typeface="Arial" pitchFamily="34" charset="0"/>
              </a:rPr>
              <a:t>Правило 4 определяется предметной областью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Правила целостности</a:t>
            </a:r>
            <a:endParaRPr lang="ru-RU" sz="3600" b="1"/>
          </a:p>
        </p:txBody>
      </p:sp>
      <p:sp>
        <p:nvSpPr>
          <p:cNvPr id="14" name="TextBox 13"/>
          <p:cNvSpPr txBox="1"/>
          <p:nvPr/>
        </p:nvSpPr>
        <p:spPr>
          <a:xfrm>
            <a:off x="899592" y="1556792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2400" dirty="0" smtClean="0">
                <a:cs typeface="Arial" pitchFamily="34" charset="0"/>
              </a:rPr>
              <a:t>Целостность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атрибута</a:t>
            </a:r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9592" y="2103239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2"/>
            </a:pPr>
            <a:r>
              <a:rPr lang="ru-RU" sz="2400" dirty="0" smtClean="0">
                <a:cs typeface="Arial" pitchFamily="34" charset="0"/>
              </a:rPr>
              <a:t>Целостность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отношений</a:t>
            </a:r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9592" y="270892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3"/>
            </a:pPr>
            <a:r>
              <a:rPr lang="ru-RU" sz="2400" dirty="0" smtClean="0">
                <a:cs typeface="Arial" pitchFamily="34" charset="0"/>
              </a:rPr>
              <a:t>Целостность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по ссылкам</a:t>
            </a:r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9592" y="3327375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4"/>
            </a:pPr>
            <a:r>
              <a:rPr lang="ru-RU" sz="2400" dirty="0" smtClean="0">
                <a:cs typeface="Arial" pitchFamily="34" charset="0"/>
              </a:rPr>
              <a:t>Целостность,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определяемая пользователем </a:t>
            </a:r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79512" y="1772816"/>
            <a:ext cx="3888432" cy="1800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541338" indent="-450850" algn="just"/>
            <a:r>
              <a:rPr lang="ru-RU" sz="2400" b="1" smtClean="0">
                <a:cs typeface="Arial" pitchFamily="34" charset="0"/>
              </a:rPr>
              <a:t>Требование</a:t>
            </a:r>
            <a:r>
              <a:rPr lang="ru-RU" sz="2400" b="1" dirty="0" smtClean="0">
                <a:cs typeface="Arial" pitchFamily="34" charset="0"/>
              </a:rPr>
              <a:t>:</a:t>
            </a:r>
            <a:r>
              <a:rPr lang="ru-RU" sz="2400" dirty="0" smtClean="0">
                <a:cs typeface="Arial" pitchFamily="34" charset="0"/>
              </a:rPr>
              <a:t> значения</a:t>
            </a:r>
          </a:p>
          <a:p>
            <a:pPr marL="541338" indent="-450850" algn="just"/>
            <a:r>
              <a:rPr lang="ru-RU" sz="2400" dirty="0" smtClean="0">
                <a:cs typeface="Arial" pitchFamily="34" charset="0"/>
              </a:rPr>
              <a:t>   каждого </a:t>
            </a:r>
            <a:r>
              <a:rPr lang="ru-RU" sz="2400" dirty="0">
                <a:cs typeface="Arial" pitchFamily="34" charset="0"/>
              </a:rPr>
              <a:t>атрибута </a:t>
            </a:r>
            <a:endParaRPr lang="ru-RU" sz="2400" dirty="0" smtClean="0">
              <a:cs typeface="Arial" pitchFamily="34" charset="0"/>
            </a:endParaRPr>
          </a:p>
          <a:p>
            <a:pPr marL="541338" indent="-450850" algn="just"/>
            <a:r>
              <a:rPr lang="ru-RU" sz="2400" dirty="0" smtClean="0">
                <a:cs typeface="Arial" pitchFamily="34" charset="0"/>
              </a:rPr>
              <a:t>   должны браться </a:t>
            </a:r>
          </a:p>
          <a:p>
            <a:pPr marL="541338" indent="-450850" algn="just"/>
            <a:r>
              <a:rPr lang="ru-RU" sz="2400" dirty="0" smtClean="0">
                <a:cs typeface="Arial" pitchFamily="34" charset="0"/>
              </a:rPr>
              <a:t>   из </a:t>
            </a:r>
            <a:r>
              <a:rPr lang="ru-RU" sz="2400" dirty="0">
                <a:cs typeface="Arial" pitchFamily="34" charset="0"/>
              </a:rPr>
              <a:t>соответствующего </a:t>
            </a:r>
            <a:endParaRPr lang="ru-RU" sz="2400" dirty="0" smtClean="0">
              <a:cs typeface="Arial" pitchFamily="34" charset="0"/>
            </a:endParaRPr>
          </a:p>
          <a:p>
            <a:pPr marL="541338" indent="-450850" algn="just"/>
            <a:r>
              <a:rPr lang="ru-RU" sz="2400" dirty="0" smtClean="0">
                <a:cs typeface="Arial" pitchFamily="34" charset="0"/>
              </a:rPr>
              <a:t>   домена</a:t>
            </a: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Arial" pitchFamily="34" charset="0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916832"/>
            <a:ext cx="508635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1. Целостность атрибута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052736"/>
            <a:ext cx="8640960" cy="1296144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95250" algn="just"/>
            <a:r>
              <a:rPr lang="ru-RU" sz="2800" b="1" smtClean="0">
                <a:cs typeface="Arial" pitchFamily="34" charset="0"/>
              </a:rPr>
              <a:t>Требование</a:t>
            </a:r>
            <a:r>
              <a:rPr lang="ru-RU" sz="2800" b="1" dirty="0" smtClean="0">
                <a:cs typeface="Arial" pitchFamily="34" charset="0"/>
              </a:rPr>
              <a:t>:</a:t>
            </a:r>
            <a:r>
              <a:rPr lang="ru-RU" sz="2800" dirty="0" smtClean="0">
                <a:cs typeface="Arial" pitchFamily="34" charset="0"/>
              </a:rPr>
              <a:t> кортеж </a:t>
            </a:r>
            <a:r>
              <a:rPr lang="ru-RU" sz="2800" dirty="0">
                <a:cs typeface="Arial" pitchFamily="34" charset="0"/>
              </a:rPr>
              <a:t>любого отношения </a:t>
            </a:r>
            <a:r>
              <a:rPr lang="ru-RU" sz="2800" b="1" i="1" dirty="0" smtClean="0">
                <a:cs typeface="Arial" pitchFamily="34" charset="0"/>
              </a:rPr>
              <a:t>должен  отличаться</a:t>
            </a:r>
            <a:r>
              <a:rPr lang="ru-RU" sz="2800" dirty="0" smtClean="0">
                <a:cs typeface="Arial" pitchFamily="34" charset="0"/>
              </a:rPr>
              <a:t> </a:t>
            </a:r>
            <a:r>
              <a:rPr lang="ru-RU" sz="2800" dirty="0">
                <a:cs typeface="Arial" pitchFamily="34" charset="0"/>
              </a:rPr>
              <a:t>от любого другого кортежа </a:t>
            </a:r>
            <a:r>
              <a:rPr lang="ru-RU" sz="2800">
                <a:cs typeface="Arial" pitchFamily="34" charset="0"/>
              </a:rPr>
              <a:t>этого </a:t>
            </a:r>
            <a:r>
              <a:rPr lang="ru-RU" sz="2800" smtClean="0">
                <a:cs typeface="Arial" pitchFamily="34" charset="0"/>
              </a:rPr>
              <a:t>отношения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5618" y="3356992"/>
            <a:ext cx="6809402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2. Целостность отношений</a:t>
            </a:r>
            <a:endParaRPr lang="ru-RU" sz="36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2381979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>
                <a:cs typeface="Arial" pitchFamily="34" charset="0"/>
              </a:rPr>
              <a:t>Т.е. любое отношение должно обладать </a:t>
            </a:r>
            <a:r>
              <a:rPr lang="ru-RU" sz="2400" b="1" i="1" smtClean="0">
                <a:cs typeface="Arial" pitchFamily="34" charset="0"/>
              </a:rPr>
              <a:t>первичным ключом</a:t>
            </a:r>
            <a:r>
              <a:rPr lang="ru-RU" sz="2400" smtClean="0">
                <a:cs typeface="Arial" pitchFamily="34" charset="0"/>
              </a:rPr>
              <a:t>, который поддерживает уникальность кортежей 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628800"/>
            <a:ext cx="8208912" cy="136815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541338" algn="just"/>
            <a:r>
              <a:rPr lang="ru-RU" sz="2800" b="1" i="1" smtClean="0">
                <a:cs typeface="Arial" pitchFamily="34" charset="0"/>
              </a:rPr>
              <a:t>Первичный </a:t>
            </a:r>
            <a:r>
              <a:rPr lang="ru-RU" sz="2800" b="1" i="1" dirty="0" smtClean="0">
                <a:cs typeface="Arial" pitchFamily="34" charset="0"/>
              </a:rPr>
              <a:t>ключ</a:t>
            </a:r>
            <a:r>
              <a:rPr lang="ru-RU" sz="2800" dirty="0" smtClean="0">
                <a:cs typeface="Arial" pitchFamily="34" charset="0"/>
              </a:rPr>
              <a:t> </a:t>
            </a:r>
            <a:r>
              <a:rPr lang="ru-RU" sz="2800" b="1" dirty="0" smtClean="0">
                <a:cs typeface="Arial" pitchFamily="34" charset="0"/>
              </a:rPr>
              <a:t>(</a:t>
            </a:r>
            <a:r>
              <a:rPr lang="en-US" sz="2800" b="1" dirty="0" smtClean="0">
                <a:cs typeface="Arial" pitchFamily="34" charset="0"/>
              </a:rPr>
              <a:t>Primary Key</a:t>
            </a:r>
            <a:r>
              <a:rPr lang="ru-RU" sz="2800" b="1" dirty="0" smtClean="0">
                <a:cs typeface="Arial" pitchFamily="34" charset="0"/>
              </a:rPr>
              <a:t> - </a:t>
            </a:r>
            <a:r>
              <a:rPr lang="en-US" sz="2800" b="1" dirty="0" smtClean="0">
                <a:cs typeface="Arial" pitchFamily="34" charset="0"/>
              </a:rPr>
              <a:t>PK</a:t>
            </a:r>
            <a:r>
              <a:rPr lang="ru-RU" sz="2800" b="1" dirty="0" smtClean="0">
                <a:cs typeface="Arial" pitchFamily="34" charset="0"/>
              </a:rPr>
              <a:t>)</a:t>
            </a:r>
            <a:r>
              <a:rPr lang="ru-RU" sz="2800" dirty="0" smtClean="0">
                <a:cs typeface="Arial" pitchFamily="34" charset="0"/>
              </a:rPr>
              <a:t> – </a:t>
            </a:r>
            <a:endParaRPr lang="en-US" sz="2800" dirty="0" smtClean="0">
              <a:cs typeface="Arial" pitchFamily="34" charset="0"/>
            </a:endParaRPr>
          </a:p>
          <a:p>
            <a:pPr marL="541338" algn="just"/>
            <a:r>
              <a:rPr lang="ru-RU" sz="2800" smtClean="0">
                <a:cs typeface="Arial" pitchFamily="34" charset="0"/>
              </a:rPr>
              <a:t>это </a:t>
            </a:r>
            <a:r>
              <a:rPr lang="ru-RU" sz="2800" dirty="0" smtClean="0">
                <a:cs typeface="Arial" pitchFamily="34" charset="0"/>
              </a:rPr>
              <a:t>набор атрибутов, </a:t>
            </a:r>
            <a:r>
              <a:rPr lang="ru-RU" sz="2800" smtClean="0">
                <a:cs typeface="Arial" pitchFamily="34" charset="0"/>
              </a:rPr>
              <a:t>обладающий следующими свойствами: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Первичный  ключ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616" y="3140968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1338" lvl="0" indent="-541338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smtClean="0">
                <a:cs typeface="Arial" pitchFamily="34" charset="0"/>
              </a:rPr>
              <a:t>свойством </a:t>
            </a:r>
            <a:r>
              <a:rPr lang="ru-RU" sz="2800" b="1" i="1" smtClean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уникальности</a:t>
            </a:r>
            <a:r>
              <a:rPr lang="ru-RU" sz="2800" smtClean="0">
                <a:cs typeface="Arial" pitchFamily="34" charset="0"/>
              </a:rPr>
              <a:t>    </a:t>
            </a:r>
            <a:endParaRPr lang="ru-RU" sz="2800"/>
          </a:p>
        </p:txBody>
      </p:sp>
      <p:sp>
        <p:nvSpPr>
          <p:cNvPr id="13" name="TextBox 12"/>
          <p:cNvSpPr txBox="1"/>
          <p:nvPr/>
        </p:nvSpPr>
        <p:spPr>
          <a:xfrm>
            <a:off x="1115616" y="3789040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lvl="0" indent="-530225">
              <a:buFont typeface="Arial" pitchFamily="34" charset="0"/>
              <a:buChar char="•"/>
            </a:pPr>
            <a:r>
              <a:rPr lang="ru-RU" sz="2800" smtClean="0">
                <a:cs typeface="Arial" pitchFamily="34" charset="0"/>
              </a:rPr>
              <a:t>свойством </a:t>
            </a:r>
            <a:r>
              <a:rPr lang="ru-RU" sz="2800" b="1" i="1" smtClean="0">
                <a:solidFill>
                  <a:srgbClr val="00B050"/>
                </a:solidFill>
                <a:cs typeface="Arial" pitchFamily="34" charset="0"/>
              </a:rPr>
              <a:t>неизбыточности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96752"/>
            <a:ext cx="8640960" cy="79208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lvl="0" algn="just">
              <a:spcAft>
                <a:spcPts val="1200"/>
              </a:spcAft>
            </a:pPr>
            <a:r>
              <a:rPr lang="en-US" sz="2800" b="1" dirty="0" smtClean="0">
                <a:cs typeface="Arial" pitchFamily="34" charset="0"/>
              </a:rPr>
              <a:t>1. </a:t>
            </a:r>
            <a:r>
              <a:rPr lang="ru-RU" sz="2800" b="1" dirty="0" smtClean="0">
                <a:cs typeface="Arial" pitchFamily="34" charset="0"/>
              </a:rPr>
              <a:t>Свойство </a:t>
            </a:r>
            <a:r>
              <a:rPr lang="ru-RU" sz="2800" b="1" i="1" dirty="0" smtClean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уникальности  первичного ключа</a:t>
            </a:r>
            <a:r>
              <a:rPr lang="ru-RU" sz="2800" dirty="0" smtClean="0">
                <a:cs typeface="Arial" pitchFamily="34" charset="0"/>
              </a:rPr>
              <a:t>: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2996952"/>
            <a:ext cx="3789040" cy="355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Свойств</a:t>
            </a:r>
            <a:r>
              <a:rPr lang="en-US" sz="3600" b="1" smtClean="0">
                <a:latin typeface="+mj-lt"/>
                <a:cs typeface="Arial" pitchFamily="34" charset="0"/>
              </a:rPr>
              <a:t>a</a:t>
            </a:r>
            <a:r>
              <a:rPr lang="ru-RU" sz="3600" b="1" smtClean="0">
                <a:latin typeface="+mj-lt"/>
                <a:cs typeface="Arial" pitchFamily="34" charset="0"/>
              </a:rPr>
              <a:t> </a:t>
            </a:r>
            <a:r>
              <a:rPr lang="en-US" sz="3600" b="1" i="1" smtClean="0">
                <a:latin typeface="+mj-lt"/>
                <a:cs typeface="Arial" pitchFamily="34" charset="0"/>
              </a:rPr>
              <a:t>PK</a:t>
            </a:r>
            <a:endParaRPr lang="ru-RU" sz="36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1844824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smtClean="0">
                <a:cs typeface="Arial" pitchFamily="34" charset="0"/>
              </a:rPr>
              <a:t>Нет двух разных кортежей с одинаковыми значениями первичного ключа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412776"/>
            <a:ext cx="8640960" cy="64807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lvl="0">
              <a:spcAft>
                <a:spcPts val="1200"/>
              </a:spcAft>
            </a:pPr>
            <a:r>
              <a:rPr lang="ru-RU" sz="2800" b="1" dirty="0" smtClean="0">
                <a:latin typeface="+mj-lt"/>
                <a:cs typeface="Arial" pitchFamily="34" charset="0"/>
              </a:rPr>
              <a:t>2. Свойство </a:t>
            </a:r>
            <a:r>
              <a:rPr lang="ru-RU" sz="2800" b="1" i="1" dirty="0" err="1" smtClean="0">
                <a:solidFill>
                  <a:srgbClr val="00B050"/>
                </a:solidFill>
                <a:latin typeface="+mj-lt"/>
                <a:cs typeface="Arial" pitchFamily="34" charset="0"/>
              </a:rPr>
              <a:t>неизбыточности</a:t>
            </a:r>
            <a:r>
              <a:rPr lang="ru-RU" sz="2800" b="1" i="1" dirty="0" smtClean="0">
                <a:latin typeface="+mj-lt"/>
                <a:cs typeface="Arial" pitchFamily="34" charset="0"/>
              </a:rPr>
              <a:t>  </a:t>
            </a:r>
            <a:r>
              <a:rPr lang="en-US" sz="2800" b="1" i="1" dirty="0" smtClean="0">
                <a:latin typeface="+mj-lt"/>
                <a:cs typeface="Arial" pitchFamily="34" charset="0"/>
              </a:rPr>
              <a:t>PK</a:t>
            </a:r>
            <a:r>
              <a:rPr lang="ru-RU" sz="2800" b="1" dirty="0" smtClean="0">
                <a:latin typeface="+mj-lt"/>
                <a:cs typeface="Arial" pitchFamily="34" charset="0"/>
              </a:rPr>
              <a:t>: </a:t>
            </a: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Свойств</a:t>
            </a:r>
            <a:r>
              <a:rPr lang="en-US" sz="3600" b="1" smtClean="0">
                <a:latin typeface="+mj-lt"/>
                <a:cs typeface="Arial" pitchFamily="34" charset="0"/>
              </a:rPr>
              <a:t>a</a:t>
            </a:r>
            <a:r>
              <a:rPr lang="ru-RU" sz="3600" b="1" smtClean="0">
                <a:latin typeface="+mj-lt"/>
                <a:cs typeface="Arial" pitchFamily="34" charset="0"/>
              </a:rPr>
              <a:t> </a:t>
            </a:r>
            <a:r>
              <a:rPr lang="en-US" sz="3600" b="1" i="1" smtClean="0">
                <a:latin typeface="+mj-lt"/>
                <a:cs typeface="Arial" pitchFamily="34" charset="0"/>
              </a:rPr>
              <a:t>PK</a:t>
            </a:r>
            <a:endParaRPr lang="ru-RU" sz="36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2132856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800" smtClean="0">
                <a:cs typeface="Arial" pitchFamily="34" charset="0"/>
              </a:rPr>
              <a:t>Никакое подмножество атрибутов первичного ключа не обладает  свойством уникальности </a:t>
            </a:r>
            <a:endParaRPr lang="ru-RU" sz="2800"/>
          </a:p>
        </p:txBody>
      </p:sp>
      <p:sp>
        <p:nvSpPr>
          <p:cNvPr id="12" name="TextBox 11"/>
          <p:cNvSpPr txBox="1"/>
          <p:nvPr/>
        </p:nvSpPr>
        <p:spPr>
          <a:xfrm>
            <a:off x="539552" y="3629342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ru-RU" sz="2800" smtClean="0">
                <a:cs typeface="Arial" pitchFamily="34" charset="0"/>
              </a:rPr>
              <a:t>Т.е. исключение из набора любого атрибута уже не позволяет идентифицировать кортеж по оставшимся атрибутам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79512" y="692696"/>
            <a:ext cx="8964488" cy="2989477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980728"/>
            <a:ext cx="8640960" cy="864096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54013" lvl="0" indent="-354013" algn="just"/>
            <a:r>
              <a:rPr lang="ru-RU" sz="2400" i="1" smtClean="0">
                <a:latin typeface="Arial" pitchFamily="34" charset="0"/>
                <a:cs typeface="Arial" pitchFamily="34" charset="0"/>
              </a:rPr>
              <a:t>Выберем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первичный ключ в отношении СОТРУДНИК:       </a:t>
            </a:r>
            <a:r>
              <a:rPr lang="ru-RU" sz="2400" b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Табельный </a:t>
            </a:r>
            <a:r>
              <a:rPr lang="ru-RU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номер + </a:t>
            </a:r>
            <a:r>
              <a:rPr lang="ru-RU" sz="2400" b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Номер отдела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700808"/>
            <a:ext cx="5472608" cy="271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Пример избыточного </a:t>
            </a:r>
            <a:r>
              <a:rPr lang="en-US" sz="3600" b="1" i="1" smtClean="0">
                <a:latin typeface="+mj-lt"/>
                <a:cs typeface="Arial" pitchFamily="34" charset="0"/>
              </a:rPr>
              <a:t>PK</a:t>
            </a:r>
            <a:endParaRPr lang="ru-RU" sz="36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4365104"/>
            <a:ext cx="835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200" smtClean="0">
                <a:latin typeface="Arial" pitchFamily="34" charset="0"/>
                <a:cs typeface="Arial" pitchFamily="34" charset="0"/>
              </a:rPr>
              <a:t>При использовании такого ключа СУБД не сможет обеспечить уникальность кортежа атрибутом сотрудника </a:t>
            </a:r>
            <a:r>
              <a:rPr lang="ru-RU" sz="2200" b="1" smtClean="0">
                <a:latin typeface="Arial" pitchFamily="34" charset="0"/>
                <a:cs typeface="Arial" pitchFamily="34" charset="0"/>
              </a:rPr>
              <a:t>в глобальном смысле 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(в отношении)</a:t>
            </a:r>
            <a:endParaRPr lang="ru-RU" sz="2200"/>
          </a:p>
        </p:txBody>
      </p:sp>
      <p:sp>
        <p:nvSpPr>
          <p:cNvPr id="12" name="TextBox 11"/>
          <p:cNvSpPr txBox="1"/>
          <p:nvPr/>
        </p:nvSpPr>
        <p:spPr>
          <a:xfrm>
            <a:off x="827584" y="5373216"/>
            <a:ext cx="8316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200" smtClean="0">
                <a:latin typeface="Arial" pitchFamily="34" charset="0"/>
                <a:cs typeface="Arial" pitchFamily="34" charset="0"/>
              </a:rPr>
              <a:t>СУБД будет контролировать выполнение более слабого ограничения:  уникальность сотрудника только </a:t>
            </a:r>
            <a:r>
              <a:rPr lang="ru-RU" sz="2200" b="1" i="1" smtClean="0">
                <a:latin typeface="Arial" pitchFamily="34" charset="0"/>
                <a:cs typeface="Arial" pitchFamily="34" charset="0"/>
              </a:rPr>
              <a:t>в пределах </a:t>
            </a:r>
          </a:p>
          <a:p>
            <a:pPr lvl="0" algn="just"/>
            <a:r>
              <a:rPr lang="ru-RU" sz="2200" b="1" i="1" smtClean="0">
                <a:latin typeface="Arial" pitchFamily="34" charset="0"/>
                <a:cs typeface="Arial" pitchFamily="34" charset="0"/>
              </a:rPr>
              <a:t>                        одного отдела</a:t>
            </a:r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611560" y="1196752"/>
            <a:ext cx="7920880" cy="504056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695325" indent="-514350">
              <a:buFont typeface="+mj-lt"/>
              <a:buAutoNum type="arabicPeriod"/>
            </a:pPr>
            <a:r>
              <a:rPr lang="ru-RU" sz="2800" smtClean="0">
                <a:cs typeface="Arial" pitchFamily="34" charset="0"/>
              </a:rPr>
              <a:t>простой </a:t>
            </a:r>
            <a:r>
              <a:rPr lang="ru-RU" sz="2800" dirty="0" smtClean="0">
                <a:cs typeface="Arial" pitchFamily="34" charset="0"/>
              </a:rPr>
              <a:t>ключ</a:t>
            </a:r>
            <a:r>
              <a:rPr lang="en-US" sz="2800" smtClean="0">
                <a:cs typeface="Arial" pitchFamily="34" charset="0"/>
              </a:rPr>
              <a:t>:</a:t>
            </a:r>
            <a:r>
              <a:rPr lang="ru-RU" sz="2800" smtClean="0">
                <a:cs typeface="Arial" pitchFamily="34" charset="0"/>
              </a:rPr>
              <a:t>  включает один атрибут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Рекомендации при выборе РК</a:t>
            </a:r>
            <a:endParaRPr lang="ru-RU" sz="3600"/>
          </a:p>
        </p:txBody>
      </p:sp>
      <p:sp>
        <p:nvSpPr>
          <p:cNvPr id="10" name="TextBox 9"/>
          <p:cNvSpPr txBox="1"/>
          <p:nvPr/>
        </p:nvSpPr>
        <p:spPr>
          <a:xfrm>
            <a:off x="611560" y="1772816"/>
            <a:ext cx="7848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5325" indent="-514350">
              <a:buFont typeface="+mj-lt"/>
              <a:buAutoNum type="arabicPeriod" startAt="2"/>
            </a:pPr>
            <a:r>
              <a:rPr lang="ru-RU" sz="2800" smtClean="0">
                <a:cs typeface="Arial" pitchFamily="34" charset="0"/>
              </a:rPr>
              <a:t>короткий текстовый или целочисленный атрибут</a:t>
            </a:r>
            <a:endParaRPr lang="ru-RU" sz="2800"/>
          </a:p>
        </p:txBody>
      </p:sp>
      <p:sp>
        <p:nvSpPr>
          <p:cNvPr id="12" name="TextBox 11"/>
          <p:cNvSpPr txBox="1"/>
          <p:nvPr/>
        </p:nvSpPr>
        <p:spPr>
          <a:xfrm>
            <a:off x="323528" y="2780928"/>
            <a:ext cx="8496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cs typeface="Arial" pitchFamily="34" charset="0"/>
              </a:rPr>
              <a:t>В отношении СОТРУДНИК  </a:t>
            </a:r>
          </a:p>
          <a:p>
            <a:r>
              <a:rPr lang="ru-RU" sz="2800" dirty="0" smtClean="0">
                <a:cs typeface="Arial" pitchFamily="34" charset="0"/>
              </a:rPr>
              <a:t>     РК  - атрибут «табельный номер»  </a:t>
            </a:r>
          </a:p>
          <a:p>
            <a:r>
              <a:rPr lang="ru-RU" sz="2800" dirty="0" smtClean="0">
                <a:cs typeface="Arial" pitchFamily="34" charset="0"/>
              </a:rPr>
              <a:t>простой    </a:t>
            </a:r>
          </a:p>
          <a:p>
            <a:r>
              <a:rPr lang="ru-RU" sz="2800" dirty="0" smtClean="0">
                <a:cs typeface="Arial" pitchFamily="34" charset="0"/>
              </a:rPr>
              <a:t>короткий текстовый </a:t>
            </a:r>
            <a:r>
              <a:rPr lang="ru-RU" sz="2800" dirty="0" smtClean="0">
                <a:cs typeface="Arial" pitchFamily="34" charset="0"/>
              </a:rPr>
              <a:t>атрибут</a:t>
            </a:r>
            <a:endParaRPr lang="ru-RU" sz="2800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6498" y="4077072"/>
            <a:ext cx="2792006" cy="2621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196752"/>
            <a:ext cx="8732666" cy="100811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0363" indent="-360363"/>
            <a:r>
              <a:rPr lang="ru-RU" sz="2800" b="1" dirty="0" smtClean="0"/>
              <a:t>Естественный</a:t>
            </a:r>
            <a:r>
              <a:rPr lang="ru-RU" sz="2800" dirty="0" smtClean="0"/>
              <a:t> ключ – использует атрибут, который существует в реальной предметной области</a:t>
            </a:r>
            <a:endParaRPr lang="ru-RU" sz="2800" dirty="0" smtClean="0">
              <a:cs typeface="Arial" pitchFamily="34" charset="0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latin typeface="+mj-lt"/>
                <a:cs typeface="Arial" pitchFamily="34" charset="0"/>
              </a:rPr>
              <a:t>Естественные и суррогатные ключи</a:t>
            </a:r>
            <a:endParaRPr lang="ru-RU" sz="3600" dirty="0">
              <a:latin typeface="+mj-lt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b="45395"/>
          <a:stretch/>
        </p:blipFill>
        <p:spPr bwMode="auto">
          <a:xfrm>
            <a:off x="6251821" y="2189553"/>
            <a:ext cx="2792006" cy="1431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Прямая со стрелкой 15"/>
          <p:cNvCxnSpPr/>
          <p:nvPr/>
        </p:nvCxnSpPr>
        <p:spPr>
          <a:xfrm>
            <a:off x="5652120" y="3284984"/>
            <a:ext cx="1224136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6607" y="2636912"/>
            <a:ext cx="489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/>
            <a:r>
              <a:rPr lang="ru-RU" sz="2400" i="1" dirty="0" smtClean="0"/>
              <a:t>Пример</a:t>
            </a:r>
            <a:r>
              <a:rPr lang="ru-RU" sz="2400" dirty="0" smtClean="0"/>
              <a:t>. </a:t>
            </a:r>
            <a:r>
              <a:rPr lang="ru-RU" sz="2400" b="1" dirty="0" smtClean="0">
                <a:solidFill>
                  <a:srgbClr val="0070C0"/>
                </a:solidFill>
              </a:rPr>
              <a:t>Табельный номер</a:t>
            </a:r>
            <a:r>
              <a:rPr lang="ru-RU" sz="2400" dirty="0" smtClean="0"/>
              <a:t> в отношении </a:t>
            </a:r>
            <a:r>
              <a:rPr lang="ru-RU" sz="2400" b="1" dirty="0" smtClean="0">
                <a:solidFill>
                  <a:srgbClr val="7030A0"/>
                </a:solidFill>
              </a:rPr>
              <a:t>Сотрудник</a:t>
            </a:r>
            <a:endParaRPr lang="ru-RU" sz="2400" b="1" dirty="0">
              <a:solidFill>
                <a:srgbClr val="7030A0"/>
              </a:solidFill>
            </a:endParaRPr>
          </a:p>
        </p:txBody>
      </p:sp>
      <p:sp>
        <p:nvSpPr>
          <p:cNvPr id="12" name="Объект 4"/>
          <p:cNvSpPr txBox="1">
            <a:spLocks/>
          </p:cNvSpPr>
          <p:nvPr/>
        </p:nvSpPr>
        <p:spPr>
          <a:xfrm>
            <a:off x="395536" y="3789040"/>
            <a:ext cx="8732666" cy="100811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0363" indent="-360363"/>
            <a:r>
              <a:rPr lang="ru-RU" sz="2800" b="1" dirty="0" smtClean="0"/>
              <a:t>Суррогатный</a:t>
            </a:r>
            <a:r>
              <a:rPr lang="ru-RU" sz="2800" dirty="0" smtClean="0"/>
              <a:t> (искусственный) ключ – использует атрибут, которого нет в реальной предметной области.</a:t>
            </a:r>
          </a:p>
          <a:p>
            <a:pPr marL="360363" indent="-360363"/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smtClean="0">
                <a:cs typeface="Arial" pitchFamily="34" charset="0"/>
              </a:rPr>
              <a:t>  Как правило, используется для замены составных ключей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55" y="5982379"/>
            <a:ext cx="576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/>
            <a:r>
              <a:rPr lang="ru-RU" sz="2400" i="1" dirty="0" smtClean="0"/>
              <a:t>Пример</a:t>
            </a:r>
            <a:r>
              <a:rPr lang="ru-RU" sz="2400" dirty="0" smtClean="0"/>
              <a:t>. </a:t>
            </a:r>
            <a:r>
              <a:rPr lang="ru-RU" sz="2400" dirty="0" smtClean="0">
                <a:solidFill>
                  <a:srgbClr val="0070C0"/>
                </a:solidFill>
              </a:rPr>
              <a:t>Идентификатор продажи</a:t>
            </a:r>
            <a:r>
              <a:rPr lang="ru-RU" sz="2400" dirty="0" smtClean="0"/>
              <a:t> в отношении </a:t>
            </a:r>
            <a:r>
              <a:rPr lang="ru-RU" sz="2400" b="1" dirty="0" smtClean="0">
                <a:solidFill>
                  <a:srgbClr val="7030A0"/>
                </a:solidFill>
              </a:rPr>
              <a:t>Книга продаж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79512" y="1052736"/>
            <a:ext cx="8424936" cy="100811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800" dirty="0" smtClean="0">
                <a:cs typeface="Arial" pitchFamily="34" charset="0"/>
              </a:rPr>
              <a:t>РК </a:t>
            </a:r>
            <a:r>
              <a:rPr lang="ru-RU" sz="2800" dirty="0">
                <a:cs typeface="Arial" pitchFamily="34" charset="0"/>
              </a:rPr>
              <a:t>обеспечивают основной механизм адресации на уровне </a:t>
            </a:r>
            <a:r>
              <a:rPr lang="ru-RU" sz="2800" dirty="0" smtClean="0">
                <a:cs typeface="Arial" pitchFamily="34" charset="0"/>
              </a:rPr>
              <a:t>кортежей </a:t>
            </a:r>
          </a:p>
          <a:p>
            <a:endParaRPr lang="ru-RU" sz="2800" dirty="0" smtClean="0">
              <a:cs typeface="Arial" pitchFamily="34" charset="0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Важность первичных ключей</a:t>
            </a:r>
            <a:endParaRPr lang="ru-RU" sz="3600">
              <a:latin typeface="+mj-lt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6" y="1700808"/>
            <a:ext cx="2792006" cy="2621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39552" y="2354104"/>
            <a:ext cx="5688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cs typeface="Arial" pitchFamily="34" charset="0"/>
              </a:rPr>
              <a:t>Например, </a:t>
            </a:r>
          </a:p>
          <a:p>
            <a:pPr algn="just"/>
            <a:r>
              <a:rPr lang="ru-RU" sz="2400" dirty="0" smtClean="0">
                <a:cs typeface="Arial" pitchFamily="34" charset="0"/>
              </a:rPr>
              <a:t>  с помощью условного выражения     </a:t>
            </a:r>
          </a:p>
          <a:p>
            <a:pPr algn="just"/>
            <a:r>
              <a:rPr lang="ru-RU" sz="2400" i="1" dirty="0" smtClean="0">
                <a:cs typeface="Arial" pitchFamily="34" charset="0"/>
              </a:rPr>
              <a:t>      </a:t>
            </a:r>
            <a:r>
              <a:rPr lang="ru-RU" sz="2400" i="1" dirty="0" err="1" smtClean="0">
                <a:cs typeface="Arial" pitchFamily="34" charset="0"/>
              </a:rPr>
              <a:t>Табельный_номер</a:t>
            </a:r>
            <a:r>
              <a:rPr lang="ru-RU" sz="2400" i="1" dirty="0" smtClean="0">
                <a:cs typeface="Arial" pitchFamily="34" charset="0"/>
              </a:rPr>
              <a:t>=’2935’</a:t>
            </a:r>
            <a:r>
              <a:rPr lang="ru-RU" sz="2400" dirty="0" smtClean="0">
                <a:cs typeface="Arial" pitchFamily="34" charset="0"/>
              </a:rPr>
              <a:t> </a:t>
            </a:r>
          </a:p>
          <a:p>
            <a:pPr algn="just"/>
            <a:r>
              <a:rPr lang="ru-RU" sz="2400" dirty="0" smtClean="0">
                <a:cs typeface="Arial" pitchFamily="34" charset="0"/>
              </a:rPr>
              <a:t>  мы получим строго один кортеж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4708301"/>
            <a:ext cx="84249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 smtClean="0">
                <a:cs typeface="Arial" pitchFamily="34" charset="0"/>
              </a:rPr>
              <a:t>Фундаментальное значение первичного ключа</a:t>
            </a:r>
            <a:r>
              <a:rPr lang="ru-RU" sz="2800" dirty="0" smtClean="0">
                <a:cs typeface="Arial" pitchFamily="34" charset="0"/>
              </a:rPr>
              <a:t>   для успешной работы реляционной системы - </a:t>
            </a:r>
            <a:r>
              <a:rPr lang="ru-RU" sz="2800" b="1" dirty="0">
                <a:solidFill>
                  <a:srgbClr val="0070C0"/>
                </a:solidFill>
                <a:cs typeface="Arial" pitchFamily="34" charset="0"/>
              </a:rPr>
              <a:t>идентификация</a:t>
            </a:r>
            <a:r>
              <a:rPr lang="ru-RU" sz="2800" dirty="0">
                <a:cs typeface="Arial" pitchFamily="34" charset="0"/>
              </a:rPr>
              <a:t> и </a:t>
            </a:r>
            <a:r>
              <a:rPr lang="ru-RU" sz="2800" b="1" dirty="0" smtClean="0">
                <a:solidFill>
                  <a:srgbClr val="0070C0"/>
                </a:solidFill>
                <a:cs typeface="Arial" pitchFamily="34" charset="0"/>
              </a:rPr>
              <a:t>адресация</a:t>
            </a:r>
          </a:p>
          <a:p>
            <a:pPr algn="just"/>
            <a:r>
              <a:rPr lang="ru-RU" sz="2800" b="1">
                <a:solidFill>
                  <a:srgbClr val="0070C0"/>
                </a:solidFill>
                <a:cs typeface="Arial" pitchFamily="34" charset="0"/>
              </a:rPr>
              <a:t> </a:t>
            </a:r>
            <a:r>
              <a:rPr lang="ru-RU" sz="2800" b="1" smtClean="0">
                <a:solidFill>
                  <a:srgbClr val="0070C0"/>
                </a:solidFill>
                <a:cs typeface="Arial" pitchFamily="34" charset="0"/>
              </a:rPr>
              <a:t>                      </a:t>
            </a:r>
            <a:r>
              <a:rPr lang="ru-RU" sz="2800" b="1" dirty="0">
                <a:solidFill>
                  <a:srgbClr val="0070C0"/>
                </a:solidFill>
                <a:cs typeface="Arial" pitchFamily="34" charset="0"/>
              </a:rPr>
              <a:t>объекта данных </a:t>
            </a:r>
            <a:r>
              <a:rPr lang="ru-RU" sz="2800" b="1">
                <a:solidFill>
                  <a:srgbClr val="0070C0"/>
                </a:solidFill>
                <a:cs typeface="Arial" pitchFamily="34" charset="0"/>
              </a:rPr>
              <a:t>в </a:t>
            </a:r>
            <a:r>
              <a:rPr lang="ru-RU" sz="2800" b="1" smtClean="0">
                <a:solidFill>
                  <a:srgbClr val="0070C0"/>
                </a:solidFill>
                <a:cs typeface="Arial" pitchFamily="34" charset="0"/>
              </a:rPr>
              <a:t>БД</a:t>
            </a:r>
            <a:endParaRPr lang="ru-RU" sz="2800" b="1" dirty="0">
              <a:solidFill>
                <a:srgbClr val="0070C0"/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5652120" y="3284984"/>
            <a:ext cx="1224136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326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95536" y="1196752"/>
            <a:ext cx="8640960" cy="151216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400" smtClean="0">
                <a:cs typeface="Arial" pitchFamily="34" charset="0"/>
              </a:rPr>
              <a:t>При </a:t>
            </a:r>
            <a:r>
              <a:rPr lang="ru-RU" sz="2400" dirty="0">
                <a:cs typeface="Arial" pitchFamily="34" charset="0"/>
              </a:rPr>
              <a:t>соблюдении </a:t>
            </a:r>
            <a:r>
              <a:rPr lang="ru-RU" sz="2400" b="1" dirty="0" err="1">
                <a:cs typeface="Arial" pitchFamily="34" charset="0"/>
              </a:rPr>
              <a:t>нормализованности</a:t>
            </a:r>
            <a:r>
              <a:rPr lang="ru-RU" sz="2400" b="1" dirty="0">
                <a:cs typeface="Arial" pitchFamily="34" charset="0"/>
              </a:rPr>
              <a:t> отношений</a:t>
            </a:r>
            <a:r>
              <a:rPr lang="ru-RU" sz="2400" dirty="0">
                <a:cs typeface="Arial" pitchFamily="34" charset="0"/>
              </a:rPr>
              <a:t> сложные сущности реального мира представляются в реляционной БД в виде </a:t>
            </a:r>
            <a:r>
              <a:rPr lang="ru-RU" sz="2400" b="1" dirty="0">
                <a:cs typeface="Arial" pitchFamily="34" charset="0"/>
              </a:rPr>
              <a:t>нескольких кортежей </a:t>
            </a:r>
            <a:r>
              <a:rPr lang="ru-RU" sz="2400" b="1">
                <a:cs typeface="Arial" pitchFamily="34" charset="0"/>
              </a:rPr>
              <a:t>нескольких </a:t>
            </a:r>
            <a:r>
              <a:rPr lang="ru-RU" sz="2400" b="1" smtClean="0">
                <a:cs typeface="Arial" pitchFamily="34" charset="0"/>
              </a:rPr>
              <a:t>отношений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861048"/>
            <a:ext cx="7673965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3. Целостность по ссылкам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285293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>
                <a:cs typeface="Arial" pitchFamily="34" charset="0"/>
              </a:rPr>
              <a:t>Рассмотрим информацию о сотрудниках отдела </a:t>
            </a:r>
            <a:endParaRPr lang="ru-RU" sz="2400"/>
          </a:p>
        </p:txBody>
      </p:sp>
      <p:sp>
        <p:nvSpPr>
          <p:cNvPr id="13" name="TextBox 12"/>
          <p:cNvSpPr txBox="1"/>
          <p:nvPr/>
        </p:nvSpPr>
        <p:spPr>
          <a:xfrm>
            <a:off x="467544" y="3356992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cs typeface="Arial" pitchFamily="34" charset="0"/>
              </a:rPr>
              <a:t>Потребуется два отношения: </a:t>
            </a:r>
            <a:r>
              <a:rPr lang="ru-RU" sz="2400" b="1" dirty="0" smtClean="0">
                <a:cs typeface="Arial" pitchFamily="34" charset="0"/>
              </a:rPr>
              <a:t>Отдел</a:t>
            </a:r>
            <a:r>
              <a:rPr lang="ru-RU" sz="2400" dirty="0" smtClean="0">
                <a:cs typeface="Arial" pitchFamily="34" charset="0"/>
              </a:rPr>
              <a:t> и </a:t>
            </a:r>
            <a:r>
              <a:rPr lang="ru-RU" sz="2400" b="1" dirty="0" smtClean="0">
                <a:cs typeface="Arial" pitchFamily="34" charset="0"/>
              </a:rPr>
              <a:t>Сотрудник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3068960"/>
            <a:ext cx="8640960" cy="136815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200" dirty="0" smtClean="0">
                <a:cs typeface="Arial" pitchFamily="34" charset="0"/>
              </a:rPr>
              <a:t>Атрибут </a:t>
            </a:r>
            <a:r>
              <a:rPr lang="ru-RU" sz="2200" b="1" i="1" dirty="0" smtClean="0">
                <a:solidFill>
                  <a:srgbClr val="0070C0"/>
                </a:solidFill>
                <a:cs typeface="Arial" pitchFamily="34" charset="0"/>
              </a:rPr>
              <a:t>Номер отдела</a:t>
            </a:r>
            <a:r>
              <a:rPr lang="ru-RU" sz="2200" b="1" i="1" dirty="0" smtClean="0">
                <a:cs typeface="Arial" pitchFamily="34" charset="0"/>
              </a:rPr>
              <a:t> </a:t>
            </a:r>
            <a:r>
              <a:rPr lang="ru-RU" sz="2200" dirty="0" smtClean="0">
                <a:cs typeface="Arial" pitchFamily="34" charset="0"/>
              </a:rPr>
              <a:t>присутствует </a:t>
            </a:r>
            <a:r>
              <a:rPr lang="ru-RU" sz="2200" dirty="0">
                <a:cs typeface="Arial" pitchFamily="34" charset="0"/>
              </a:rPr>
              <a:t>в отношении </a:t>
            </a:r>
            <a:r>
              <a:rPr lang="ru-RU" sz="2200" dirty="0" smtClean="0">
                <a:cs typeface="Arial" pitchFamily="34" charset="0"/>
              </a:rPr>
              <a:t>СОТРУДНИК </a:t>
            </a:r>
            <a:r>
              <a:rPr lang="ru-RU" sz="2200" dirty="0">
                <a:cs typeface="Arial" pitchFamily="34" charset="0"/>
              </a:rPr>
              <a:t>не потому, что номер отдела является собственным свойством сотрудника, </a:t>
            </a:r>
            <a:r>
              <a:rPr lang="ru-RU" sz="2200" dirty="0" smtClean="0">
                <a:cs typeface="Arial" pitchFamily="34" charset="0"/>
              </a:rPr>
              <a:t>а </a:t>
            </a:r>
            <a:r>
              <a:rPr lang="ru-RU" sz="2200" dirty="0">
                <a:cs typeface="Arial" pitchFamily="34" charset="0"/>
              </a:rPr>
              <a:t>лишь для того, чтобы иметь возможность восстановить при необходимости полную сущность </a:t>
            </a:r>
            <a:r>
              <a:rPr lang="ru-RU" sz="2200" dirty="0" smtClean="0">
                <a:cs typeface="Arial" pitchFamily="34" charset="0"/>
              </a:rPr>
              <a:t>ОТДЕЛ</a:t>
            </a:r>
          </a:p>
          <a:p>
            <a:pPr marL="457200" indent="-457200" algn="just"/>
            <a:endParaRPr lang="ru-RU" sz="2200" dirty="0" smtClean="0">
              <a:cs typeface="Arial" pitchFamily="34" charset="0"/>
            </a:endParaRPr>
          </a:p>
          <a:p>
            <a:pPr indent="457200"/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smtClean="0">
                <a:latin typeface="+mj-lt"/>
                <a:cs typeface="Arial" pitchFamily="34" charset="0"/>
              </a:rPr>
              <a:t>3. Целостность по ссылкам </a:t>
            </a:r>
            <a:r>
              <a:rPr lang="ru-RU" sz="2800" b="1" smtClean="0">
                <a:latin typeface="+mj-lt"/>
                <a:cs typeface="Arial" pitchFamily="34" charset="0"/>
              </a:rPr>
              <a:t>(продолжение)</a:t>
            </a:r>
            <a:endParaRPr lang="ru-RU" sz="28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4862770"/>
            <a:ext cx="8640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 smtClean="0">
                <a:cs typeface="Arial" pitchFamily="34" charset="0"/>
              </a:rPr>
              <a:t>Значение атрибута </a:t>
            </a:r>
            <a:r>
              <a:rPr lang="ru-RU" sz="2200" b="1" i="1" dirty="0" smtClean="0">
                <a:solidFill>
                  <a:srgbClr val="0070C0"/>
                </a:solidFill>
                <a:cs typeface="Arial" pitchFamily="34" charset="0"/>
              </a:rPr>
              <a:t>Номер отдела</a:t>
            </a:r>
            <a:r>
              <a:rPr lang="ru-RU" sz="2200" dirty="0" smtClean="0">
                <a:cs typeface="Arial" pitchFamily="34" charset="0"/>
              </a:rPr>
              <a:t> в любом кортеже отношения СОТРУДНИК должно соответствовать значению атрибута </a:t>
            </a:r>
            <a:r>
              <a:rPr lang="ru-RU" sz="2200" b="1" i="1" dirty="0" smtClean="0">
                <a:solidFill>
                  <a:schemeClr val="accent2">
                    <a:lumMod val="75000"/>
                  </a:schemeClr>
                </a:solidFill>
                <a:cs typeface="Arial" pitchFamily="34" charset="0"/>
              </a:rPr>
              <a:t>Номер отдела</a:t>
            </a:r>
            <a:r>
              <a:rPr lang="ru-RU" sz="2200" dirty="0" smtClean="0">
                <a:solidFill>
                  <a:schemeClr val="accent2">
                    <a:lumMod val="75000"/>
                  </a:schemeClr>
                </a:solidFill>
                <a:cs typeface="Arial" pitchFamily="34" charset="0"/>
              </a:rPr>
              <a:t>  </a:t>
            </a:r>
          </a:p>
          <a:p>
            <a:pPr algn="just"/>
            <a:r>
              <a:rPr lang="ru-RU" sz="2200" dirty="0" smtClean="0">
                <a:cs typeface="Arial" pitchFamily="34" charset="0"/>
              </a:rPr>
              <a:t>                            в некотором кортеже отношения ОТДЕЛ </a:t>
            </a:r>
            <a:endParaRPr lang="ru-RU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0175" y="980728"/>
            <a:ext cx="63436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980728"/>
            <a:ext cx="8640960" cy="141967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400" dirty="0" smtClean="0">
                <a:cs typeface="Arial" pitchFamily="34" charset="0"/>
              </a:rPr>
              <a:t>Связующий атрибут называется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внешним ключом </a:t>
            </a:r>
            <a:r>
              <a:rPr lang="ru-RU" sz="2400" b="1" dirty="0" smtClean="0">
                <a:cs typeface="Arial" pitchFamily="34" charset="0"/>
              </a:rPr>
              <a:t>(</a:t>
            </a:r>
            <a:r>
              <a:rPr lang="en-US" sz="2400" b="1" dirty="0" smtClean="0">
                <a:cs typeface="Arial" pitchFamily="34" charset="0"/>
              </a:rPr>
              <a:t>Foreign Key</a:t>
            </a:r>
            <a:r>
              <a:rPr lang="ru-RU" sz="2400" b="1" dirty="0" smtClean="0">
                <a:cs typeface="Arial" pitchFamily="34" charset="0"/>
              </a:rPr>
              <a:t> -</a:t>
            </a:r>
            <a:r>
              <a:rPr lang="en-US" sz="2400" b="1" dirty="0" smtClean="0">
                <a:cs typeface="Arial" pitchFamily="34" charset="0"/>
              </a:rPr>
              <a:t> FK</a:t>
            </a:r>
            <a:r>
              <a:rPr lang="ru-RU" sz="2400" b="1" dirty="0" smtClean="0">
                <a:cs typeface="Arial" pitchFamily="34" charset="0"/>
              </a:rPr>
              <a:t>)</a:t>
            </a:r>
            <a:r>
              <a:rPr lang="ru-RU" sz="2400" dirty="0" smtClean="0">
                <a:cs typeface="Arial" pitchFamily="34" charset="0"/>
              </a:rPr>
              <a:t>, поскольку его значения однозначно определяют кортежи некоторого другого отношения (т.к. задают значения их первичного ключа)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567606"/>
            <a:ext cx="8172400" cy="210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Внешний ключ</a:t>
            </a:r>
            <a:endParaRPr lang="ru-RU" sz="3600" b="1"/>
          </a:p>
        </p:txBody>
      </p:sp>
      <p:sp>
        <p:nvSpPr>
          <p:cNvPr id="10" name="TextBox 9"/>
          <p:cNvSpPr txBox="1"/>
          <p:nvPr/>
        </p:nvSpPr>
        <p:spPr>
          <a:xfrm>
            <a:off x="395536" y="2564904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>
                <a:cs typeface="Arial" pitchFamily="34" charset="0"/>
              </a:rPr>
              <a:t>Отношение, которое содержит внешний ключ называется </a:t>
            </a:r>
            <a:r>
              <a:rPr lang="ru-RU" sz="2400" b="1" smtClean="0">
                <a:cs typeface="Arial" pitchFamily="34" charset="0"/>
              </a:rPr>
              <a:t>ссылающимся отношением</a:t>
            </a:r>
            <a:r>
              <a:rPr lang="ru-RU" sz="2400" smtClean="0">
                <a:cs typeface="Arial" pitchFamily="34" charset="0"/>
              </a:rPr>
              <a:t> </a:t>
            </a:r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395536" y="3356992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cs typeface="Arial" pitchFamily="34" charset="0"/>
              </a:rPr>
              <a:t>Отношение, которое содержит соответствующий первичный ключ – </a:t>
            </a:r>
            <a:r>
              <a:rPr lang="ru-RU" sz="2400" b="1" dirty="0" smtClean="0">
                <a:cs typeface="Arial" pitchFamily="34" charset="0"/>
              </a:rPr>
              <a:t>целевым отношением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24744"/>
            <a:ext cx="8712968" cy="216024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176213" algn="just"/>
            <a:r>
              <a:rPr lang="ru-RU" sz="2400" dirty="0" smtClean="0">
                <a:cs typeface="Arial" pitchFamily="34" charset="0"/>
              </a:rPr>
              <a:t>Для </a:t>
            </a:r>
            <a:r>
              <a:rPr lang="ru-RU" sz="2400" dirty="0">
                <a:cs typeface="Arial" pitchFamily="34" charset="0"/>
              </a:rPr>
              <a:t>каждого значения внешнего ключа, появляющегося в ссылающемся отношении,  </a:t>
            </a:r>
            <a:endParaRPr lang="ru-RU" sz="2400" dirty="0" smtClean="0">
              <a:cs typeface="Arial" pitchFamily="34" charset="0"/>
            </a:endParaRPr>
          </a:p>
          <a:p>
            <a:pPr marL="358775" algn="just"/>
            <a:r>
              <a:rPr lang="ru-RU" sz="2400" dirty="0" smtClean="0">
                <a:cs typeface="Arial" pitchFamily="34" charset="0"/>
              </a:rPr>
              <a:t>должен </a:t>
            </a:r>
            <a:r>
              <a:rPr lang="ru-RU" sz="2400" dirty="0">
                <a:cs typeface="Arial" pitchFamily="34" charset="0"/>
              </a:rPr>
              <a:t>найтись кортеж с таким же значением первичного ключа в целевом отношении, </a:t>
            </a:r>
            <a:endParaRPr lang="ru-RU" sz="2400" dirty="0" smtClean="0">
              <a:cs typeface="Arial" pitchFamily="34" charset="0"/>
            </a:endParaRPr>
          </a:p>
          <a:p>
            <a:pPr marL="358775" algn="just"/>
            <a:r>
              <a:rPr lang="ru-RU" sz="2400" dirty="0" smtClean="0">
                <a:cs typeface="Arial" pitchFamily="34" charset="0"/>
              </a:rPr>
              <a:t>либо </a:t>
            </a:r>
            <a:r>
              <a:rPr lang="ru-RU" sz="2400" dirty="0">
                <a:cs typeface="Arial" pitchFamily="34" charset="0"/>
              </a:rPr>
              <a:t>значение внешнего ключа должно быть неопределенным (т.е. ни на что не указывать</a:t>
            </a:r>
            <a:r>
              <a:rPr lang="ru-RU" sz="2400" dirty="0" smtClean="0">
                <a:cs typeface="Arial" pitchFamily="34" charset="0"/>
              </a:rPr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7471" y="4365104"/>
            <a:ext cx="6621344" cy="249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i="1" smtClean="0">
                <a:latin typeface="+mj-lt"/>
                <a:cs typeface="Arial" pitchFamily="34" charset="0"/>
              </a:rPr>
              <a:t>Требование целостности по ссылкам</a:t>
            </a:r>
            <a:endParaRPr lang="ru-RU" sz="34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3608" y="3501008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cs typeface="Arial" pitchFamily="34" charset="0"/>
              </a:rPr>
              <a:t>В примере:   </a:t>
            </a:r>
            <a:r>
              <a:rPr lang="ru-RU" sz="2400" i="1" smtClean="0">
                <a:cs typeface="Arial" pitchFamily="34" charset="0"/>
              </a:rPr>
              <a:t>Если для сотрудника указан номер отдела, то этот отдел должен существовать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052736"/>
            <a:ext cx="8640960" cy="72008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Любое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состояние БД не удовлетворяющее правилу ссылочной </a:t>
            </a:r>
            <a:r>
              <a:rPr lang="ru-RU" sz="2400">
                <a:latin typeface="Arial" pitchFamily="34" charset="0"/>
                <a:cs typeface="Arial" pitchFamily="34" charset="0"/>
              </a:rPr>
              <a:t>целостности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некорректно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Правила внешних ключей</a:t>
            </a:r>
            <a:endParaRPr lang="ru-RU" sz="3600"/>
          </a:p>
        </p:txBody>
      </p:sp>
      <p:sp>
        <p:nvSpPr>
          <p:cNvPr id="10" name="TextBox 9"/>
          <p:cNvSpPr txBox="1"/>
          <p:nvPr/>
        </p:nvSpPr>
        <p:spPr>
          <a:xfrm>
            <a:off x="251520" y="234888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smtClean="0">
                <a:latin typeface="Arial" pitchFamily="34" charset="0"/>
                <a:cs typeface="Arial" pitchFamily="34" charset="0"/>
              </a:rPr>
              <a:t>Первый вариант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–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запретить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любые операции, которые могут привести к некорректному состоянию. </a:t>
            </a:r>
            <a:r>
              <a:rPr lang="ru-RU" sz="2400" i="1" smtClean="0">
                <a:latin typeface="Arial" pitchFamily="34" charset="0"/>
                <a:cs typeface="Arial" pitchFamily="34" charset="0"/>
              </a:rPr>
              <a:t>Например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, запретить удалять отделы при наличии в них сотрудников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1887215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Как избежать некорректных состояний? 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3573016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smtClean="0">
                <a:latin typeface="Arial" pitchFamily="34" charset="0"/>
                <a:cs typeface="Arial" pitchFamily="34" charset="0"/>
              </a:rPr>
              <a:t>Второй вариант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–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допускать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такие операции,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но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предусмотреть выполнение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компенсирующих операций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, которые обеспечивают корректное состояние системы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4797152"/>
            <a:ext cx="8352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i="1" smtClean="0">
                <a:latin typeface="Arial" pitchFamily="34" charset="0"/>
                <a:cs typeface="Arial" pitchFamily="34" charset="0"/>
              </a:rPr>
              <a:t>Например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, при удалении конкретного отдела в отношении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Отдел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 необходимо удалить всех сотрудников этого отдела в отношении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Сотрудник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                        (или вывести их из удаляемого отдела) 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24744"/>
            <a:ext cx="8640960" cy="43204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В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БД существует проблема </a:t>
            </a:r>
            <a:r>
              <a:rPr lang="ru-RU" sz="2400">
                <a:latin typeface="Arial" pitchFamily="34" charset="0"/>
                <a:cs typeface="Arial" pitchFamily="34" charset="0"/>
              </a:rPr>
              <a:t>отсутствия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данных </a:t>
            </a:r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Проблема </a:t>
            </a:r>
            <a:r>
              <a:rPr lang="en-US" sz="3600" b="1" smtClean="0">
                <a:latin typeface="+mj-lt"/>
                <a:cs typeface="Arial" pitchFamily="34" charset="0"/>
              </a:rPr>
              <a:t>NULL</a:t>
            </a:r>
            <a:r>
              <a:rPr lang="ru-RU" sz="3600" b="1" smtClean="0">
                <a:latin typeface="+mj-lt"/>
                <a:cs typeface="Arial" pitchFamily="34" charset="0"/>
              </a:rPr>
              <a:t>-значений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2276872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Если атрибут имеет </a:t>
            </a:r>
            <a:r>
              <a:rPr lang="en-US" sz="240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-значение, то это означает, что в данной позиции значение отсутствует</a:t>
            </a:r>
            <a:endParaRPr lang="ru-RU" sz="2400"/>
          </a:p>
        </p:txBody>
      </p:sp>
      <p:sp>
        <p:nvSpPr>
          <p:cNvPr id="13" name="TextBox 12"/>
          <p:cNvSpPr txBox="1"/>
          <p:nvPr/>
        </p:nvSpPr>
        <p:spPr>
          <a:xfrm>
            <a:off x="251520" y="1484784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Факт отсутствия данных  было предложено обозначать специальными маркерами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-значениями</a:t>
            </a:r>
            <a:r>
              <a:rPr lang="ru-RU" sz="2400" smtClean="0"/>
              <a:t> </a:t>
            </a:r>
            <a:endParaRPr lang="ru-RU" sz="2400"/>
          </a:p>
        </p:txBody>
      </p:sp>
      <p:sp>
        <p:nvSpPr>
          <p:cNvPr id="14" name="TextBox 13"/>
          <p:cNvSpPr txBox="1"/>
          <p:nvPr/>
        </p:nvSpPr>
        <p:spPr>
          <a:xfrm>
            <a:off x="251520" y="4532927"/>
            <a:ext cx="864096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Arial" pitchFamily="34" charset="0"/>
                <a:cs typeface="Arial" pitchFamily="34" charset="0"/>
              </a:rPr>
              <a:t>В определении атрибута должна быть одна из спецификаций: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NULL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       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 – атрибуту разрешено иметь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-значения</a:t>
            </a:r>
          </a:p>
          <a:p>
            <a:pPr algn="just"/>
            <a:r>
              <a:rPr lang="en-US" sz="2300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NOT NULL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 – атрибуту не разрешено иметь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-значения</a:t>
            </a:r>
            <a:endParaRPr lang="ru-RU" sz="23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520" y="3212976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i="1" smtClean="0">
                <a:latin typeface="Arial" pitchFamily="34" charset="0"/>
                <a:cs typeface="Arial" pitchFamily="34" charset="0"/>
              </a:rPr>
              <a:t>Например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, </a:t>
            </a:r>
          </a:p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Для сотрудника неизвестна </a:t>
            </a:r>
          </a:p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                            принадлежность к конкретному отделу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268760"/>
            <a:ext cx="8640960" cy="36004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spcAft>
                <a:spcPts val="1200"/>
              </a:spcAft>
            </a:pPr>
            <a:r>
              <a:rPr lang="ru-RU" sz="2800" b="1" smtClean="0">
                <a:latin typeface="+mj-lt"/>
                <a:cs typeface="Arial" pitchFamily="34" charset="0"/>
              </a:rPr>
              <a:t>В первичных ключах</a:t>
            </a:r>
            <a:endParaRPr lang="ru-RU" sz="2800" dirty="0" smtClean="0">
              <a:latin typeface="+mj-lt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mtClean="0">
                <a:latin typeface="+mj-lt"/>
                <a:cs typeface="Arial" pitchFamily="34" charset="0"/>
              </a:rPr>
              <a:t>NULL</a:t>
            </a:r>
            <a:r>
              <a:rPr lang="ru-RU" sz="3600" b="1" smtClean="0">
                <a:latin typeface="+mj-lt"/>
                <a:cs typeface="Arial" pitchFamily="34" charset="0"/>
              </a:rPr>
              <a:t>-значения в ключах</a:t>
            </a:r>
            <a:endParaRPr lang="ru-RU" sz="36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772816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С точки зрения целостности объектов </a:t>
            </a:r>
            <a:r>
              <a:rPr lang="ru-RU" sz="2400" b="1" i="1" smtClean="0">
                <a:latin typeface="Arial" pitchFamily="34" charset="0"/>
                <a:cs typeface="Arial" pitchFamily="34" charset="0"/>
              </a:rPr>
              <a:t>ни один элемент первичного ключа не может быть </a:t>
            </a:r>
            <a:r>
              <a:rPr lang="en-US" sz="2400" b="1" i="1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b="1" i="1" smtClean="0">
                <a:latin typeface="Arial" pitchFamily="34" charset="0"/>
                <a:cs typeface="Arial" pitchFamily="34" charset="0"/>
              </a:rPr>
              <a:t>-значением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3573016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800" b="1" smtClean="0">
                <a:latin typeface="+mj-lt"/>
                <a:cs typeface="Arial" pitchFamily="34" charset="0"/>
              </a:rPr>
              <a:t>Во внешних ключах</a:t>
            </a:r>
            <a:endParaRPr lang="ru-RU" sz="280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2636912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smtClean="0">
                <a:latin typeface="Arial" pitchFamily="34" charset="0"/>
                <a:cs typeface="Arial" pitchFamily="34" charset="0"/>
              </a:rPr>
              <a:t>Причина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такого требования – объекты должны быть различимыми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576" y="4149080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Реляционная модель разрешает  </a:t>
            </a:r>
            <a:r>
              <a:rPr lang="en-US" sz="240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-значения в атрибутах внешних ключей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2564904"/>
            <a:ext cx="8892480" cy="144016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r>
              <a:rPr lang="ru-RU" sz="2400" dirty="0" smtClean="0">
                <a:latin typeface="Arial" pitchFamily="34" charset="0"/>
                <a:cs typeface="Arial" pitchFamily="34" charset="0"/>
              </a:rPr>
              <a:t>а) в целевом (родительском) отношении (в примере ОТДЕЛ):</a:t>
            </a:r>
          </a:p>
          <a:p>
            <a:r>
              <a:rPr lang="ru-RU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-   Добавление (вставка) новой записи</a:t>
            </a:r>
          </a:p>
          <a:p>
            <a:r>
              <a:rPr lang="ru-RU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-   Удаление записи</a:t>
            </a:r>
          </a:p>
          <a:p>
            <a:r>
              <a:rPr lang="ru-RU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-   Изменение значения ключевого атрибута</a:t>
            </a:r>
          </a:p>
          <a:p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«</a:t>
            </a:r>
            <a:r>
              <a:rPr lang="ru-RU" sz="3600" b="1" smtClean="0">
                <a:solidFill>
                  <a:srgbClr val="FF0000"/>
                </a:solidFill>
                <a:latin typeface="+mj-lt"/>
                <a:cs typeface="Arial" pitchFamily="34" charset="0"/>
              </a:rPr>
              <a:t>Опасные</a:t>
            </a:r>
            <a:r>
              <a:rPr lang="ru-RU" sz="3600" b="1" smtClean="0">
                <a:latin typeface="+mj-lt"/>
                <a:cs typeface="Arial" pitchFamily="34" charset="0"/>
              </a:rPr>
              <a:t>» и «</a:t>
            </a:r>
            <a:r>
              <a:rPr lang="ru-RU" sz="3600" b="1" smtClean="0">
                <a:solidFill>
                  <a:srgbClr val="00B050"/>
                </a:solidFill>
                <a:latin typeface="+mj-lt"/>
                <a:cs typeface="Arial" pitchFamily="34" charset="0"/>
              </a:rPr>
              <a:t>неопасные</a:t>
            </a:r>
            <a:r>
              <a:rPr lang="ru-RU" sz="3600" b="1" smtClean="0">
                <a:latin typeface="+mj-lt"/>
                <a:cs typeface="Arial" pitchFamily="34" charset="0"/>
              </a:rPr>
              <a:t>» операции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4437112"/>
            <a:ext cx="8784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" pitchFamily="34" charset="0"/>
                <a:cs typeface="Arial" pitchFamily="34" charset="0"/>
              </a:rPr>
              <a:t>б) в ссылающемся (дочернем) отношении (СОТРУДНИК):</a:t>
            </a:r>
          </a:p>
          <a:p>
            <a:r>
              <a:rPr lang="ru-RU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-   Добавление (вставка) новой записи </a:t>
            </a:r>
          </a:p>
          <a:p>
            <a:r>
              <a:rPr lang="ru-RU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-   Удаление записи</a:t>
            </a:r>
          </a:p>
          <a:p>
            <a:r>
              <a:rPr lang="ru-RU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-   Изменение значения внешнего ключа</a:t>
            </a:r>
            <a:endParaRPr lang="ru-RU" sz="2400" dirty="0" smtClean="0"/>
          </a:p>
          <a:p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275725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С точки зрения возможности ошибок (нарушения ссылочной целостности) можно выделить опасные  и неопасные операции.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484784"/>
            <a:ext cx="8640960" cy="136815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514350" lvl="0" indent="-514350" algn="just">
              <a:buClr>
                <a:srgbClr val="C00000"/>
              </a:buClr>
              <a:defRPr/>
            </a:pPr>
            <a:r>
              <a:rPr lang="ru-RU" sz="2400" b="1" i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В дочернем отношении 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(в примере СОТРУДНИК)</a:t>
            </a:r>
            <a:r>
              <a:rPr lang="ru-RU" sz="2400" b="1" i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514350" lvl="0" indent="-514350" algn="just">
              <a:buClr>
                <a:srgbClr val="C00000"/>
              </a:buClr>
              <a:defRPr/>
            </a:pPr>
            <a:r>
              <a:rPr lang="ru-RU" sz="2400" b="1" i="1" dirty="0" smtClean="0">
                <a:latin typeface="Arial" pitchFamily="34" charset="0"/>
                <a:cs typeface="Arial" pitchFamily="34" charset="0"/>
              </a:rPr>
              <a:t>   а) вставка кортежа</a:t>
            </a:r>
          </a:p>
          <a:p>
            <a:pPr marL="514350" lvl="0" indent="-514350" algn="just">
              <a:buClr>
                <a:srgbClr val="C00000"/>
              </a:buClr>
              <a:defRPr/>
            </a:pPr>
            <a:r>
              <a:rPr lang="ru-RU" sz="2400" b="1" i="1" dirty="0" smtClean="0">
                <a:latin typeface="Arial" pitchFamily="34" charset="0"/>
                <a:cs typeface="Arial" pitchFamily="34" charset="0"/>
              </a:rPr>
              <a:t>   б) изменение значения внешнего ключа  </a:t>
            </a:r>
          </a:p>
          <a:p>
            <a:pPr lvl="0" algn="just"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может привести к нарушению ссылочной целостности.</a:t>
            </a:r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32656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+mj-lt"/>
                <a:cs typeface="Arial" pitchFamily="34" charset="0"/>
              </a:rPr>
              <a:t>«</a:t>
            </a:r>
            <a:r>
              <a:rPr lang="ru-RU" sz="3200" b="1" dirty="0" smtClean="0">
                <a:solidFill>
                  <a:srgbClr val="FF0000"/>
                </a:solidFill>
                <a:latin typeface="+mj-lt"/>
                <a:cs typeface="Arial" pitchFamily="34" charset="0"/>
              </a:rPr>
              <a:t>Опасные</a:t>
            </a:r>
            <a:r>
              <a:rPr lang="ru-RU" sz="3200" b="1" dirty="0" smtClean="0">
                <a:latin typeface="+mj-lt"/>
                <a:cs typeface="Arial" pitchFamily="34" charset="0"/>
              </a:rPr>
              <a:t>» операции </a:t>
            </a:r>
          </a:p>
          <a:p>
            <a:pPr algn="ctr"/>
            <a:r>
              <a:rPr lang="ru-RU" sz="3200" b="1" dirty="0" smtClean="0">
                <a:latin typeface="+mj-lt"/>
                <a:cs typeface="Arial" pitchFamily="34" charset="0"/>
              </a:rPr>
              <a:t>запрещенные на уровне системы</a:t>
            </a:r>
            <a:endParaRPr lang="ru-RU" sz="32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3140968"/>
            <a:ext cx="84249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СУБД выполняет </a:t>
            </a:r>
            <a:r>
              <a:rPr lang="ru-RU" sz="2400" b="1" dirty="0" smtClean="0">
                <a:latin typeface="Arial" pitchFamily="34" charset="0"/>
                <a:cs typeface="Arial" pitchFamily="34" charset="0"/>
              </a:rPr>
              <a:t>контроль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– проверку значения внешнего ключа </a:t>
            </a:r>
          </a:p>
          <a:p>
            <a:pPr lvl="0" algn="ctr">
              <a:defRPr/>
            </a:pPr>
            <a:r>
              <a:rPr lang="ru-RU" sz="2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и запрещает: </a:t>
            </a:r>
          </a:p>
          <a:p>
            <a:pPr lvl="0" algn="just"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вставлять кортеж или изменить кортеж в дочернем отношении, если значение внешнего ключа некорректно (отсутствует такое же значение первичного ключа в целевом отношении).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899592" y="2268116"/>
            <a:ext cx="7704856" cy="1656184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lvl="0" algn="just"/>
            <a:r>
              <a:rPr lang="ru-RU" sz="2800" dirty="0" smtClean="0">
                <a:latin typeface="Arial" pitchFamily="34" charset="0"/>
                <a:cs typeface="Arial" pitchFamily="34" charset="0"/>
              </a:rPr>
              <a:t>«</a:t>
            </a:r>
            <a:r>
              <a:rPr lang="ru-RU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Опасные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» операции на стороне родительского отношения СУБД может допустить при выполнении дополнительных (компенсирующих) действий</a:t>
            </a:r>
            <a:endParaRPr lang="ru-RU" sz="2800" dirty="0"/>
          </a:p>
          <a:p>
            <a:endParaRPr lang="ru-RU" sz="28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32656"/>
            <a:ext cx="9144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Arial" pitchFamily="34" charset="0"/>
                <a:cs typeface="Arial" pitchFamily="34" charset="0"/>
              </a:rPr>
              <a:t>«</a:t>
            </a:r>
            <a:r>
              <a:rPr lang="ru-RU" sz="3200" b="1" dirty="0" smtClean="0">
                <a:solidFill>
                  <a:srgbClr val="FF0000"/>
                </a:solidFill>
                <a:latin typeface="+mj-lt"/>
                <a:cs typeface="Arial" pitchFamily="34" charset="0"/>
              </a:rPr>
              <a:t>Опасные</a:t>
            </a:r>
            <a:r>
              <a:rPr lang="ru-RU" sz="3200" b="1" dirty="0" smtClean="0">
                <a:latin typeface="Arial" pitchFamily="34" charset="0"/>
                <a:cs typeface="Arial" pitchFamily="34" charset="0"/>
              </a:rPr>
              <a:t>» операции </a:t>
            </a:r>
          </a:p>
          <a:p>
            <a:pPr algn="ctr"/>
            <a:r>
              <a:rPr lang="ru-RU" sz="3000" b="1" dirty="0" smtClean="0">
                <a:latin typeface="Arial" pitchFamily="34" charset="0"/>
                <a:cs typeface="Arial" pitchFamily="34" charset="0"/>
              </a:rPr>
              <a:t>допустимые при дополнительных действиях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340768"/>
            <a:ext cx="8640960" cy="9430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lvl="0" algn="just"/>
            <a:r>
              <a:rPr lang="ru-RU" sz="2400" b="1" dirty="0" smtClean="0">
                <a:latin typeface="Arial" pitchFamily="34" charset="0"/>
                <a:cs typeface="Arial" pitchFamily="34" charset="0"/>
              </a:rPr>
              <a:t>Попытка </a:t>
            </a:r>
            <a:r>
              <a:rPr lang="ru-RU" sz="2400" b="1" dirty="0">
                <a:latin typeface="Arial" pitchFamily="34" charset="0"/>
                <a:cs typeface="Arial" pitchFamily="34" charset="0"/>
              </a:rPr>
              <a:t>УДАЛИТЬ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кортеж в целевом отношении, на который есть ссылка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например,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удалить отдел,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в котором есть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сотрудники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ru-RU" sz="2400" dirty="0"/>
          </a:p>
          <a:p>
            <a:endParaRPr lang="ru-RU" sz="2400" b="1" dirty="0" smtClean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636912"/>
            <a:ext cx="7634904" cy="344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Arial" pitchFamily="34" charset="0"/>
                <a:cs typeface="Arial" pitchFamily="34" charset="0"/>
              </a:rPr>
              <a:t>Операция удаления в целевом отношении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58725226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2671192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187624" y="2204864"/>
            <a:ext cx="6048672" cy="43204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530225" indent="-530225">
              <a:buAutoNum type="arabicPeriod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ОГРАНИЧИВАТЬ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RESTRICT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)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 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     </a:t>
            </a:r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Arial" pitchFamily="34" charset="0"/>
                <a:cs typeface="Arial" pitchFamily="34" charset="0"/>
              </a:rPr>
              <a:t>Три варианта действий при удалении</a:t>
            </a:r>
            <a:endParaRPr lang="ru-RU" sz="3600"/>
          </a:p>
        </p:txBody>
      </p:sp>
      <p:sp>
        <p:nvSpPr>
          <p:cNvPr id="10" name="Прямоугольник 9"/>
          <p:cNvSpPr/>
          <p:nvPr/>
        </p:nvSpPr>
        <p:spPr>
          <a:xfrm>
            <a:off x="1187624" y="2924944"/>
            <a:ext cx="698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0225" indent="-530225">
              <a:buFont typeface="+mj-lt"/>
              <a:buAutoNum type="arabicPeriod" startAt="2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КАСКАДИРОВАТЬ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CASCADE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)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7624" y="3789040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indent="-530225">
              <a:buFont typeface="+mj-lt"/>
              <a:buAutoNum type="arabicPeriod" startAt="3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СБРАСЫВАТЬ 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SET NULL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)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2671192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503040" y="1412776"/>
            <a:ext cx="7381328" cy="1368152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r>
              <a:rPr lang="ru-RU" sz="2800" smtClean="0">
                <a:latin typeface="Arial" pitchFamily="34" charset="0"/>
                <a:cs typeface="Arial" pitchFamily="34" charset="0"/>
              </a:rPr>
              <a:t>Удаляются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лишь те отделы, которые еще не </a:t>
            </a:r>
            <a:r>
              <a:rPr lang="ru-RU" sz="2800" smtClean="0">
                <a:latin typeface="Arial" pitchFamily="34" charset="0"/>
                <a:cs typeface="Arial" pitchFamily="34" charset="0"/>
              </a:rPr>
              <a:t>имеют сотрудников </a:t>
            </a:r>
          </a:p>
          <a:p>
            <a:r>
              <a:rPr lang="ru-RU" sz="2800" smtClean="0">
                <a:latin typeface="Arial" pitchFamily="34" charset="0"/>
                <a:cs typeface="Arial" pitchFamily="34" charset="0"/>
              </a:rPr>
              <a:t>Иначе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операция </a:t>
            </a:r>
            <a:r>
              <a:rPr lang="ru-RU" sz="2800">
                <a:latin typeface="Arial" pitchFamily="34" charset="0"/>
                <a:cs typeface="Arial" pitchFamily="34" charset="0"/>
              </a:rPr>
              <a:t>удаления </a:t>
            </a:r>
            <a:r>
              <a:rPr lang="ru-RU" sz="2800" smtClean="0">
                <a:latin typeface="Arial" pitchFamily="34" charset="0"/>
                <a:cs typeface="Arial" pitchFamily="34" charset="0"/>
              </a:rPr>
              <a:t>отвергается</a:t>
            </a:r>
            <a:endParaRPr lang="ru-RU" sz="28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AutoNum type="arabicParenR"/>
            </a:pPr>
            <a:endParaRPr lang="ru-RU" sz="20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3672" y="2996952"/>
            <a:ext cx="7742824" cy="3434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4. </a:t>
            </a:r>
            <a:r>
              <a:rPr lang="ru-RU" sz="2000" dirty="0" smtClean="0">
                <a:solidFill>
                  <a:schemeClr val="tx1"/>
                </a:solidFill>
              </a:rPr>
              <a:t>Целостность </a:t>
            </a:r>
            <a:r>
              <a:rPr lang="ru-RU" sz="2000" dirty="0">
                <a:solidFill>
                  <a:schemeClr val="tx1"/>
                </a:solidFill>
              </a:rPr>
              <a:t>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+mj-lt"/>
                <a:cs typeface="Arial" pitchFamily="34" charset="0"/>
              </a:rPr>
              <a:t>ОГРАНИЧИВАТЬ</a:t>
            </a:r>
            <a:r>
              <a:rPr lang="en-US" sz="3200" b="1" dirty="0" smtClean="0">
                <a:latin typeface="+mj-lt"/>
                <a:cs typeface="Arial" pitchFamily="34" charset="0"/>
              </a:rPr>
              <a:t> </a:t>
            </a:r>
            <a:r>
              <a:rPr lang="ru-RU" sz="3200" b="1" dirty="0" smtClean="0">
                <a:latin typeface="+mj-lt"/>
                <a:cs typeface="Arial" pitchFamily="34" charset="0"/>
              </a:rPr>
              <a:t>ПРИ УДАЛЕНИИ - </a:t>
            </a:r>
            <a:r>
              <a:rPr lang="en-US" sz="3200" b="1" dirty="0">
                <a:solidFill>
                  <a:srgbClr val="C00000"/>
                </a:solidFill>
                <a:cs typeface="Arial" pitchFamily="34" charset="0"/>
              </a:rPr>
              <a:t>RESTRICT</a:t>
            </a:r>
            <a:endParaRPr lang="ru-RU" sz="32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24744"/>
            <a:ext cx="8640960" cy="36004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457200" indent="-457200"/>
            <a:r>
              <a:rPr lang="ru-RU" sz="2400" smtClean="0">
                <a:latin typeface="Arial" pitchFamily="34" charset="0"/>
                <a:cs typeface="Arial" pitchFamily="34" charset="0"/>
              </a:rPr>
              <a:t>Операция </a:t>
            </a:r>
            <a:r>
              <a:rPr lang="ru-RU" sz="2400">
                <a:latin typeface="Arial" pitchFamily="34" charset="0"/>
                <a:cs typeface="Arial" pitchFamily="34" charset="0"/>
              </a:rPr>
              <a:t>удаления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«каскадируется»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распространяется):</a:t>
            </a:r>
            <a:endParaRPr lang="ru-RU" sz="2400" dirty="0" smtClean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628800"/>
            <a:ext cx="719173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latin typeface="+mj-lt"/>
                <a:cs typeface="Arial" pitchFamily="34" charset="0"/>
              </a:rPr>
              <a:t>КАСКАДИРОВАТЬ  ПРИ УДАЛЕНИИ - </a:t>
            </a:r>
            <a:r>
              <a:rPr lang="en-US" sz="3000" b="1" dirty="0">
                <a:solidFill>
                  <a:srgbClr val="0070C0"/>
                </a:solidFill>
                <a:cs typeface="Arial" pitchFamily="34" charset="0"/>
              </a:rPr>
              <a:t>CASCADE</a:t>
            </a:r>
            <a:endParaRPr lang="ru-RU" sz="3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63688" y="5055567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1 -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удаляются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сотрудники  этого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отдела</a:t>
            </a:r>
            <a:endParaRPr lang="ru-RU" sz="2400" b="1" dirty="0" smtClean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3688" y="5631631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2 -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удаляется отдел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503040" y="1196752"/>
            <a:ext cx="7885384" cy="43204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457200" indent="-457200"/>
            <a:r>
              <a:rPr lang="ru-RU" sz="2400" smtClean="0">
                <a:latin typeface="Arial" pitchFamily="34" charset="0"/>
                <a:cs typeface="Arial" pitchFamily="34" charset="0"/>
              </a:rPr>
              <a:t>Для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всех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сотрудников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удаляемого отдела</a:t>
            </a:r>
            <a:endParaRPr lang="ru-RU" sz="240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1"/>
            <a:ext cx="6624736" cy="296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252536" y="404664"/>
            <a:ext cx="9577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latin typeface="+mj-lt"/>
                <a:cs typeface="Arial" pitchFamily="34" charset="0"/>
              </a:rPr>
              <a:t>СБРАСЫВАТЬ  КЛЮЧ ПРИ УДАЛЕНИИ- </a:t>
            </a:r>
            <a:r>
              <a:rPr lang="en-US" sz="3000" b="1" dirty="0">
                <a:cs typeface="Arial" pitchFamily="34" charset="0"/>
              </a:rPr>
              <a:t>SET NULL</a:t>
            </a:r>
            <a:endParaRPr lang="ru-RU" sz="30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4653136"/>
            <a:ext cx="8892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252000"/>
            <a:r>
              <a:rPr lang="ru-RU" sz="2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22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-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внешний ключ устанавливается в неопределенное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значение</a:t>
            </a:r>
            <a:endParaRPr lang="ru-RU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539552" y="5373216"/>
            <a:ext cx="8604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u="sng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Исключение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: Нельзя сбросить в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, когда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FK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 имеет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спецификацию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NOT NULL (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не может содержать          </a:t>
            </a:r>
          </a:p>
          <a:p>
            <a:r>
              <a:rPr lang="ru-RU" sz="2400" dirty="0" smtClean="0">
                <a:latin typeface="Arial" pitchFamily="34" charset="0"/>
                <a:cs typeface="Arial" pitchFamily="34" charset="0"/>
              </a:rPr>
              <a:t>          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                        неопределенные  значения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null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)</a:t>
            </a:r>
            <a:endParaRPr lang="ru-RU" sz="2400" dirty="0" smtClean="0"/>
          </a:p>
          <a:p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012015"/>
            <a:ext cx="68407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ru-RU" sz="22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-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удаляется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отдел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24744"/>
            <a:ext cx="8640960" cy="1944216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176213" algn="just"/>
            <a:r>
              <a:rPr lang="ru-RU" sz="2400" b="1" dirty="0" smtClean="0">
                <a:latin typeface="Arial" pitchFamily="34" charset="0"/>
                <a:cs typeface="Arial" pitchFamily="34" charset="0"/>
              </a:rPr>
              <a:t>Попытка ИЗМЕНИТЬ </a:t>
            </a:r>
            <a:r>
              <a:rPr lang="ru-RU" sz="2400" dirty="0" smtClean="0"/>
              <a:t>первичный ключ кортежа целевого отношения, </a:t>
            </a:r>
            <a:r>
              <a:rPr lang="ru-RU" sz="2400" dirty="0"/>
              <a:t>на который ссылается некоторый внешний ключ (например, номер отдела, для которого имеется по крайней мере один сотрудни</a:t>
            </a:r>
            <a:r>
              <a:rPr lang="ru-RU" sz="2800" dirty="0"/>
              <a:t>к</a:t>
            </a:r>
            <a:r>
              <a:rPr lang="ru-RU" sz="2800" dirty="0" smtClean="0"/>
              <a:t>) </a:t>
            </a:r>
          </a:p>
          <a:p>
            <a:endParaRPr lang="ru-RU" sz="2000" dirty="0" smtClean="0"/>
          </a:p>
          <a:p>
            <a:pPr lvl="0"/>
            <a:endParaRPr lang="ru-RU" sz="20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9900" y="3068960"/>
            <a:ext cx="7934100" cy="3534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Arial" pitchFamily="34" charset="0"/>
                <a:cs typeface="Arial" pitchFamily="34" charset="0"/>
              </a:rPr>
              <a:t>Операция </a:t>
            </a:r>
            <a:r>
              <a:rPr lang="ru-RU" sz="3200" b="1" dirty="0" smtClean="0">
                <a:latin typeface="Arial" pitchFamily="34" charset="0"/>
                <a:cs typeface="Arial" pitchFamily="34" charset="0"/>
              </a:rPr>
              <a:t>изменения </a:t>
            </a:r>
            <a:r>
              <a:rPr lang="ru-RU" sz="3200" b="1" dirty="0">
                <a:latin typeface="Arial" pitchFamily="34" charset="0"/>
                <a:cs typeface="Arial" pitchFamily="34" charset="0"/>
              </a:rPr>
              <a:t>в целевом отношении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2671192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187624" y="2204864"/>
            <a:ext cx="6048672" cy="43204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530225" indent="-530225">
              <a:buAutoNum type="arabicPeriod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ОГРАНИЧИВАТЬ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RESTRICT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)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 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     </a:t>
            </a:r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smtClean="0">
                <a:latin typeface="+mj-lt"/>
                <a:cs typeface="Arial" pitchFamily="34" charset="0"/>
              </a:rPr>
              <a:t>Три варианта действий при обновлении</a:t>
            </a:r>
            <a:endParaRPr lang="ru-RU" sz="3400">
              <a:latin typeface="+mj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187624" y="2924944"/>
            <a:ext cx="698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0225" indent="-530225">
              <a:buFont typeface="+mj-lt"/>
              <a:buAutoNum type="arabicPeriod" startAt="2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КАСКАДИРОВАТЬ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CASCADE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)</a:t>
            </a: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7624" y="3789040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 indent="-530225">
              <a:buFont typeface="+mj-lt"/>
              <a:buAutoNum type="arabicPeriod" startAt="3"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СБРАСЫВАТЬ (</a:t>
            </a:r>
            <a:r>
              <a:rPr lang="en-US" sz="24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SET NULL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)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124744"/>
            <a:ext cx="8568952" cy="185172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r>
              <a:rPr lang="ru-RU" sz="2800" smtClean="0">
                <a:latin typeface="Arial" pitchFamily="34" charset="0"/>
                <a:cs typeface="Arial" pitchFamily="34" charset="0"/>
              </a:rPr>
              <a:t>Разрешено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обновлять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первичные ключи лишь тех 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2800" smtClean="0">
                <a:latin typeface="Arial" pitchFamily="34" charset="0"/>
                <a:cs typeface="Arial" pitchFamily="34" charset="0"/>
              </a:rPr>
              <a:t>отделов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, которые еще не имеют сотрудников. 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2800" smtClean="0">
                <a:latin typeface="Arial" pitchFamily="34" charset="0"/>
                <a:cs typeface="Arial" pitchFamily="34" charset="0"/>
              </a:rPr>
              <a:t>Иначе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операция обновления отвергается. </a:t>
            </a:r>
          </a:p>
          <a:p>
            <a:pPr lvl="0"/>
            <a:endParaRPr lang="ru-RU" sz="280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852936"/>
            <a:ext cx="7951666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latin typeface="+mj-lt"/>
                <a:cs typeface="Arial" pitchFamily="34" charset="0"/>
              </a:rPr>
              <a:t>ОГРАНИЧИВАТЬ</a:t>
            </a:r>
            <a:r>
              <a:rPr lang="en-US" sz="3000" b="1" dirty="0" smtClean="0">
                <a:latin typeface="+mj-lt"/>
                <a:cs typeface="Arial" pitchFamily="34" charset="0"/>
              </a:rPr>
              <a:t> </a:t>
            </a:r>
            <a:r>
              <a:rPr lang="ru-RU" sz="3000" b="1" dirty="0" smtClean="0">
                <a:latin typeface="+mj-lt"/>
                <a:cs typeface="Arial" pitchFamily="34" charset="0"/>
              </a:rPr>
              <a:t>ПРИ ОБНОВЛЕНИИ - </a:t>
            </a:r>
            <a:r>
              <a:rPr lang="en-US" sz="3000" b="1" dirty="0">
                <a:solidFill>
                  <a:srgbClr val="C00000"/>
                </a:solidFill>
                <a:cs typeface="Arial" pitchFamily="34" charset="0"/>
              </a:rPr>
              <a:t>RESTRICT</a:t>
            </a:r>
            <a:endParaRPr lang="ru-RU" sz="3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251520" y="1196752"/>
            <a:ext cx="8820472" cy="36004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457200" indent="-457200"/>
            <a:r>
              <a:rPr lang="ru-RU" sz="2400" smtClean="0">
                <a:latin typeface="Arial" pitchFamily="34" charset="0"/>
                <a:cs typeface="Arial" pitchFamily="34" charset="0"/>
              </a:rPr>
              <a:t>Операция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обновления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«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каскадируется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» (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распространяется):  </a:t>
            </a:r>
            <a:endParaRPr lang="ru-RU" sz="24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751062"/>
            <a:ext cx="7389455" cy="333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+mj-lt"/>
                <a:cs typeface="Arial" pitchFamily="34" charset="0"/>
              </a:rPr>
              <a:t>КАСКАДИРОВАТЬ  ПРИ ОБНОВЛЕНИИ - </a:t>
            </a:r>
            <a:r>
              <a:rPr lang="en-US" sz="2800" b="1" dirty="0">
                <a:solidFill>
                  <a:srgbClr val="0070C0"/>
                </a:solidFill>
                <a:cs typeface="Arial" pitchFamily="34" charset="0"/>
              </a:rPr>
              <a:t>CASCADE</a:t>
            </a:r>
            <a:endParaRPr lang="ru-RU" sz="28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5301208"/>
            <a:ext cx="8604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обновляется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внешний ключ у сотрудников этого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отдела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403648" y="5733256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2 -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обновляется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значение первичного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ключа 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2671192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23528" y="1052736"/>
            <a:ext cx="8640960" cy="43204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457200" indent="-457200"/>
            <a:r>
              <a:rPr lang="ru-RU" sz="2400" dirty="0" smtClean="0">
                <a:latin typeface="Arial" pitchFamily="34" charset="0"/>
                <a:cs typeface="Arial" pitchFamily="34" charset="0"/>
              </a:rPr>
              <a:t>Для всех сотрудников изменяемого отдела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84784"/>
            <a:ext cx="754788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0528" y="404664"/>
            <a:ext cx="9433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+mj-lt"/>
                <a:cs typeface="Arial" pitchFamily="34" charset="0"/>
              </a:rPr>
              <a:t>СБРАСЫВАТЬ  ПРИ ОБНОВЛЕНИИ - </a:t>
            </a:r>
            <a:r>
              <a:rPr lang="en-US" sz="3200" b="1" dirty="0">
                <a:cs typeface="Arial" pitchFamily="34" charset="0"/>
              </a:rPr>
              <a:t>SET NULL</a:t>
            </a:r>
            <a:endParaRPr lang="ru-RU" sz="32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9632" y="4941168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0338" indent="-1430338"/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1 -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внешний ключ устанавливается в неопределенное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значение 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9632" y="5733256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2 -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обновляется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первичный ключ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отдела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79512" y="6858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179512" y="1052736"/>
            <a:ext cx="8712968" cy="151216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800" i="1" dirty="0" smtClean="0">
                <a:latin typeface="Arial" pitchFamily="34" charset="0"/>
                <a:cs typeface="Arial" pitchFamily="34" charset="0"/>
              </a:rPr>
              <a:t>Значением 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внешнего ключа может быть или </a:t>
            </a:r>
            <a:r>
              <a:rPr lang="en-US" sz="2800" b="1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NULL</a:t>
            </a:r>
            <a:r>
              <a:rPr lang="ru-RU" sz="2800" b="1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-значение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 или значение, </a:t>
            </a:r>
            <a:r>
              <a:rPr lang="ru-RU" sz="2800" b="1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совпадающее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 со значением первичного ключа некоторого кортежа в целевом </a:t>
            </a:r>
            <a:r>
              <a:rPr lang="ru-RU" sz="2800" i="1" dirty="0" smtClean="0">
                <a:latin typeface="Arial" pitchFamily="34" charset="0"/>
                <a:cs typeface="Arial" pitchFamily="34" charset="0"/>
              </a:rPr>
              <a:t>отношении</a:t>
            </a:r>
            <a:endParaRPr lang="ru-RU" sz="28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404664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smtClean="0">
                <a:latin typeface="Arial" pitchFamily="34" charset="0"/>
                <a:cs typeface="Arial" pitchFamily="34" charset="0"/>
              </a:rPr>
              <a:t>Правило ссылочной целостности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2780928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Для внешнего ключа также формулируется </a:t>
            </a:r>
            <a:r>
              <a:rPr lang="ru-RU" sz="2400" b="1" smtClean="0">
                <a:latin typeface="Arial" pitchFamily="34" charset="0"/>
                <a:cs typeface="Arial" pitchFamily="34" charset="0"/>
              </a:rPr>
              <a:t>набор дополнительных требований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 (спецификаций):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544" y="3573016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>
                <a:latin typeface="Arial" pitchFamily="34" charset="0"/>
                <a:cs typeface="Arial" pitchFamily="34" charset="0"/>
              </a:rPr>
              <a:t>1) допустимость NULL-значения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4005064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lvl="0" indent="-354013"/>
            <a:r>
              <a:rPr lang="ru-RU" sz="2400" dirty="0" smtClean="0">
                <a:latin typeface="Arial" pitchFamily="34" charset="0"/>
                <a:cs typeface="Arial" pitchFamily="34" charset="0"/>
              </a:rPr>
              <a:t>2) действия при удалении кортежа из целевого отношения:  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|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|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NULL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7544" y="4869160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" pitchFamily="34" charset="0"/>
                <a:cs typeface="Arial" pitchFamily="34" charset="0"/>
              </a:rPr>
              <a:t>3) действия при обновлении первичного ключа в целевом отношении: </a:t>
            </a:r>
          </a:p>
          <a:p>
            <a:r>
              <a:rPr lang="ru-RU" sz="2400" dirty="0" smtClean="0">
                <a:latin typeface="Arial" pitchFamily="34" charset="0"/>
                <a:cs typeface="Arial" pitchFamily="34" charset="0"/>
              </a:rPr>
              <a:t>                        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|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|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NULL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95536" y="1196752"/>
            <a:ext cx="7920880" cy="115212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algn="just"/>
            <a:r>
              <a:rPr lang="ru-RU" sz="2400" smtClean="0">
                <a:latin typeface="Arial" pitchFamily="34" charset="0"/>
                <a:cs typeface="Arial" pitchFamily="34" charset="0"/>
              </a:rPr>
              <a:t>Любая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БД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кроме базовых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правил имеет набор специфических правил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целостности, определяемых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предметной областью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lvl="0" algn="just"/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smtClean="0">
                <a:latin typeface="+mj-lt"/>
                <a:cs typeface="Arial" pitchFamily="34" charset="0"/>
              </a:rPr>
              <a:t>4. Целостность предметной области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2564904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Arial" pitchFamily="34" charset="0"/>
                <a:cs typeface="Arial" pitchFamily="34" charset="0"/>
              </a:rPr>
              <a:t>Примеры. </a:t>
            </a:r>
          </a:p>
          <a:p>
            <a:r>
              <a:rPr lang="ru-RU" sz="2400" smtClean="0">
                <a:latin typeface="Arial" pitchFamily="34" charset="0"/>
                <a:cs typeface="Arial" pitchFamily="34" charset="0"/>
              </a:rPr>
              <a:t>       Для схемы отношений ОТДЕЛ – СОТРУДНИК:</a:t>
            </a:r>
            <a:endParaRPr lang="ru-RU" sz="2400"/>
          </a:p>
        </p:txBody>
      </p:sp>
      <p:sp>
        <p:nvSpPr>
          <p:cNvPr id="13" name="TextBox 12"/>
          <p:cNvSpPr txBox="1"/>
          <p:nvPr/>
        </p:nvSpPr>
        <p:spPr>
          <a:xfrm>
            <a:off x="251520" y="3573016"/>
            <a:ext cx="8568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>
                <a:latin typeface="Arial" pitchFamily="34" charset="0"/>
                <a:cs typeface="Arial" pitchFamily="34" charset="0"/>
              </a:rPr>
              <a:t> а) Атрибут </a:t>
            </a:r>
            <a:r>
              <a:rPr lang="ru-RU" sz="2200" b="1" i="1" smtClean="0">
                <a:latin typeface="Arial" pitchFamily="34" charset="0"/>
                <a:cs typeface="Arial" pitchFamily="34" charset="0"/>
              </a:rPr>
              <a:t>Табельный номер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 должен задаваться в виде  999,  </a:t>
            </a:r>
          </a:p>
          <a:p>
            <a:r>
              <a:rPr lang="ru-RU" sz="2200" smtClean="0">
                <a:latin typeface="Arial" pitchFamily="34" charset="0"/>
                <a:cs typeface="Arial" pitchFamily="34" charset="0"/>
              </a:rPr>
              <a:t>          где 9 – одна из цифр  0 - 9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4293096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б) Атрибут </a:t>
            </a:r>
            <a:r>
              <a:rPr lang="ru-RU" sz="2200" b="1" i="1" smtClean="0">
                <a:latin typeface="Arial" pitchFamily="34" charset="0"/>
                <a:cs typeface="Arial" pitchFamily="34" charset="0"/>
              </a:rPr>
              <a:t>Номер отдела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 должен задаваться в виде  99,  </a:t>
            </a:r>
          </a:p>
          <a:p>
            <a:pPr lvl="0"/>
            <a:r>
              <a:rPr lang="ru-RU" sz="2400" smtClean="0">
                <a:latin typeface="Arial" pitchFamily="34" charset="0"/>
                <a:cs typeface="Arial" pitchFamily="34" charset="0"/>
              </a:rPr>
              <a:t>          где 9 – одна из цифр  0 – 9  </a:t>
            </a:r>
            <a:endParaRPr lang="ru-RU" sz="2400"/>
          </a:p>
        </p:txBody>
      </p:sp>
      <p:sp>
        <p:nvSpPr>
          <p:cNvPr id="15" name="TextBox 14"/>
          <p:cNvSpPr txBox="1"/>
          <p:nvPr/>
        </p:nvSpPr>
        <p:spPr>
          <a:xfrm>
            <a:off x="323528" y="5158353"/>
            <a:ext cx="82089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200" smtClean="0">
                <a:latin typeface="Arial" pitchFamily="34" charset="0"/>
                <a:cs typeface="Arial" pitchFamily="34" charset="0"/>
              </a:rPr>
              <a:t> в)  Атрибут </a:t>
            </a:r>
            <a:r>
              <a:rPr lang="ru-RU" sz="2200" b="1" i="1" smtClean="0">
                <a:latin typeface="Arial" pitchFamily="34" charset="0"/>
                <a:cs typeface="Arial" pitchFamily="34" charset="0"/>
              </a:rPr>
              <a:t>Оклад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  не может быть отрицательным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95536" y="1254819"/>
            <a:ext cx="8424936" cy="1152128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Целостность (</a:t>
            </a:r>
            <a:r>
              <a:rPr lang="en-US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integrity)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данных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–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определяется ограничениями, зафиксированными в БД (целостность отношений, ссылочная целостность и т.д.)</a:t>
            </a:r>
          </a:p>
          <a:p>
            <a:pPr algn="just"/>
            <a:r>
              <a:rPr lang="ru-RU" sz="2400" dirty="0" smtClean="0">
                <a:latin typeface="Arial" pitchFamily="34" charset="0"/>
                <a:cs typeface="Arial" pitchFamily="34" charset="0"/>
              </a:rPr>
              <a:t>СУБД гарантирует выполнение ограничений целостности. </a:t>
            </a:r>
          </a:p>
          <a:p>
            <a:pPr lvl="0" algn="just"/>
            <a:endParaRPr lang="ru-RU" sz="2400" dirty="0" smtClean="0"/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 dirty="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latin typeface="+mj-lt"/>
                <a:cs typeface="Arial" pitchFamily="34" charset="0"/>
              </a:rPr>
              <a:t> Целостность  и согласованность</a:t>
            </a:r>
            <a:endParaRPr lang="ru-RU" sz="36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3127027"/>
            <a:ext cx="820891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Согласованность (</a:t>
            </a:r>
            <a:r>
              <a:rPr lang="en-US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consistency)</a:t>
            </a:r>
            <a:r>
              <a:rPr lang="ru-RU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определяется условиями предметной области </a:t>
            </a:r>
          </a:p>
          <a:p>
            <a:pPr marL="1349375" lvl="0" indent="-1349375" algn="just">
              <a:spcBef>
                <a:spcPts val="1200"/>
              </a:spcBef>
            </a:pPr>
            <a:r>
              <a:rPr lang="ru-RU" sz="2400" b="1" dirty="0" smtClean="0">
                <a:latin typeface="Arial" pitchFamily="34" charset="0"/>
                <a:cs typeface="Arial" pitchFamily="34" charset="0"/>
              </a:rPr>
              <a:t>Пример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. Перевод денежных средств с одного счета на другой не должен менять общую сумму средств на этих счетах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5225" y="5209000"/>
            <a:ext cx="7673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latin typeface="Arial" pitchFamily="34" charset="0"/>
                <a:cs typeface="Arial" pitchFamily="34" charset="0"/>
              </a:rPr>
              <a:t>СУБД не может гарантировать согласованность. 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ru-RU" sz="2400" dirty="0" smtClean="0">
                <a:latin typeface="Arial" pitchFamily="34" charset="0"/>
                <a:cs typeface="Arial" pitchFamily="34" charset="0"/>
              </a:rPr>
              <a:t>Это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возлагается на приложение, работающее с БД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392317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4. </a:t>
            </a:r>
            <a:r>
              <a:rPr lang="ru-RU" sz="2000">
                <a:solidFill>
                  <a:schemeClr val="tx1"/>
                </a:solidFill>
              </a:rPr>
              <a:t>Целостность реляционной модели данных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ВОПРОСЫ К ЛЕКЦИИ</a:t>
            </a:r>
            <a:endParaRPr lang="ru-RU" sz="3600" b="1"/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1. Сколько в реляционной модели правил целостности ?</a:t>
            </a:r>
            <a:endParaRPr lang="ru-RU" sz="2200"/>
          </a:p>
        </p:txBody>
      </p:sp>
      <p:sp>
        <p:nvSpPr>
          <p:cNvPr id="12" name="TextBox 11"/>
          <p:cNvSpPr txBox="1"/>
          <p:nvPr/>
        </p:nvSpPr>
        <p:spPr>
          <a:xfrm>
            <a:off x="251520" y="1629961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2. Чем обеспечивается целостность отношений ?</a:t>
            </a:r>
            <a:endParaRPr lang="ru-RU" sz="2200"/>
          </a:p>
        </p:txBody>
      </p:sp>
      <p:sp>
        <p:nvSpPr>
          <p:cNvPr id="13" name="TextBox 12"/>
          <p:cNvSpPr txBox="1"/>
          <p:nvPr/>
        </p:nvSpPr>
        <p:spPr>
          <a:xfrm>
            <a:off x="251520" y="213285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3. Перечислите свойства первичного ключа</a:t>
            </a:r>
            <a:endParaRPr lang="ru-RU" sz="2200"/>
          </a:p>
        </p:txBody>
      </p:sp>
      <p:sp>
        <p:nvSpPr>
          <p:cNvPr id="14" name="TextBox 13"/>
          <p:cNvSpPr txBox="1"/>
          <p:nvPr/>
        </p:nvSpPr>
        <p:spPr>
          <a:xfrm>
            <a:off x="251520" y="2636912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4. Чем обеспечивается ссылочная целостность ?</a:t>
            </a:r>
            <a:endParaRPr lang="ru-RU" sz="2200"/>
          </a:p>
        </p:txBody>
      </p:sp>
      <p:sp>
        <p:nvSpPr>
          <p:cNvPr id="15" name="TextBox 14"/>
          <p:cNvSpPr txBox="1"/>
          <p:nvPr/>
        </p:nvSpPr>
        <p:spPr>
          <a:xfrm>
            <a:off x="251520" y="3140968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5. В связанных отношениях ОТДЕЛ-СОТРУДНИК операция удаления не является «опасной» в отношении…</a:t>
            </a:r>
            <a:endParaRPr lang="ru-RU" sz="2200"/>
          </a:p>
        </p:txBody>
      </p:sp>
      <p:sp>
        <p:nvSpPr>
          <p:cNvPr id="16" name="TextBox 15"/>
          <p:cNvSpPr txBox="1"/>
          <p:nvPr/>
        </p:nvSpPr>
        <p:spPr>
          <a:xfrm>
            <a:off x="251520" y="4005064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200" smtClean="0"/>
              <a:t>6</a:t>
            </a:r>
            <a:r>
              <a:rPr lang="ru-RU" sz="2200" smtClean="0"/>
              <a:t>. В каком ключе (</a:t>
            </a:r>
            <a:r>
              <a:rPr lang="en-US" sz="2200" smtClean="0"/>
              <a:t>PK, FK) </a:t>
            </a:r>
            <a:r>
              <a:rPr lang="ru-RU" sz="2200" smtClean="0"/>
              <a:t>допускаются значения </a:t>
            </a:r>
            <a:r>
              <a:rPr lang="en-US" sz="2200" smtClean="0"/>
              <a:t>NULL ?</a:t>
            </a:r>
            <a:endParaRPr lang="ru-RU" sz="2200"/>
          </a:p>
        </p:txBody>
      </p:sp>
      <p:sp>
        <p:nvSpPr>
          <p:cNvPr id="17" name="TextBox 16"/>
          <p:cNvSpPr txBox="1"/>
          <p:nvPr/>
        </p:nvSpPr>
        <p:spPr>
          <a:xfrm>
            <a:off x="251520" y="4437112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200" smtClean="0"/>
              <a:t>7</a:t>
            </a:r>
            <a:r>
              <a:rPr lang="ru-RU" sz="2200" smtClean="0"/>
              <a:t>. В каком случае нельзя использовать правило СБРАСЫВАТЬ для внешнего ключа</a:t>
            </a:r>
            <a:r>
              <a:rPr lang="en-US" sz="2200" smtClean="0"/>
              <a:t> ?</a:t>
            </a:r>
            <a:endParaRPr lang="ru-RU" sz="2200"/>
          </a:p>
        </p:txBody>
      </p:sp>
      <p:sp>
        <p:nvSpPr>
          <p:cNvPr id="18" name="TextBox 17"/>
          <p:cNvSpPr txBox="1"/>
          <p:nvPr/>
        </p:nvSpPr>
        <p:spPr>
          <a:xfrm>
            <a:off x="251520" y="5229200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8. Придумайте правило целостности предметной области </a:t>
            </a:r>
          </a:p>
          <a:p>
            <a:pPr marL="354013" indent="-354013"/>
            <a:r>
              <a:rPr lang="ru-RU" sz="2200" smtClean="0"/>
              <a:t>    «сдача экзамена»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1347</TotalTime>
  <Words>1690</Words>
  <Application>Microsoft Office PowerPoint</Application>
  <PresentationFormat>Экран (4:3)</PresentationFormat>
  <Paragraphs>347</Paragraphs>
  <Slides>39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Открытая</vt:lpstr>
      <vt:lpstr>Лекция 4</vt:lpstr>
      <vt:lpstr>       Лекция 4.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Целостность реляционной модели данных  </vt:lpstr>
      <vt:lpstr>       Лекция 4.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 Целостность реляционной модели данных  </vt:lpstr>
      <vt:lpstr>    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   Лекция 4. Целостность реляционной модели данных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143</cp:revision>
  <dcterms:created xsi:type="dcterms:W3CDTF">2020-10-04T20:01:59Z</dcterms:created>
  <dcterms:modified xsi:type="dcterms:W3CDTF">2025-09-25T20:41:57Z</dcterms:modified>
</cp:coreProperties>
</file>