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8" r:id="rId1"/>
  </p:sldMasterIdLst>
  <p:notesMasterIdLst>
    <p:notesMasterId r:id="rId38"/>
  </p:notesMasterIdLst>
  <p:sldIdLst>
    <p:sldId id="256" r:id="rId2"/>
    <p:sldId id="517" r:id="rId3"/>
    <p:sldId id="509" r:id="rId4"/>
    <p:sldId id="536" r:id="rId5"/>
    <p:sldId id="535" r:id="rId6"/>
    <p:sldId id="537" r:id="rId7"/>
    <p:sldId id="519" r:id="rId8"/>
    <p:sldId id="520" r:id="rId9"/>
    <p:sldId id="511" r:id="rId10"/>
    <p:sldId id="512" r:id="rId11"/>
    <p:sldId id="513" r:id="rId12"/>
    <p:sldId id="510" r:id="rId13"/>
    <p:sldId id="521" r:id="rId14"/>
    <p:sldId id="522" r:id="rId15"/>
    <p:sldId id="523" r:id="rId16"/>
    <p:sldId id="524" r:id="rId17"/>
    <p:sldId id="525" r:id="rId18"/>
    <p:sldId id="514" r:id="rId19"/>
    <p:sldId id="515" r:id="rId20"/>
    <p:sldId id="529" r:id="rId21"/>
    <p:sldId id="526" r:id="rId22"/>
    <p:sldId id="527" r:id="rId23"/>
    <p:sldId id="528" r:id="rId24"/>
    <p:sldId id="516" r:id="rId25"/>
    <p:sldId id="539" r:id="rId26"/>
    <p:sldId id="540" r:id="rId27"/>
    <p:sldId id="541" r:id="rId28"/>
    <p:sldId id="542" r:id="rId29"/>
    <p:sldId id="543" r:id="rId30"/>
    <p:sldId id="538" r:id="rId31"/>
    <p:sldId id="531" r:id="rId32"/>
    <p:sldId id="530" r:id="rId33"/>
    <p:sldId id="532" r:id="rId34"/>
    <p:sldId id="533" r:id="rId35"/>
    <p:sldId id="534" r:id="rId36"/>
    <p:sldId id="300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4652" autoAdjust="0"/>
  </p:normalViewPr>
  <p:slideViewPr>
    <p:cSldViewPr>
      <p:cViewPr>
        <p:scale>
          <a:sx n="75" d="100"/>
          <a:sy n="75" d="100"/>
        </p:scale>
        <p:origin x="-92" y="-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1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F5D9-4AA4-4C09-9DDB-303A09193B8E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000A-7D59-434E-AC61-119968F2B181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4F22-7D92-426D-8147-B259567C005D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006A-42FB-4BC3-8D0B-713D278FD97D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FC4BB-C5DC-4A55-BF0D-F172948F6FC2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58C2-66E3-4491-95E8-5725A7BF1DCF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F5AACCE-C039-4A73-A245-28F9A6C03767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6A5B-76D6-43F4-92BC-16DA687A9C7B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8BDA-C263-49AF-85CF-10CFC68679A3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22.10.2025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836712"/>
            <a:ext cx="7772400" cy="1008110"/>
          </a:xfrm>
        </p:spPr>
        <p:txBody>
          <a:bodyPr>
            <a:normAutofit fontScale="90000"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/>
            </a:r>
            <a:br>
              <a:rPr lang="ru-RU">
                <a:solidFill>
                  <a:schemeClr val="bg1"/>
                </a:solidFill>
              </a:rPr>
            </a:br>
            <a:endParaRPr lang="ru-RU">
              <a:solidFill>
                <a:srgbClr val="FFFF00"/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</a:t>
            </a:r>
            <a:r>
              <a:rPr lang="ru-RU" b="1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520" y="2204864"/>
            <a:ext cx="87849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Создание объектов  базы </a:t>
            </a:r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3848" y="1196752"/>
            <a:ext cx="396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5400" b="1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ru-RU" sz="5400" b="1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10</a:t>
            </a:r>
            <a:endParaRPr lang="ru-RU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Основные шаги работы с БД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</a:t>
            </a:r>
            <a:r>
              <a:rPr lang="ru-RU" sz="24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4488" y="2574190"/>
            <a:ext cx="88941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ru-RU" sz="2800" dirty="0" smtClean="0"/>
              <a:t>Создание пользователя (роли)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dirty="0" smtClean="0"/>
              <a:t>Создание БД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dirty="0" smtClean="0"/>
              <a:t>Создание схемы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b="1" dirty="0" smtClean="0">
                <a:solidFill>
                  <a:srgbClr val="0070C0"/>
                </a:solidFill>
              </a:rPr>
              <a:t>Создание объектов БД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ru-RU" sz="2800" dirty="0" smtClean="0"/>
              <a:t>Выполнение запросов</a:t>
            </a:r>
            <a:endParaRPr 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124744"/>
            <a:ext cx="79928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Работа начинается с использованием встроенной роли </a:t>
            </a:r>
            <a:r>
              <a:rPr lang="en-US" sz="2800" b="1" dirty="0" err="1" smtClean="0">
                <a:solidFill>
                  <a:srgbClr val="7030A0"/>
                </a:solidFill>
              </a:rPr>
              <a:t>postgres</a:t>
            </a:r>
            <a:r>
              <a:rPr lang="en-US" sz="2800" dirty="0" smtClean="0"/>
              <a:t>  </a:t>
            </a:r>
            <a:r>
              <a:rPr lang="ru-RU" sz="2800" dirty="0" smtClean="0"/>
              <a:t>и включает несколько основных шагов:</a:t>
            </a:r>
            <a:endParaRPr lang="ru-RU" sz="2800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09833" y="2492896"/>
            <a:ext cx="318551" cy="49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40352" y="3078246"/>
            <a:ext cx="318551" cy="49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81841" y="3582302"/>
            <a:ext cx="318551" cy="49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096179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. 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Создание объектов 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412775"/>
            <a:ext cx="4752528" cy="5527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023488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Хранение объектов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96752"/>
            <a:ext cx="864096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Все объекты БД </a:t>
            </a:r>
            <a:r>
              <a:rPr lang="en-US" sz="2400" dirty="0" err="1"/>
              <a:t>PostgreSQL</a:t>
            </a:r>
            <a:r>
              <a:rPr lang="ru-RU" sz="2400" dirty="0"/>
              <a:t> хранятся в </a:t>
            </a:r>
            <a:r>
              <a:rPr lang="ru-RU" sz="2400" dirty="0" smtClean="0"/>
              <a:t>схемах</a:t>
            </a:r>
          </a:p>
          <a:p>
            <a:pPr marL="444500" indent="-4445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Имена </a:t>
            </a:r>
            <a:r>
              <a:rPr lang="ru-RU" sz="2400" dirty="0"/>
              <a:t>объектов базы данных (</a:t>
            </a:r>
            <a:r>
              <a:rPr lang="ru-RU" sz="2400" dirty="0" smtClean="0"/>
              <a:t>таблиц </a:t>
            </a:r>
            <a:r>
              <a:rPr lang="ru-RU" sz="2400" dirty="0"/>
              <a:t>и др.) должны быть уникальными в пределах конкретной схемы, но в разных схемах имена объектов могут </a:t>
            </a:r>
            <a:r>
              <a:rPr lang="ru-RU" sz="2400" dirty="0" smtClean="0"/>
              <a:t>повторяться </a:t>
            </a:r>
          </a:p>
          <a:p>
            <a:pPr marL="444500" indent="-4445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Таким </a:t>
            </a:r>
            <a:r>
              <a:rPr lang="ru-RU" sz="2400" dirty="0"/>
              <a:t>образом, можно сказать, что схема образует так называемое </a:t>
            </a:r>
            <a:r>
              <a:rPr lang="ru-RU" sz="2400" b="1" dirty="0"/>
              <a:t>пространство </a:t>
            </a:r>
            <a:r>
              <a:rPr lang="ru-RU" sz="2400" b="1" dirty="0" smtClean="0"/>
              <a:t>имен</a:t>
            </a:r>
            <a:endParaRPr lang="en-US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613708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Обращение к объектам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96752"/>
            <a:ext cx="864096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400" dirty="0"/>
              <a:t>Если в </a:t>
            </a:r>
            <a:r>
              <a:rPr lang="ru-RU" sz="2400" dirty="0" smtClean="0"/>
              <a:t>БД </a:t>
            </a:r>
            <a:r>
              <a:rPr lang="ru-RU" sz="2400" dirty="0"/>
              <a:t>создано более одной схемы, то доступ к объектам, содержащимся в конкретной схеме, можно организовать </a:t>
            </a:r>
            <a:r>
              <a:rPr lang="ru-RU" sz="2400" dirty="0" smtClean="0"/>
              <a:t>двумя способами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Обращение  к объекту с указанием  перед именем объекта имени схемы, в которой он хранится </a:t>
            </a:r>
            <a:endParaRPr lang="en-US" sz="2400" dirty="0"/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8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имя_схемы</a:t>
            </a:r>
            <a:r>
              <a:rPr lang="ru-RU" sz="2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имя_объекта</a:t>
            </a:r>
            <a:endParaRPr lang="ru-RU" sz="2400" dirty="0" smtClean="0"/>
          </a:p>
          <a:p>
            <a:pPr marL="361950">
              <a:spcBef>
                <a:spcPts val="600"/>
              </a:spcBef>
              <a:spcAft>
                <a:spcPts val="600"/>
              </a:spcAft>
            </a:pPr>
            <a:r>
              <a:rPr lang="ru-RU" sz="2400" dirty="0"/>
              <a:t> </a:t>
            </a:r>
            <a:r>
              <a:rPr lang="ru-RU" sz="2400" dirty="0" smtClean="0"/>
              <a:t> </a:t>
            </a:r>
            <a:r>
              <a:rPr lang="ru-RU" sz="2400" b="1" i="1" dirty="0" smtClean="0"/>
              <a:t>Пример</a:t>
            </a:r>
            <a:r>
              <a:rPr lang="ru-RU" sz="2400" dirty="0" smtClean="0"/>
              <a:t>    </a:t>
            </a:r>
            <a:r>
              <a:rPr lang="en-US" sz="26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r>
              <a:rPr lang="en-US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.book</a:t>
            </a:r>
            <a:endParaRPr lang="ru-RU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 startAt="2"/>
            </a:pPr>
            <a:r>
              <a:rPr lang="ru-RU" sz="2400" dirty="0" smtClean="0"/>
              <a:t>Обращение просто по имени объекта (без добавления имени схемы), если схему в сеансе сделать текущей</a:t>
            </a:r>
          </a:p>
          <a:p>
            <a:pPr>
              <a:spcBef>
                <a:spcPts val="600"/>
              </a:spcBef>
            </a:pP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6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600" b="1" dirty="0" err="1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search_path</a:t>
            </a:r>
            <a:r>
              <a:rPr lang="ru-RU" sz="26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схемы</a:t>
            </a:r>
            <a:endParaRPr lang="en-US" sz="26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6550">
              <a:spcBef>
                <a:spcPts val="600"/>
              </a:spcBef>
            </a:pPr>
            <a:r>
              <a:rPr lang="ru-RU" sz="2400" b="1" i="1" dirty="0" smtClean="0"/>
              <a:t>Пример</a:t>
            </a:r>
            <a:r>
              <a:rPr lang="ru-RU" sz="2400" dirty="0" smtClean="0"/>
              <a:t> 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400" b="1" dirty="0" err="1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search_path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endParaRPr lang="ru-RU" sz="26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708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Создание объектов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Реляционные базы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52736"/>
            <a:ext cx="864096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При создании объектов </a:t>
            </a:r>
            <a:r>
              <a:rPr lang="ru-RU" sz="2400" dirty="0" smtClean="0"/>
              <a:t>БД </a:t>
            </a:r>
            <a:r>
              <a:rPr lang="ru-RU" sz="2400" dirty="0"/>
              <a:t>необходимо учитывать следующее: если имя схемы в команде не указано, то объект будет создан в текущей </a:t>
            </a:r>
            <a:r>
              <a:rPr lang="ru-RU" sz="2400" dirty="0" smtClean="0"/>
              <a:t>схеме </a:t>
            </a:r>
          </a:p>
          <a:p>
            <a:pPr marL="361950">
              <a:spcBef>
                <a:spcPts val="1200"/>
              </a:spcBef>
            </a:pPr>
            <a:r>
              <a:rPr lang="ru-RU" sz="2400" dirty="0" smtClean="0"/>
              <a:t>По </a:t>
            </a:r>
            <a:r>
              <a:rPr lang="ru-RU" sz="2400" dirty="0"/>
              <a:t>умолчанию текущая схема –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endParaRPr lang="ru-RU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1950">
              <a:spcBef>
                <a:spcPts val="1200"/>
              </a:spcBef>
            </a:pP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Узнать имя текущей схемы можно командами: </a:t>
            </a:r>
          </a:p>
          <a:p>
            <a:pPr marL="361950"/>
            <a:r>
              <a:rPr lang="ru-RU" sz="2400" b="1" dirty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+mj-lt"/>
                <a:cs typeface="Courier New" panose="02070309020205020404" pitchFamily="49" charset="0"/>
              </a:rPr>
              <a:t>     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search_path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1950"/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или</a:t>
            </a:r>
            <a:endParaRPr lang="en-US" sz="2400" dirty="0" smtClean="0">
              <a:latin typeface="+mj-lt"/>
              <a:cs typeface="Courier New" panose="02070309020205020404" pitchFamily="49" charset="0"/>
            </a:endParaRPr>
          </a:p>
          <a:p>
            <a:pPr marL="361950"/>
            <a:r>
              <a:rPr lang="en-US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+mj-lt"/>
                <a:cs typeface="Courier New" panose="02070309020205020404" pitchFamily="49" charset="0"/>
              </a:rPr>
              <a:t>     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current_schema</a:t>
            </a:r>
            <a:endParaRPr lang="ru-RU" sz="2400" dirty="0" smtClean="0">
              <a:latin typeface="+mj-lt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Для создания объекта  </a:t>
            </a:r>
            <a:r>
              <a:rPr lang="ru-RU" sz="2400" dirty="0"/>
              <a:t>в </a:t>
            </a:r>
            <a:r>
              <a:rPr lang="ru-RU" sz="2400" dirty="0" smtClean="0"/>
              <a:t>конкретной схеме</a:t>
            </a:r>
            <a:r>
              <a:rPr lang="ru-RU" sz="2400" dirty="0"/>
              <a:t>, которая не является текущей, </a:t>
            </a:r>
            <a:r>
              <a:rPr lang="ru-RU" sz="2400" dirty="0" smtClean="0"/>
              <a:t>нужно явно указать </a:t>
            </a:r>
            <a:r>
              <a:rPr lang="ru-RU" sz="2400" dirty="0"/>
              <a:t>ее имя перед именем </a:t>
            </a:r>
            <a:r>
              <a:rPr lang="ru-RU" sz="2400" dirty="0" smtClean="0"/>
              <a:t>объекта</a:t>
            </a:r>
          </a:p>
          <a:p>
            <a:pPr>
              <a:spcBef>
                <a:spcPts val="600"/>
              </a:spcBef>
            </a:pPr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ru-RU" sz="2400" b="1" dirty="0" smtClean="0"/>
              <a:t>Пример.</a:t>
            </a:r>
            <a:r>
              <a:rPr lang="ru-RU" sz="2400" dirty="0" smtClean="0"/>
              <a:t>  Создание </a:t>
            </a:r>
            <a:r>
              <a:rPr lang="ru-RU" sz="2400" dirty="0"/>
              <a:t>таблицы </a:t>
            </a:r>
            <a:r>
              <a:rPr lang="en-US" sz="2400" dirty="0" smtClean="0"/>
              <a:t>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r>
              <a:rPr lang="en-US" sz="2400" dirty="0" smtClean="0"/>
              <a:t> </a:t>
            </a:r>
            <a:r>
              <a:rPr lang="ru-RU" sz="2400" dirty="0" smtClean="0"/>
              <a:t>в </a:t>
            </a:r>
            <a:r>
              <a:rPr lang="ru-RU" sz="2400" dirty="0"/>
              <a:t>схеме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r>
              <a:rPr lang="ru-RU" sz="2400" dirty="0" smtClean="0"/>
              <a:t>:</a:t>
            </a:r>
            <a:endParaRPr lang="ru-RU" sz="2400" dirty="0"/>
          </a:p>
          <a:p>
            <a:pPr>
              <a:spcBef>
                <a:spcPts val="1200"/>
              </a:spcBef>
            </a:pPr>
            <a:r>
              <a:rPr lang="ru-RU" sz="2400" dirty="0" smtClean="0"/>
              <a:t>          </a:t>
            </a:r>
            <a:r>
              <a:rPr lang="en-US" sz="2400" dirty="0" smtClean="0"/>
              <a:t>                      </a:t>
            </a:r>
            <a:r>
              <a:rPr lang="ru-RU" sz="2400" dirty="0" smtClean="0"/>
              <a:t>CREATE </a:t>
            </a:r>
            <a:r>
              <a:rPr lang="ru-RU" sz="2400" dirty="0"/>
              <a:t>TABLE </a:t>
            </a:r>
            <a:r>
              <a:rPr lang="en-US" sz="2400" dirty="0" smtClean="0"/>
              <a:t>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endParaRPr lang="ru-RU" sz="2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7951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Использование скрипта создания объектов 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sz="2400" dirty="0">
                <a:solidFill>
                  <a:srgbClr val="0070C0"/>
                </a:solidFill>
              </a:rPr>
              <a:t/>
            </a:r>
            <a:br>
              <a:rPr lang="ru-RU" sz="2400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7584" y="1864563"/>
            <a:ext cx="777686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1338" indent="-541338" algn="just" defTabSz="44926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Скрипт  содержит </a:t>
            </a:r>
            <a:r>
              <a:rPr lang="ru-RU" sz="2400" dirty="0"/>
              <a:t>к</a:t>
            </a:r>
            <a:r>
              <a:rPr lang="ru-RU" sz="2400" dirty="0" smtClean="0"/>
              <a:t>оманды создания объектов базы данных</a:t>
            </a:r>
          </a:p>
          <a:p>
            <a:pPr marL="541338" indent="-541338" algn="just" defTabSz="44926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Основными объектами являются таблицы</a:t>
            </a:r>
          </a:p>
          <a:p>
            <a:pPr marL="541338" indent="-541338" algn="just" defTabSz="449263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Скрипт можно выполнить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896938" indent="-355600" algn="just" defTabSz="4492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400" dirty="0"/>
              <a:t>из клиента сервера базы данных</a:t>
            </a:r>
            <a:r>
              <a:rPr lang="en-US" sz="2400" dirty="0"/>
              <a:t> </a:t>
            </a:r>
            <a:r>
              <a:rPr lang="en-US" sz="2400" dirty="0" err="1" smtClean="0"/>
              <a:t>pgAdmin</a:t>
            </a:r>
            <a:r>
              <a:rPr lang="az-Cyrl-AZ" sz="2400" dirty="0" smtClean="0"/>
              <a:t>, </a:t>
            </a:r>
            <a:r>
              <a:rPr lang="en-US" sz="2400" dirty="0" err="1" smtClean="0"/>
              <a:t>DBeaver</a:t>
            </a:r>
            <a:endParaRPr lang="ru-RU" sz="2400" dirty="0"/>
          </a:p>
          <a:p>
            <a:pPr marL="896938" indent="-355600" algn="just" defTabSz="4492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400" dirty="0" smtClean="0"/>
              <a:t>из среды проектирования базы данных </a:t>
            </a:r>
            <a:r>
              <a:rPr lang="en-US" sz="2400" dirty="0" smtClean="0"/>
              <a:t>SQL Power Architect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25722297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Выполнение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PgAdmin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sz="2400" dirty="0">
                <a:solidFill>
                  <a:srgbClr val="0070C0"/>
                </a:solidFill>
              </a:rPr>
              <a:t/>
            </a:r>
            <a:br>
              <a:rPr lang="ru-RU" sz="2400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Для  создания объектов (таблиц) БД  необходимо выполнить  сценарий, который был создан на этапе физического проектирования</a:t>
            </a:r>
          </a:p>
          <a:p>
            <a:pPr algn="just"/>
            <a:endParaRPr lang="ru-RU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ru-RU" sz="2400">
                <a:latin typeface="Arial" pitchFamily="34" charset="0"/>
                <a:cs typeface="Arial" pitchFamily="34" charset="0"/>
              </a:rPr>
              <a:t>Выделяем БД (1), </a:t>
            </a:r>
          </a:p>
          <a:p>
            <a:pPr algn="just"/>
            <a:r>
              <a:rPr lang="ru-RU" sz="2400">
                <a:latin typeface="Arial" pitchFamily="34" charset="0"/>
                <a:cs typeface="Arial" pitchFamily="34" charset="0"/>
              </a:rPr>
              <a:t>схему (2)</a:t>
            </a:r>
          </a:p>
          <a:p>
            <a:pPr algn="just"/>
            <a:r>
              <a:rPr lang="ru-RU" sz="2400">
                <a:latin typeface="Arial" pitchFamily="34" charset="0"/>
                <a:cs typeface="Arial" pitchFamily="34" charset="0"/>
              </a:rPr>
              <a:t>и нажимаем кнопку </a:t>
            </a:r>
          </a:p>
          <a:p>
            <a:pPr algn="just"/>
            <a:r>
              <a:rPr lang="ru-RU" sz="2400">
                <a:latin typeface="Arial" pitchFamily="34" charset="0"/>
                <a:cs typeface="Arial" pitchFamily="34" charset="0"/>
              </a:rPr>
              <a:t>для вызова окна ввода</a:t>
            </a:r>
          </a:p>
          <a:p>
            <a:pPr algn="just"/>
            <a:r>
              <a:rPr lang="ru-RU" sz="2400">
                <a:latin typeface="Arial" pitchFamily="34" charset="0"/>
                <a:cs typeface="Arial" pitchFamily="34" charset="0"/>
              </a:rPr>
              <a:t>запросов (3)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438403"/>
            <a:ext cx="3888432" cy="4518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096552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841701"/>
            <a:ext cx="4524375" cy="1971675"/>
          </a:xfrm>
          <a:prstGeom prst="rect">
            <a:avLst/>
          </a:prstGeom>
          <a:noFill/>
          <a:ln w="254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448723"/>
            <a:ext cx="2569725" cy="2556341"/>
          </a:xfrm>
          <a:prstGeom prst="rect">
            <a:avLst/>
          </a:prstGeom>
          <a:noFill/>
          <a:ln w="254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Выполнение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сценария в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pgAdmin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sz="2400" dirty="0">
                <a:solidFill>
                  <a:srgbClr val="0070C0"/>
                </a:solidFill>
              </a:rPr>
              <a:t/>
            </a:r>
            <a:br>
              <a:rPr lang="ru-RU" sz="2400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40768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окне запросов загружаем </a:t>
            </a:r>
          </a:p>
          <a:p>
            <a:r>
              <a:rPr lang="ru-RU" sz="2400" dirty="0"/>
              <a:t>ф</a:t>
            </a:r>
            <a:r>
              <a:rPr lang="ru-RU" sz="2400" dirty="0" smtClean="0"/>
              <a:t>айл сценария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910" y="4071942"/>
            <a:ext cx="285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 выполняем его</a:t>
            </a:r>
            <a:endParaRPr lang="ru-RU" sz="2400" dirty="0">
              <a:latin typeface="Arial" pitchFamily="34" charset="0"/>
              <a:cs typeface="Arial" pitchFamily="34" charset="0"/>
            </a:endParaRPr>
          </a:p>
          <a:p>
            <a:endParaRPr lang="ru-RU" sz="2400" dirty="0"/>
          </a:p>
        </p:txBody>
      </p:sp>
      <p:cxnSp>
        <p:nvCxnSpPr>
          <p:cNvPr id="3" name="Прямая со стрелкой 2"/>
          <p:cNvCxnSpPr/>
          <p:nvPr/>
        </p:nvCxnSpPr>
        <p:spPr>
          <a:xfrm>
            <a:off x="2915816" y="1979256"/>
            <a:ext cx="2622227" cy="43684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3460376" y="4303059"/>
            <a:ext cx="3775920" cy="854133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58478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Выполнение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pgAdmin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77704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Если сценарий будет выполнен успешно, то в нижней части окна запросов на вкладке </a:t>
            </a:r>
            <a:r>
              <a:rPr lang="ru-RU" sz="2400" b="1" i="1" dirty="0"/>
              <a:t>Сообщения</a:t>
            </a:r>
            <a:r>
              <a:rPr lang="ru-RU" sz="2400" dirty="0"/>
              <a:t> </a:t>
            </a:r>
            <a:r>
              <a:rPr lang="ru-RU" sz="2400" dirty="0" smtClean="0"/>
              <a:t> будет </a:t>
            </a:r>
            <a:r>
              <a:rPr lang="ru-RU" sz="2400" dirty="0"/>
              <a:t>выведен текст </a:t>
            </a:r>
            <a:r>
              <a:rPr lang="ru-RU" sz="2400" b="1" i="1" dirty="0">
                <a:solidFill>
                  <a:srgbClr val="7030A0"/>
                </a:solidFill>
              </a:rPr>
              <a:t>Запрос завершен успешно</a:t>
            </a:r>
            <a:r>
              <a:rPr lang="ru-RU" sz="2400" dirty="0"/>
              <a:t>, а в дереве объектов в схеме </a:t>
            </a:r>
            <a:r>
              <a:rPr 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</a:t>
            </a:r>
            <a:r>
              <a:rPr lang="ru-RU" sz="2400" dirty="0" smtClean="0"/>
              <a:t> </a:t>
            </a:r>
            <a:r>
              <a:rPr lang="ru-RU" sz="2400" dirty="0"/>
              <a:t>отобразятся таблицы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3" y="2827968"/>
            <a:ext cx="9005367" cy="347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773338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Выполнение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 smtClean="0">
                <a:latin typeface="Arial" pitchFamily="34" charset="0"/>
                <a:cs typeface="Arial" pitchFamily="34" charset="0"/>
              </a:rPr>
              <a:t>DBeaver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7"/>
          <a:stretch/>
        </p:blipFill>
        <p:spPr bwMode="auto">
          <a:xfrm>
            <a:off x="92269" y="1394532"/>
            <a:ext cx="9051731" cy="2320455"/>
          </a:xfrm>
          <a:prstGeom prst="rect">
            <a:avLst/>
          </a:prstGeom>
          <a:noFill/>
          <a:ln w="2540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920203"/>
            <a:ext cx="2948883" cy="2937797"/>
          </a:xfrm>
          <a:prstGeom prst="rect">
            <a:avLst/>
          </a:prstGeom>
          <a:noFill/>
          <a:ln w="25400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Стрелка углом 1"/>
          <p:cNvSpPr/>
          <p:nvPr/>
        </p:nvSpPr>
        <p:spPr>
          <a:xfrm flipV="1">
            <a:off x="2483768" y="4077072"/>
            <a:ext cx="1224136" cy="115212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08168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864096"/>
          </a:xfrm>
        </p:spPr>
        <p:txBody>
          <a:bodyPr rtlCol="0">
            <a:noAutofit/>
          </a:bodyPr>
          <a:lstStyle/>
          <a:p>
            <a:pPr marL="6350" indent="-6350" algn="ctr" fontAlgn="auto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Выполнение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az-Cyrl-AZ" sz="3600" b="1" dirty="0" smtClean="0">
                <a:latin typeface="Arial" pitchFamily="34" charset="0"/>
                <a:cs typeface="Arial" pitchFamily="34" charset="0"/>
              </a:rPr>
              <a:t>из </a:t>
            </a:r>
          </a:p>
          <a:p>
            <a:pPr marL="6350" indent="-6350" algn="ctr" fontAlgn="auto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 Power Architect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7584" y="2276872"/>
            <a:ext cx="770485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400"/>
              </a:spcBef>
              <a:buAutoNum type="arabicPeriod"/>
            </a:pPr>
            <a:r>
              <a:rPr lang="az-Cyrl-AZ" sz="2800" dirty="0" smtClean="0"/>
              <a:t>Добавление </a:t>
            </a:r>
            <a:r>
              <a:rPr lang="en-US" sz="2800" dirty="0" smtClean="0"/>
              <a:t>JDBC-</a:t>
            </a:r>
            <a:r>
              <a:rPr lang="az-Cyrl-AZ" sz="2800" dirty="0" smtClean="0"/>
              <a:t>драйвера </a:t>
            </a:r>
            <a:r>
              <a:rPr lang="en-US" sz="2800" dirty="0" err="1" smtClean="0"/>
              <a:t>postgresql</a:t>
            </a:r>
            <a:endParaRPr lang="en-US" sz="2800" dirty="0" smtClean="0"/>
          </a:p>
          <a:p>
            <a:pPr marL="342900" indent="-342900">
              <a:spcBef>
                <a:spcPts val="2400"/>
              </a:spcBef>
              <a:buAutoNum type="arabicPeriod"/>
            </a:pPr>
            <a:r>
              <a:rPr lang="az-Cyrl-AZ" sz="2800" dirty="0"/>
              <a:t>Настро</a:t>
            </a:r>
            <a:r>
              <a:rPr lang="ru-RU" sz="2800" dirty="0"/>
              <a:t>й</a:t>
            </a:r>
            <a:r>
              <a:rPr lang="az-Cyrl-AZ" sz="2800" dirty="0"/>
              <a:t>ка</a:t>
            </a:r>
            <a:r>
              <a:rPr lang="az-Cyrl-AZ" sz="2800" dirty="0" smtClean="0"/>
              <a:t> соединения с сервером БД</a:t>
            </a:r>
          </a:p>
          <a:p>
            <a:pPr marL="342900" indent="-342900">
              <a:spcBef>
                <a:spcPts val="2400"/>
              </a:spcBef>
              <a:buAutoNum type="arabicPeriod"/>
            </a:pPr>
            <a:r>
              <a:rPr lang="az-Cyrl-AZ" sz="2800" dirty="0" smtClean="0"/>
              <a:t>Выполнение сценари</a:t>
            </a:r>
            <a:r>
              <a:rPr lang="ru-RU" sz="2800" dirty="0" smtClean="0"/>
              <a:t>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2516946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6173" y="1484784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buAutoNum type="arabicPeriod"/>
            </a:pPr>
            <a:r>
              <a:rPr lang="az-Cyrl-AZ" sz="2400" dirty="0" smtClean="0"/>
              <a:t>Добавление </a:t>
            </a:r>
            <a:r>
              <a:rPr lang="en-US" sz="2400" dirty="0" smtClean="0"/>
              <a:t>JDBC-</a:t>
            </a:r>
            <a:r>
              <a:rPr lang="az-Cyrl-AZ" sz="2400" dirty="0" smtClean="0"/>
              <a:t>драйвера </a:t>
            </a:r>
            <a:r>
              <a:rPr lang="en-US" sz="2400" dirty="0" err="1" smtClean="0"/>
              <a:t>postgresql</a:t>
            </a:r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16832"/>
            <a:ext cx="4086200" cy="2228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765" y="1920925"/>
            <a:ext cx="2937092" cy="1833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221088"/>
            <a:ext cx="6996138" cy="2767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0" y="476672"/>
            <a:ext cx="9144000" cy="864096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Выполнение 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az-Cyrl-AZ" sz="3600" b="1" dirty="0" smtClean="0">
                <a:latin typeface="Arial" pitchFamily="34" charset="0"/>
                <a:cs typeface="Arial" pitchFamily="34" charset="0"/>
              </a:rPr>
              <a:t>из </a:t>
            </a:r>
          </a:p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 Power Architect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>
              <a:lnSpc>
                <a:spcPts val="3500"/>
              </a:lnSpc>
              <a:spcBef>
                <a:spcPts val="0"/>
              </a:spcBef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Стрелка вправо 2"/>
          <p:cNvSpPr/>
          <p:nvPr/>
        </p:nvSpPr>
        <p:spPr>
          <a:xfrm>
            <a:off x="4716016" y="2708920"/>
            <a:ext cx="360040" cy="321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 вниз 4"/>
          <p:cNvSpPr/>
          <p:nvPr/>
        </p:nvSpPr>
        <p:spPr>
          <a:xfrm>
            <a:off x="6516216" y="3861048"/>
            <a:ext cx="432048" cy="3330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89398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1556792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800"/>
              </a:spcBef>
              <a:buFont typeface="+mj-lt"/>
              <a:buAutoNum type="arabicPeriod" startAt="2"/>
            </a:pPr>
            <a:r>
              <a:rPr lang="az-Cyrl-AZ" sz="2400" dirty="0" smtClean="0"/>
              <a:t>Настро</a:t>
            </a:r>
            <a:r>
              <a:rPr lang="ru-RU" sz="2400" dirty="0" smtClean="0"/>
              <a:t>й</a:t>
            </a:r>
            <a:r>
              <a:rPr lang="az-Cyrl-AZ" sz="2400" dirty="0" smtClean="0"/>
              <a:t>ка соединения с сервером БД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018457"/>
            <a:ext cx="3643421" cy="1986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860" y="2021618"/>
            <a:ext cx="323850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5" y="4077072"/>
            <a:ext cx="4459257" cy="275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441" y="4690844"/>
            <a:ext cx="5200650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Объект 4"/>
          <p:cNvSpPr txBox="1">
            <a:spLocks/>
          </p:cNvSpPr>
          <p:nvPr/>
        </p:nvSpPr>
        <p:spPr>
          <a:xfrm>
            <a:off x="0" y="476672"/>
            <a:ext cx="9144000" cy="864096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Выполнение 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az-Cyrl-AZ" sz="3600" b="1" dirty="0" smtClean="0">
                <a:latin typeface="Arial" pitchFamily="34" charset="0"/>
                <a:cs typeface="Arial" pitchFamily="34" charset="0"/>
              </a:rPr>
              <a:t>из </a:t>
            </a:r>
          </a:p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 Power Architect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>
              <a:lnSpc>
                <a:spcPts val="3500"/>
              </a:lnSpc>
              <a:spcBef>
                <a:spcPts val="0"/>
              </a:spcBef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Стрелка вправо 9"/>
          <p:cNvSpPr/>
          <p:nvPr/>
        </p:nvSpPr>
        <p:spPr>
          <a:xfrm>
            <a:off x="4067944" y="2708920"/>
            <a:ext cx="360040" cy="321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низ 10"/>
          <p:cNvSpPr/>
          <p:nvPr/>
        </p:nvSpPr>
        <p:spPr>
          <a:xfrm>
            <a:off x="4605610" y="3744035"/>
            <a:ext cx="432048" cy="3330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право 12"/>
          <p:cNvSpPr/>
          <p:nvPr/>
        </p:nvSpPr>
        <p:spPr>
          <a:xfrm>
            <a:off x="5292080" y="5373216"/>
            <a:ext cx="360040" cy="321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93571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628800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800"/>
              </a:spcBef>
              <a:buFont typeface="+mj-lt"/>
              <a:buAutoNum type="arabicPeriod" startAt="3"/>
            </a:pPr>
            <a:r>
              <a:rPr lang="az-Cyrl-AZ" sz="2400" dirty="0" smtClean="0"/>
              <a:t>Выполнение сценари</a:t>
            </a:r>
            <a:r>
              <a:rPr lang="ru-RU" sz="2400" dirty="0" smtClean="0"/>
              <a:t>я</a:t>
            </a:r>
            <a:endParaRPr lang="ru-R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04864"/>
            <a:ext cx="106680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Объект 4"/>
          <p:cNvSpPr txBox="1">
            <a:spLocks/>
          </p:cNvSpPr>
          <p:nvPr/>
        </p:nvSpPr>
        <p:spPr>
          <a:xfrm>
            <a:off x="0" y="476672"/>
            <a:ext cx="9144000" cy="864096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Выполнение 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az-Cyrl-AZ" sz="3600" b="1" dirty="0" smtClean="0">
                <a:latin typeface="Arial" pitchFamily="34" charset="0"/>
                <a:cs typeface="Arial" pitchFamily="34" charset="0"/>
              </a:rPr>
              <a:t>из </a:t>
            </a:r>
          </a:p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 Power Architect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>
              <a:lnSpc>
                <a:spcPts val="3500"/>
              </a:lnSpc>
              <a:spcBef>
                <a:spcPts val="0"/>
              </a:spcBef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476" y="2348880"/>
            <a:ext cx="6455578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Стрелка углом 7"/>
          <p:cNvSpPr/>
          <p:nvPr/>
        </p:nvSpPr>
        <p:spPr>
          <a:xfrm flipV="1">
            <a:off x="467544" y="3356992"/>
            <a:ext cx="1224136" cy="115212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1950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628800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800"/>
              </a:spcBef>
              <a:buFont typeface="+mj-lt"/>
              <a:buAutoNum type="arabicPeriod" startAt="3"/>
            </a:pPr>
            <a:r>
              <a:rPr lang="az-Cyrl-AZ" sz="2400" dirty="0" smtClean="0"/>
              <a:t>Выполнение сценари</a:t>
            </a:r>
            <a:r>
              <a:rPr lang="ru-RU" sz="2400" dirty="0" smtClean="0"/>
              <a:t>я</a:t>
            </a:r>
            <a:r>
              <a:rPr lang="en-US" sz="2400" dirty="0" smtClean="0"/>
              <a:t> (</a:t>
            </a:r>
            <a:r>
              <a:rPr lang="ru-RU" sz="2400" dirty="0" smtClean="0"/>
              <a:t>продолжение)</a:t>
            </a:r>
            <a:endParaRPr lang="ru-RU" sz="2400" dirty="0"/>
          </a:p>
        </p:txBody>
      </p:sp>
      <p:sp>
        <p:nvSpPr>
          <p:cNvPr id="3" name="Стрелка углом 2"/>
          <p:cNvSpPr/>
          <p:nvPr/>
        </p:nvSpPr>
        <p:spPr>
          <a:xfrm flipV="1">
            <a:off x="3239852" y="4789379"/>
            <a:ext cx="1008112" cy="94990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Объект 4"/>
          <p:cNvSpPr txBox="1">
            <a:spLocks/>
          </p:cNvSpPr>
          <p:nvPr/>
        </p:nvSpPr>
        <p:spPr>
          <a:xfrm>
            <a:off x="0" y="476672"/>
            <a:ext cx="9144000" cy="864096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Выполнение сценария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az-Cyrl-AZ" sz="3600" b="1" dirty="0" smtClean="0">
                <a:latin typeface="Arial" pitchFamily="34" charset="0"/>
                <a:cs typeface="Arial" pitchFamily="34" charset="0"/>
              </a:rPr>
              <a:t>из </a:t>
            </a:r>
          </a:p>
          <a:p>
            <a:pPr marL="6350" indent="-6350" algn="ctr">
              <a:lnSpc>
                <a:spcPts val="3500"/>
              </a:lnSpc>
              <a:spcBef>
                <a:spcPts val="0"/>
              </a:spcBef>
              <a:buFont typeface="Wingdings 3" charset="2"/>
              <a:buNone/>
              <a:defRPr/>
            </a:pP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SQL Power Architect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ts val="3500"/>
              </a:lnSpc>
              <a:spcBef>
                <a:spcPts val="0"/>
              </a:spcBef>
              <a:buClrTx/>
              <a:buSzPct val="100000"/>
              <a:buFont typeface="Wingdings 3"/>
              <a:buNone/>
              <a:defRPr/>
            </a:pPr>
            <a:r>
              <a:rPr lang="ru-RU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>
              <a:lnSpc>
                <a:spcPts val="3500"/>
              </a:lnSpc>
              <a:spcBef>
                <a:spcPts val="0"/>
              </a:spcBef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55813"/>
            <a:ext cx="5239098" cy="2453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519" y="4010067"/>
            <a:ext cx="22098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270" y="2348880"/>
            <a:ext cx="3684672" cy="149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трелка вправо 4"/>
          <p:cNvSpPr/>
          <p:nvPr/>
        </p:nvSpPr>
        <p:spPr>
          <a:xfrm>
            <a:off x="5239099" y="3095554"/>
            <a:ext cx="341013" cy="477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325831" y="5092956"/>
            <a:ext cx="1826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БД появятся</a:t>
            </a:r>
          </a:p>
          <a:p>
            <a:r>
              <a:rPr lang="ru-RU" dirty="0" smtClean="0"/>
              <a:t>таблицы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475920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az-Cyrl-AZ" sz="3600" b="1" dirty="0" smtClean="0">
                <a:latin typeface="Arial" pitchFamily="34" charset="0"/>
                <a:cs typeface="Arial" pitchFamily="34" charset="0"/>
              </a:rPr>
              <a:t>Загрузка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3040" y="1340768"/>
            <a:ext cx="7704856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az-Cyrl-AZ" sz="2600" dirty="0" smtClean="0"/>
              <a:t>Часто требуетс</a:t>
            </a:r>
            <a:r>
              <a:rPr lang="ru-RU" sz="2600" dirty="0" smtClean="0"/>
              <a:t>я</a:t>
            </a:r>
            <a:r>
              <a:rPr lang="az-Cyrl-AZ" sz="2600" dirty="0" smtClean="0"/>
              <a:t> выполнить первоначальную загрузку данных в таблицы БД</a:t>
            </a:r>
          </a:p>
          <a:p>
            <a:pPr>
              <a:spcBef>
                <a:spcPts val="1800"/>
              </a:spcBef>
            </a:pPr>
            <a:r>
              <a:rPr lang="az-Cyrl-AZ" sz="2600" dirty="0" smtClean="0"/>
              <a:t>Необходимо: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az-Cyrl-AZ" sz="2600" dirty="0" smtClean="0"/>
              <a:t>Подготовить данные в формате загрузки</a:t>
            </a:r>
          </a:p>
          <a:p>
            <a:pPr marL="457200" indent="-457200">
              <a:spcBef>
                <a:spcPts val="1800"/>
              </a:spcBef>
              <a:buAutoNum type="arabicPeriod"/>
            </a:pPr>
            <a:r>
              <a:rPr lang="az-Cyrl-AZ" sz="2600" dirty="0" smtClean="0"/>
              <a:t>Выполнить пакетную загрузку данных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07688658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Подготовка данных для загрузки в БД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40768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Данные могут быть подготовлены в текстовых файлах и файлах формата </a:t>
            </a:r>
            <a:r>
              <a:rPr lang="en-US" sz="2400" dirty="0"/>
              <a:t>CSV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2420888"/>
            <a:ext cx="864096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200" dirty="0"/>
              <a:t>Файлы </a:t>
            </a:r>
            <a:r>
              <a:rPr lang="en-US" sz="2200" dirty="0"/>
              <a:t>CSV</a:t>
            </a:r>
            <a:r>
              <a:rPr lang="ru-RU" sz="2200" dirty="0"/>
              <a:t> содержат данные в текстовом формате, разделенные запятыми 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200" dirty="0"/>
              <a:t>Одна строка — это одна запись об одном объекте 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200" dirty="0"/>
              <a:t>В первой строке файла могут быть указаны имена атрибутов  </a:t>
            </a:r>
            <a:r>
              <a:rPr lang="ru-RU" sz="2200" dirty="0" smtClean="0"/>
              <a:t>объекта, </a:t>
            </a:r>
            <a:r>
              <a:rPr lang="ru-RU" sz="2200" dirty="0"/>
              <a:t>разделенные запятыми 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200" dirty="0"/>
              <a:t>Имена </a:t>
            </a:r>
            <a:r>
              <a:rPr lang="ru-RU" sz="2200" dirty="0" smtClean="0"/>
              <a:t>атрибутов </a:t>
            </a:r>
            <a:r>
              <a:rPr lang="ru-RU" sz="2200" dirty="0" smtClean="0"/>
              <a:t>должны</a:t>
            </a:r>
            <a:r>
              <a:rPr lang="ru-RU" sz="2200" dirty="0" smtClean="0"/>
              <a:t> соответствовать </a:t>
            </a:r>
            <a:r>
              <a:rPr lang="ru-RU" sz="2200" dirty="0"/>
              <a:t>именам колонок таблицы БД 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200" dirty="0"/>
              <a:t>Файлы формата   удобно подготавливать и просматривать в M</a:t>
            </a:r>
            <a:r>
              <a:rPr lang="en-US" sz="2200" dirty="0" err="1"/>
              <a:t>icrosoft</a:t>
            </a:r>
            <a:r>
              <a:rPr lang="ru-RU" sz="2200" dirty="0"/>
              <a:t> </a:t>
            </a:r>
            <a:r>
              <a:rPr lang="ru-RU" sz="2200" dirty="0" err="1"/>
              <a:t>Excel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7669283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Подготовка данных в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Excel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6439" y="1340766"/>
            <a:ext cx="8640960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600" dirty="0"/>
              <a:t>В программе </a:t>
            </a:r>
            <a:r>
              <a:rPr lang="en-US" sz="2600" dirty="0"/>
              <a:t>Microsoft </a:t>
            </a:r>
            <a:r>
              <a:rPr lang="en-US" sz="2600" dirty="0" smtClean="0"/>
              <a:t>Excel</a:t>
            </a:r>
            <a:r>
              <a:rPr lang="ru-RU" sz="2600" dirty="0" smtClean="0"/>
              <a:t> - ввести </a:t>
            </a:r>
            <a:r>
              <a:rPr lang="ru-RU" sz="2600" dirty="0"/>
              <a:t>данные для </a:t>
            </a:r>
            <a:r>
              <a:rPr lang="ru-RU" sz="2600" dirty="0" smtClean="0"/>
              <a:t>каждой таблицы</a:t>
            </a:r>
            <a:endParaRPr lang="en-US" sz="2600" dirty="0"/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600" dirty="0"/>
              <a:t>При вводе </a:t>
            </a:r>
            <a:r>
              <a:rPr lang="ru-RU" sz="2600" dirty="0" smtClean="0"/>
              <a:t>необходимо обратить </a:t>
            </a:r>
            <a:r>
              <a:rPr lang="ru-RU" sz="2600" dirty="0"/>
              <a:t>внимание на правильность заполнения внешних ключей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6438" y="3140968"/>
            <a:ext cx="86280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600" dirty="0" smtClean="0"/>
              <a:t>Подготовленные данные необходимо сохранить в формате </a:t>
            </a:r>
            <a:r>
              <a:rPr lang="en-US" sz="2600" dirty="0" smtClean="0"/>
              <a:t>csv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0635330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Подготовка данных в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Excel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3568" y="1196752"/>
            <a:ext cx="70567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Продукция</a:t>
            </a:r>
            <a:endParaRPr lang="ru-RU" sz="2600" dirty="0"/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79512" y="1628800"/>
            <a:ext cx="6048672" cy="29526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4653136"/>
            <a:ext cx="4176464" cy="1969770"/>
          </a:xfrm>
          <a:prstGeom prst="rect">
            <a:avLst/>
          </a:prstGeom>
          <a:noFill/>
          <a:ln w="444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Код продукции</a:t>
            </a:r>
            <a:r>
              <a:rPr lang="ru-RU" sz="1400" dirty="0" smtClean="0"/>
              <a:t>;</a:t>
            </a:r>
            <a:r>
              <a:rPr lang="en-US" sz="1400" dirty="0" smtClean="0"/>
              <a:t> </a:t>
            </a:r>
            <a:r>
              <a:rPr lang="ru-RU" sz="1400" dirty="0" smtClean="0"/>
              <a:t>Наименование </a:t>
            </a:r>
            <a:r>
              <a:rPr lang="ru-RU" sz="1400" dirty="0"/>
              <a:t>продукции</a:t>
            </a:r>
          </a:p>
          <a:p>
            <a:r>
              <a:rPr lang="ru-RU" dirty="0"/>
              <a:t>1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/>
              <a:t>Крем детский</a:t>
            </a:r>
          </a:p>
          <a:p>
            <a:r>
              <a:rPr lang="ru-RU" dirty="0"/>
              <a:t>2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/>
              <a:t>Крем дневной Наташа</a:t>
            </a:r>
          </a:p>
          <a:p>
            <a:r>
              <a:rPr lang="ru-RU" dirty="0"/>
              <a:t>3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/>
              <a:t>Лифтинг-крем Диамант</a:t>
            </a:r>
          </a:p>
          <a:p>
            <a:r>
              <a:rPr lang="ru-RU" dirty="0"/>
              <a:t>4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/>
              <a:t>Крем ночной</a:t>
            </a:r>
          </a:p>
          <a:p>
            <a:r>
              <a:rPr lang="ru-RU" dirty="0"/>
              <a:t>5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/>
              <a:t>Мыло детское</a:t>
            </a:r>
          </a:p>
          <a:p>
            <a:r>
              <a:rPr lang="ru-RU" dirty="0"/>
              <a:t>6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dirty="0"/>
              <a:t>Мыло </a:t>
            </a:r>
            <a:r>
              <a:rPr lang="ru-RU" dirty="0" smtClean="0"/>
              <a:t>Алиса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660232" y="1988840"/>
            <a:ext cx="2088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</a:t>
            </a:r>
          </a:p>
          <a:p>
            <a:r>
              <a:rPr lang="ru-RU" sz="2400" dirty="0" smtClean="0"/>
              <a:t>В </a:t>
            </a:r>
            <a:r>
              <a:rPr lang="en-US" sz="2400" dirty="0" smtClean="0"/>
              <a:t>Excel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051720" y="5301207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 в формате </a:t>
            </a:r>
            <a:r>
              <a:rPr lang="en-US" sz="2400" dirty="0" smtClean="0"/>
              <a:t>CSV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1180078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Подготовка данных в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Excel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052736"/>
            <a:ext cx="70567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Покупатели</a:t>
            </a:r>
            <a:endParaRPr lang="ru-RU" sz="2600" dirty="0"/>
          </a:p>
        </p:txBody>
      </p:sp>
      <p:sp>
        <p:nvSpPr>
          <p:cNvPr id="12" name="TextBox 11"/>
          <p:cNvSpPr txBox="1"/>
          <p:nvPr/>
        </p:nvSpPr>
        <p:spPr>
          <a:xfrm>
            <a:off x="5364088" y="1988839"/>
            <a:ext cx="2088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</a:t>
            </a:r>
          </a:p>
          <a:p>
            <a:r>
              <a:rPr lang="ru-RU" sz="2400" dirty="0" smtClean="0"/>
              <a:t>В </a:t>
            </a:r>
            <a:r>
              <a:rPr lang="en-US" sz="2400" dirty="0" smtClean="0"/>
              <a:t>Excel</a:t>
            </a:r>
            <a:endParaRPr lang="ru-R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187624" y="5139481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 в формате </a:t>
            </a:r>
            <a:r>
              <a:rPr lang="en-US" sz="2400" dirty="0" smtClean="0"/>
              <a:t>CSV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12" y="1528287"/>
            <a:ext cx="4085456" cy="2662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064" y="4327574"/>
            <a:ext cx="5494424" cy="21977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32414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Подготовка данных в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Excel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3568" y="1196752"/>
            <a:ext cx="70567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Книга продаж</a:t>
            </a:r>
            <a:endParaRPr lang="ru-RU" sz="2600" dirty="0"/>
          </a:p>
        </p:txBody>
      </p:sp>
      <p:pic>
        <p:nvPicPr>
          <p:cNvPr id="8" name="Рисунок 7"/>
          <p:cNvPicPr/>
          <p:nvPr/>
        </p:nvPicPr>
        <p:blipFill rotWithShape="1">
          <a:blip r:embed="rId2"/>
          <a:srcRect l="1468"/>
          <a:stretch/>
        </p:blipFill>
        <p:spPr>
          <a:xfrm>
            <a:off x="485800" y="1833211"/>
            <a:ext cx="4996347" cy="230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0232" y="1988840"/>
            <a:ext cx="2088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</a:t>
            </a:r>
          </a:p>
          <a:p>
            <a:r>
              <a:rPr lang="ru-RU" sz="2400" dirty="0" smtClean="0"/>
              <a:t>В </a:t>
            </a:r>
            <a:r>
              <a:rPr lang="en-US" sz="2400" dirty="0" smtClean="0"/>
              <a:t>Excel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39552" y="4653136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 в формате </a:t>
            </a:r>
            <a:r>
              <a:rPr lang="en-US" sz="2400" dirty="0" smtClean="0"/>
              <a:t>CSV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15816" y="4365104"/>
            <a:ext cx="6120680" cy="196977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sz="1400" dirty="0"/>
              <a:t>Ид-р продажи</a:t>
            </a:r>
            <a:r>
              <a:rPr lang="ru-RU" sz="1400" dirty="0" smtClean="0"/>
              <a:t>; Номер </a:t>
            </a:r>
            <a:r>
              <a:rPr lang="ru-RU" sz="1400" dirty="0"/>
              <a:t>документа</a:t>
            </a:r>
            <a:r>
              <a:rPr lang="ru-RU" sz="1400" dirty="0" smtClean="0"/>
              <a:t>; Дата </a:t>
            </a:r>
            <a:r>
              <a:rPr lang="ru-RU" sz="1400" dirty="0"/>
              <a:t>продажи</a:t>
            </a:r>
            <a:r>
              <a:rPr lang="ru-RU" sz="1400" dirty="0" smtClean="0"/>
              <a:t>; Код </a:t>
            </a:r>
            <a:r>
              <a:rPr lang="ru-RU" sz="1400" dirty="0"/>
              <a:t>покупателя</a:t>
            </a:r>
          </a:p>
          <a:p>
            <a:r>
              <a:rPr lang="ru-RU" dirty="0"/>
              <a:t>1;10;30.01.2024;1</a:t>
            </a:r>
          </a:p>
          <a:p>
            <a:r>
              <a:rPr lang="ru-RU" dirty="0"/>
              <a:t>2;15;31.01.2024;3</a:t>
            </a:r>
          </a:p>
          <a:p>
            <a:r>
              <a:rPr lang="ru-RU" dirty="0"/>
              <a:t>3;21;06.02.2024;2</a:t>
            </a:r>
          </a:p>
          <a:p>
            <a:r>
              <a:rPr lang="ru-RU" dirty="0"/>
              <a:t>4;30;15.02.2024;1</a:t>
            </a:r>
          </a:p>
          <a:p>
            <a:r>
              <a:rPr lang="ru-RU" dirty="0"/>
              <a:t>5;35;25.02.2024;4</a:t>
            </a:r>
          </a:p>
          <a:p>
            <a:r>
              <a:rPr lang="ru-RU" dirty="0"/>
              <a:t>6;40;01.03.2024</a:t>
            </a:r>
            <a:r>
              <a:rPr lang="ru-RU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91501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Подготовка данных в 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Excel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3568" y="1052736"/>
            <a:ext cx="70567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Ассортимент продаж</a:t>
            </a:r>
            <a:endParaRPr lang="ru-RU" sz="2600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57367" y="1545179"/>
            <a:ext cx="5350737" cy="24598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68144" y="1991225"/>
            <a:ext cx="2088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</a:t>
            </a:r>
          </a:p>
          <a:p>
            <a:r>
              <a:rPr lang="ru-RU" sz="2400" dirty="0" smtClean="0"/>
              <a:t>В </a:t>
            </a:r>
            <a:r>
              <a:rPr lang="en-US" sz="2400" dirty="0" smtClean="0"/>
              <a:t>Excel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87624" y="4653136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Данные в формате </a:t>
            </a:r>
            <a:r>
              <a:rPr lang="en-US" sz="2400" dirty="0" smtClean="0"/>
              <a:t>CSV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923928" y="4077072"/>
            <a:ext cx="5472608" cy="307776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u-RU" sz="1500" dirty="0"/>
              <a:t>Ид-р </a:t>
            </a:r>
            <a:r>
              <a:rPr lang="ru-RU" sz="1500" dirty="0" err="1"/>
              <a:t>асс.;Код</a:t>
            </a:r>
            <a:r>
              <a:rPr lang="ru-RU" sz="1500" dirty="0"/>
              <a:t> </a:t>
            </a:r>
            <a:r>
              <a:rPr lang="ru-RU" sz="1500" dirty="0" err="1"/>
              <a:t>прод</a:t>
            </a:r>
            <a:r>
              <a:rPr lang="ru-RU" sz="1500" dirty="0"/>
              <a:t>.;</a:t>
            </a:r>
            <a:r>
              <a:rPr lang="ru-RU" sz="1500" dirty="0" err="1"/>
              <a:t>Цена;Количество;Ид-р</a:t>
            </a:r>
            <a:r>
              <a:rPr lang="ru-RU" sz="1500" dirty="0"/>
              <a:t> продажи</a:t>
            </a:r>
          </a:p>
          <a:p>
            <a:r>
              <a:rPr lang="ru-RU" sz="1500" dirty="0"/>
              <a:t>1;1;25.50;10;1</a:t>
            </a:r>
          </a:p>
          <a:p>
            <a:r>
              <a:rPr lang="ru-RU" sz="1500" dirty="0"/>
              <a:t>2;2;55.00;16;1</a:t>
            </a:r>
          </a:p>
          <a:p>
            <a:r>
              <a:rPr lang="ru-RU" sz="1500" dirty="0"/>
              <a:t>3;1;25.50;12;2</a:t>
            </a:r>
          </a:p>
          <a:p>
            <a:r>
              <a:rPr lang="ru-RU" sz="1500" dirty="0"/>
              <a:t>4;3;110.50;5;2</a:t>
            </a:r>
          </a:p>
          <a:p>
            <a:r>
              <a:rPr lang="ru-RU" sz="1500" dirty="0"/>
              <a:t>5;2;55.00;11;3</a:t>
            </a:r>
          </a:p>
          <a:p>
            <a:r>
              <a:rPr lang="ru-RU" sz="1500" dirty="0"/>
              <a:t>6;3;110.50;15;3</a:t>
            </a:r>
          </a:p>
          <a:p>
            <a:r>
              <a:rPr lang="ru-RU" sz="1500" dirty="0"/>
              <a:t>7;4;95.00;8;3</a:t>
            </a:r>
          </a:p>
          <a:p>
            <a:r>
              <a:rPr lang="ru-RU" sz="1500" dirty="0"/>
              <a:t>8;2;55.00;14;4</a:t>
            </a:r>
          </a:p>
          <a:p>
            <a:r>
              <a:rPr lang="ru-RU" sz="1500" dirty="0"/>
              <a:t>9;1;25.50;6;5</a:t>
            </a:r>
          </a:p>
          <a:p>
            <a:r>
              <a:rPr lang="ru-RU" sz="1500" dirty="0"/>
              <a:t>10;5;26.00;16;5</a:t>
            </a:r>
          </a:p>
          <a:p>
            <a:r>
              <a:rPr lang="ru-RU" sz="1500" dirty="0"/>
              <a:t>11;3;34.00;25;6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3066941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Пакетная загрузка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42984"/>
            <a:ext cx="849694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Для </a:t>
            </a:r>
            <a:r>
              <a:rPr lang="ru-RU" sz="2400" dirty="0" smtClean="0"/>
              <a:t> обмена данными между БД и внешней средой используется команда  </a:t>
            </a:r>
            <a:r>
              <a:rPr lang="en-US" sz="2400" dirty="0" smtClean="0"/>
              <a:t>COPY.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/>
              <a:t>Команда </a:t>
            </a:r>
            <a:r>
              <a:rPr lang="en-US" sz="2400" dirty="0" smtClean="0"/>
              <a:t>COPY </a:t>
            </a:r>
            <a:r>
              <a:rPr lang="ru-RU" sz="2400" dirty="0" smtClean="0"/>
              <a:t>имеет 2 варианта:</a:t>
            </a:r>
          </a:p>
          <a:p>
            <a:pPr marL="1066800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для загрузки данных в БД</a:t>
            </a:r>
          </a:p>
          <a:p>
            <a:pPr marL="723900"/>
            <a:r>
              <a:rPr lang="ru-RU" sz="2400" dirty="0"/>
              <a:t> </a:t>
            </a:r>
            <a:r>
              <a:rPr lang="ru-RU" sz="2400" dirty="0" smtClean="0"/>
              <a:t>   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... FROM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66800" indent="-342900">
              <a:buFont typeface="Wingdings" panose="05000000000000000000" pitchFamily="2" charset="2"/>
              <a:buChar char="§"/>
            </a:pPr>
            <a:r>
              <a:rPr lang="ru-RU" sz="2400" dirty="0"/>
              <a:t>д</a:t>
            </a:r>
            <a:r>
              <a:rPr lang="ru-RU" sz="2400" dirty="0" smtClean="0"/>
              <a:t>ля выгрузки  данных из БД</a:t>
            </a:r>
            <a:endParaRPr lang="en-US" sz="2400" dirty="0" smtClean="0"/>
          </a:p>
          <a:p>
            <a:pPr marL="723900"/>
            <a:r>
              <a:rPr lang="en-US" sz="2400" dirty="0"/>
              <a:t> </a:t>
            </a:r>
            <a:r>
              <a:rPr lang="en-US" sz="2400" dirty="0" smtClean="0"/>
              <a:t>   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... TO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 </a:t>
            </a:r>
            <a:r>
              <a:rPr lang="ru-RU" sz="2400" dirty="0" smtClean="0"/>
              <a:t>Внешней средой может быть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079500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файл в разных форматах (</a:t>
            </a:r>
            <a:r>
              <a:rPr lang="ru-RU" sz="2800" dirty="0" err="1"/>
              <a:t>text</a:t>
            </a:r>
            <a:r>
              <a:rPr lang="ru-RU" sz="2800" dirty="0"/>
              <a:t>, </a:t>
            </a:r>
            <a:r>
              <a:rPr lang="ru-RU" sz="2800" dirty="0" err="1"/>
              <a:t>csv</a:t>
            </a:r>
            <a:r>
              <a:rPr lang="ru-RU" sz="2800" dirty="0"/>
              <a:t>, </a:t>
            </a:r>
            <a:r>
              <a:rPr lang="ru-RU" sz="2800" dirty="0" err="1" smtClean="0"/>
              <a:t>binary</a:t>
            </a:r>
            <a:r>
              <a:rPr lang="ru-RU" sz="2800" dirty="0" smtClean="0"/>
              <a:t>)</a:t>
            </a:r>
          </a:p>
          <a:p>
            <a:pPr marL="1079500" indent="-342900">
              <a:buFont typeface="Wingdings" panose="05000000000000000000" pitchFamily="2" charset="2"/>
              <a:buChar char="§"/>
            </a:pPr>
            <a:r>
              <a:rPr lang="ru-RU" sz="2400" dirty="0"/>
              <a:t>п</a:t>
            </a:r>
            <a:r>
              <a:rPr lang="ru-RU" sz="2400" dirty="0" smtClean="0"/>
              <a:t>оток  </a:t>
            </a:r>
            <a:r>
              <a:rPr lang="en-US" sz="2400" dirty="0" smtClean="0"/>
              <a:t>STDIN/STDOUT</a:t>
            </a:r>
          </a:p>
          <a:p>
            <a:pPr marL="449263" indent="-449263">
              <a:buFont typeface="Wingdings" panose="05000000000000000000" pitchFamily="2" charset="2"/>
              <a:buChar char="q"/>
            </a:pPr>
            <a:r>
              <a:rPr lang="ru-RU" sz="2400" dirty="0" smtClean="0"/>
              <a:t>Команда </a:t>
            </a:r>
            <a:r>
              <a:rPr lang="en-US" sz="2400" dirty="0" smtClean="0"/>
              <a:t>COPY </a:t>
            </a:r>
            <a:r>
              <a:rPr lang="ru-RU" sz="2400" dirty="0" smtClean="0"/>
              <a:t> работает быстрее и эффективней чем пакет команд</a:t>
            </a:r>
            <a:r>
              <a:rPr lang="en-US" sz="2400" dirty="0" smtClean="0"/>
              <a:t>  INSERT</a:t>
            </a:r>
            <a:endParaRPr lang="ru-RU" sz="2400" dirty="0" smtClean="0"/>
          </a:p>
          <a:p>
            <a:pPr marL="444500" indent="-444500">
              <a:buFont typeface="Wingdings" panose="05000000000000000000" pitchFamily="2" charset="2"/>
              <a:buChar char="q"/>
            </a:pPr>
            <a:r>
              <a:rPr lang="ru-RU" sz="2400" dirty="0" smtClean="0"/>
              <a:t>Возможно выполнение команды </a:t>
            </a:r>
            <a:r>
              <a:rPr lang="en-US" sz="2400" dirty="0" smtClean="0"/>
              <a:t>COPY </a:t>
            </a:r>
            <a:r>
              <a:rPr lang="ru-RU" sz="2400" dirty="0"/>
              <a:t>из 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            программного кода (</a:t>
            </a:r>
            <a:r>
              <a:rPr lang="en-US" sz="2400" dirty="0" smtClean="0"/>
              <a:t>Python</a:t>
            </a:r>
            <a:r>
              <a:rPr lang="en-US" sz="2400" dirty="0"/>
              <a:t>, Go, </a:t>
            </a:r>
            <a:r>
              <a:rPr lang="en-US" sz="2400" dirty="0" smtClean="0"/>
              <a:t>Rust</a:t>
            </a:r>
            <a:r>
              <a:rPr lang="ru-RU" sz="2400" dirty="0" smtClean="0"/>
              <a:t>)</a:t>
            </a:r>
            <a:endParaRPr lang="ru-RU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ru-RU" sz="24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00942304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Размещение файлов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462132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Загружаемые файлы должны быть на компьютере, где установлен сервер и должны быть доступны серверу</a:t>
            </a:r>
          </a:p>
          <a:p>
            <a:pPr marL="444500" indent="-4445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Если сервер и файл находятся на разных компьютерах, то необходимо использовать команду  клиента </a:t>
            </a:r>
            <a:r>
              <a:rPr lang="en-US" sz="2400" b="1" dirty="0" err="1" smtClean="0"/>
              <a:t>psql</a:t>
            </a:r>
            <a:r>
              <a:rPr lang="en-US" sz="2400" dirty="0" smtClean="0"/>
              <a:t>   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          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\copy</a:t>
            </a:r>
          </a:p>
          <a:p>
            <a:pPr marL="444500" algn="just"/>
            <a:r>
              <a:rPr lang="ru-RU" sz="2400" dirty="0" smtClean="0"/>
              <a:t>которая является оберткой над командой </a:t>
            </a:r>
            <a:r>
              <a:rPr lang="en-US" sz="2400" dirty="0" smtClean="0"/>
              <a:t>COPY</a:t>
            </a:r>
          </a:p>
        </p:txBody>
      </p:sp>
    </p:spTree>
    <p:extLst>
      <p:ext uri="{BB962C8B-B14F-4D97-AF65-F5344CB8AC3E}">
        <p14:creationId xmlns:p14="http://schemas.microsoft.com/office/powerpoint/2010/main" val="11732481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Обработка ошибок при загрузке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462132"/>
            <a:ext cx="849694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Команда загрузки по умолчанию прервется на первой строке, при загрузке которой будет ошибка (например, неправильный формат данных)</a:t>
            </a:r>
          </a:p>
          <a:p>
            <a:pPr marL="444500" indent="-4445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Можно загружать данные с параметрами </a:t>
            </a:r>
            <a:endParaRPr lang="en-US" sz="2400" dirty="0" smtClean="0"/>
          </a:p>
          <a:p>
            <a:pPr marL="10668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ON_ERROR ignore</a:t>
            </a:r>
            <a:r>
              <a:rPr lang="ru-RU" sz="2400" dirty="0" smtClean="0"/>
              <a:t>  </a:t>
            </a:r>
          </a:p>
          <a:p>
            <a:pPr marL="990600" algn="just"/>
            <a:r>
              <a:rPr lang="ru-RU" sz="2400" dirty="0" smtClean="0"/>
              <a:t>Проблемные строки пропускаются и в конце будет выведено количество ошибочных строк</a:t>
            </a:r>
          </a:p>
          <a:p>
            <a:pPr marL="10668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LOG_VERBOSITY 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verbose</a:t>
            </a:r>
            <a:endParaRPr lang="ru-RU" sz="24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79500" algn="just"/>
            <a:r>
              <a:rPr lang="ru-RU" sz="2400" dirty="0"/>
              <a:t>С</a:t>
            </a:r>
            <a:r>
              <a:rPr lang="ru-RU" sz="2400" dirty="0" smtClean="0"/>
              <a:t>ервер </a:t>
            </a:r>
            <a:r>
              <a:rPr lang="ru-RU" sz="2400" dirty="0"/>
              <a:t>дополнительно </a:t>
            </a:r>
            <a:r>
              <a:rPr lang="ru-RU" sz="2400" dirty="0" smtClean="0"/>
              <a:t>выводит сообщение о строках и колонках, где произошли ошибки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08970049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Используемые форматы файлов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124744"/>
            <a:ext cx="849694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Текстовый (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sz="2400" dirty="0" smtClean="0"/>
              <a:t>) – </a:t>
            </a:r>
            <a:r>
              <a:rPr lang="ru-RU" sz="2400" dirty="0" smtClean="0"/>
              <a:t>редко используется и менее эффективен</a:t>
            </a:r>
            <a:endParaRPr lang="en-US" sz="2400" dirty="0" smtClean="0"/>
          </a:p>
          <a:p>
            <a:pPr marL="876300" indent="-342900" algn="just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sz="2000" dirty="0" smtClean="0"/>
              <a:t>Разделитель колонок – символ табуляции</a:t>
            </a:r>
          </a:p>
          <a:p>
            <a:pPr marL="876300" indent="-342900" algn="just">
              <a:buFont typeface="Wingdings" panose="05000000000000000000" pitchFamily="2" charset="2"/>
              <a:buChar char="§"/>
            </a:pPr>
            <a:r>
              <a:rPr lang="ru-RU" sz="2000" dirty="0" smtClean="0"/>
              <a:t>Значение </a:t>
            </a:r>
            <a:r>
              <a:rPr lang="en-US" sz="2200" dirty="0" smtClean="0"/>
              <a:t>NULL   - </a:t>
            </a:r>
            <a:r>
              <a:rPr lang="ru-RU" sz="2200" dirty="0" smtClean="0"/>
              <a:t>\</a:t>
            </a:r>
            <a:r>
              <a:rPr lang="en-US" sz="2200" dirty="0" smtClean="0"/>
              <a:t>N </a:t>
            </a:r>
            <a:endParaRPr lang="ru-RU" sz="2200" dirty="0" smtClean="0"/>
          </a:p>
          <a:p>
            <a:pPr marL="444500" indent="-431800" algn="just"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Текстовый со специальными символами разделителями (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 marL="787400" indent="-342900" algn="just">
              <a:buFont typeface="Wingdings" panose="05000000000000000000" pitchFamily="2" charset="2"/>
              <a:buChar char="§"/>
            </a:pPr>
            <a:r>
              <a:rPr lang="ru-RU" sz="2000" dirty="0" smtClean="0"/>
              <a:t>Параметр </a:t>
            </a:r>
            <a:r>
              <a:rPr lang="en-US" sz="2000" dirty="0" smtClean="0"/>
              <a:t>HEADER – </a:t>
            </a:r>
            <a:r>
              <a:rPr lang="ru-RU" sz="2000" dirty="0" smtClean="0"/>
              <a:t>указывает на наличие первой строки с именами загружаемых колонок</a:t>
            </a:r>
          </a:p>
          <a:p>
            <a:pPr marL="787400" indent="-342900" algn="just">
              <a:buFont typeface="Wingdings" panose="05000000000000000000" pitchFamily="2" charset="2"/>
              <a:buChar char="§"/>
            </a:pPr>
            <a:r>
              <a:rPr lang="ru-RU" sz="2000" dirty="0" smtClean="0"/>
              <a:t>Параметр </a:t>
            </a:r>
            <a:r>
              <a:rPr lang="en-US" sz="2000" dirty="0" smtClean="0"/>
              <a:t>QUOTE – </a:t>
            </a:r>
            <a:r>
              <a:rPr lang="ru-RU" sz="2000" dirty="0" smtClean="0"/>
              <a:t>задает ограничитель для текстовых значений</a:t>
            </a:r>
          </a:p>
          <a:p>
            <a:pPr marL="787400" indent="-342900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NULL – </a:t>
            </a:r>
            <a:r>
              <a:rPr lang="ru-RU" sz="2000" dirty="0" smtClean="0"/>
              <a:t>пусто между символами разделителями</a:t>
            </a:r>
          </a:p>
          <a:p>
            <a:pPr marL="444500" indent="-431800" algn="just"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Бинарный (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</a:t>
            </a:r>
            <a:r>
              <a:rPr lang="en-US" sz="2400" dirty="0" smtClean="0"/>
              <a:t>) – </a:t>
            </a:r>
            <a:r>
              <a:rPr lang="ru-RU" sz="2400" dirty="0" smtClean="0"/>
              <a:t>наиболее быстрый и используется для переноса данных между кластерами </a:t>
            </a:r>
            <a:r>
              <a:rPr lang="en-US" sz="2400" dirty="0" smtClean="0"/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89127410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+mj-lt"/>
                <a:cs typeface="Arial" pitchFamily="34" charset="0"/>
              </a:rPr>
              <a:t>Права при загрузке/выгрузке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124744"/>
            <a:ext cx="849694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Для выполнения команды COPY ... </a:t>
            </a:r>
            <a:r>
              <a:rPr lang="en-US" sz="2400" dirty="0" smtClean="0"/>
              <a:t>FROM</a:t>
            </a:r>
          </a:p>
          <a:p>
            <a:pPr marL="9017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нужно право </a:t>
            </a:r>
            <a:r>
              <a:rPr lang="ru-RU" sz="2400" dirty="0" err="1" smtClean="0"/>
              <a:t>суперпользователя</a:t>
            </a:r>
            <a:r>
              <a:rPr lang="ru-RU" sz="2400" dirty="0" smtClean="0"/>
              <a:t> (владельца) </a:t>
            </a:r>
            <a:endParaRPr lang="ru-RU" sz="2400" dirty="0" smtClean="0"/>
          </a:p>
          <a:p>
            <a:pPr marL="558800" algn="just"/>
            <a:r>
              <a:rPr lang="ru-RU" sz="2400" dirty="0"/>
              <a:t> </a:t>
            </a:r>
            <a:r>
              <a:rPr lang="ru-RU" sz="2400" dirty="0" smtClean="0"/>
              <a:t>     или </a:t>
            </a:r>
          </a:p>
          <a:p>
            <a:pPr marL="9017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членство </a:t>
            </a:r>
            <a:r>
              <a:rPr lang="ru-RU" sz="2400" dirty="0"/>
              <a:t>в </a:t>
            </a:r>
            <a:r>
              <a:rPr lang="ru-RU" sz="2400" dirty="0" smtClean="0"/>
              <a:t>роли  </a:t>
            </a:r>
            <a:r>
              <a:rPr lang="ru-RU" sz="2400" dirty="0" err="1" smtClean="0"/>
              <a:t>pg_read_server_files</a:t>
            </a:r>
            <a:r>
              <a:rPr lang="ru-RU" sz="2400" dirty="0" smtClean="0"/>
              <a:t> </a:t>
            </a:r>
          </a:p>
          <a:p>
            <a:pPr marL="901700" algn="just"/>
            <a:r>
              <a:rPr lang="ru-RU" sz="2400" dirty="0" smtClean="0"/>
              <a:t>и право на команду </a:t>
            </a:r>
            <a:r>
              <a:rPr lang="en-US" sz="2400" dirty="0" smtClean="0"/>
              <a:t>INSERT </a:t>
            </a:r>
            <a:r>
              <a:rPr lang="ru-RU" sz="2400" dirty="0"/>
              <a:t> </a:t>
            </a:r>
            <a:r>
              <a:rPr lang="ru-RU" sz="2400" dirty="0" smtClean="0"/>
              <a:t>для таблицы, в которую загружаются данные</a:t>
            </a:r>
          </a:p>
          <a:p>
            <a:pPr marL="444500" indent="-4445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Для выполнения команды COPY ... </a:t>
            </a:r>
            <a:r>
              <a:rPr lang="ru-RU" sz="2400" dirty="0"/>
              <a:t>TO </a:t>
            </a:r>
            <a:endParaRPr lang="ru-RU" sz="2400" dirty="0" smtClean="0"/>
          </a:p>
          <a:p>
            <a:pPr marL="9017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 </a:t>
            </a:r>
            <a:r>
              <a:rPr lang="ru-RU" sz="2400" dirty="0" smtClean="0"/>
              <a:t>нужно право </a:t>
            </a:r>
            <a:r>
              <a:rPr lang="ru-RU" sz="2400" dirty="0" err="1"/>
              <a:t>суперпользователя</a:t>
            </a:r>
            <a:r>
              <a:rPr lang="ru-RU" sz="2400" dirty="0"/>
              <a:t> </a:t>
            </a:r>
            <a:r>
              <a:rPr lang="ru-RU" sz="2400" dirty="0" smtClean="0"/>
              <a:t>(владельца)</a:t>
            </a:r>
            <a:endParaRPr lang="ru-RU" sz="2400" dirty="0" smtClean="0"/>
          </a:p>
          <a:p>
            <a:pPr marL="558800" algn="just"/>
            <a:r>
              <a:rPr lang="ru-RU" sz="2400" dirty="0" smtClean="0"/>
              <a:t>или </a:t>
            </a:r>
          </a:p>
          <a:p>
            <a:pPr marL="9017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членство </a:t>
            </a:r>
            <a:r>
              <a:rPr lang="ru-RU" sz="2400" dirty="0"/>
              <a:t>в роли  </a:t>
            </a:r>
            <a:r>
              <a:rPr lang="ru-RU" sz="2400" dirty="0" err="1" smtClean="0"/>
              <a:t>pg_write_server_files</a:t>
            </a:r>
            <a:endParaRPr lang="ru-RU" sz="2400" dirty="0"/>
          </a:p>
          <a:p>
            <a:pPr marL="901700" algn="just"/>
            <a:r>
              <a:rPr lang="ru-RU" sz="2400" dirty="0"/>
              <a:t>и право на команду </a:t>
            </a:r>
            <a:r>
              <a:rPr lang="en-US" sz="2400" dirty="0" smtClean="0"/>
              <a:t>SELECT </a:t>
            </a:r>
            <a:r>
              <a:rPr lang="ru-RU" sz="2400" dirty="0" smtClean="0"/>
              <a:t> </a:t>
            </a:r>
            <a:r>
              <a:rPr lang="ru-RU" sz="2400" dirty="0"/>
              <a:t>для таблицы, </a:t>
            </a:r>
            <a:r>
              <a:rPr lang="ru-RU" sz="2400" dirty="0" smtClean="0"/>
              <a:t>из которой выгружаются данные</a:t>
            </a:r>
          </a:p>
          <a:p>
            <a:pPr marL="9017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путь </a:t>
            </a:r>
            <a:r>
              <a:rPr lang="ru-RU" sz="2400" dirty="0" smtClean="0"/>
              <a:t>к файлу должен </a:t>
            </a:r>
            <a:r>
              <a:rPr lang="ru-RU" sz="2400" dirty="0"/>
              <a:t>быть </a:t>
            </a:r>
            <a:r>
              <a:rPr lang="ru-RU" sz="2400" dirty="0" smtClean="0"/>
              <a:t>абсолютным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43954318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Кодировки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536" y="1390124"/>
            <a:ext cx="849694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 algn="just">
              <a:buFont typeface="Wingdings" panose="05000000000000000000" pitchFamily="2" charset="2"/>
              <a:buChar char="q"/>
            </a:pPr>
            <a:r>
              <a:rPr lang="ru-RU" sz="2400" dirty="0"/>
              <a:t>Если файл не в кодировке </a:t>
            </a:r>
            <a:r>
              <a:rPr lang="ru-RU" sz="2400" dirty="0" smtClean="0"/>
              <a:t>БД используется параметр </a:t>
            </a:r>
            <a:r>
              <a:rPr lang="ru-RU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'кодировка'</a:t>
            </a:r>
          </a:p>
          <a:p>
            <a:pPr marL="444500" indent="-4445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Для загрузки дат в привычном формате «день-месяц-год» можно использовать ISO-формат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723900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DateStyle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ISO, YMD;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4500" indent="-4445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В CSV-файлах допускается переносы </a:t>
            </a:r>
            <a:r>
              <a:rPr lang="ru-RU" sz="2400" dirty="0"/>
              <a:t>строк, если </a:t>
            </a:r>
            <a:r>
              <a:rPr lang="ru-RU" sz="2400" dirty="0" smtClean="0"/>
              <a:t>значения заключены в </a:t>
            </a:r>
            <a:r>
              <a:rPr lang="ru-RU" sz="2400" dirty="0"/>
              <a:t>кавычках.</a:t>
            </a:r>
          </a:p>
          <a:p>
            <a:pPr marL="444500" indent="-444500" algn="just">
              <a:buFont typeface="Wingdings" panose="05000000000000000000" pitchFamily="2" charset="2"/>
              <a:buChar char="q"/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05322937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Загрузка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42984"/>
            <a:ext cx="864096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загрузки данных из подготовленных файлов в таблицы </a:t>
            </a:r>
            <a:r>
              <a:rPr lang="ru-RU" sz="2400" dirty="0" smtClean="0"/>
              <a:t>БД будем использовать команду </a:t>
            </a:r>
            <a:r>
              <a:rPr lang="en-US" sz="2400" dirty="0"/>
              <a:t>COPY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ru-RU" sz="2400" dirty="0"/>
              <a:t> </a:t>
            </a:r>
            <a:r>
              <a:rPr lang="en-US" sz="2400" dirty="0"/>
              <a:t>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COPY  </a:t>
            </a:r>
            <a:r>
              <a:rPr lang="ru-RU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имя_таблицы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имя_файла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6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ru-RU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символ_разделитель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6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код кодировки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ru-RU" sz="2400" dirty="0"/>
              <a:t>В этом операторе используются параметры</a:t>
            </a:r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ru-RU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ru-RU" sz="2400" dirty="0">
                <a:cs typeface="Courier New" panose="02070309020205020404" pitchFamily="49" charset="0"/>
              </a:rPr>
              <a:t>указывает символ-разделитель полей</a:t>
            </a:r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ru-RU" sz="2400" dirty="0">
                <a:cs typeface="Courier New" panose="02070309020205020404" pitchFamily="49" charset="0"/>
              </a:rPr>
              <a:t>указывает к</a:t>
            </a:r>
            <a:r>
              <a:rPr lang="ru-RU" sz="2400" dirty="0" smtClean="0">
                <a:cs typeface="Courier New" panose="02070309020205020404" pitchFamily="49" charset="0"/>
              </a:rPr>
              <a:t>одировку (</a:t>
            </a:r>
            <a:r>
              <a:rPr lang="en-US" sz="2400" dirty="0" smtClean="0">
                <a:cs typeface="Courier New" panose="02070309020205020404" pitchFamily="49" charset="0"/>
              </a:rPr>
              <a:t>WIN1251, UTF8)</a:t>
            </a:r>
            <a:endParaRPr lang="ru-RU" sz="2400" dirty="0"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US" sz="2400" dirty="0" smtClean="0"/>
              <a:t> </a:t>
            </a:r>
            <a:r>
              <a:rPr lang="ru-RU" sz="2400" dirty="0"/>
              <a:t>– указывает формат файла</a:t>
            </a:r>
          </a:p>
          <a:p>
            <a:pPr marL="1708150" indent="-1708150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HEADER</a:t>
            </a:r>
            <a:r>
              <a:rPr lang="ru-RU" sz="2400" dirty="0"/>
              <a:t> – если в CSV файле есть заголовок c именами </a:t>
            </a:r>
            <a:r>
              <a:rPr lang="ru-RU" sz="2400" dirty="0" smtClean="0"/>
              <a:t>полей</a:t>
            </a:r>
            <a:endParaRPr lang="en-US" sz="2400" dirty="0" smtClean="0"/>
          </a:p>
          <a:p>
            <a:pPr marL="1708150" indent="-1708150"/>
            <a:r>
              <a:rPr lang="en-US" sz="2400" dirty="0"/>
              <a:t> </a:t>
            </a:r>
            <a:r>
              <a:rPr lang="en-US" sz="2400" dirty="0" smtClean="0"/>
              <a:t>                        </a:t>
            </a:r>
            <a:r>
              <a:rPr lang="ru-RU" sz="2400" dirty="0" smtClean="0"/>
              <a:t>Имя файла – на </a:t>
            </a:r>
            <a:r>
              <a:rPr lang="en-US" sz="2400" dirty="0" smtClean="0"/>
              <a:t>ENG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7821915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Последовательность загрузки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3206" y="1340768"/>
            <a:ext cx="8001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Последовательность загрузки данных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784225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Вначале загружаются данные в таблицы, не имеющие внешних ключей, </a:t>
            </a:r>
            <a:endParaRPr lang="ru-RU" sz="2400" dirty="0" smtClean="0"/>
          </a:p>
          <a:p>
            <a:pPr marL="784225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затем </a:t>
            </a:r>
            <a:r>
              <a:rPr lang="ru-RU" sz="2400" dirty="0"/>
              <a:t>в таблицы, которые ссылаются на таблицы с уже загруженными данными </a:t>
            </a:r>
            <a:endParaRPr lang="ru-RU" sz="2400" dirty="0" smtClean="0"/>
          </a:p>
          <a:p>
            <a:pPr marL="784225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и </a:t>
            </a:r>
            <a:r>
              <a:rPr lang="ru-RU" sz="2400" dirty="0"/>
              <a:t>т.д.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3861048"/>
            <a:ext cx="82626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В примере последовательность загрузки:</a:t>
            </a:r>
          </a:p>
          <a:p>
            <a:pPr marL="457200" indent="-457200">
              <a:buAutoNum type="arabicParenR"/>
            </a:pPr>
            <a:r>
              <a:rPr lang="ru-RU" sz="2400" dirty="0" smtClean="0"/>
              <a:t>Продукция</a:t>
            </a:r>
          </a:p>
          <a:p>
            <a:pPr marL="457200" indent="-457200">
              <a:buAutoNum type="arabicParenR"/>
            </a:pPr>
            <a:r>
              <a:rPr lang="ru-RU" sz="2400" dirty="0" smtClean="0"/>
              <a:t>Покупатель</a:t>
            </a:r>
          </a:p>
          <a:p>
            <a:pPr marL="457200" indent="-457200">
              <a:buAutoNum type="arabicParenR"/>
            </a:pPr>
            <a:r>
              <a:rPr lang="ru-RU" sz="2400" dirty="0" smtClean="0"/>
              <a:t>Книга продаж</a:t>
            </a:r>
          </a:p>
          <a:p>
            <a:pPr marL="457200" indent="-457200">
              <a:buAutoNum type="arabicParenR"/>
            </a:pPr>
            <a:r>
              <a:rPr lang="ru-RU" sz="2400" dirty="0" smtClean="0"/>
              <a:t>Ассортимент продаж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253734" y="6016064"/>
            <a:ext cx="4278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1 и 2 пункты можно поменять местами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4628621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Загрузка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42984"/>
            <a:ext cx="88924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>
                <a:latin typeface="+mj-lt"/>
              </a:rPr>
              <a:t>Та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блица </a:t>
            </a:r>
            <a:r>
              <a:rPr lang="en-US" sz="2600" dirty="0" smtClean="0">
                <a:latin typeface="+mj-lt"/>
                <a:cs typeface="Courier New" panose="02070309020205020404" pitchFamily="49" charset="0"/>
              </a:rPr>
              <a:t>Product (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Продукция)</a:t>
            </a:r>
            <a:endParaRPr lang="ru-RU" sz="2600" dirty="0">
              <a:latin typeface="+mj-lt"/>
              <a:cs typeface="Courier New" pitchFamily="49" charset="0"/>
            </a:endParaRPr>
          </a:p>
          <a:p>
            <a:r>
              <a:rPr lang="ru-RU" sz="2400" dirty="0"/>
              <a:t> </a:t>
            </a:r>
            <a:r>
              <a:rPr lang="en-US" sz="2400" dirty="0"/>
              <a:t>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COPY  </a:t>
            </a:r>
            <a:r>
              <a:rPr lang="en-US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prod.product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'd:\data\product.csv‘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';'	  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'WIN1251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336355"/>
            <a:ext cx="4397871" cy="3248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861048"/>
            <a:ext cx="3603675" cy="2492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Прямая со стрелкой 2"/>
          <p:cNvCxnSpPr/>
          <p:nvPr/>
        </p:nvCxnSpPr>
        <p:spPr>
          <a:xfrm flipH="1">
            <a:off x="3491880" y="3140968"/>
            <a:ext cx="648072" cy="288032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41943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Загрузка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42984"/>
            <a:ext cx="88924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>
                <a:latin typeface="+mj-lt"/>
              </a:rPr>
              <a:t>Та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блица </a:t>
            </a:r>
            <a:r>
              <a:rPr lang="en-US" sz="2600" dirty="0" err="1" smtClean="0">
                <a:latin typeface="+mj-lt"/>
                <a:cs typeface="Courier New" panose="02070309020205020404" pitchFamily="49" charset="0"/>
              </a:rPr>
              <a:t>Pokupatel</a:t>
            </a:r>
            <a:r>
              <a:rPr lang="en-US" sz="2600" dirty="0" smtClean="0">
                <a:latin typeface="+mj-lt"/>
                <a:cs typeface="Courier New" panose="02070309020205020404" pitchFamily="49" charset="0"/>
              </a:rPr>
              <a:t> (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Покупатель)</a:t>
            </a:r>
            <a:endParaRPr lang="ru-RU" sz="2600" dirty="0">
              <a:latin typeface="+mj-lt"/>
              <a:cs typeface="Courier New" pitchFamily="49" charset="0"/>
            </a:endParaRPr>
          </a:p>
          <a:p>
            <a:r>
              <a:rPr lang="ru-RU" sz="2400" dirty="0"/>
              <a:t> </a:t>
            </a:r>
            <a:r>
              <a:rPr lang="en-US" sz="2400" dirty="0"/>
              <a:t>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COPY  </a:t>
            </a:r>
            <a:r>
              <a:rPr lang="en-US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prod.pokupatel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'd:\data\pokupatel.csv‘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';'	  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'WIN1251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524652"/>
            <a:ext cx="4896544" cy="328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8262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Загрузка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42984"/>
            <a:ext cx="88924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>
                <a:latin typeface="+mj-lt"/>
              </a:rPr>
              <a:t>Та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блица </a:t>
            </a:r>
            <a:r>
              <a:rPr lang="en-US" sz="2600" dirty="0" smtClean="0">
                <a:latin typeface="+mj-lt"/>
                <a:cs typeface="Courier New" panose="02070309020205020404" pitchFamily="49" charset="0"/>
              </a:rPr>
              <a:t>book (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Книга продаж)</a:t>
            </a:r>
            <a:endParaRPr lang="ru-RU" sz="2600" dirty="0">
              <a:latin typeface="+mj-lt"/>
              <a:cs typeface="Courier New" pitchFamily="49" charset="0"/>
            </a:endParaRPr>
          </a:p>
          <a:p>
            <a:r>
              <a:rPr lang="ru-RU" sz="2400" dirty="0"/>
              <a:t> </a:t>
            </a:r>
            <a:r>
              <a:rPr lang="en-US" sz="2400" dirty="0"/>
              <a:t>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COPY  </a:t>
            </a:r>
            <a:r>
              <a:rPr lang="en-US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prod.book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'd:\data\book.csv‘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';'	  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'WIN1251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051" y="3573016"/>
            <a:ext cx="5904656" cy="3294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16757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Загрузка данных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Создание объектов БД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42984"/>
            <a:ext cx="88924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>
                <a:latin typeface="+mj-lt"/>
              </a:rPr>
              <a:t>Та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блица </a:t>
            </a:r>
            <a:r>
              <a:rPr lang="en-US" sz="2600" dirty="0" smtClean="0">
                <a:latin typeface="+mj-lt"/>
                <a:cs typeface="Courier New" panose="02070309020205020404" pitchFamily="49" charset="0"/>
              </a:rPr>
              <a:t>kart (</a:t>
            </a:r>
            <a:r>
              <a:rPr lang="ru-RU" sz="2600" dirty="0" smtClean="0">
                <a:latin typeface="+mj-lt"/>
                <a:cs typeface="Courier New" panose="02070309020205020404" pitchFamily="49" charset="0"/>
              </a:rPr>
              <a:t>Ассортимент продаж)</a:t>
            </a:r>
            <a:endParaRPr lang="ru-RU" sz="2600" dirty="0">
              <a:latin typeface="+mj-lt"/>
              <a:cs typeface="Courier New" pitchFamily="49" charset="0"/>
            </a:endParaRPr>
          </a:p>
          <a:p>
            <a:r>
              <a:rPr lang="ru-RU" sz="2400" dirty="0"/>
              <a:t> </a:t>
            </a:r>
            <a:r>
              <a:rPr lang="en-US" sz="2400" dirty="0"/>
              <a:t>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COPY  </a:t>
            </a:r>
            <a:r>
              <a:rPr lang="en-US" sz="26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prod.kart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ru-RU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'd:\data\kart.csv‘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';'	  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'WIN1251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sz="2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258398"/>
            <a:ext cx="5076056" cy="350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100746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>
                <a:latin typeface="Arial" pitchFamily="34" charset="0"/>
                <a:cs typeface="Arial" pitchFamily="34" charset="0"/>
              </a:rPr>
              <a:t> </a:t>
            </a:r>
            <a:endParaRPr lang="ru-RU" sz="240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9706</TotalTime>
  <Words>1166</Words>
  <Application>Microsoft Office PowerPoint</Application>
  <PresentationFormat>Экран (4:3)</PresentationFormat>
  <Paragraphs>403</Paragraphs>
  <Slides>36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7" baseType="lpstr">
      <vt:lpstr>Открытая</vt:lpstr>
      <vt:lpstr> </vt:lpstr>
      <vt:lpstr>       Создание объектов БД  </vt:lpstr>
      <vt:lpstr>       Создание объектов БД  </vt:lpstr>
      <vt:lpstr>       Реляционные базы данных  </vt:lpstr>
      <vt:lpstr>       Реляционные базы данных  </vt:lpstr>
      <vt:lpstr>       Реляционные базы данных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       Создание объектов БД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monvi@yandex.ru</cp:lastModifiedBy>
  <cp:revision>711</cp:revision>
  <dcterms:created xsi:type="dcterms:W3CDTF">2020-10-04T20:01:59Z</dcterms:created>
  <dcterms:modified xsi:type="dcterms:W3CDTF">2025-10-22T14:25:12Z</dcterms:modified>
</cp:coreProperties>
</file>