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2"/>
  </p:notesMasterIdLst>
  <p:sldIdLst>
    <p:sldId id="256" r:id="rId2"/>
    <p:sldId id="475" r:id="rId3"/>
    <p:sldId id="474" r:id="rId4"/>
    <p:sldId id="450" r:id="rId5"/>
    <p:sldId id="451" r:id="rId6"/>
    <p:sldId id="499" r:id="rId7"/>
    <p:sldId id="507" r:id="rId8"/>
    <p:sldId id="453" r:id="rId9"/>
    <p:sldId id="454" r:id="rId10"/>
    <p:sldId id="455" r:id="rId11"/>
    <p:sldId id="476" r:id="rId12"/>
    <p:sldId id="481" r:id="rId13"/>
    <p:sldId id="477" r:id="rId14"/>
    <p:sldId id="456" r:id="rId15"/>
    <p:sldId id="488" r:id="rId16"/>
    <p:sldId id="489" r:id="rId17"/>
    <p:sldId id="490" r:id="rId18"/>
    <p:sldId id="503" r:id="rId19"/>
    <p:sldId id="506" r:id="rId20"/>
    <p:sldId id="509" r:id="rId21"/>
    <p:sldId id="511" r:id="rId22"/>
    <p:sldId id="491" r:id="rId23"/>
    <p:sldId id="492" r:id="rId24"/>
    <p:sldId id="493" r:id="rId25"/>
    <p:sldId id="505" r:id="rId26"/>
    <p:sldId id="508" r:id="rId27"/>
    <p:sldId id="494" r:id="rId28"/>
    <p:sldId id="496" r:id="rId29"/>
    <p:sldId id="510" r:id="rId30"/>
    <p:sldId id="501" r:id="rId31"/>
    <p:sldId id="498" r:id="rId32"/>
    <p:sldId id="495" r:id="rId33"/>
    <p:sldId id="502" r:id="rId34"/>
    <p:sldId id="485" r:id="rId35"/>
    <p:sldId id="486" r:id="rId36"/>
    <p:sldId id="457" r:id="rId37"/>
    <p:sldId id="487" r:id="rId38"/>
    <p:sldId id="484" r:id="rId39"/>
    <p:sldId id="473" r:id="rId40"/>
    <p:sldId id="300" r:id="rId4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0" autoAdjust="0"/>
    <p:restoredTop sz="94374" autoAdjust="0"/>
  </p:normalViewPr>
  <p:slideViewPr>
    <p:cSldViewPr>
      <p:cViewPr varScale="1">
        <p:scale>
          <a:sx n="85" d="100"/>
          <a:sy n="85" d="100"/>
        </p:scale>
        <p:origin x="-66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02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28.11.2025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0458" y="29466"/>
            <a:ext cx="9224976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208912" cy="2160240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</a:pPr>
            <a:r>
              <a:rPr lang="ru-RU" sz="5400" b="1" dirty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 </a:t>
            </a:r>
            <a:r>
              <a:rPr lang="en-US" sz="5400" b="1" dirty="0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ru-RU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5</a:t>
            </a:r>
            <a:endParaRPr lang="en-US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/>
            <a:endParaRPr lang="ru-RU" sz="1000" b="1" dirty="0" smtClean="0"/>
          </a:p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Подпрограммы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Подпрограммы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19974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dirty="0" smtClean="0">
                <a:solidFill>
                  <a:schemeClr val="bg2">
                    <a:lumMod val="25000"/>
                  </a:schemeClr>
                </a:solidFill>
              </a:rPr>
              <a:t>Подпрограммы</a:t>
            </a:r>
            <a:r>
              <a:rPr lang="ru-RU" sz="2600" dirty="0" smtClean="0"/>
              <a:t> - это объекты БД, представляющие программный модуль (именованный программный блок)</a:t>
            </a:r>
          </a:p>
          <a:p>
            <a:pPr algn="just">
              <a:spcBef>
                <a:spcPts val="1200"/>
              </a:spcBef>
            </a:pPr>
            <a:r>
              <a:rPr lang="ru-RU" sz="2600" dirty="0" smtClean="0"/>
              <a:t>Подпрограммы могут:</a:t>
            </a:r>
          </a:p>
          <a:p>
            <a:pPr marL="541338" indent="-274638" algn="just">
              <a:buFont typeface="Wingdings" pitchFamily="2" charset="2"/>
              <a:buChar char="§"/>
            </a:pPr>
            <a:r>
              <a:rPr lang="ru-RU" sz="2600" dirty="0" smtClean="0"/>
              <a:t>выполнять различные действия</a:t>
            </a:r>
          </a:p>
          <a:p>
            <a:pPr marL="541338" indent="-274638" algn="just">
              <a:buFont typeface="Wingdings" pitchFamily="2" charset="2"/>
              <a:buChar char="§"/>
            </a:pPr>
            <a:r>
              <a:rPr lang="ru-RU" sz="2600" dirty="0" smtClean="0"/>
              <a:t>возвращать результат (скалярные значения и наборы данных)</a:t>
            </a:r>
          </a:p>
          <a:p>
            <a:pPr marL="274638" indent="-274638" algn="just">
              <a:spcBef>
                <a:spcPts val="1200"/>
              </a:spcBef>
            </a:pPr>
            <a:r>
              <a:rPr lang="ru-RU" sz="2600" b="1" dirty="0" smtClean="0"/>
              <a:t>Виды подпрограмм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541338" indent="-274638" algn="just">
              <a:buFont typeface="Wingdings" pitchFamily="2" charset="2"/>
              <a:buChar char="§"/>
            </a:pPr>
            <a:r>
              <a:rPr lang="ru-RU" sz="2600" dirty="0" smtClean="0"/>
              <a:t>функции </a:t>
            </a:r>
            <a:r>
              <a:rPr lang="ru-RU" sz="2600" dirty="0"/>
              <a:t>(встроенные и пользовательские)</a:t>
            </a:r>
          </a:p>
          <a:p>
            <a:pPr marL="541338" indent="-274638" algn="just">
              <a:buFont typeface="Wingdings" pitchFamily="2" charset="2"/>
              <a:buChar char="§"/>
            </a:pPr>
            <a:r>
              <a:rPr lang="ru-RU" sz="2600" dirty="0" smtClean="0"/>
              <a:t>процедуры</a:t>
            </a:r>
          </a:p>
        </p:txBody>
      </p:sp>
    </p:spTree>
    <p:extLst>
      <p:ext uri="{BB962C8B-B14F-4D97-AF65-F5344CB8AC3E}">
        <p14:creationId xmlns:p14="http://schemas.microsoft.com/office/powerpoint/2010/main" val="4807702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196752"/>
            <a:ext cx="84249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1563" indent="-719138" algn="ctr">
              <a:spcBef>
                <a:spcPts val="1800"/>
              </a:spcBef>
            </a:pPr>
            <a:r>
              <a:rPr lang="ru-RU" sz="5400" b="1" dirty="0" smtClean="0">
                <a:solidFill>
                  <a:srgbClr val="7030A0"/>
                </a:solidFill>
              </a:rPr>
              <a:t>Пользовательские Функции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2975509"/>
            <a:ext cx="3851920" cy="3882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8136479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Виды пользовательских функций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0241" y="1798365"/>
            <a:ext cx="86409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функции на языке запросов </a:t>
            </a:r>
            <a:r>
              <a:rPr lang="ru-RU" sz="2600" dirty="0" smtClean="0"/>
              <a:t>(состоят из команд базового языка </a:t>
            </a:r>
            <a:r>
              <a:rPr lang="ru-RU" sz="2600" dirty="0"/>
              <a:t> SQL</a:t>
            </a:r>
            <a:r>
              <a:rPr lang="ru-RU" sz="2600" dirty="0" smtClean="0"/>
              <a:t>) </a:t>
            </a:r>
          </a:p>
          <a:p>
            <a:pPr marL="457200" lvl="0" indent="-4572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функции </a:t>
            </a:r>
            <a:r>
              <a:rPr lang="ru-RU" sz="2600" dirty="0"/>
              <a:t>на процедурных языках </a:t>
            </a:r>
            <a:r>
              <a:rPr lang="en-US" sz="2600" dirty="0" smtClean="0"/>
              <a:t>			</a:t>
            </a:r>
            <a:r>
              <a:rPr lang="ru-RU" sz="2600" dirty="0" smtClean="0"/>
              <a:t>(PL/</a:t>
            </a:r>
            <a:r>
              <a:rPr lang="ru-RU" sz="2600" dirty="0" err="1" smtClean="0"/>
              <a:t>pgSQL</a:t>
            </a:r>
            <a:r>
              <a:rPr lang="ru-RU" sz="2600" dirty="0" smtClean="0"/>
              <a:t>, С, </a:t>
            </a:r>
            <a:r>
              <a:rPr lang="en-US" sz="2600" dirty="0" smtClean="0"/>
              <a:t>TCL</a:t>
            </a:r>
            <a:r>
              <a:rPr lang="ru-RU" sz="2600" dirty="0" smtClean="0"/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63688" y="4725144"/>
            <a:ext cx="61926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*TCL - </a:t>
            </a:r>
            <a:r>
              <a:rPr lang="ru-RU" sz="2200" dirty="0"/>
              <a:t>скриптовый язык высокого уровня</a:t>
            </a:r>
          </a:p>
        </p:txBody>
      </p:sp>
    </p:spTree>
    <p:extLst>
      <p:ext uri="{BB962C8B-B14F-4D97-AF65-F5344CB8AC3E}">
        <p14:creationId xmlns:p14="http://schemas.microsoft.com/office/powerpoint/2010/main" val="222496489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Особенности  функций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776" y="1196752"/>
            <a:ext cx="864096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988" indent="-357188" algn="just">
              <a:buFont typeface="Wingdings" pitchFamily="2" charset="2"/>
              <a:buChar char="§"/>
            </a:pPr>
            <a:r>
              <a:rPr lang="ru-RU" sz="2600" dirty="0" smtClean="0"/>
              <a:t>создаются оператором </a:t>
            </a:r>
            <a:r>
              <a:rPr lang="en-US" sz="2600" dirty="0" smtClean="0"/>
              <a:t>CREATE</a:t>
            </a:r>
          </a:p>
          <a:p>
            <a:pPr marL="534988" indent="-357188" algn="just">
              <a:buFont typeface="Wingdings" pitchFamily="2" charset="2"/>
              <a:buChar char="§"/>
            </a:pPr>
            <a:r>
              <a:rPr lang="ru-RU" sz="2600" dirty="0" smtClean="0"/>
              <a:t>компилируются и сохраняются в БД</a:t>
            </a:r>
          </a:p>
          <a:p>
            <a:pPr marL="534988" indent="-357188" algn="just">
              <a:buFont typeface="Wingdings" pitchFamily="2" charset="2"/>
              <a:buChar char="§"/>
            </a:pPr>
            <a:r>
              <a:rPr lang="ru-RU" sz="2600" dirty="0" smtClean="0"/>
              <a:t>могут </a:t>
            </a:r>
            <a:r>
              <a:rPr lang="ru-RU" sz="2600" dirty="0"/>
              <a:t>принимать </a:t>
            </a:r>
            <a:r>
              <a:rPr lang="ru-RU" sz="2600" dirty="0" smtClean="0"/>
              <a:t>параметры базовых или составных типов</a:t>
            </a:r>
          </a:p>
          <a:p>
            <a:pPr marL="534988" indent="-357188" algn="just">
              <a:buFont typeface="Wingdings" pitchFamily="2" charset="2"/>
              <a:buChar char="§"/>
            </a:pPr>
            <a:r>
              <a:rPr lang="ru-RU" sz="2600" dirty="0" smtClean="0"/>
              <a:t>могут </a:t>
            </a:r>
            <a:r>
              <a:rPr lang="ru-RU" sz="2600" dirty="0"/>
              <a:t>возвращать значения базового или составного типа, наборы </a:t>
            </a:r>
            <a:r>
              <a:rPr lang="ru-RU" sz="2600" dirty="0" smtClean="0"/>
              <a:t>значений</a:t>
            </a:r>
            <a:endParaRPr lang="ru-RU" sz="2600" dirty="0"/>
          </a:p>
          <a:p>
            <a:pPr marL="541338" algn="just"/>
            <a:r>
              <a:rPr lang="ru-RU" sz="2600" dirty="0" smtClean="0"/>
              <a:t>Тип </a:t>
            </a:r>
            <a:r>
              <a:rPr lang="en-US" sz="2600" dirty="0" smtClean="0"/>
              <a:t>void – </a:t>
            </a:r>
            <a:r>
              <a:rPr lang="ru-RU" sz="2600" dirty="0" smtClean="0"/>
              <a:t>если функция не возвращает результата</a:t>
            </a:r>
            <a:endParaRPr lang="en-US" sz="2600" dirty="0" smtClean="0"/>
          </a:p>
          <a:p>
            <a:pPr marL="533400" indent="-361950" algn="just">
              <a:buFont typeface="Wingdings" panose="05000000000000000000" pitchFamily="2" charset="2"/>
              <a:buChar char="§"/>
            </a:pPr>
            <a:r>
              <a:rPr lang="ru-RU" sz="2600" dirty="0"/>
              <a:t>ч</a:t>
            </a:r>
            <a:r>
              <a:rPr lang="ru-RU" sz="2600" dirty="0" smtClean="0"/>
              <a:t>тобы </a:t>
            </a:r>
            <a:r>
              <a:rPr lang="ru-RU" sz="2600" dirty="0"/>
              <a:t>создать функцию, </a:t>
            </a:r>
            <a:r>
              <a:rPr lang="ru-RU" sz="2600" dirty="0" smtClean="0"/>
              <a:t>необходимо иметь </a:t>
            </a:r>
            <a:r>
              <a:rPr lang="ru-RU" sz="2600" dirty="0"/>
              <a:t>право </a:t>
            </a:r>
            <a:r>
              <a:rPr lang="ru-RU" sz="2600" b="1" dirty="0"/>
              <a:t>USAGE</a:t>
            </a:r>
            <a:endParaRPr lang="ru-RU" sz="26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541338" algn="just"/>
            <a:r>
              <a:rPr lang="ru-RU" sz="2600" dirty="0" smtClean="0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31840" y="5805264"/>
            <a:ext cx="6012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7687839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Создание  функции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920" y="1124744"/>
            <a:ext cx="81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OR REPLACE] FUNCTION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([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список формальных параметров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])</a:t>
            </a:r>
            <a:endParaRPr lang="en-US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ru-RU" sz="2400" b="1" i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тип_результата</a:t>
            </a:r>
            <a:endParaRPr lang="ru-RU" sz="24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| RETURNS TABLE (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список колонок)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ru-RU" sz="2400" b="1" dirty="0" smtClean="0">
              <a:solidFill>
                <a:schemeClr val="accent3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язык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оведение функции</a:t>
            </a:r>
            <a:endParaRPr lang="en-US" sz="2400" b="1" dirty="0" smtClean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операторы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2920" y="4869160"/>
            <a:ext cx="8325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</a:t>
            </a:r>
            <a:r>
              <a:rPr lang="ru-RU" sz="2400" dirty="0" smtClean="0"/>
              <a:t>де 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язык</a:t>
            </a:r>
            <a:r>
              <a:rPr lang="ru-RU" sz="2400" dirty="0" smtClean="0"/>
              <a:t>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::=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SQL,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endParaRPr lang="en-US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66813" indent="-536575">
              <a:tabLst>
                <a:tab pos="441325" algn="l"/>
              </a:tabLst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поведение функции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::=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IMMUTABLE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STABLE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VOLATILE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(по умолчанию)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001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Поведение  функции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980728"/>
            <a:ext cx="8712968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MMUTABLE</a:t>
            </a:r>
            <a:r>
              <a:rPr lang="ru-RU" sz="2400" dirty="0"/>
              <a:t> (постоянная) </a:t>
            </a:r>
            <a:r>
              <a:rPr lang="ru-RU" sz="2400" dirty="0" smtClean="0"/>
              <a:t>- </a:t>
            </a:r>
            <a:r>
              <a:rPr lang="ru-RU" sz="2400" dirty="0"/>
              <a:t>функция не может </a:t>
            </a:r>
            <a:r>
              <a:rPr lang="ru-RU" sz="2400" dirty="0" smtClean="0"/>
              <a:t>обращаться к БД, а использует только переданные ей параметры</a:t>
            </a:r>
          </a:p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en-US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400" dirty="0"/>
              <a:t> (</a:t>
            </a:r>
            <a:r>
              <a:rPr lang="ru-RU" sz="2400" dirty="0"/>
              <a:t>стабильная) </a:t>
            </a:r>
            <a:r>
              <a:rPr lang="ru-RU" sz="2400" dirty="0" smtClean="0"/>
              <a:t>- функция может </a:t>
            </a:r>
            <a:r>
              <a:rPr lang="ru-RU" sz="2400" dirty="0"/>
              <a:t>обращаться к </a:t>
            </a:r>
            <a:r>
              <a:rPr lang="ru-RU" sz="2400" dirty="0" smtClean="0"/>
              <a:t>БД, но не может ее </a:t>
            </a:r>
            <a:r>
              <a:rPr lang="ru-RU" sz="2400" dirty="0" smtClean="0"/>
              <a:t>изменять </a:t>
            </a:r>
            <a:endParaRPr lang="ru-RU" sz="2400" dirty="0" smtClean="0"/>
          </a:p>
          <a:p>
            <a:pPr marL="725488" indent="-188913" algn="just"/>
            <a:r>
              <a:rPr lang="ru-RU" sz="2200" b="1" dirty="0" smtClean="0"/>
              <a:t>Примечание.</a:t>
            </a:r>
            <a:r>
              <a:rPr lang="ru-RU" sz="2200" dirty="0" smtClean="0"/>
              <a:t> IMMUTABLE и </a:t>
            </a:r>
            <a:r>
              <a:rPr lang="en-US" sz="2200" dirty="0"/>
              <a:t>STABLE </a:t>
            </a:r>
            <a:r>
              <a:rPr lang="ru-RU" sz="2200" dirty="0" smtClean="0"/>
              <a:t>гарантированно возвращают </a:t>
            </a:r>
            <a:r>
              <a:rPr lang="ru-RU" sz="2200" dirty="0"/>
              <a:t>одинаковый результат для одинаковых параметров. </a:t>
            </a:r>
            <a:r>
              <a:rPr lang="ru-RU" sz="2200" dirty="0" smtClean="0"/>
              <a:t>Это позволяет </a:t>
            </a:r>
            <a:r>
              <a:rPr lang="ru-RU" sz="2200" dirty="0"/>
              <a:t>оптимизатору заменить множество вызовов этой функции </a:t>
            </a:r>
            <a:r>
              <a:rPr lang="ru-RU" sz="2200" dirty="0" smtClean="0"/>
              <a:t>одним</a:t>
            </a:r>
            <a:r>
              <a:rPr lang="ru-RU" sz="2200" dirty="0"/>
              <a:t> </a:t>
            </a:r>
            <a:endParaRPr lang="ru-RU" sz="2200" dirty="0" smtClean="0"/>
          </a:p>
          <a:p>
            <a:pPr marL="536575" indent="-536575" algn="just">
              <a:buFont typeface="Wingdings" panose="05000000000000000000" pitchFamily="2" charset="2"/>
              <a:buChar char="q"/>
            </a:pPr>
            <a:r>
              <a:rPr lang="ru-RU" sz="2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OLATILE</a:t>
            </a:r>
            <a:r>
              <a:rPr lang="ru-RU" sz="2400" dirty="0"/>
              <a:t> (изменчивая) может делать всё, что угодно, в том числе, модифицировать базу данных Она может возвращать различные результаты при нескольких вызовах с одинаковыми </a:t>
            </a:r>
            <a:r>
              <a:rPr lang="ru-RU" sz="2400" dirty="0" smtClean="0"/>
              <a:t>аргументами, </a:t>
            </a:r>
            <a:r>
              <a:rPr lang="ru-RU" sz="2400" dirty="0"/>
              <a:t>так что её вызовы нельзя оптимизировать</a:t>
            </a:r>
            <a:endParaRPr lang="ru-RU" sz="24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64923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Параметры (аргументы) функции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268760"/>
            <a:ext cx="864096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4988" indent="-534988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600" b="1" dirty="0" smtClean="0"/>
              <a:t>формальные –</a:t>
            </a:r>
            <a:r>
              <a:rPr lang="ru-RU" sz="2600" dirty="0" smtClean="0"/>
              <a:t> переменные, указанные при объявлении (создании) функции</a:t>
            </a:r>
          </a:p>
          <a:p>
            <a:pPr marL="534988" indent="-534988" algn="just">
              <a:spcBef>
                <a:spcPts val="1800"/>
              </a:spcBef>
              <a:buFont typeface="Wingdings" pitchFamily="2" charset="2"/>
              <a:buChar char="q"/>
            </a:pPr>
            <a:r>
              <a:rPr lang="ru-RU" sz="2600" b="1" dirty="0" smtClean="0"/>
              <a:t>фактические – </a:t>
            </a:r>
            <a:r>
              <a:rPr lang="ru-RU" sz="2600" dirty="0" smtClean="0"/>
              <a:t>выражения, передаваемые при вызове функции в качестве аргументов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85" y="3952800"/>
            <a:ext cx="78488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dirty="0" smtClean="0"/>
              <a:t>Функции </a:t>
            </a:r>
            <a:r>
              <a:rPr lang="ru-RU" sz="2600" dirty="0"/>
              <a:t>могут принимать в качестве аргументов (</a:t>
            </a:r>
            <a:r>
              <a:rPr lang="ru-RU" sz="2600" dirty="0" smtClean="0"/>
              <a:t>параметров)  базовые </a:t>
            </a:r>
            <a:r>
              <a:rPr lang="ru-RU" sz="2600" dirty="0"/>
              <a:t>или составные </a:t>
            </a:r>
            <a:r>
              <a:rPr lang="ru-RU" sz="2600" dirty="0" smtClean="0"/>
              <a:t>типы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80895757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smtClean="0"/>
              <a:t>Формальные параметры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2204864"/>
            <a:ext cx="864096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indent="-352425" algn="just"/>
            <a:r>
              <a:rPr lang="ru-RU" sz="2800" dirty="0" smtClean="0"/>
              <a:t>Параметры делятся на 3 вида (по их роли в функции)</a:t>
            </a:r>
          </a:p>
          <a:p>
            <a:pPr marL="352425" indent="-352425" algn="just">
              <a:spcBef>
                <a:spcPts val="600"/>
              </a:spcBef>
            </a:pPr>
            <a:r>
              <a:rPr lang="ru-RU" sz="2800" dirty="0" smtClean="0"/>
              <a:t>Вид определяется предлогом перед именем параметра</a:t>
            </a:r>
            <a:r>
              <a:rPr lang="ru-RU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8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340768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[</a:t>
            </a:r>
            <a:r>
              <a:rPr lang="ru-RU" sz="2800" b="1" dirty="0" err="1" smtClean="0">
                <a:solidFill>
                  <a:srgbClr val="0070C0"/>
                </a:solidFill>
              </a:rPr>
              <a:t>вид_параметра</a:t>
            </a:r>
            <a:r>
              <a:rPr lang="en-US" sz="2800" b="1" dirty="0" smtClean="0">
                <a:solidFill>
                  <a:srgbClr val="0070C0"/>
                </a:solidFill>
              </a:rPr>
              <a:t>]</a:t>
            </a:r>
            <a:r>
              <a:rPr lang="ru-RU" sz="2800" b="1" dirty="0" smtClean="0"/>
              <a:t>   </a:t>
            </a:r>
            <a:r>
              <a:rPr lang="ru-RU" sz="2800" b="1" dirty="0" smtClean="0">
                <a:solidFill>
                  <a:srgbClr val="7030A0"/>
                </a:solidFill>
              </a:rPr>
              <a:t>имя</a:t>
            </a:r>
            <a:r>
              <a:rPr lang="ru-RU" sz="2800" b="1" dirty="0" smtClean="0"/>
              <a:t>  </a:t>
            </a:r>
            <a:r>
              <a:rPr lang="ru-RU" sz="2800" b="1" dirty="0" err="1" smtClean="0">
                <a:solidFill>
                  <a:srgbClr val="00B050"/>
                </a:solidFill>
              </a:rPr>
              <a:t>тип_значения</a:t>
            </a:r>
            <a:endParaRPr lang="ru-RU" sz="2800" b="1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552" y="4061971"/>
            <a:ext cx="84249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2425" indent="-352425" algn="just">
              <a:spcBef>
                <a:spcPts val="1800"/>
              </a:spcBef>
            </a:pPr>
            <a:r>
              <a:rPr lang="en-US" sz="3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    -  </a:t>
            </a:r>
            <a:r>
              <a:rPr lang="ru-RU" sz="3200" b="1" dirty="0" smtClean="0">
                <a:latin typeface="Courier New" pitchFamily="49" charset="0"/>
                <a:cs typeface="Courier New" pitchFamily="49" charset="0"/>
              </a:rPr>
              <a:t>входной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3200" b="1" dirty="0" smtClean="0">
                <a:latin typeface="Courier New" pitchFamily="49" charset="0"/>
                <a:cs typeface="Courier New" pitchFamily="49" charset="0"/>
              </a:rPr>
              <a:t>по умолчанию)</a:t>
            </a:r>
            <a:endParaRPr lang="en-US" sz="3200" b="1" dirty="0" smtClean="0">
              <a:latin typeface="Courier New" pitchFamily="49" charset="0"/>
              <a:cs typeface="Courier New" pitchFamily="49" charset="0"/>
            </a:endParaRPr>
          </a:p>
          <a:p>
            <a:pPr marL="352425" indent="-352425" algn="just">
              <a:spcBef>
                <a:spcPts val="1800"/>
              </a:spcBef>
            </a:pPr>
            <a:r>
              <a:rPr lang="en-US" sz="3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out</a:t>
            </a:r>
            <a:r>
              <a:rPr lang="ru-RU" sz="3200" b="1" dirty="0" smtClean="0">
                <a:latin typeface="Courier New" pitchFamily="49" charset="0"/>
                <a:cs typeface="Courier New" pitchFamily="49" charset="0"/>
              </a:rPr>
              <a:t>    -  выходной</a:t>
            </a:r>
          </a:p>
          <a:p>
            <a:pPr marL="352425" indent="-352425" algn="just">
              <a:spcBef>
                <a:spcPts val="1800"/>
              </a:spcBef>
            </a:pPr>
            <a:r>
              <a:rPr lang="en-US" sz="3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inout</a:t>
            </a:r>
            <a:r>
              <a:rPr lang="ru-RU" sz="3200" b="1" dirty="0" smtClean="0">
                <a:latin typeface="Courier New" pitchFamily="49" charset="0"/>
                <a:cs typeface="Courier New" pitchFamily="49" charset="0"/>
              </a:rPr>
              <a:t>  -  комбинированный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816329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dirty="0" smtClean="0"/>
              <a:t>Виды (роли) формальных параметров</a:t>
            </a:r>
            <a:endParaRPr lang="ru-RU" sz="36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169058"/>
              </p:ext>
            </p:extLst>
          </p:nvPr>
        </p:nvGraphicFramePr>
        <p:xfrm>
          <a:off x="251520" y="1124744"/>
          <a:ext cx="88093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/>
                <a:gridCol w="77292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Вид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669465"/>
              </p:ext>
            </p:extLst>
          </p:nvPr>
        </p:nvGraphicFramePr>
        <p:xfrm>
          <a:off x="251519" y="1559505"/>
          <a:ext cx="8773727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6716"/>
                <a:gridCol w="76770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in</a:t>
                      </a:r>
                      <a:endParaRPr lang="ru-RU" sz="2200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 вызове </a:t>
                      </a:r>
                      <a:r>
                        <a:rPr kumimoji="0" lang="ru-RU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процедуры формальный</a:t>
                      </a:r>
                      <a:r>
                        <a:rPr kumimoji="0" lang="ru-RU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параметр заменяется фактическим</a:t>
                      </a:r>
                      <a:endParaRPr kumimoji="0"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Внутри процедуры </a:t>
                      </a:r>
                      <a:r>
                        <a:rPr kumimoji="0" lang="ru-RU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kumimoji="0" lang="ru-RU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это </a:t>
                      </a:r>
                      <a:r>
                        <a:rPr kumimoji="0" lang="ru-RU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параметр-константа</a:t>
                      </a:r>
                      <a:endParaRPr kumimoji="0"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kumimoji="0"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 выходе</a:t>
                      </a:r>
                      <a:r>
                        <a:rPr kumimoji="0" lang="ru-RU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из процедуры значение фактического параметра не меняется</a:t>
                      </a:r>
                      <a:endParaRPr lang="ru-RU" sz="1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084685"/>
              </p:ext>
            </p:extLst>
          </p:nvPr>
        </p:nvGraphicFramePr>
        <p:xfrm>
          <a:off x="251519" y="2996952"/>
          <a:ext cx="8773727" cy="1828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96716"/>
                <a:gridCol w="7677011"/>
              </a:tblGrid>
              <a:tr h="442848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out</a:t>
                      </a:r>
                      <a:endParaRPr lang="ru-RU" sz="2200" b="1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ru-RU" sz="19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При</a:t>
                      </a:r>
                      <a:r>
                        <a:rPr kumimoji="0" lang="ru-RU" sz="19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вызове </a:t>
                      </a:r>
                      <a:r>
                        <a:rPr kumimoji="0" lang="ru-RU" sz="19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процедуры з</a:t>
                      </a:r>
                      <a:r>
                        <a:rPr kumimoji="0" lang="ru-RU" sz="19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начение фактического параметра игнорируется </a:t>
                      </a:r>
                    </a:p>
                    <a:p>
                      <a:pPr algn="just"/>
                      <a:r>
                        <a:rPr kumimoji="0" lang="ru-RU" sz="19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Внутри процедуры </a:t>
                      </a:r>
                      <a:r>
                        <a:rPr kumimoji="0" lang="ru-RU" sz="19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это параметр «только для записи», т.е. ему можно присвоить значение, но прочитать -  нельзя</a:t>
                      </a:r>
                    </a:p>
                    <a:p>
                      <a:pPr algn="just"/>
                      <a:r>
                        <a:rPr kumimoji="0" lang="ru-RU" sz="19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При выходе</a:t>
                      </a:r>
                      <a:r>
                        <a:rPr kumimoji="0" lang="ru-RU" sz="19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из процедуры фактическому параметру присваивается значение формального параметра</a:t>
                      </a:r>
                      <a:endParaRPr lang="ru-RU" sz="1900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50859"/>
              </p:ext>
            </p:extLst>
          </p:nvPr>
        </p:nvGraphicFramePr>
        <p:xfrm>
          <a:off x="251519" y="4509120"/>
          <a:ext cx="8773727" cy="11887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96716"/>
                <a:gridCol w="7677011"/>
              </a:tblGrid>
              <a:tr h="370840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2200" dirty="0" err="1" smtClean="0">
                          <a:solidFill>
                            <a:srgbClr val="0070C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inout</a:t>
                      </a:r>
                      <a:endParaRPr lang="ru-RU" sz="2200" dirty="0">
                        <a:solidFill>
                          <a:srgbClr val="0070C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ru-RU" b="0" dirty="0" smtClean="0"/>
                        <a:t>Это комбинация </a:t>
                      </a:r>
                      <a:r>
                        <a:rPr lang="en-US" b="0" dirty="0" smtClean="0"/>
                        <a:t> </a:t>
                      </a:r>
                      <a:r>
                        <a:rPr lang="ru-RU" b="0" dirty="0" smtClean="0"/>
                        <a:t>параметров </a:t>
                      </a:r>
                      <a:r>
                        <a:rPr lang="en-US" b="0" dirty="0" smtClean="0"/>
                        <a:t>in </a:t>
                      </a:r>
                      <a:r>
                        <a:rPr lang="ru-RU" b="0" dirty="0" smtClean="0"/>
                        <a:t>и </a:t>
                      </a:r>
                      <a:r>
                        <a:rPr lang="en-US" b="0" dirty="0" smtClean="0"/>
                        <a:t>out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ru-RU" b="1" dirty="0" smtClean="0"/>
                        <a:t>При</a:t>
                      </a:r>
                      <a:r>
                        <a:rPr lang="ru-RU" b="1" baseline="0" dirty="0" smtClean="0"/>
                        <a:t> входе </a:t>
                      </a:r>
                      <a:r>
                        <a:rPr lang="ru-RU" b="0" baseline="0" dirty="0" smtClean="0"/>
                        <a:t>в процедуру:  фактический -</a:t>
                      </a:r>
                      <a:r>
                        <a:rPr lang="en-US" b="0" baseline="0" dirty="0" smtClean="0"/>
                        <a:t>&gt; </a:t>
                      </a:r>
                      <a:r>
                        <a:rPr lang="ru-RU" b="0" baseline="0" dirty="0" smtClean="0"/>
                        <a:t>формальный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ru-RU" b="1" baseline="0" dirty="0" smtClean="0"/>
                        <a:t>Внутри процедуры</a:t>
                      </a:r>
                      <a:r>
                        <a:rPr lang="ru-RU" b="0" baseline="0" dirty="0" smtClean="0"/>
                        <a:t>:  параметр можно читать и изменять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ru-RU" b="1" baseline="0" dirty="0" smtClean="0"/>
                        <a:t>При выходе </a:t>
                      </a:r>
                      <a:r>
                        <a:rPr lang="ru-RU" b="0" baseline="0" dirty="0" smtClean="0"/>
                        <a:t>из процедуры:  формальный -</a:t>
                      </a:r>
                      <a:r>
                        <a:rPr lang="en-US" b="0" baseline="0" dirty="0" smtClean="0"/>
                        <a:t>&gt; </a:t>
                      </a:r>
                      <a:r>
                        <a:rPr lang="ru-RU" b="0" baseline="0" dirty="0" smtClean="0"/>
                        <a:t>фактический </a:t>
                      </a:r>
                      <a:endParaRPr lang="ru-RU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1739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/>
              <a:t>О</a:t>
            </a:r>
            <a:r>
              <a:rPr lang="ru-RU" sz="3600" b="1" dirty="0" smtClean="0"/>
              <a:t>собенности  описания  функции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3528" y="1163548"/>
            <a:ext cx="8568952" cy="4857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Font typeface="Wingdings" panose="05000000000000000000" pitchFamily="2" charset="2"/>
              <a:buChar char="q"/>
            </a:pPr>
            <a:r>
              <a:rPr lang="ru-RU" sz="2400" b="1" dirty="0"/>
              <a:t>Имя</a:t>
            </a:r>
            <a:r>
              <a:rPr lang="ru-RU" sz="2400" dirty="0"/>
              <a:t> новой функции </a:t>
            </a:r>
            <a:r>
              <a:rPr lang="ru-RU" sz="2400" b="1" dirty="0"/>
              <a:t>должно отличаться</a:t>
            </a:r>
            <a:r>
              <a:rPr lang="ru-RU" sz="2400" dirty="0"/>
              <a:t> от имён существующих функций или процедур с такими же типами аргументов в </a:t>
            </a:r>
            <a:r>
              <a:rPr lang="ru-RU" sz="2400" dirty="0" smtClean="0"/>
              <a:t>схеме </a:t>
            </a:r>
          </a:p>
          <a:p>
            <a:pPr marL="449263" indent="-449263" algn="just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Функции </a:t>
            </a:r>
            <a:r>
              <a:rPr lang="ru-RU" sz="2400" dirty="0"/>
              <a:t>и процедуры </a:t>
            </a:r>
            <a:r>
              <a:rPr lang="ru-RU" sz="2400" b="1" dirty="0" smtClean="0"/>
              <a:t>могут иметь одинаковое</a:t>
            </a:r>
            <a:r>
              <a:rPr lang="ru-RU" sz="2400" dirty="0" smtClean="0"/>
              <a:t> имя в одной схеме, если они </a:t>
            </a:r>
            <a:r>
              <a:rPr lang="ru-RU" sz="2400" b="1" dirty="0" smtClean="0"/>
              <a:t>отличаются набором параметров</a:t>
            </a:r>
            <a:r>
              <a:rPr lang="ru-RU" sz="2400" dirty="0" smtClean="0"/>
              <a:t>. </a:t>
            </a:r>
          </a:p>
          <a:p>
            <a:pPr marL="441325" algn="just"/>
            <a:r>
              <a:rPr lang="ru-RU" sz="2400" dirty="0" smtClean="0"/>
              <a:t>Это </a:t>
            </a:r>
            <a:r>
              <a:rPr lang="ru-RU" sz="2400" dirty="0"/>
              <a:t>называется </a:t>
            </a:r>
            <a:r>
              <a:rPr lang="ru-RU" sz="2400" b="1" dirty="0" smtClean="0"/>
              <a:t>перегрузкой</a:t>
            </a:r>
            <a:endParaRPr lang="ru-RU" sz="2400" dirty="0"/>
          </a:p>
          <a:p>
            <a:pPr marL="449263" indent="-449263" algn="just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 REPLACE FUNCTION</a:t>
            </a:r>
            <a:r>
              <a:rPr lang="ru-RU" sz="2400" dirty="0"/>
              <a:t> </a:t>
            </a:r>
            <a:r>
              <a:rPr lang="ru-RU" sz="2400" b="1" dirty="0"/>
              <a:t>не </a:t>
            </a:r>
            <a:r>
              <a:rPr lang="ru-RU" sz="2400" b="1" dirty="0" smtClean="0"/>
              <a:t>позволяет </a:t>
            </a:r>
            <a:r>
              <a:rPr lang="ru-RU" sz="2400" b="1" dirty="0"/>
              <a:t>изменить тип результата</a:t>
            </a:r>
            <a:r>
              <a:rPr lang="ru-RU" sz="2400" dirty="0"/>
              <a:t> существующей </a:t>
            </a:r>
            <a:r>
              <a:rPr lang="ru-RU" sz="2400" dirty="0" smtClean="0"/>
              <a:t>функции (в том числе типы параметров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2400" dirty="0" smtClean="0"/>
              <a:t>)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 marL="449263" algn="just">
              <a:spcBef>
                <a:spcPts val="600"/>
              </a:spcBef>
            </a:pPr>
            <a:r>
              <a:rPr lang="ru-RU" sz="2400" dirty="0" smtClean="0"/>
              <a:t>Чтобы </a:t>
            </a:r>
            <a:r>
              <a:rPr lang="ru-RU" sz="2400" dirty="0"/>
              <a:t>сделать это, </a:t>
            </a:r>
            <a:r>
              <a:rPr lang="ru-RU" sz="2400" dirty="0" smtClean="0"/>
              <a:t>необходимо </a:t>
            </a:r>
            <a:r>
              <a:rPr lang="ru-RU" sz="2400" dirty="0"/>
              <a:t>удалить функцию и создать её </a:t>
            </a:r>
            <a:r>
              <a:rPr lang="ru-RU" sz="2400" dirty="0" smtClean="0"/>
              <a:t>заново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4368556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Обращение к параметрам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64096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dirty="0"/>
              <a:t>К аргументам </a:t>
            </a:r>
            <a:r>
              <a:rPr lang="ru-RU" sz="2600" dirty="0" smtClean="0"/>
              <a:t>функции </a:t>
            </a:r>
            <a:r>
              <a:rPr lang="ru-RU" sz="2600" dirty="0"/>
              <a:t>можно обращаться в теле функции </a:t>
            </a:r>
            <a:r>
              <a:rPr lang="ru-RU" sz="2600" dirty="0" smtClean="0"/>
              <a:t>по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600" dirty="0" smtClean="0"/>
              <a:t> </a:t>
            </a:r>
          </a:p>
          <a:p>
            <a:pPr marL="898525" indent="-342900">
              <a:buFont typeface="Wingdings" panose="05000000000000000000" pitchFamily="2" charset="2"/>
              <a:buChar char="§"/>
            </a:pPr>
            <a:r>
              <a:rPr lang="ru-RU" sz="2600" dirty="0"/>
              <a:t>н</a:t>
            </a:r>
            <a:r>
              <a:rPr lang="ru-RU" sz="2600" dirty="0" smtClean="0"/>
              <a:t>омерам (старый подход)</a:t>
            </a:r>
          </a:p>
          <a:p>
            <a:pPr marL="898525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именам</a:t>
            </a:r>
            <a:endParaRPr lang="ru-RU" sz="2600" dirty="0"/>
          </a:p>
          <a:p>
            <a:endParaRPr lang="ru-RU" sz="2600" dirty="0" smtClean="0"/>
          </a:p>
          <a:p>
            <a:pPr algn="just"/>
            <a:r>
              <a:rPr lang="ru-RU" sz="2600" dirty="0" smtClean="0"/>
              <a:t>Подход </a:t>
            </a:r>
            <a:r>
              <a:rPr lang="ru-RU" sz="2600" dirty="0"/>
              <a:t>с </a:t>
            </a:r>
            <a:r>
              <a:rPr lang="ru-RU" sz="2600" dirty="0" smtClean="0"/>
              <a:t>использованием номеров </a:t>
            </a:r>
            <a:r>
              <a:rPr lang="ru-RU" sz="2600" dirty="0"/>
              <a:t>позволяет обращаться к </a:t>
            </a:r>
            <a:r>
              <a:rPr lang="ru-RU" sz="2600" dirty="0" smtClean="0"/>
              <a:t>аргументам внутри функции, </a:t>
            </a:r>
            <a:r>
              <a:rPr lang="ru-RU" sz="2600" dirty="0"/>
              <a:t>применяя запись $</a:t>
            </a:r>
            <a:r>
              <a:rPr lang="ru-RU" sz="2600" b="1" dirty="0"/>
              <a:t>n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914400"/>
            <a:r>
              <a:rPr lang="ru-RU" sz="2600" dirty="0"/>
              <a:t> $1 </a:t>
            </a:r>
            <a:r>
              <a:rPr lang="ru-RU" sz="2600" dirty="0" smtClean="0"/>
              <a:t>- первый аргумент</a:t>
            </a:r>
            <a:r>
              <a:rPr lang="ru-RU" sz="2600" dirty="0"/>
              <a:t> </a:t>
            </a:r>
            <a:endParaRPr lang="ru-RU" sz="2600" dirty="0" smtClean="0"/>
          </a:p>
          <a:p>
            <a:pPr marL="914400"/>
            <a:r>
              <a:rPr lang="ru-RU" sz="2600" dirty="0" smtClean="0"/>
              <a:t> $</a:t>
            </a:r>
            <a:r>
              <a:rPr lang="ru-RU" sz="2600" dirty="0"/>
              <a:t>2 </a:t>
            </a:r>
            <a:r>
              <a:rPr lang="ru-RU" sz="2600" dirty="0" smtClean="0"/>
              <a:t>- </a:t>
            </a:r>
            <a:r>
              <a:rPr lang="ru-RU" sz="2600" dirty="0"/>
              <a:t>второй </a:t>
            </a:r>
            <a:r>
              <a:rPr lang="ru-RU" sz="2600" dirty="0" smtClean="0"/>
              <a:t>аргумент  и </a:t>
            </a:r>
            <a:r>
              <a:rPr lang="ru-RU" sz="2600" dirty="0"/>
              <a:t>т. д.</a:t>
            </a:r>
          </a:p>
          <a:p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40008185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Обращение к параметрам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3677250"/>
            <a:ext cx="864096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600" dirty="0"/>
              <a:t>Обращение по </a:t>
            </a:r>
            <a:r>
              <a:rPr lang="ru-RU" sz="2600" dirty="0" smtClean="0"/>
              <a:t>именам</a:t>
            </a:r>
            <a:r>
              <a:rPr lang="en-US" sz="2600" dirty="0" smtClean="0"/>
              <a:t> (</a:t>
            </a:r>
            <a:r>
              <a:rPr lang="ru-RU" sz="2600" dirty="0" smtClean="0"/>
              <a:t>только с версии 9.2)</a:t>
            </a:r>
            <a:endParaRPr lang="ru-RU" sz="2600" dirty="0"/>
          </a:p>
          <a:p>
            <a:pPr marL="360363">
              <a:spcBef>
                <a:spcPts val="600"/>
              </a:spcBef>
            </a:pP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add_em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integer,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integer) RETURNS integer AS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/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также можно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 + $2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1156970"/>
            <a:ext cx="864096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600" dirty="0"/>
              <a:t>Обращение по </a:t>
            </a:r>
            <a:r>
              <a:rPr lang="ru-RU" sz="2600" dirty="0" smtClean="0"/>
              <a:t>номерам</a:t>
            </a:r>
            <a:r>
              <a:rPr lang="en-US" sz="2600" dirty="0" smtClean="0"/>
              <a:t> </a:t>
            </a:r>
            <a:endParaRPr lang="ru-RU" sz="2600" dirty="0"/>
          </a:p>
          <a:p>
            <a:pPr marL="360363">
              <a:spcBef>
                <a:spcPts val="600"/>
              </a:spcBef>
            </a:pP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add_em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(integer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RETURNS integer AS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  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/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$1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$2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363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54935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Параметры </a:t>
            </a:r>
            <a:r>
              <a:rPr lang="en-US" sz="3600" b="1" dirty="0" smtClean="0"/>
              <a:t>  DEFAULT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640960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Параметры могут быть объявлены с ключевым словом DEFAULT (только для IN и INOUT) и им можно задать значение по умолчанию </a:t>
            </a:r>
          </a:p>
          <a:p>
            <a:pPr marL="182563">
              <a:spcBef>
                <a:spcPts val="600"/>
              </a:spcBef>
            </a:pPr>
            <a:r>
              <a:rPr lang="ru-RU" sz="2600" dirty="0" smtClean="0">
                <a:solidFill>
                  <a:schemeClr val="accent6">
                    <a:lumMod val="75000"/>
                  </a:schemeClr>
                </a:solidFill>
              </a:rPr>
              <a:t>Пример</a:t>
            </a:r>
            <a:endParaRPr lang="en-US" sz="26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1071563">
              <a:spcBef>
                <a:spcPts val="600"/>
              </a:spcBef>
            </a:pPr>
            <a:r>
              <a:rPr lang="en-US" sz="28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 smtClean="0">
                <a:latin typeface="Courier New" pitchFamily="49" charset="0"/>
                <a:cs typeface="Courier New" pitchFamily="49" charset="0"/>
              </a:rPr>
              <a:t>kol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integer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DEFAULT 0</a:t>
            </a:r>
            <a:endParaRPr lang="ru-RU" sz="2800" b="1" dirty="0" smtClean="0">
              <a:solidFill>
                <a:schemeClr val="accent6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400" dirty="0" smtClean="0"/>
          </a:p>
          <a:p>
            <a:pPr algn="just"/>
            <a:r>
              <a:rPr lang="ru-RU" sz="2400" dirty="0" smtClean="0"/>
              <a:t>Вместо DEFAULT</a:t>
            </a:r>
            <a:r>
              <a:rPr lang="ru-RU" sz="2400" dirty="0"/>
              <a:t> можно использовать </a:t>
            </a:r>
            <a:r>
              <a:rPr lang="ru-RU" sz="2400" dirty="0" smtClean="0"/>
              <a:t>знак</a:t>
            </a:r>
            <a:r>
              <a:rPr lang="ru-RU" sz="2400" dirty="0"/>
              <a:t>  </a:t>
            </a:r>
            <a:r>
              <a:rPr lang="ru-RU" sz="2400" dirty="0" smtClean="0"/>
              <a:t>«=»</a:t>
            </a:r>
            <a:r>
              <a:rPr lang="en-US" sz="2400" dirty="0" smtClean="0"/>
              <a:t> (</a:t>
            </a:r>
            <a:r>
              <a:rPr lang="ru-RU" sz="2400" dirty="0" smtClean="0"/>
              <a:t>равно</a:t>
            </a:r>
            <a:r>
              <a:rPr lang="en-US" sz="2400" dirty="0" smtClean="0"/>
              <a:t>)</a:t>
            </a:r>
          </a:p>
          <a:p>
            <a:pPr algn="just">
              <a:spcBef>
                <a:spcPts val="1200"/>
              </a:spcBef>
            </a:pPr>
            <a:r>
              <a:rPr lang="ru-RU" sz="2400" dirty="0" smtClean="0"/>
              <a:t>Если при вызове процедуры фактический параметр опущен, то формальному параметру присваивается значение по умолчанию  </a:t>
            </a:r>
          </a:p>
          <a:p>
            <a:pPr algn="just">
              <a:spcBef>
                <a:spcPts val="600"/>
              </a:spcBef>
            </a:pPr>
            <a:r>
              <a:rPr lang="ru-RU" sz="2400" dirty="0" smtClean="0"/>
              <a:t>Параметры со значениями </a:t>
            </a:r>
            <a:r>
              <a:rPr lang="en-US" sz="2400" dirty="0" smtClean="0"/>
              <a:t>DEFAULT</a:t>
            </a:r>
            <a:r>
              <a:rPr lang="ru-RU" sz="2400" dirty="0" smtClean="0"/>
              <a:t> должны быть последними в списке параметров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7591344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7664" y="1815878"/>
            <a:ext cx="5472608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1563" indent="-719138" algn="ctr">
              <a:spcBef>
                <a:spcPts val="1800"/>
              </a:spcBef>
            </a:pPr>
            <a:r>
              <a:rPr lang="ru-RU" sz="5400" b="1" dirty="0" smtClean="0">
                <a:solidFill>
                  <a:srgbClr val="7030A0"/>
                </a:solidFill>
              </a:rPr>
              <a:t>Функции </a:t>
            </a:r>
            <a:endParaRPr lang="en-US" sz="5400" b="1" dirty="0" smtClean="0">
              <a:solidFill>
                <a:srgbClr val="7030A0"/>
              </a:solidFill>
            </a:endParaRPr>
          </a:p>
          <a:p>
            <a:pPr marL="1071563" indent="-719138" algn="ctr">
              <a:spcBef>
                <a:spcPts val="1800"/>
              </a:spcBef>
            </a:pPr>
            <a:r>
              <a:rPr lang="ru-RU" sz="5400" b="1" dirty="0" smtClean="0">
                <a:solidFill>
                  <a:srgbClr val="7030A0"/>
                </a:solidFill>
              </a:rPr>
              <a:t>на языке </a:t>
            </a:r>
            <a:r>
              <a:rPr lang="en-US" sz="5400" b="1" dirty="0" smtClean="0">
                <a:solidFill>
                  <a:srgbClr val="7030A0"/>
                </a:solidFill>
              </a:rPr>
              <a:t>SQL</a:t>
            </a:r>
            <a:endParaRPr lang="ru-RU" sz="5400" b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49074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Функции  на языке</a:t>
            </a:r>
            <a:r>
              <a:rPr lang="en-US" sz="3600" b="1" dirty="0" smtClean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</a:t>
            </a: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 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1136933"/>
            <a:ext cx="88788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indent="-538163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SQL-функция выполняет </a:t>
            </a:r>
            <a:r>
              <a:rPr lang="ru-RU" sz="2400" dirty="0"/>
              <a:t>произвольный список операторов SQL </a:t>
            </a:r>
            <a:endParaRPr lang="ru-RU" sz="2400" dirty="0" smtClean="0"/>
          </a:p>
          <a:p>
            <a:pPr marL="538163" indent="-538163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Функция возвращает </a:t>
            </a:r>
            <a:r>
              <a:rPr lang="ru-RU" sz="2400" dirty="0"/>
              <a:t>результат последнего </a:t>
            </a:r>
            <a:r>
              <a:rPr lang="ru-RU" sz="2400" dirty="0" smtClean="0"/>
              <a:t>оператора запроса </a:t>
            </a:r>
            <a:r>
              <a:rPr lang="en-US" sz="2400" dirty="0" smtClean="0"/>
              <a:t>SELECT </a:t>
            </a:r>
            <a:r>
              <a:rPr lang="ru-RU" sz="2400" dirty="0" smtClean="0"/>
              <a:t>(первая </a:t>
            </a:r>
            <a:r>
              <a:rPr lang="ru-RU" sz="2400" dirty="0"/>
              <a:t>строка </a:t>
            </a:r>
            <a:r>
              <a:rPr lang="ru-RU" sz="2400" dirty="0" smtClean="0"/>
              <a:t>результата) </a:t>
            </a:r>
          </a:p>
          <a:p>
            <a:pPr marL="538163" algn="just"/>
            <a:r>
              <a:rPr lang="ru-RU" sz="2400" dirty="0" smtClean="0"/>
              <a:t>Если </a:t>
            </a:r>
            <a:r>
              <a:rPr lang="ru-RU" sz="2400" dirty="0"/>
              <a:t>последний запрос </a:t>
            </a:r>
            <a:r>
              <a:rPr lang="ru-RU" sz="2400" dirty="0" smtClean="0"/>
              <a:t>не возвращает строк, функция возвращает </a:t>
            </a:r>
            <a:r>
              <a:rPr lang="ru-RU" sz="2400" dirty="0"/>
              <a:t>значение </a:t>
            </a:r>
            <a:r>
              <a:rPr lang="ru-RU" sz="2400" dirty="0" smtClean="0"/>
              <a:t>NULL</a:t>
            </a:r>
            <a:endParaRPr lang="ru-RU" sz="2400" dirty="0"/>
          </a:p>
          <a:p>
            <a:pPr marL="538163" indent="-538163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Можно </a:t>
            </a:r>
            <a:r>
              <a:rPr lang="ru-RU" sz="2400" dirty="0"/>
              <a:t>объявить </a:t>
            </a:r>
            <a:r>
              <a:rPr lang="ru-RU" sz="2400" dirty="0" smtClean="0"/>
              <a:t>SQL-функцию</a:t>
            </a:r>
            <a:r>
              <a:rPr lang="en-US" sz="2400" dirty="0" smtClean="0"/>
              <a:t>,</a:t>
            </a:r>
            <a:r>
              <a:rPr lang="ru-RU" sz="2400" dirty="0" smtClean="0"/>
              <a:t> </a:t>
            </a:r>
            <a:r>
              <a:rPr lang="ru-RU" sz="2400" dirty="0"/>
              <a:t>возвращающую </a:t>
            </a:r>
            <a:r>
              <a:rPr lang="ru-RU" sz="2400" dirty="0" smtClean="0"/>
              <a:t>набор строк, </a:t>
            </a:r>
            <a:r>
              <a:rPr lang="ru-RU" sz="2400" dirty="0"/>
              <a:t>указав в качестве </a:t>
            </a:r>
            <a:r>
              <a:rPr lang="ru-RU" sz="2400" dirty="0" smtClean="0"/>
              <a:t>возвращаемого типа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   </a:t>
            </a:r>
          </a:p>
          <a:p>
            <a:pPr marL="1420813" indent="-342900" algn="just">
              <a:buFont typeface="Wingdings" panose="05000000000000000000" pitchFamily="2" charset="2"/>
              <a:buChar char="§"/>
            </a:pP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SETOF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20813" indent="-342900" algn="just">
              <a:buFont typeface="Wingdings" panose="05000000000000000000" pitchFamily="2" charset="2"/>
              <a:buChar char="§"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TABLE(столбцы)</a:t>
            </a:r>
            <a:r>
              <a:rPr lang="ru-RU" sz="2400" dirty="0" smtClean="0"/>
              <a:t> </a:t>
            </a:r>
          </a:p>
          <a:p>
            <a:pPr marL="538163" algn="just"/>
            <a:r>
              <a:rPr lang="ru-RU" sz="2400" dirty="0" smtClean="0"/>
              <a:t>В </a:t>
            </a:r>
            <a:r>
              <a:rPr lang="ru-RU" sz="2400" dirty="0"/>
              <a:t>этом случае будут возвращены все строки результата последнего </a:t>
            </a:r>
            <a:r>
              <a:rPr lang="ru-RU" sz="2400" dirty="0" smtClean="0"/>
              <a:t>запроса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2631077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Создание  функции </a:t>
            </a:r>
            <a:r>
              <a:rPr lang="en-US" sz="3600" b="1" dirty="0" smtClean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7741" y="1556792"/>
            <a:ext cx="84786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</a:t>
            </a:r>
          </a:p>
          <a:p>
            <a:pPr algn="just"/>
            <a:r>
              <a:rPr lang="ru-RU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(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список параметров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algn="just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ru-RU" sz="2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</a:p>
          <a:p>
            <a:pPr algn="just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8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ru-RU" sz="28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тело функции</a:t>
            </a:r>
            <a:endParaRPr lang="ru-RU" sz="28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9108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Тело  функции </a:t>
            </a:r>
            <a:r>
              <a:rPr lang="en-US" sz="3600" b="1" dirty="0" smtClean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980728"/>
            <a:ext cx="847868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Тело </a:t>
            </a:r>
            <a:r>
              <a:rPr lang="en-US" sz="2400" dirty="0" smtClean="0"/>
              <a:t>SQL </a:t>
            </a:r>
            <a:r>
              <a:rPr lang="ru-RU" sz="2400" dirty="0" smtClean="0"/>
              <a:t>функции  может содержать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>
              <a:spcBef>
                <a:spcPts val="1200"/>
              </a:spcBef>
            </a:pPr>
            <a:r>
              <a:rPr lang="ru-RU" sz="2400" dirty="0" smtClean="0"/>
              <a:t>1) </a:t>
            </a:r>
            <a:r>
              <a:rPr lang="ru-RU" sz="2400" dirty="0"/>
              <a:t>один оператор</a:t>
            </a:r>
          </a:p>
          <a:p>
            <a:pPr marL="1252538"/>
            <a:r>
              <a:rPr lang="en-US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ru-RU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выражение</a:t>
            </a:r>
            <a:endParaRPr lang="en-US" sz="2400" b="1" i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1325" indent="-441325">
              <a:spcBef>
                <a:spcPts val="600"/>
              </a:spcBef>
            </a:pPr>
            <a:r>
              <a:rPr lang="ru-RU" sz="2400" dirty="0" smtClean="0"/>
              <a:t>2) Оператор или блок операторов </a:t>
            </a:r>
            <a:r>
              <a:rPr lang="en-US" sz="2400" dirty="0" smtClean="0"/>
              <a:t>SQL</a:t>
            </a:r>
            <a:r>
              <a:rPr lang="ru-RU" sz="2400" dirty="0" smtClean="0"/>
              <a:t>, заключенные в апострофы или (предпочтительно) удвоенный знак доллара </a:t>
            </a:r>
            <a:endParaRPr lang="en-US" sz="24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611560" y="3668831"/>
            <a:ext cx="3816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$$</a:t>
            </a:r>
          </a:p>
          <a:p>
            <a:pPr marL="542925"/>
            <a:r>
              <a:rPr lang="ru-RU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оператор</a:t>
            </a:r>
            <a:r>
              <a:rPr lang="en-US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47675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9479" y="3140968"/>
            <a:ext cx="40324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$$</a:t>
            </a:r>
          </a:p>
          <a:p>
            <a:pPr marL="636588"/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ru-RU" sz="2400" b="1" i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6588"/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оператор</a:t>
            </a:r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SQL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636588"/>
            <a:r>
              <a:rPr lang="ru-RU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оператор</a:t>
            </a:r>
            <a:r>
              <a:rPr lang="en-US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636588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636588"/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оператор</a:t>
            </a:r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36588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7904" y="6115943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Точку </a:t>
            </a:r>
            <a:r>
              <a:rPr lang="ru-RU" sz="2200" dirty="0"/>
              <a:t>с запятой после последнего оператора </a:t>
            </a:r>
            <a:r>
              <a:rPr lang="ru-RU" sz="2200" dirty="0" smtClean="0"/>
              <a:t>можно не ставить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2077801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Вызов  функций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1784" y="4293096"/>
            <a:ext cx="79746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dirty="0"/>
              <a:t>Чтобы </a:t>
            </a:r>
            <a:r>
              <a:rPr lang="ru-RU" sz="2600" dirty="0" smtClean="0"/>
              <a:t>вызвать </a:t>
            </a:r>
            <a:r>
              <a:rPr lang="ru-RU" sz="2600" dirty="0"/>
              <a:t>функцию, необходимо иметь право 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XECUTE</a:t>
            </a:r>
            <a:r>
              <a:rPr lang="ru-RU" sz="2600" dirty="0"/>
              <a:t>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784" y="1412776"/>
            <a:ext cx="855069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Обращаться к функции (вызывать функцию) </a:t>
            </a:r>
            <a:r>
              <a:rPr lang="ru-RU" sz="2600" dirty="0"/>
              <a:t>можно</a:t>
            </a:r>
            <a:r>
              <a:rPr lang="en-US" sz="2600" dirty="0" smtClean="0"/>
              <a:t> </a:t>
            </a:r>
            <a:r>
              <a:rPr lang="ru-RU" sz="2600" dirty="0" smtClean="0"/>
              <a:t>в списке выбора оператора запроса </a:t>
            </a:r>
            <a:r>
              <a:rPr lang="en-US" sz="2600" dirty="0" smtClean="0"/>
              <a:t>SELECT</a:t>
            </a:r>
            <a:endParaRPr lang="ru-RU" sz="2600" dirty="0" smtClean="0"/>
          </a:p>
          <a:p>
            <a:endParaRPr lang="ru-RU" sz="2600" dirty="0"/>
          </a:p>
          <a:p>
            <a:pPr marL="363538"/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фактические параметры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600" dirty="0" smtClean="0"/>
          </a:p>
          <a:p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55023628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</a:t>
            </a:r>
            <a:r>
              <a:rPr lang="ru-RU" sz="3600" b="1" dirty="0"/>
              <a:t>ы</a:t>
            </a:r>
            <a:r>
              <a:rPr lang="ru-RU" sz="3600" b="1" dirty="0" smtClean="0"/>
              <a:t>  функций </a:t>
            </a:r>
            <a:r>
              <a:rPr lang="en-US" sz="3600" b="1" dirty="0" smtClean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1087570"/>
            <a:ext cx="8802216" cy="4262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dirty="0" smtClean="0"/>
              <a:t>Пример 1</a:t>
            </a:r>
            <a:r>
              <a:rPr lang="ru-RU" sz="2600" dirty="0" smtClean="0"/>
              <a:t>. Возврат результата </a:t>
            </a:r>
            <a:r>
              <a:rPr lang="en-US" sz="2600" dirty="0" smtClean="0"/>
              <a:t> </a:t>
            </a:r>
            <a:r>
              <a:rPr lang="ru-RU" sz="2600" dirty="0" smtClean="0"/>
              <a:t>базового типа</a:t>
            </a:r>
          </a:p>
          <a:p>
            <a:pPr>
              <a:spcBef>
                <a:spcPts val="600"/>
              </a:spcBef>
            </a:pP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oper_sum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 x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 y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LANGUAGE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$$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SELECT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+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$$</a:t>
            </a:r>
          </a:p>
          <a:p>
            <a:endParaRPr lang="en-US" sz="2400" dirty="0"/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oper_sum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(4,9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/>
              <a:t> </a:t>
            </a:r>
            <a:endParaRPr lang="ru-RU" sz="2400" dirty="0" smtClean="0"/>
          </a:p>
          <a:p>
            <a:endParaRPr lang="en-US" sz="2400" dirty="0" smtClean="0"/>
          </a:p>
          <a:p>
            <a:endParaRPr lang="ru-RU" sz="2400" dirty="0"/>
          </a:p>
        </p:txBody>
      </p:sp>
      <p:sp>
        <p:nvSpPr>
          <p:cNvPr id="3" name="Штриховая стрелка вправо 2"/>
          <p:cNvSpPr/>
          <p:nvPr/>
        </p:nvSpPr>
        <p:spPr>
          <a:xfrm>
            <a:off x="5508104" y="4221088"/>
            <a:ext cx="432048" cy="29246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46" y="3730373"/>
            <a:ext cx="1737138" cy="1248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104386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/>
              <a:t>Примеры  функций </a:t>
            </a:r>
            <a:r>
              <a:rPr lang="en-US" sz="3600" b="1" dirty="0"/>
              <a:t> </a:t>
            </a:r>
            <a:r>
              <a:rPr lang="en-US" sz="3600" b="1" dirty="0" smtClean="0"/>
              <a:t>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986" y="1052736"/>
            <a:ext cx="893801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spc="-100" dirty="0" smtClean="0">
                <a:latin typeface="+mj-lt"/>
                <a:cs typeface="Courier New" panose="02070309020205020404" pitchFamily="49" charset="0"/>
              </a:rPr>
              <a:t>Пример </a:t>
            </a:r>
            <a:r>
              <a:rPr lang="en-US" sz="2600" b="1" spc="-100" dirty="0" smtClean="0">
                <a:latin typeface="+mj-lt"/>
                <a:cs typeface="Courier New" panose="02070309020205020404" pitchFamily="49" charset="0"/>
              </a:rPr>
              <a:t> 2</a:t>
            </a:r>
            <a:r>
              <a:rPr lang="ru-RU" sz="2600" b="1" spc="-100" dirty="0" smtClean="0">
                <a:latin typeface="+mj-lt"/>
                <a:cs typeface="Courier New" panose="02070309020205020404" pitchFamily="49" charset="0"/>
              </a:rPr>
              <a:t>. </a:t>
            </a:r>
            <a:r>
              <a:rPr lang="ru-RU" sz="2600" spc="-100" dirty="0" smtClean="0">
                <a:latin typeface="+mj-lt"/>
                <a:cs typeface="Courier New" panose="02070309020205020404" pitchFamily="49" charset="0"/>
              </a:rPr>
              <a:t>Использование п</a:t>
            </a:r>
            <a:r>
              <a:rPr lang="ru-RU" sz="2800" dirty="0" smtClean="0"/>
              <a:t>араметров </a:t>
            </a:r>
            <a:r>
              <a:rPr lang="en-US" sz="2800" dirty="0" smtClean="0"/>
              <a:t> 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endParaRPr lang="ru-RU" sz="2800" b="1" dirty="0">
              <a:solidFill>
                <a:schemeClr val="tx1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ru-RU" sz="26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6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sum_def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</a:t>
            </a:r>
            <a:r>
              <a:rPr lang="en-US" sz="26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DEFAULT 2, </a:t>
            </a:r>
            <a:endParaRPr lang="en-US" sz="26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sz="26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6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sz="26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6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en-US" sz="26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$$</a:t>
            </a:r>
          </a:p>
          <a:p>
            <a:pPr algn="just"/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ru-RU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LECT</a:t>
            </a:r>
            <a:r>
              <a:rPr lang="ru-RU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ru-RU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6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$3</a:t>
            </a:r>
            <a:r>
              <a:rPr lang="ru-RU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6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6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$$;</a:t>
            </a:r>
            <a:endParaRPr lang="ru-RU" sz="26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48272" y="4778569"/>
            <a:ext cx="529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sum_def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20, 30);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0232" y="357301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6" name="Штриховая стрелка вправо 5"/>
          <p:cNvSpPr/>
          <p:nvPr/>
        </p:nvSpPr>
        <p:spPr>
          <a:xfrm>
            <a:off x="7740352" y="4900519"/>
            <a:ext cx="432048" cy="195699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8406680" y="4808186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60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502024" y="5426641"/>
            <a:ext cx="4590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sum_def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20);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Штриховая стрелка вправо 11"/>
          <p:cNvSpPr/>
          <p:nvPr/>
        </p:nvSpPr>
        <p:spPr>
          <a:xfrm>
            <a:off x="7740352" y="5548591"/>
            <a:ext cx="432048" cy="195699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460432" y="5456258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33</a:t>
            </a:r>
            <a:endParaRPr lang="ru-R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448272" y="6135687"/>
            <a:ext cx="4590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sum_def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(10);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Штриховая стрелка вправо 15"/>
          <p:cNvSpPr/>
          <p:nvPr/>
        </p:nvSpPr>
        <p:spPr>
          <a:xfrm>
            <a:off x="7740352" y="6268671"/>
            <a:ext cx="432048" cy="195699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8460432" y="6176338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15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6302981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8" grpId="0"/>
      <p:bldP spid="11" grpId="0"/>
      <p:bldP spid="12" grpId="0" animBg="1"/>
      <p:bldP spid="14" grpId="0"/>
      <p:bldP spid="15" grpId="0"/>
      <p:bldP spid="16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</a:t>
            </a:r>
            <a:r>
              <a:rPr lang="ru-RU" sz="3600" b="1" dirty="0"/>
              <a:t>ы</a:t>
            </a:r>
            <a:r>
              <a:rPr lang="ru-RU" sz="3600" b="1" dirty="0" smtClean="0"/>
              <a:t>  функций </a:t>
            </a:r>
            <a:r>
              <a:rPr lang="en-US" sz="3600" b="1" dirty="0" smtClean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908720"/>
            <a:ext cx="8802216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dirty="0" smtClean="0"/>
              <a:t>Пример </a:t>
            </a:r>
            <a:r>
              <a:rPr lang="en-US" sz="2600" b="1" dirty="0" smtClean="0"/>
              <a:t> 3</a:t>
            </a:r>
            <a:r>
              <a:rPr lang="ru-RU" sz="2600" dirty="0" smtClean="0"/>
              <a:t>. Возврат результата через параметры</a:t>
            </a:r>
          </a:p>
          <a:p>
            <a:pPr>
              <a:spcBef>
                <a:spcPts val="600"/>
              </a:spcBef>
            </a:pP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oper_em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 x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 y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</a:t>
            </a:r>
            <a:r>
              <a:rPr lang="en-US" sz="24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 </a:t>
            </a:r>
            <a:r>
              <a:rPr lang="en-US" sz="24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proizv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$$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SELECT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+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 x*y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$$</a:t>
            </a:r>
          </a:p>
          <a:p>
            <a:r>
              <a:rPr lang="ru-RU" sz="2400" dirty="0" smtClean="0"/>
              <a:t>Примечание. 1. Не указывается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</a:p>
          <a:p>
            <a:r>
              <a:rPr lang="ru-RU" sz="2400" dirty="0" smtClean="0"/>
              <a:t>2. Параметры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2400" dirty="0" smtClean="0"/>
              <a:t> </a:t>
            </a:r>
            <a:r>
              <a:rPr lang="ru-RU" sz="2400" dirty="0"/>
              <a:t>при вызове функции не </a:t>
            </a:r>
            <a:r>
              <a:rPr lang="ru-RU" sz="2400" dirty="0" smtClean="0"/>
              <a:t>указываются </a:t>
            </a:r>
            <a:endParaRPr lang="ru-RU" sz="2400" dirty="0"/>
          </a:p>
          <a:p>
            <a:endParaRPr lang="en-US" sz="2400" dirty="0"/>
          </a:p>
          <a:p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SELECT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oper_em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(4,9)</a:t>
            </a:r>
            <a:r>
              <a:rPr lang="en-US" sz="2400" dirty="0"/>
              <a:t> </a:t>
            </a:r>
            <a:endParaRPr lang="ru-RU" sz="2400" dirty="0" smtClean="0"/>
          </a:p>
          <a:p>
            <a:endParaRPr lang="en-US" sz="2400" dirty="0" smtClean="0"/>
          </a:p>
          <a:p>
            <a:pPr>
              <a:spcBef>
                <a:spcPts val="2400"/>
              </a:spcBef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SELECT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* FROM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oper_em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(4,9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dirty="0"/>
          </a:p>
        </p:txBody>
      </p:sp>
      <p:sp>
        <p:nvSpPr>
          <p:cNvPr id="3" name="Штриховая стрелка вправо 2"/>
          <p:cNvSpPr/>
          <p:nvPr/>
        </p:nvSpPr>
        <p:spPr>
          <a:xfrm>
            <a:off x="6372200" y="4788290"/>
            <a:ext cx="432048" cy="29246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Штриховая стрелка вправо 9"/>
          <p:cNvSpPr/>
          <p:nvPr/>
        </p:nvSpPr>
        <p:spPr>
          <a:xfrm>
            <a:off x="6372200" y="5872842"/>
            <a:ext cx="432048" cy="29246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767" y="4437112"/>
            <a:ext cx="1298673" cy="1245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740" y="5770365"/>
            <a:ext cx="1769740" cy="110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84584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Примеры  функций </a:t>
            </a:r>
            <a:r>
              <a:rPr lang="en-US" sz="3600" b="1" dirty="0" smtClean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1052736"/>
            <a:ext cx="847868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dirty="0" smtClean="0"/>
              <a:t>Пример </a:t>
            </a:r>
            <a:r>
              <a:rPr lang="en-US" sz="2600" b="1" dirty="0"/>
              <a:t> </a:t>
            </a:r>
            <a:r>
              <a:rPr lang="en-US" sz="2600" b="1" dirty="0" smtClean="0"/>
              <a:t>4</a:t>
            </a:r>
            <a:r>
              <a:rPr lang="ru-RU" sz="2600" b="1" dirty="0" smtClean="0"/>
              <a:t>.</a:t>
            </a:r>
            <a:r>
              <a:rPr lang="ru-RU" sz="2600" dirty="0" smtClean="0"/>
              <a:t> Возврат набора строк</a:t>
            </a:r>
          </a:p>
          <a:p>
            <a:pPr>
              <a:spcBef>
                <a:spcPts val="1200"/>
              </a:spcBef>
            </a:pP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pokupForAdr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(text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6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SETOF text </a:t>
            </a:r>
            <a:endParaRPr lang="en-US" sz="2600" b="1" dirty="0" smtClean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LANGUAGE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ru-RU" sz="26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pokup_name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pokupatel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WHERE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adr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$1 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4679" y="5013176"/>
            <a:ext cx="5814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pokupForAdr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Москва')</a:t>
            </a:r>
          </a:p>
        </p:txBody>
      </p:sp>
      <p:sp>
        <p:nvSpPr>
          <p:cNvPr id="6" name="Штриховая стрелка вправо 5"/>
          <p:cNvSpPr/>
          <p:nvPr/>
        </p:nvSpPr>
        <p:spPr>
          <a:xfrm>
            <a:off x="5868144" y="5085184"/>
            <a:ext cx="432048" cy="23083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196829"/>
            <a:ext cx="25050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886063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/>
              <a:t>Примеры  функций </a:t>
            </a:r>
            <a:r>
              <a:rPr lang="en-US" sz="3600" b="1" dirty="0"/>
              <a:t> 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350" indent="-6350" algn="ctr">
              <a:buNone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1105947"/>
            <a:ext cx="84786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600" b="1" dirty="0" smtClean="0"/>
              <a:t>Пример </a:t>
            </a:r>
            <a:r>
              <a:rPr lang="en-US" sz="2600" b="1" dirty="0" smtClean="0"/>
              <a:t> 5</a:t>
            </a:r>
            <a:r>
              <a:rPr lang="ru-RU" sz="2600" b="1" dirty="0" smtClean="0"/>
              <a:t>.</a:t>
            </a:r>
            <a:r>
              <a:rPr lang="ru-RU" sz="2600" dirty="0" smtClean="0"/>
              <a:t> Возврат таблицы</a:t>
            </a:r>
          </a:p>
          <a:p>
            <a:pPr>
              <a:spcBef>
                <a:spcPts val="1200"/>
              </a:spcBef>
            </a:pP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sales (price numeric)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TABLE(</a:t>
            </a:r>
            <a:r>
              <a:rPr lang="en-US" sz="2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numeric, </a:t>
            </a:r>
            <a:r>
              <a:rPr lang="en-US" sz="24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stoim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numeric)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LANGUAGE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$1 *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kol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kart; 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1784" y="4941168"/>
            <a:ext cx="444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SELECT * FROM sales(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0)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Штриховая стрелка вправо 5"/>
          <p:cNvSpPr/>
          <p:nvPr/>
        </p:nvSpPr>
        <p:spPr>
          <a:xfrm>
            <a:off x="5148064" y="5013176"/>
            <a:ext cx="504056" cy="23083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63" y="4149080"/>
            <a:ext cx="111442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566" y="4164310"/>
            <a:ext cx="10858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893518"/>
            <a:ext cx="10953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649112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Функции  с переменным  числом фактических параметров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340768"/>
            <a:ext cx="86409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Количество фактических значений параметра может быть переменным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Такой параметр должен быть последним и помечаться ключевым словом</a:t>
            </a:r>
            <a:r>
              <a:rPr lang="ru-RU" sz="2200" dirty="0"/>
              <a:t> </a:t>
            </a:r>
            <a:r>
              <a:rPr lang="ru-RU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VARIADIC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Все передаваемые значения должны быть одного типа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Значения будут </a:t>
            </a:r>
            <a:r>
              <a:rPr lang="ru-RU" sz="2200" dirty="0"/>
              <a:t>переданы </a:t>
            </a:r>
            <a:r>
              <a:rPr lang="ru-RU" sz="2200" dirty="0" smtClean="0"/>
              <a:t>функции </a:t>
            </a:r>
            <a:r>
              <a:rPr lang="ru-RU" sz="2200" dirty="0"/>
              <a:t>в виде </a:t>
            </a:r>
            <a:r>
              <a:rPr lang="ru-RU" sz="2200" dirty="0" smtClean="0"/>
              <a:t>массива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1784" y="3789040"/>
            <a:ext cx="8802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minnumb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VARIADIC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numeric[]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numeric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LANGUAGE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$$</a:t>
            </a: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min($1[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generate_subscripts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($1, 1)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g(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4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5776" y="6166465"/>
            <a:ext cx="5328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2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minnumb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(10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-5,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5, </a:t>
            </a:r>
            <a:r>
              <a:rPr lang="en-US" sz="2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-1)</a:t>
            </a:r>
            <a:endParaRPr lang="ru-RU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Штриховая стрелка вправо 5"/>
          <p:cNvSpPr/>
          <p:nvPr/>
        </p:nvSpPr>
        <p:spPr>
          <a:xfrm>
            <a:off x="7740352" y="6237893"/>
            <a:ext cx="576064" cy="21544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8532440" y="6093296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-5</a:t>
            </a:r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41784" y="3429000"/>
            <a:ext cx="2358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 </a:t>
            </a:r>
            <a:r>
              <a:rPr lang="en-US" sz="2400" b="1" dirty="0" smtClean="0"/>
              <a:t> 6</a:t>
            </a:r>
            <a:r>
              <a:rPr lang="ru-RU" sz="2400" b="1" dirty="0" smtClean="0"/>
              <a:t>.</a:t>
            </a:r>
            <a:endParaRPr lang="ru-RU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5589240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generate_subscripts</a:t>
            </a:r>
            <a:r>
              <a:rPr lang="en-US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spc="-100" dirty="0" smtClean="0">
                <a:cs typeface="Courier New" panose="02070309020205020404" pitchFamily="49" charset="0"/>
              </a:rPr>
              <a:t>генерирует индексы  для  аргумента (массива)</a:t>
            </a:r>
            <a:r>
              <a:rPr lang="en-US" spc="-100" dirty="0" smtClean="0">
                <a:cs typeface="Courier New" panose="02070309020205020404" pitchFamily="49" charset="0"/>
              </a:rPr>
              <a:t> </a:t>
            </a:r>
            <a:r>
              <a:rPr lang="ru-RU" spc="-100" dirty="0" smtClean="0">
                <a:cs typeface="Courier New" panose="02070309020205020404" pitchFamily="49" charset="0"/>
              </a:rPr>
              <a:t>по  </a:t>
            </a:r>
          </a:p>
          <a:p>
            <a:r>
              <a:rPr lang="ru-RU" spc="-100" dirty="0">
                <a:cs typeface="Courier New" panose="02070309020205020404" pitchFamily="49" charset="0"/>
              </a:rPr>
              <a:t> </a:t>
            </a:r>
            <a:r>
              <a:rPr lang="ru-RU" spc="-100" dirty="0" smtClean="0">
                <a:cs typeface="Courier New" panose="02070309020205020404" pitchFamily="49" charset="0"/>
              </a:rPr>
              <a:t>                                           1-му измерению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421766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 animBg="1"/>
      <p:bldP spid="8" grpId="0"/>
      <p:bldP spid="9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Тип результата </a:t>
            </a:r>
            <a:r>
              <a:rPr lang="en-US" sz="3600" b="1" dirty="0" smtClean="0"/>
              <a:t>  void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85689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/>
              <a:t>Если функция должна только выполнять действия</a:t>
            </a:r>
            <a:r>
              <a:rPr lang="ru-RU" sz="2800" dirty="0"/>
              <a:t>, но не </a:t>
            </a:r>
            <a:r>
              <a:rPr lang="ru-RU" sz="2800" dirty="0" smtClean="0"/>
              <a:t>возвращать результата, то указывают возвращаемый </a:t>
            </a:r>
            <a:r>
              <a:rPr lang="ru-RU" sz="2800" dirty="0"/>
              <a:t>тип </a:t>
            </a:r>
            <a:r>
              <a:rPr lang="ru-RU" sz="28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780928"/>
            <a:ext cx="87129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5100" indent="-1435100"/>
            <a:r>
              <a:rPr lang="ru-RU" sz="2400" b="1" dirty="0" smtClean="0"/>
              <a:t>Пример</a:t>
            </a:r>
            <a:r>
              <a:rPr lang="en-US" sz="2400" b="1" dirty="0" smtClean="0"/>
              <a:t>  7</a:t>
            </a:r>
            <a:r>
              <a:rPr lang="ru-RU" sz="2400" dirty="0" smtClean="0"/>
              <a:t>. Функция  удаляет сотрудника с заданным именем</a:t>
            </a:r>
          </a:p>
          <a:p>
            <a:pPr marL="1435100" indent="-143510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del_employee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(nm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varchar)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35100" indent="-143510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endParaRPr lang="en-US" sz="2400" b="1" dirty="0" smtClean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35100" indent="-143510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LANGUAGE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sql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35100" indent="-1435100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AS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  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435100" indent="-143510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DELETE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pPr marL="1435100" indent="-1435100"/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name=nm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435100" indent="-1435100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$$ 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75856" y="6197248"/>
            <a:ext cx="612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del_employee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Петров')</a:t>
            </a:r>
          </a:p>
        </p:txBody>
      </p:sp>
    </p:spTree>
    <p:extLst>
      <p:ext uri="{BB962C8B-B14F-4D97-AF65-F5344CB8AC3E}">
        <p14:creationId xmlns:p14="http://schemas.microsoft.com/office/powerpoint/2010/main" val="60077551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9632" y="1815877"/>
            <a:ext cx="69847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7938" algn="ctr"/>
            <a:r>
              <a:rPr lang="ru-RU" sz="5400" b="1" dirty="0" smtClean="0">
                <a:solidFill>
                  <a:srgbClr val="7030A0"/>
                </a:solidFill>
              </a:rPr>
              <a:t>Функции </a:t>
            </a:r>
            <a:endParaRPr lang="en-US" sz="5400" b="1" dirty="0" smtClean="0">
              <a:solidFill>
                <a:srgbClr val="7030A0"/>
              </a:solidFill>
            </a:endParaRPr>
          </a:p>
          <a:p>
            <a:pPr marL="360363" indent="-7938" algn="ctr"/>
            <a:r>
              <a:rPr lang="ru-RU" sz="5400" b="1" dirty="0" smtClean="0">
                <a:solidFill>
                  <a:srgbClr val="7030A0"/>
                </a:solidFill>
              </a:rPr>
              <a:t>на языке</a:t>
            </a:r>
            <a:r>
              <a:rPr lang="en-US" sz="5400" b="1" dirty="0" smtClean="0">
                <a:solidFill>
                  <a:srgbClr val="7030A0"/>
                </a:solidFill>
              </a:rPr>
              <a:t> PL/</a:t>
            </a:r>
            <a:r>
              <a:rPr lang="en-US" sz="5400" b="1" dirty="0" err="1" smtClean="0">
                <a:solidFill>
                  <a:srgbClr val="7030A0"/>
                </a:solidFill>
              </a:rPr>
              <a:t>pgSQL</a:t>
            </a:r>
            <a:endParaRPr lang="ru-RU" sz="5400" b="1" dirty="0" smtClean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5066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Функции на языке </a:t>
            </a:r>
            <a:r>
              <a:rPr lang="en-US" sz="3600" b="1" dirty="0" smtClean="0"/>
              <a:t> PL/</a:t>
            </a:r>
            <a:r>
              <a:rPr lang="en-US" sz="3600" b="1" dirty="0" err="1" smtClean="0"/>
              <a:t>pgSQL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1128392"/>
            <a:ext cx="8478688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600" dirty="0" smtClean="0"/>
              <a:t>PL</a:t>
            </a:r>
            <a:r>
              <a:rPr lang="en-US" sz="2600" dirty="0"/>
              <a:t>/</a:t>
            </a:r>
            <a:r>
              <a:rPr lang="ru-RU" sz="2600" dirty="0" err="1" smtClean="0"/>
              <a:t>pgSQL</a:t>
            </a:r>
            <a:r>
              <a:rPr lang="ru-RU" sz="2600" dirty="0"/>
              <a:t>  — это </a:t>
            </a:r>
            <a:r>
              <a:rPr lang="ru-RU" sz="2600" dirty="0" smtClean="0"/>
              <a:t>расширенный </a:t>
            </a:r>
            <a:r>
              <a:rPr lang="ru-RU" sz="2600" dirty="0"/>
              <a:t>процедурный язык для </a:t>
            </a:r>
            <a:r>
              <a:rPr lang="ru-RU" sz="2600" dirty="0" smtClean="0"/>
              <a:t>СУБД</a:t>
            </a:r>
            <a:r>
              <a:rPr lang="ru-RU" sz="2600" dirty="0"/>
              <a:t> </a:t>
            </a:r>
            <a:r>
              <a:rPr lang="ru-RU" sz="2600" dirty="0" err="1" smtClean="0"/>
              <a:t>PostgreSQL</a:t>
            </a:r>
            <a:r>
              <a:rPr lang="ru-RU" sz="2600" dirty="0" smtClean="0"/>
              <a:t> 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600" dirty="0"/>
              <a:t>PL</a:t>
            </a:r>
            <a:r>
              <a:rPr lang="en-US" sz="2600" dirty="0"/>
              <a:t>/</a:t>
            </a:r>
            <a:r>
              <a:rPr lang="ru-RU" sz="2600" dirty="0" err="1"/>
              <a:t>pgSQL</a:t>
            </a:r>
            <a:r>
              <a:rPr lang="ru-RU" sz="2600" dirty="0"/>
              <a:t> </a:t>
            </a:r>
            <a:r>
              <a:rPr lang="ru-RU" sz="2600" dirty="0" smtClean="0"/>
              <a:t> позволяет</a:t>
            </a:r>
            <a:r>
              <a:rPr lang="ru-RU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72548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>
                <a:cs typeface="Courier New" panose="02070309020205020404" pitchFamily="49" charset="0"/>
              </a:rPr>
              <a:t>д</a:t>
            </a:r>
            <a:r>
              <a:rPr lang="ru-RU" sz="2600" dirty="0" smtClean="0">
                <a:cs typeface="Courier New" panose="02070309020205020404" pitchFamily="49" charset="0"/>
              </a:rPr>
              <a:t>обавлять </a:t>
            </a:r>
            <a:r>
              <a:rPr lang="ru-RU" sz="2600" dirty="0"/>
              <a:t>управляющие структуры в язык </a:t>
            </a:r>
            <a:r>
              <a:rPr lang="ru-RU" sz="2600" dirty="0" smtClean="0"/>
              <a:t>SQL</a:t>
            </a:r>
          </a:p>
          <a:p>
            <a:pPr marL="72548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/>
              <a:t>выполнять сложные </a:t>
            </a:r>
            <a:r>
              <a:rPr lang="ru-RU" sz="2600" dirty="0" smtClean="0"/>
              <a:t>вычисления</a:t>
            </a:r>
          </a:p>
          <a:p>
            <a:pPr marL="725488" indent="-363538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2600" dirty="0">
                <a:cs typeface="Courier New" panose="02070309020205020404" pitchFamily="49" charset="0"/>
              </a:rPr>
              <a:t>с</a:t>
            </a:r>
            <a:r>
              <a:rPr lang="ru-RU" sz="2600" dirty="0" smtClean="0">
                <a:cs typeface="Courier New" panose="02070309020205020404" pitchFamily="49" charset="0"/>
              </a:rPr>
              <a:t>оздавать процедуры, функции, триггеры</a:t>
            </a:r>
            <a:endParaRPr lang="ru-RU" sz="26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324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Создание  функции </a:t>
            </a:r>
            <a:r>
              <a:rPr lang="en-US" sz="3600" b="1" dirty="0" smtClean="0"/>
              <a:t> PL/</a:t>
            </a:r>
            <a:r>
              <a:rPr lang="en-US" sz="3600" b="1" dirty="0" err="1" smtClean="0"/>
              <a:t>pgSQL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7741" y="1556792"/>
            <a:ext cx="84786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FUNCTION 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</a:t>
            </a:r>
          </a:p>
          <a:p>
            <a:pPr algn="just"/>
            <a:r>
              <a:rPr lang="ru-RU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(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список параметров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algn="just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ru-RU" sz="28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</a:p>
          <a:p>
            <a:pPr algn="just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8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endParaRPr lang="ru-RU" sz="2800" b="1" dirty="0" smtClean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ru-RU" sz="28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тело функции</a:t>
            </a:r>
            <a:endParaRPr lang="ru-RU" sz="28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04472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Тело функции на языке </a:t>
            </a:r>
            <a:r>
              <a:rPr lang="en-US" sz="3600" b="1" dirty="0" smtClean="0"/>
              <a:t> PL/</a:t>
            </a:r>
            <a:r>
              <a:rPr lang="en-US" sz="3600" b="1" dirty="0" err="1" smtClean="0"/>
              <a:t>pgSQL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84" y="1128392"/>
            <a:ext cx="8802216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600" dirty="0" smtClean="0"/>
              <a:t>PL</a:t>
            </a:r>
            <a:r>
              <a:rPr lang="en-US" sz="2600" dirty="0"/>
              <a:t>/</a:t>
            </a:r>
            <a:r>
              <a:rPr lang="ru-RU" sz="2600" dirty="0" err="1" smtClean="0"/>
              <a:t>pgSQL</a:t>
            </a:r>
            <a:r>
              <a:rPr lang="ru-RU" sz="2600" dirty="0"/>
              <a:t> это блочно-структурированный </a:t>
            </a:r>
            <a:r>
              <a:rPr lang="ru-RU" sz="2600" dirty="0" smtClean="0"/>
              <a:t>язык</a:t>
            </a:r>
            <a:endParaRPr lang="en-US" sz="2600" dirty="0" smtClean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600" dirty="0" smtClean="0"/>
              <a:t>Тело </a:t>
            </a:r>
            <a:r>
              <a:rPr lang="ru-RU" sz="2600" dirty="0"/>
              <a:t>функции </a:t>
            </a:r>
            <a:r>
              <a:rPr lang="ru-RU" sz="2600" dirty="0" smtClean="0"/>
              <a:t>должно </a:t>
            </a:r>
            <a:r>
              <a:rPr lang="ru-RU" sz="2600" dirty="0"/>
              <a:t>быть </a:t>
            </a:r>
            <a:r>
              <a:rPr lang="ru-RU" sz="2600" dirty="0" smtClean="0"/>
              <a:t>блоком </a:t>
            </a:r>
          </a:p>
          <a:p>
            <a:pPr marL="812800">
              <a:spcBef>
                <a:spcPts val="1200"/>
              </a:spcBef>
            </a:pPr>
            <a:r>
              <a:rPr lang="ru-RU" sz="2600" dirty="0" smtClean="0"/>
              <a:t>Структура </a:t>
            </a:r>
            <a:r>
              <a:rPr lang="ru-RU" sz="2600" dirty="0"/>
              <a:t>блока</a:t>
            </a:r>
            <a:r>
              <a:rPr lang="ru-RU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812800">
              <a:spcBef>
                <a:spcPts val="600"/>
              </a:spcBef>
            </a:pP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   </a:t>
            </a:r>
          </a:p>
          <a:p>
            <a:pPr marL="812800"/>
            <a:r>
              <a:rPr lang="ru-RU" sz="28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8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объявления</a:t>
            </a:r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12800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   </a:t>
            </a:r>
          </a:p>
          <a:p>
            <a:pPr marL="812800"/>
            <a:r>
              <a:rPr lang="ru-RU" sz="28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8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</a:t>
            </a:r>
            <a:r>
              <a:rPr lang="ru-RU" sz="28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ператоры</a:t>
            </a:r>
          </a:p>
          <a:p>
            <a:pPr marL="812800"/>
            <a:r>
              <a:rPr lang="ru-RU" sz="28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END;</a:t>
            </a:r>
            <a:endParaRPr lang="ru-RU" sz="28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4941168"/>
            <a:ext cx="82089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Каждое объявление и каждый оператор должен завершаться «точкой с запятой»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600" dirty="0" smtClean="0"/>
              <a:t>Оператор  блока может быть также блоком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1823346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724" y="4646825"/>
            <a:ext cx="49149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Примеры  функций </a:t>
            </a:r>
            <a:r>
              <a:rPr lang="en-US" sz="3600" b="1" dirty="0" smtClean="0"/>
              <a:t> PL/</a:t>
            </a:r>
            <a:r>
              <a:rPr lang="en-US" sz="3600" b="1" dirty="0" err="1" smtClean="0"/>
              <a:t>pgSQL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980728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Пример 1</a:t>
            </a:r>
            <a:r>
              <a:rPr lang="ru-RU" sz="2400" dirty="0" smtClean="0"/>
              <a:t>. </a:t>
            </a:r>
            <a:r>
              <a:rPr lang="ru-RU" sz="2400" dirty="0"/>
              <a:t>Возврат набора </a:t>
            </a:r>
            <a:r>
              <a:rPr lang="ru-RU" sz="2400" dirty="0" smtClean="0"/>
              <a:t>строк</a:t>
            </a:r>
            <a:r>
              <a:rPr lang="en-US" sz="2400" dirty="0" smtClean="0"/>
              <a:t> (</a:t>
            </a:r>
            <a:r>
              <a:rPr lang="ru-RU" sz="2400" dirty="0" smtClean="0"/>
              <a:t>тип – имя таблицы)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REPLACE FUNCTION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get_all_pok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SETOF </a:t>
            </a:r>
            <a:r>
              <a:rPr lang="en-US" sz="22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pokupatel</a:t>
            </a:r>
            <a:endParaRPr lang="en-US" sz="2200" b="1" dirty="0" smtClean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LANGUAGE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endParaRPr lang="ru-RU" sz="2200" dirty="0"/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pokupatel%rowtype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IN SELECT * FROM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pokupatel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LOOP</a:t>
            </a:r>
          </a:p>
          <a:p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RETURN NEXT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r; </a:t>
            </a:r>
            <a:r>
              <a:rPr lang="en-US" sz="2200" spc="-100" dirty="0">
                <a:latin typeface="+mj-lt"/>
                <a:cs typeface="Courier New" panose="02070309020205020404" pitchFamily="49" charset="0"/>
              </a:rPr>
              <a:t>-- </a:t>
            </a:r>
            <a:r>
              <a:rPr lang="ru-RU" sz="2200" spc="-100" dirty="0" smtClean="0">
                <a:latin typeface="+mj-lt"/>
                <a:cs typeface="Courier New" panose="02070309020205020404" pitchFamily="49" charset="0"/>
              </a:rPr>
              <a:t>возврат текущей строки</a:t>
            </a: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 LOOP; </a:t>
            </a:r>
            <a:endParaRPr lang="en-US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22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</a:p>
        </p:txBody>
      </p:sp>
      <p:sp>
        <p:nvSpPr>
          <p:cNvPr id="3" name="Штриховая стрелка вправо 2"/>
          <p:cNvSpPr/>
          <p:nvPr/>
        </p:nvSpPr>
        <p:spPr>
          <a:xfrm>
            <a:off x="4434506" y="5607273"/>
            <a:ext cx="504056" cy="25080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-36512" y="5517232"/>
            <a:ext cx="47885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sz="2200" b="1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get_all_pok</a:t>
            </a:r>
            <a:r>
              <a:rPr lang="en-US" sz="22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ru-RU" sz="2200" b="1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6662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705" y="4710190"/>
            <a:ext cx="29146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Примеры  функций </a:t>
            </a:r>
            <a:r>
              <a:rPr lang="en-US" sz="3600" b="1" dirty="0"/>
              <a:t>PL/</a:t>
            </a:r>
            <a:r>
              <a:rPr lang="en-US" sz="3600" b="1" dirty="0" err="1"/>
              <a:t>pgSQL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544" y="980728"/>
            <a:ext cx="82626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Пример 2</a:t>
            </a:r>
            <a:r>
              <a:rPr lang="ru-RU" sz="2400" dirty="0"/>
              <a:t>. Другой вариант возврата набора строк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REPLACE FUNCTION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getPokByAdr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(text) 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RETURNS TABLE(</a:t>
            </a:r>
            <a:r>
              <a:rPr lang="en-US" sz="2400" b="1" spc="-100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kod</a:t>
            </a:r>
            <a:r>
              <a:rPr lang="en-US" sz="2400" b="1" spc="-100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spc="-100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name varchar)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LANGUAGE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spc="-100" dirty="0"/>
              <a:t/>
            </a:r>
            <a:br>
              <a:rPr lang="en-US" sz="2400" spc="-100" dirty="0"/>
            </a:b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$$ 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QUERY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pokup_kod,pokup_name</a:t>
            </a:r>
            <a:endParaRPr lang="en-US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FROM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pokupatel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WHERE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adr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=$1;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</a:p>
          <a:p>
            <a:endParaRPr lang="ru-RU" sz="2400" spc="-100" dirty="0"/>
          </a:p>
        </p:txBody>
      </p:sp>
      <p:sp>
        <p:nvSpPr>
          <p:cNvPr id="3" name="Штриховая стрелка вправо 2"/>
          <p:cNvSpPr/>
          <p:nvPr/>
        </p:nvSpPr>
        <p:spPr>
          <a:xfrm>
            <a:off x="5652120" y="5301208"/>
            <a:ext cx="504056" cy="25080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-36512" y="5229200"/>
            <a:ext cx="60126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sz="2200" b="1" spc="-1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getPokByAdr</a:t>
            </a:r>
            <a:r>
              <a:rPr lang="en-US" sz="22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22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Москва')</a:t>
            </a:r>
          </a:p>
        </p:txBody>
      </p:sp>
    </p:spTree>
    <p:extLst>
      <p:ext uri="{BB962C8B-B14F-4D97-AF65-F5344CB8AC3E}">
        <p14:creationId xmlns:p14="http://schemas.microsoft.com/office/powerpoint/2010/main" val="16849873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400" b="1" dirty="0" smtClean="0"/>
              <a:t>Преимущества использования </a:t>
            </a:r>
            <a:r>
              <a:rPr lang="en-US" sz="3400" b="1" dirty="0" smtClean="0"/>
              <a:t>PL/</a:t>
            </a:r>
            <a:r>
              <a:rPr lang="en-US" sz="3400" b="1" dirty="0" err="1" smtClean="0"/>
              <a:t>pgSQL</a:t>
            </a:r>
            <a:endParaRPr lang="ru-RU" sz="3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544" y="1164808"/>
            <a:ext cx="842493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К</a:t>
            </a:r>
            <a:r>
              <a:rPr lang="ru-RU" sz="2400" dirty="0" smtClean="0"/>
              <a:t>аждый </a:t>
            </a:r>
            <a:r>
              <a:rPr lang="ru-RU" sz="2400" dirty="0"/>
              <a:t>оператор SQL </a:t>
            </a:r>
            <a:r>
              <a:rPr lang="ru-RU" sz="2400" dirty="0" smtClean="0"/>
              <a:t>выполняется </a:t>
            </a:r>
            <a:r>
              <a:rPr lang="ru-RU" sz="2400" dirty="0"/>
              <a:t>сервером </a:t>
            </a:r>
            <a:r>
              <a:rPr lang="ru-RU" sz="2400" dirty="0" smtClean="0"/>
              <a:t>БД отдельно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PL/</a:t>
            </a:r>
            <a:r>
              <a:rPr lang="ru-RU" sz="2400" dirty="0" err="1"/>
              <a:t>pgSQL</a:t>
            </a:r>
            <a:r>
              <a:rPr lang="ru-RU" sz="2400" dirty="0"/>
              <a:t> </a:t>
            </a:r>
            <a:r>
              <a:rPr lang="ru-RU" sz="2400" dirty="0" smtClean="0"/>
              <a:t>позволяет </a:t>
            </a:r>
            <a:r>
              <a:rPr lang="ru-RU" sz="2400" dirty="0"/>
              <a:t>сгруппировать </a:t>
            </a:r>
            <a:r>
              <a:rPr lang="ru-RU" sz="2400" dirty="0" smtClean="0"/>
              <a:t>отдельные операторы в блок вычислений, который выполняется одним запросом к серверу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Это </a:t>
            </a:r>
            <a:r>
              <a:rPr lang="ru-RU" sz="2400" dirty="0" smtClean="0"/>
              <a:t>позволяет повысить производительность </a:t>
            </a:r>
            <a:r>
              <a:rPr lang="ru-RU" sz="2400" dirty="0"/>
              <a:t>по сравнению </a:t>
            </a:r>
            <a:r>
              <a:rPr lang="ru-RU" sz="2400" dirty="0" smtClean="0"/>
              <a:t>выполнением запросов из программных приложений</a:t>
            </a:r>
            <a:endParaRPr lang="ru-RU" sz="2400" spc="-100" dirty="0"/>
          </a:p>
        </p:txBody>
      </p:sp>
    </p:spTree>
    <p:extLst>
      <p:ext uri="{BB962C8B-B14F-4D97-AF65-F5344CB8AC3E}">
        <p14:creationId xmlns:p14="http://schemas.microsoft.com/office/powerpoint/2010/main" val="49758816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1680" y="980728"/>
            <a:ext cx="4680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71563" indent="-719138" algn="just">
              <a:spcBef>
                <a:spcPts val="1800"/>
              </a:spcBef>
            </a:pPr>
            <a:r>
              <a:rPr lang="ru-RU" sz="5400" b="1" dirty="0" smtClean="0">
                <a:solidFill>
                  <a:srgbClr val="7030A0"/>
                </a:solidFill>
              </a:rPr>
              <a:t>Процедуры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6792" y="3501008"/>
            <a:ext cx="3117207" cy="3356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341784" y="2924944"/>
            <a:ext cx="4302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могут поддерживать транзакции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ru-RU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400" dirty="0"/>
              <a:t>м</a:t>
            </a:r>
            <a:r>
              <a:rPr lang="ru-RU" sz="2400" dirty="0" smtClean="0"/>
              <a:t>огут возвращать результат только через параметры </a:t>
            </a:r>
            <a:r>
              <a:rPr lang="en-US" sz="2400" dirty="0" smtClean="0"/>
              <a:t>out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41784" y="2257708"/>
            <a:ext cx="7182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В отличие от функции процедуры</a:t>
            </a:r>
            <a:r>
              <a:rPr lang="ru-RU" sz="2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5120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Создание  процедур</a:t>
            </a:r>
            <a:endParaRPr lang="ru-RU" sz="3600" b="1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1196752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[OR REPLACE]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PROCEDURE </a:t>
            </a:r>
            <a:r>
              <a:rPr lang="ru-RU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([&lt;список формальных параметров&gt;])</a:t>
            </a:r>
            <a:endParaRPr lang="ru-RU" sz="24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 smtClean="0">
                <a:solidFill>
                  <a:srgbClr val="7030A0"/>
                </a:solidFill>
              </a:rPr>
              <a:t>	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язык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 </a:t>
            </a:r>
          </a:p>
          <a:p>
            <a:r>
              <a:rPr lang="en-US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-- </a:t>
            </a:r>
            <a:r>
              <a:rPr lang="ru-RU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объявление переменных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400" b="1" i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операторы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</a:t>
            </a:r>
            <a:endParaRPr lang="ru-RU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834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Вызов  процедуры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052736"/>
            <a:ext cx="864096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400" dirty="0" smtClean="0"/>
              <a:t>Вызвать процедуру может пользователь, имеющий право выполнения данной процедуры (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ru-RU" sz="2400" dirty="0" smtClean="0"/>
              <a:t>) </a:t>
            </a:r>
          </a:p>
          <a:p>
            <a:pPr algn="just">
              <a:spcBef>
                <a:spcPts val="600"/>
              </a:spcBef>
            </a:pPr>
            <a:r>
              <a:rPr lang="ru-RU" sz="2400" dirty="0" smtClean="0"/>
              <a:t>Вызов может быть выполнен как из прикладной программы, так и из триггера или другой процедуры</a:t>
            </a:r>
          </a:p>
          <a:p>
            <a:pPr algn="just">
              <a:spcBef>
                <a:spcPts val="600"/>
              </a:spcBef>
            </a:pPr>
            <a:r>
              <a:rPr lang="ru-RU" sz="2400" dirty="0" smtClean="0"/>
              <a:t>Вызов выполняется оператором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</a:t>
            </a:r>
            <a:r>
              <a:rPr lang="ru-RU" sz="2400" dirty="0" smtClean="0"/>
              <a:t>, который имеет два формата: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23528" y="3527717"/>
            <a:ext cx="882047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ru-RU" sz="2400" dirty="0" smtClean="0"/>
              <a:t>  позиционная передача параметров</a:t>
            </a:r>
            <a:r>
              <a:rPr lang="ru-RU" sz="2400" b="1" dirty="0" smtClean="0"/>
              <a:t> </a:t>
            </a:r>
            <a:endParaRPr lang="ru-RU" sz="2400" dirty="0" smtClean="0"/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CALL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имя процедуры (выражение1,выражение2,…) </a:t>
            </a:r>
            <a:endParaRPr lang="ru-RU" sz="2200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ru-RU" sz="2400" dirty="0" smtClean="0"/>
              <a:t>  передача параметров</a:t>
            </a:r>
            <a:r>
              <a:rPr lang="ru-RU" sz="2400" b="1" dirty="0" smtClean="0"/>
              <a:t> по имени</a:t>
            </a:r>
            <a:endParaRPr lang="ru-RU" sz="2400" dirty="0" smtClean="0"/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CALL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имя процедуры(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имяФормальногоПараметра1 =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выражение1, 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имяФормальногоПараметра2 =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выражение2,…) </a:t>
            </a:r>
            <a:endParaRPr lang="ru-RU" sz="2400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19622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Пример  процедуры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879103"/>
            <a:ext cx="864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400" dirty="0" smtClean="0"/>
              <a:t>Перевод средств с одного счета на другой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784" y="1340768"/>
            <a:ext cx="86947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 replace procedure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transfer(sender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receiver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amount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language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plpgsql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$$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снятие средств со счета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sender</a:t>
            </a: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accounts set balance = balance - amount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400" b="1" spc="-1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schet_id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sender;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 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зачисление средств на счет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receiver</a:t>
            </a:r>
            <a:endParaRPr lang="ru-RU" sz="2400" b="1" spc="-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accounts set balance = balance + amount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schet_id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receiver; 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;$$</a:t>
            </a:r>
            <a:endParaRPr lang="ru-RU" sz="2400" b="1" spc="-100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27584" y="5517232"/>
            <a:ext cx="878497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spc="-100" dirty="0" smtClean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spc="-100" dirty="0" smtClean="0">
                <a:latin typeface="+mj-lt"/>
                <a:cs typeface="Courier New" panose="02070309020205020404" pitchFamily="49" charset="0"/>
              </a:rPr>
              <a:t>Вызов процедуры</a:t>
            </a:r>
            <a:r>
              <a:rPr lang="ru-RU" sz="2400" b="1" spc="-100" dirty="0" smtClean="0">
                <a:latin typeface="+mj-lt"/>
                <a:cs typeface="Courier New" panose="02070309020205020404" pitchFamily="49" charset="0"/>
              </a:rPr>
              <a:t>     </a:t>
            </a:r>
            <a:r>
              <a:rPr lang="en-US" sz="22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 </a:t>
            </a:r>
            <a:r>
              <a:rPr lang="en-US" sz="22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transfer(1,2,1000</a:t>
            </a:r>
            <a:r>
              <a:rPr lang="en-US" sz="22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22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2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или</a:t>
            </a:r>
            <a:endParaRPr lang="ru-RU" sz="2200" b="1" spc="-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2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2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 transfer(receiver=&gt;2,sender=&gt;1,amount=&gt;</a:t>
            </a:r>
            <a:r>
              <a:rPr lang="en-US" sz="2200" b="1" spc="-1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en-US" sz="2200" b="1" spc="-1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           </a:t>
            </a:r>
            <a:r>
              <a:rPr lang="en-US" sz="22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2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8222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 smtClean="0"/>
              <a:t>Отличия функций и процедур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78823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72816"/>
            <a:ext cx="8616447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48880"/>
            <a:ext cx="8616447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84984"/>
            <a:ext cx="8616447" cy="10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3" y="4370428"/>
            <a:ext cx="8598192" cy="86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650346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432048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Вопросы</a:t>
            </a:r>
            <a:endParaRPr lang="ru-RU" sz="3600" dirty="0">
              <a:solidFill>
                <a:srgbClr val="C00000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32656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Подпрограммы</a:t>
            </a:r>
            <a:r>
              <a:rPr lang="ru-RU" sz="44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016" y="962719"/>
            <a:ext cx="889248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Назовите виды формальных параметров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Как вызвать функцию ?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Что может вернуть функция в </a:t>
            </a:r>
            <a:r>
              <a:rPr lang="ru-RU" sz="2400" smtClean="0"/>
              <a:t>качестве результата </a:t>
            </a:r>
            <a:r>
              <a:rPr lang="ru-RU" sz="2400" dirty="0" smtClean="0"/>
              <a:t>? 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Как вызвать процедуру ?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>
                <a:latin typeface="+mj-lt"/>
                <a:cs typeface="Courier New" pitchFamily="49" charset="0"/>
              </a:rPr>
              <a:t>Какое право должен иметь пользователь для выполнения процедуры или функции ?</a:t>
            </a:r>
            <a:endParaRPr lang="ru-RU" sz="2400" dirty="0" smtClean="0">
              <a:latin typeface="Courier New" pitchFamily="49" charset="0"/>
              <a:cs typeface="Courier New" pitchFamily="49" charset="0"/>
            </a:endParaRP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ru-RU" sz="2400" dirty="0" smtClean="0"/>
              <a:t>Где можно использовать вызов процедуры ?</a:t>
            </a:r>
          </a:p>
          <a:p>
            <a:pPr marL="457200" indent="-457200" algn="just">
              <a:spcBef>
                <a:spcPts val="600"/>
              </a:spcBef>
              <a:buAutoNum type="arabicPeriod" startAt="9"/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62644899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13117</TotalTime>
  <Words>1516</Words>
  <Application>Microsoft Office PowerPoint</Application>
  <PresentationFormat>Экран (4:3)</PresentationFormat>
  <Paragraphs>411</Paragraphs>
  <Slides>40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1" baseType="lpstr">
      <vt:lpstr>Открытая</vt:lpstr>
      <vt:lpstr>Презентация PowerPoint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 Подпрограммы  </vt:lpstr>
      <vt:lpstr>       Подпрограммы  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 Подпрограммы  </vt:lpstr>
      <vt:lpstr>  Подпрограммы  </vt:lpstr>
      <vt:lpstr>  Подпрограммы  </vt:lpstr>
      <vt:lpstr> 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</vt:lpstr>
      <vt:lpstr>  Подпрограммы 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1077</cp:revision>
  <dcterms:created xsi:type="dcterms:W3CDTF">2020-10-04T20:01:59Z</dcterms:created>
  <dcterms:modified xsi:type="dcterms:W3CDTF">2025-11-27T22:01:57Z</dcterms:modified>
</cp:coreProperties>
</file>