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26"/>
  </p:notesMasterIdLst>
  <p:sldIdLst>
    <p:sldId id="256" r:id="rId2"/>
    <p:sldId id="435" r:id="rId3"/>
    <p:sldId id="360" r:id="rId4"/>
    <p:sldId id="380" r:id="rId5"/>
    <p:sldId id="438" r:id="rId6"/>
    <p:sldId id="448" r:id="rId7"/>
    <p:sldId id="446" r:id="rId8"/>
    <p:sldId id="439" r:id="rId9"/>
    <p:sldId id="440" r:id="rId10"/>
    <p:sldId id="382" r:id="rId11"/>
    <p:sldId id="384" r:id="rId12"/>
    <p:sldId id="383" r:id="rId13"/>
    <p:sldId id="385" r:id="rId14"/>
    <p:sldId id="447" r:id="rId15"/>
    <p:sldId id="436" r:id="rId16"/>
    <p:sldId id="437" r:id="rId17"/>
    <p:sldId id="441" r:id="rId18"/>
    <p:sldId id="442" r:id="rId19"/>
    <p:sldId id="449" r:id="rId20"/>
    <p:sldId id="443" r:id="rId21"/>
    <p:sldId id="444" r:id="rId22"/>
    <p:sldId id="445" r:id="rId23"/>
    <p:sldId id="434" r:id="rId24"/>
    <p:sldId id="300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AD244CC-479B-4B89-92BE-6A6902309343}">
          <p14:sldIdLst>
            <p14:sldId id="256"/>
            <p14:sldId id="435"/>
            <p14:sldId id="360"/>
            <p14:sldId id="380"/>
            <p14:sldId id="438"/>
            <p14:sldId id="448"/>
            <p14:sldId id="446"/>
            <p14:sldId id="439"/>
            <p14:sldId id="440"/>
            <p14:sldId id="382"/>
            <p14:sldId id="384"/>
            <p14:sldId id="383"/>
            <p14:sldId id="385"/>
            <p14:sldId id="447"/>
            <p14:sldId id="436"/>
            <p14:sldId id="437"/>
            <p14:sldId id="441"/>
            <p14:sldId id="442"/>
            <p14:sldId id="449"/>
            <p14:sldId id="443"/>
            <p14:sldId id="444"/>
            <p14:sldId id="445"/>
            <p14:sldId id="434"/>
            <p14:sldId id="300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*" initials="*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0" autoAdjust="0"/>
    <p:restoredTop sz="94603" autoAdjust="0"/>
  </p:normalViewPr>
  <p:slideViewPr>
    <p:cSldViewPr>
      <p:cViewPr varScale="1">
        <p:scale>
          <a:sx n="72" d="100"/>
          <a:sy n="72" d="100"/>
        </p:scale>
        <p:origin x="-90" y="-3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0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758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3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4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21.11.2025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96BF5D9-4AA4-4C09-9DDB-303A09193B8E}" type="datetime1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7F000A-7D59-434E-AC61-119968F2B181}" type="datetime1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064F22-7D92-426D-8147-B259567C005D}" type="datetime1">
              <a:rPr lang="ru-RU" smtClean="0"/>
              <a:pPr/>
              <a:t>21.11.2025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6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444296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07006A-42FB-4BC3-8D0B-713D278FD97D}" type="datetime1">
              <a:rPr lang="ru-RU" smtClean="0"/>
              <a:pPr/>
              <a:t>21.11.2025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EFC4BB-C5DC-4A55-BF0D-F172948F6FC2}" type="datetime1">
              <a:rPr lang="ru-RU" smtClean="0"/>
              <a:pPr/>
              <a:t>21.11.2025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4858C2-66E3-4491-95E8-5725A7BF1DCF}" type="datetime1">
              <a:rPr lang="ru-RU" smtClean="0"/>
              <a:pPr/>
              <a:t>21.11.2025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F5AACCE-C039-4A73-A245-28F9A6C03767}" type="datetime1">
              <a:rPr lang="ru-RU" smtClean="0"/>
              <a:pPr/>
              <a:t>21.11.2025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21.11.2025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3" y="6407946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1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31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B76A5B-76D6-43F4-92BC-16DA687A9C7B}" type="datetime1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2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0B88BDA-C263-49AF-85CF-10CFC68679A3}" type="datetime1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30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21.11.2025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3" y="6407946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6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47664" y="1196752"/>
            <a:ext cx="6400800" cy="3528392"/>
          </a:xfr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</a:pPr>
            <a:r>
              <a:rPr lang="ru-RU" sz="5400" b="1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Лекция </a:t>
            </a:r>
            <a:r>
              <a:rPr lang="ru-RU" sz="5400" b="1" smtClean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1</a:t>
            </a:r>
            <a:r>
              <a:rPr lang="ru-RU" sz="5400" b="1" dirty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4</a:t>
            </a:r>
            <a:endParaRPr lang="en-US" sz="5400" b="1" dirty="0">
              <a:solidFill>
                <a:schemeClr val="bg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/>
            <a:endParaRPr lang="en-US" sz="5400" b="1" dirty="0" smtClean="0"/>
          </a:p>
          <a:p>
            <a:pPr algn="ctr"/>
            <a:r>
              <a:rPr lang="ru-RU" sz="5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Представления</a:t>
            </a:r>
          </a:p>
          <a:p>
            <a:pPr algn="ctr"/>
            <a:endParaRPr lang="ru-RU" sz="2400" b="1" dirty="0" smtClean="0">
              <a:solidFill>
                <a:srgbClr val="7030A0"/>
              </a:solidFill>
            </a:endParaRPr>
          </a:p>
        </p:txBody>
      </p:sp>
      <p:pic>
        <p:nvPicPr>
          <p:cNvPr id="6" name="Рисунок 5" descr="Логотип АСОИиУ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02038" cy="175861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216869" y="648866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ru-RU" b="1" dirty="0" smtClean="0">
                <a:solidFill>
                  <a:srgbClr val="7030A0"/>
                </a:solidFill>
              </a:rPr>
              <a:t>©Монахов В.И.</a:t>
            </a:r>
            <a:endParaRPr lang="ru-RU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 smtClean="0">
                <a:latin typeface="+mj-lt"/>
              </a:rPr>
              <a:t>Представления</a:t>
            </a:r>
            <a:endParaRPr lang="ru-RU" sz="4000" b="1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b="1" dirty="0" smtClean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20891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/>
              <a:t>Часто при </a:t>
            </a:r>
            <a:r>
              <a:rPr lang="ru-RU" sz="2800" dirty="0"/>
              <a:t>работе с </a:t>
            </a:r>
            <a:r>
              <a:rPr lang="ru-RU" sz="2800" dirty="0" smtClean="0"/>
              <a:t>БД требуется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800" dirty="0" smtClean="0"/>
              <a:t>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ru-RU" sz="2800" dirty="0" smtClean="0"/>
              <a:t>многократно </a:t>
            </a:r>
            <a:r>
              <a:rPr lang="ru-RU" sz="2800" dirty="0"/>
              <a:t>выполнять одни и те же </a:t>
            </a:r>
            <a:r>
              <a:rPr lang="ru-RU" sz="2800" dirty="0" smtClean="0"/>
              <a:t>запросы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ru-RU" sz="2800" dirty="0" smtClean="0"/>
              <a:t>запросы могут быть сложными </a:t>
            </a:r>
            <a:r>
              <a:rPr lang="ru-RU" sz="2800" dirty="0"/>
              <a:t>и </a:t>
            </a:r>
            <a:r>
              <a:rPr lang="ru-RU" sz="2800" dirty="0" smtClean="0"/>
              <a:t>требовать </a:t>
            </a:r>
            <a:r>
              <a:rPr lang="ru-RU" sz="2800" dirty="0"/>
              <a:t>обращения к нескольким </a:t>
            </a:r>
            <a:r>
              <a:rPr lang="ru-RU" sz="2800" dirty="0" smtClean="0"/>
              <a:t>таблицам </a:t>
            </a:r>
          </a:p>
          <a:p>
            <a:pPr algn="just">
              <a:spcBef>
                <a:spcPts val="1200"/>
              </a:spcBef>
            </a:pPr>
            <a:r>
              <a:rPr lang="ru-RU" sz="2800" dirty="0" smtClean="0"/>
              <a:t>В таких ситуациях, чтобы </a:t>
            </a:r>
            <a:r>
              <a:rPr lang="ru-RU" sz="2800" dirty="0"/>
              <a:t>избежать необходимости многократного формирования </a:t>
            </a:r>
            <a:r>
              <a:rPr lang="ru-RU" sz="2800" dirty="0" smtClean="0"/>
              <a:t>сложных </a:t>
            </a:r>
            <a:r>
              <a:rPr lang="ru-RU" sz="2800" dirty="0"/>
              <a:t>запросов, можно использовать </a:t>
            </a:r>
            <a:r>
              <a:rPr lang="ru-RU" sz="2800" dirty="0" smtClean="0"/>
              <a:t>объекты БД,  называемые представлениями</a:t>
            </a:r>
            <a:endParaRPr lang="ru-RU" sz="3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19700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 smtClean="0">
                <a:latin typeface="+mj-lt"/>
              </a:rPr>
              <a:t>Представления</a:t>
            </a:r>
            <a:endParaRPr lang="ru-RU" sz="4000" b="1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b="1" dirty="0" smtClean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93502"/>
            <a:ext cx="889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 smtClean="0"/>
              <a:t>Представление</a:t>
            </a:r>
            <a:r>
              <a:rPr lang="ru-RU" sz="2600" dirty="0" smtClean="0"/>
              <a:t> </a:t>
            </a:r>
            <a:r>
              <a:rPr lang="ru-RU" sz="2600" dirty="0"/>
              <a:t>(объект </a:t>
            </a: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</a:t>
            </a:r>
            <a:r>
              <a:rPr lang="en-US" sz="2600" dirty="0"/>
              <a:t> </a:t>
            </a:r>
            <a:r>
              <a:rPr lang="ru-RU" sz="2600" dirty="0" smtClean="0"/>
              <a:t>в БД) – </a:t>
            </a:r>
          </a:p>
          <a:p>
            <a:r>
              <a:rPr lang="ru-RU" sz="2600" dirty="0" smtClean="0"/>
              <a:t>        это производная таблица, которая виртуальна</a:t>
            </a:r>
          </a:p>
        </p:txBody>
      </p:sp>
      <p:sp>
        <p:nvSpPr>
          <p:cNvPr id="8" name="Стрелка вниз 7"/>
          <p:cNvSpPr/>
          <p:nvPr/>
        </p:nvSpPr>
        <p:spPr>
          <a:xfrm>
            <a:off x="4139952" y="1844824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251520" y="2348880"/>
            <a:ext cx="8640960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2425" indent="-352425">
              <a:buFont typeface="Wingdings" pitchFamily="2" charset="2"/>
              <a:buChar char="§"/>
            </a:pPr>
            <a:r>
              <a:rPr lang="ru-RU" sz="2400" dirty="0" smtClean="0"/>
              <a:t>Это </a:t>
            </a:r>
            <a:r>
              <a:rPr lang="ru-RU" sz="2400" dirty="0"/>
              <a:t>оператор запроса </a:t>
            </a:r>
            <a:r>
              <a:rPr lang="en-US" sz="2400" dirty="0"/>
              <a:t>SELECT </a:t>
            </a:r>
            <a:r>
              <a:rPr lang="ru-RU" sz="2400" dirty="0" smtClean="0"/>
              <a:t>сохраняемый</a:t>
            </a:r>
            <a:r>
              <a:rPr lang="ru-RU" sz="2400" dirty="0" smtClean="0"/>
              <a:t> </a:t>
            </a:r>
            <a:r>
              <a:rPr lang="ru-RU" sz="2400" dirty="0" smtClean="0"/>
              <a:t>в БД под собственным </a:t>
            </a:r>
            <a:r>
              <a:rPr lang="ru-RU" sz="2400" dirty="0"/>
              <a:t>именем 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 marL="352425" indent="-352425"/>
            <a:r>
              <a:rPr lang="ru-RU" sz="2400" dirty="0" smtClean="0"/>
              <a:t>                          из каких таблиц и какие колонки взять </a:t>
            </a:r>
          </a:p>
          <a:p>
            <a:pPr marL="352425" indent="-352425" algn="just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/>
              <a:t>Представление может получать данные из одной или нескольких таблиц </a:t>
            </a:r>
            <a:r>
              <a:rPr lang="ru-RU" sz="2400" dirty="0" smtClean="0"/>
              <a:t>и других представлений </a:t>
            </a:r>
          </a:p>
          <a:p>
            <a:pPr marL="352425" indent="-352425" algn="just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 smtClean="0"/>
              <a:t>Запрос выполняется каждый раз при обращению к представлению</a:t>
            </a:r>
          </a:p>
          <a:p>
            <a:pPr marL="352425" indent="-352425" algn="just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 smtClean="0"/>
              <a:t>БД </a:t>
            </a:r>
            <a:r>
              <a:rPr lang="ru-RU" sz="2400" dirty="0"/>
              <a:t>не </a:t>
            </a:r>
            <a:r>
              <a:rPr lang="ru-RU" sz="2400" dirty="0" smtClean="0"/>
              <a:t>хранит </a:t>
            </a:r>
            <a:r>
              <a:rPr lang="ru-RU" sz="2400" dirty="0"/>
              <a:t>данные </a:t>
            </a:r>
            <a:r>
              <a:rPr lang="ru-RU" sz="2400" dirty="0" smtClean="0"/>
              <a:t>представления</a:t>
            </a:r>
            <a:endParaRPr lang="ru-RU" sz="2400" dirty="0"/>
          </a:p>
          <a:p>
            <a:pPr marL="3581400" indent="-2320925">
              <a:spcBef>
                <a:spcPts val="600"/>
              </a:spcBef>
            </a:pPr>
            <a:r>
              <a:rPr lang="ru-RU" sz="2400" dirty="0"/>
              <a:t>Исключение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/>
              <a:t>   материализованные представления</a:t>
            </a:r>
          </a:p>
          <a:p>
            <a:pPr marL="352425" indent="-352425" algn="just">
              <a:spcBef>
                <a:spcPts val="1200"/>
              </a:spcBef>
              <a:buFont typeface="Wingdings" pitchFamily="2" charset="2"/>
              <a:buChar char="§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 smtClean="0">
                <a:latin typeface="+mj-lt"/>
              </a:rPr>
              <a:t>Создание  представления</a:t>
            </a:r>
            <a:endParaRPr lang="ru-RU" sz="40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52736"/>
            <a:ext cx="88924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VIEW &lt;</a:t>
            </a:r>
            <a:r>
              <a:rPr lang="ru-RU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 [(&lt;</a:t>
            </a:r>
            <a:r>
              <a:rPr lang="ru-RU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список колонок</a:t>
            </a:r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&gt;)]</a:t>
            </a:r>
            <a:endParaRPr lang="ru-RU" sz="28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AS</a:t>
            </a:r>
            <a:endParaRPr lang="ru-RU" sz="28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&lt;</a:t>
            </a:r>
            <a:r>
              <a:rPr lang="ru-RU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оператор запроса</a:t>
            </a:r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ru-RU" sz="28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2420888"/>
            <a:ext cx="8640960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/>
              <a:t>Примечания</a:t>
            </a:r>
            <a:r>
              <a:rPr lang="ru-RU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457200" indent="-457200">
              <a:buAutoNum type="arabicPeriod"/>
            </a:pPr>
            <a:r>
              <a:rPr lang="ru-RU" sz="2200" dirty="0" smtClean="0"/>
              <a:t> </a:t>
            </a:r>
            <a:r>
              <a:rPr lang="ru-RU" sz="2200" b="1" dirty="0" smtClean="0">
                <a:solidFill>
                  <a:srgbClr val="7030A0"/>
                </a:solidFill>
              </a:rPr>
              <a:t>имя</a:t>
            </a:r>
            <a:r>
              <a:rPr lang="ru-RU" sz="2200" dirty="0" smtClean="0"/>
              <a:t>  -  должно отражать назначение представления</a:t>
            </a:r>
          </a:p>
          <a:p>
            <a:pPr marL="1881188" indent="-1881188">
              <a:spcBef>
                <a:spcPts val="600"/>
              </a:spcBef>
            </a:pPr>
            <a:r>
              <a:rPr lang="ru-RU" sz="2200" dirty="0" smtClean="0"/>
              <a:t>     Пример.  </a:t>
            </a:r>
            <a:r>
              <a:rPr lang="en-US" sz="2200" dirty="0" err="1" smtClean="0"/>
              <a:t>book_v</a:t>
            </a:r>
            <a:r>
              <a:rPr lang="en-US" sz="2200" dirty="0" smtClean="0"/>
              <a:t>   - </a:t>
            </a:r>
            <a:r>
              <a:rPr lang="ru-RU" sz="2200" dirty="0" smtClean="0"/>
              <a:t>представление на базе книги продаж (таблица </a:t>
            </a:r>
            <a:r>
              <a:rPr lang="en-US" sz="2200" dirty="0" smtClean="0"/>
              <a:t>book) </a:t>
            </a:r>
            <a:r>
              <a:rPr lang="ru-RU" sz="2200" dirty="0" smtClean="0"/>
              <a:t>с добавлением колонок из связанных таблиц</a:t>
            </a:r>
          </a:p>
          <a:p>
            <a:pPr marL="1881188" indent="-1881188">
              <a:spcBef>
                <a:spcPts val="600"/>
              </a:spcBef>
            </a:pPr>
            <a:r>
              <a:rPr lang="ru-RU" sz="2200" dirty="0"/>
              <a:t> </a:t>
            </a:r>
            <a:r>
              <a:rPr lang="ru-RU" sz="2200" dirty="0" smtClean="0"/>
              <a:t>   «</a:t>
            </a:r>
            <a:r>
              <a:rPr lang="en-US" sz="2200" dirty="0" smtClean="0"/>
              <a:t>book</a:t>
            </a:r>
            <a:r>
              <a:rPr lang="ru-RU" sz="2200" dirty="0" smtClean="0"/>
              <a:t>» указывает на основную таблицу</a:t>
            </a:r>
          </a:p>
          <a:p>
            <a:pPr marL="1881188" indent="-1881188">
              <a:spcBef>
                <a:spcPts val="600"/>
              </a:spcBef>
            </a:pPr>
            <a:r>
              <a:rPr lang="ru-RU" sz="2200" dirty="0"/>
              <a:t> </a:t>
            </a:r>
            <a:r>
              <a:rPr lang="ru-RU" sz="2200" dirty="0" smtClean="0"/>
              <a:t>    суффикс  «_</a:t>
            </a:r>
            <a:r>
              <a:rPr lang="en-US" sz="2200" dirty="0" smtClean="0"/>
              <a:t>v</a:t>
            </a:r>
            <a:r>
              <a:rPr lang="ru-RU" sz="2200" dirty="0" smtClean="0"/>
              <a:t>» (может быть префикс «</a:t>
            </a:r>
            <a:r>
              <a:rPr lang="en-US" sz="2200" dirty="0" smtClean="0"/>
              <a:t>v_</a:t>
            </a:r>
            <a:r>
              <a:rPr lang="ru-RU" sz="2200" dirty="0" smtClean="0"/>
              <a:t>»)</a:t>
            </a:r>
            <a:r>
              <a:rPr lang="en-US" sz="2200" dirty="0" smtClean="0"/>
              <a:t> </a:t>
            </a:r>
            <a:r>
              <a:rPr lang="ru-RU" sz="2200" dirty="0" smtClean="0"/>
              <a:t>подчеркивает тип </a:t>
            </a:r>
            <a:r>
              <a:rPr lang="ru-RU" sz="2200" dirty="0" smtClean="0"/>
              <a:t>объекта – представление (</a:t>
            </a:r>
            <a:r>
              <a:rPr lang="en-US" sz="2200" b="1" dirty="0" smtClean="0">
                <a:solidFill>
                  <a:srgbClr val="7030A0"/>
                </a:solidFill>
              </a:rPr>
              <a:t>v</a:t>
            </a:r>
            <a:r>
              <a:rPr lang="ru-RU" sz="2200" dirty="0" smtClean="0"/>
              <a:t> от </a:t>
            </a:r>
            <a:r>
              <a:rPr lang="en-US" sz="2200" dirty="0" smtClean="0"/>
              <a:t>view)</a:t>
            </a:r>
            <a:endParaRPr lang="ru-RU" sz="2200" dirty="0" smtClean="0"/>
          </a:p>
          <a:p>
            <a:pPr marL="352425" indent="-352425">
              <a:spcBef>
                <a:spcPts val="600"/>
              </a:spcBef>
              <a:buAutoNum type="arabicPeriod" startAt="2"/>
            </a:pPr>
            <a:r>
              <a:rPr lang="ru-RU" sz="2200" dirty="0" smtClean="0"/>
              <a:t>Нежелательно использовать раздел </a:t>
            </a:r>
            <a:r>
              <a:rPr lang="en-US" sz="2400" b="1" dirty="0" smtClean="0">
                <a:solidFill>
                  <a:srgbClr val="7030A0"/>
                </a:solidFill>
              </a:rPr>
              <a:t>ORDER BY</a:t>
            </a:r>
            <a:endParaRPr lang="ru-RU" sz="2400" b="1" dirty="0" smtClean="0">
              <a:solidFill>
                <a:srgbClr val="7030A0"/>
              </a:solidFill>
            </a:endParaRPr>
          </a:p>
          <a:p>
            <a:pPr marL="719138" indent="-719138">
              <a:spcBef>
                <a:spcPts val="600"/>
              </a:spcBef>
            </a:pPr>
            <a:r>
              <a:rPr lang="ru-RU" sz="2200" dirty="0" smtClean="0"/>
              <a:t>       Упорядочивать данные целесообразно в запросе к </a:t>
            </a:r>
          </a:p>
          <a:p>
            <a:pPr marL="719138" indent="-719138"/>
            <a:r>
              <a:rPr lang="ru-RU" sz="2200" dirty="0" smtClean="0"/>
              <a:t>                          представлению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 smtClean="0">
                <a:latin typeface="+mj-lt"/>
              </a:rPr>
              <a:t>Имена  </a:t>
            </a:r>
            <a:r>
              <a:rPr lang="ru-RU" sz="4000" b="1" dirty="0" smtClean="0">
                <a:latin typeface="+mj-lt"/>
              </a:rPr>
              <a:t>колонок  </a:t>
            </a:r>
            <a:r>
              <a:rPr lang="ru-RU" sz="4000" b="1" dirty="0" smtClean="0">
                <a:latin typeface="+mj-lt"/>
              </a:rPr>
              <a:t>представления</a:t>
            </a:r>
            <a:endParaRPr lang="ru-RU" sz="40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52736"/>
            <a:ext cx="889248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VIEW &lt;</a:t>
            </a:r>
            <a:r>
              <a:rPr lang="ru-RU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 [(&lt;</a:t>
            </a:r>
            <a:r>
              <a:rPr lang="ru-RU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список колонок</a:t>
            </a:r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&gt;)]</a:t>
            </a:r>
            <a:endParaRPr lang="ru-RU" sz="23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AS</a:t>
            </a:r>
            <a:endParaRPr lang="ru-RU" sz="23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оператор запроса</a:t>
            </a:r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ru-RU" sz="23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7280" y="2210668"/>
            <a:ext cx="901925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200" dirty="0"/>
              <a:t>Имена </a:t>
            </a:r>
            <a:r>
              <a:rPr lang="ru-RU" sz="2200" dirty="0" smtClean="0"/>
              <a:t>колонок можно указать</a:t>
            </a:r>
            <a:r>
              <a:rPr lang="ru-RU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200" dirty="0" smtClean="0"/>
              <a:t> </a:t>
            </a:r>
          </a:p>
          <a:p>
            <a:pPr marL="450850" algn="just"/>
            <a:r>
              <a:rPr lang="ru-RU" sz="2200" dirty="0" smtClean="0"/>
              <a:t>                    явно в </a:t>
            </a:r>
            <a:r>
              <a:rPr lang="ru-RU" sz="2200" dirty="0" smtClean="0"/>
              <a:t>заголовке представления</a:t>
            </a:r>
          </a:p>
          <a:p>
            <a:pPr marL="361950" indent="-342900" algn="just">
              <a:buFont typeface="Wingdings" panose="05000000000000000000" pitchFamily="2" charset="2"/>
              <a:buChar char="§"/>
            </a:pPr>
            <a:r>
              <a:rPr lang="ru-RU" sz="2200" dirty="0" smtClean="0"/>
              <a:t>Если списка нет,</a:t>
            </a:r>
            <a:r>
              <a:rPr lang="ru-RU" sz="2200" dirty="0" smtClean="0"/>
              <a:t> </a:t>
            </a:r>
            <a:r>
              <a:rPr lang="ru-RU" sz="2200" dirty="0"/>
              <a:t>то СУБД </a:t>
            </a:r>
            <a:r>
              <a:rPr lang="ru-RU" sz="2200" dirty="0" smtClean="0"/>
              <a:t> для имен элементов запроса</a:t>
            </a:r>
            <a:r>
              <a:rPr lang="ru-RU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/>
              <a:t> </a:t>
            </a:r>
            <a:r>
              <a:rPr lang="en-US" sz="2200" dirty="0" smtClean="0"/>
              <a:t>     - </a:t>
            </a:r>
            <a:r>
              <a:rPr lang="ru-RU" sz="2200" dirty="0" smtClean="0"/>
              <a:t>использует имена колонок или назначенные </a:t>
            </a:r>
            <a:r>
              <a:rPr lang="ru-RU" sz="2200" dirty="0" err="1" smtClean="0"/>
              <a:t>алиасы</a:t>
            </a:r>
            <a:endParaRPr lang="ru-RU" sz="2200" dirty="0" smtClean="0"/>
          </a:p>
          <a:p>
            <a:pPr marL="1338263" indent="-1338263"/>
            <a:r>
              <a:rPr lang="ru-RU" sz="2200" dirty="0"/>
              <a:t> </a:t>
            </a:r>
            <a:r>
              <a:rPr lang="ru-RU" sz="2200" dirty="0" smtClean="0"/>
              <a:t>     - для функций использует имя функции</a:t>
            </a:r>
          </a:p>
          <a:p>
            <a:pPr marL="1338263" indent="-1338263"/>
            <a:r>
              <a:rPr lang="ru-RU" sz="2200" dirty="0"/>
              <a:t> </a:t>
            </a:r>
            <a:r>
              <a:rPr lang="ru-RU" sz="2200" dirty="0" smtClean="0"/>
              <a:t>     - в остальных случаях будет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column?</a:t>
            </a:r>
            <a:r>
              <a:rPr lang="en-US" sz="2200" dirty="0" smtClean="0"/>
              <a:t> (</a:t>
            </a:r>
            <a:r>
              <a:rPr lang="ru-RU" sz="2200" dirty="0" smtClean="0"/>
              <a:t>не определено)</a:t>
            </a:r>
            <a:endParaRPr lang="ru-RU" sz="2200" dirty="0"/>
          </a:p>
        </p:txBody>
      </p:sp>
      <p:sp>
        <p:nvSpPr>
          <p:cNvPr id="2" name="TextBox 1"/>
          <p:cNvSpPr txBox="1"/>
          <p:nvPr/>
        </p:nvSpPr>
        <p:spPr>
          <a:xfrm>
            <a:off x="1403648" y="4505052"/>
            <a:ext cx="51125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Пример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prod_name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max(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cena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cena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as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avg_cena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   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max(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cena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)-min(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cena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...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92280" y="4437112"/>
            <a:ext cx="2088232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Имена</a:t>
            </a:r>
            <a:r>
              <a:rPr lang="ru-RU" dirty="0" smtClean="0"/>
              <a:t>:</a:t>
            </a:r>
            <a:endParaRPr lang="en-US" dirty="0" smtClean="0"/>
          </a:p>
          <a:p>
            <a:r>
              <a:rPr lang="en-US" sz="2400" b="1" dirty="0" err="1">
                <a:solidFill>
                  <a:srgbClr val="0070C0"/>
                </a:solidFill>
              </a:rPr>
              <a:t>p</a:t>
            </a:r>
            <a:r>
              <a:rPr lang="en-US" sz="2400" b="1" dirty="0" err="1" smtClean="0">
                <a:solidFill>
                  <a:srgbClr val="0070C0"/>
                </a:solidFill>
              </a:rPr>
              <a:t>rod_name</a:t>
            </a:r>
            <a:endParaRPr lang="ru-RU" sz="2400" b="1" dirty="0" smtClean="0">
              <a:solidFill>
                <a:srgbClr val="0070C0"/>
              </a:solidFill>
            </a:endParaRPr>
          </a:p>
          <a:p>
            <a:r>
              <a:rPr lang="en-US" sz="2400" b="1" dirty="0">
                <a:solidFill>
                  <a:srgbClr val="0070C0"/>
                </a:solidFill>
              </a:rPr>
              <a:t>m</a:t>
            </a:r>
            <a:r>
              <a:rPr lang="en-US" sz="2400" b="1" dirty="0" smtClean="0">
                <a:solidFill>
                  <a:srgbClr val="0070C0"/>
                </a:solidFill>
              </a:rPr>
              <a:t>ax</a:t>
            </a:r>
          </a:p>
          <a:p>
            <a:r>
              <a:rPr lang="en-US" sz="2400" b="1" dirty="0" err="1" smtClean="0">
                <a:solidFill>
                  <a:srgbClr val="0070C0"/>
                </a:solidFill>
              </a:rPr>
              <a:t>avg_cena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r>
              <a:rPr lang="en-US" sz="2400" b="1" dirty="0" smtClean="0">
                <a:solidFill>
                  <a:srgbClr val="0070C0"/>
                </a:solidFill>
              </a:rPr>
              <a:t>?column?</a:t>
            </a:r>
            <a:endParaRPr lang="ru-RU" sz="2400" b="1" dirty="0" smtClean="0">
              <a:solidFill>
                <a:srgbClr val="0070C0"/>
              </a:solidFill>
            </a:endParaRPr>
          </a:p>
          <a:p>
            <a:endParaRPr lang="ru-RU" dirty="0"/>
          </a:p>
        </p:txBody>
      </p:sp>
      <p:sp>
        <p:nvSpPr>
          <p:cNvPr id="6" name="Стрелка вправо 5"/>
          <p:cNvSpPr/>
          <p:nvPr/>
        </p:nvSpPr>
        <p:spPr>
          <a:xfrm>
            <a:off x="6084168" y="5373216"/>
            <a:ext cx="504056" cy="358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5760132" y="1340768"/>
            <a:ext cx="252028" cy="1224136"/>
          </a:xfrm>
          <a:prstGeom prst="straightConnector1">
            <a:avLst/>
          </a:prstGeom>
          <a:ln w="381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94634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dirty="0" smtClean="0">
                <a:latin typeface="+mj-lt"/>
              </a:rPr>
              <a:t>Полная команда создания  представления</a:t>
            </a:r>
            <a:endParaRPr lang="ru-RU" sz="32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400" dirty="0" smtClean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08720"/>
            <a:ext cx="88924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[OR REPLACE]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[TEMP] [RECURSIVE]</a:t>
            </a:r>
            <a:endParaRPr lang="ru-RU" sz="24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 </a:t>
            </a:r>
            <a:r>
              <a:rPr lang="ru-RU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[(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список столбцов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)] </a:t>
            </a: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 </a:t>
            </a:r>
            <a:r>
              <a:rPr lang="ru-RU" sz="2400" b="1" i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имя_параметра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[=</a:t>
            </a:r>
            <a:r>
              <a:rPr lang="ru-RU" sz="2400" b="1" i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значение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][,...])]</a:t>
            </a: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ператор запроса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[WITH [CASCADED|LOCAL]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OPTION]</a:t>
            </a:r>
            <a:endParaRPr lang="ru-RU" sz="24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520" y="3212976"/>
            <a:ext cx="86409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/>
              <a:t> </a:t>
            </a:r>
            <a:endParaRPr lang="ru-RU" sz="2200" dirty="0"/>
          </a:p>
        </p:txBody>
      </p:sp>
      <p:sp>
        <p:nvSpPr>
          <p:cNvPr id="2" name="TextBox 1"/>
          <p:cNvSpPr txBox="1"/>
          <p:nvPr/>
        </p:nvSpPr>
        <p:spPr>
          <a:xfrm>
            <a:off x="251520" y="2924944"/>
            <a:ext cx="88924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  <a:r>
              <a:rPr lang="ru-RU" sz="20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000" dirty="0">
                <a:latin typeface="+mj-lt"/>
              </a:rPr>
              <a:t>в</a:t>
            </a:r>
            <a:r>
              <a:rPr lang="ru-RU" sz="2000" dirty="0" smtClean="0">
                <a:latin typeface="+mj-lt"/>
              </a:rPr>
              <a:t>ременное</a:t>
            </a:r>
            <a:r>
              <a:rPr lang="ru-RU" sz="2000" dirty="0" smtClean="0"/>
              <a:t> представление. Удаляется </a:t>
            </a:r>
            <a:r>
              <a:rPr lang="ru-RU" sz="2000" dirty="0"/>
              <a:t>в конце сеанса</a:t>
            </a:r>
            <a:endParaRPr lang="ru-RU" sz="20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0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RECURSIVE</a:t>
            </a:r>
            <a:r>
              <a:rPr lang="ru-RU" sz="20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ru-RU" sz="2000" dirty="0"/>
              <a:t>с</a:t>
            </a:r>
            <a:r>
              <a:rPr lang="ru-RU" sz="2000" dirty="0" smtClean="0"/>
              <a:t>оздаёт </a:t>
            </a:r>
            <a:r>
              <a:rPr lang="ru-RU" sz="2000" dirty="0"/>
              <a:t>рекурсивное </a:t>
            </a:r>
            <a:r>
              <a:rPr lang="ru-RU" sz="2000" dirty="0" smtClean="0"/>
              <a:t>представление</a:t>
            </a:r>
          </a:p>
          <a:p>
            <a:pPr marL="441325" indent="-441325" algn="just"/>
            <a:r>
              <a:rPr lang="ru-RU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список столбцов </a:t>
            </a:r>
            <a:r>
              <a:rPr lang="ru-RU" sz="20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ru-RU" sz="2000" dirty="0"/>
              <a:t>н</a:t>
            </a:r>
            <a:r>
              <a:rPr lang="ru-RU" sz="2000" dirty="0" smtClean="0"/>
              <a:t>еобязательный </a:t>
            </a:r>
            <a:r>
              <a:rPr lang="ru-RU" sz="2000" dirty="0"/>
              <a:t>список </a:t>
            </a:r>
            <a:r>
              <a:rPr lang="ru-RU" sz="2000" dirty="0" smtClean="0"/>
              <a:t>имён столбцов представления</a:t>
            </a:r>
            <a:r>
              <a:rPr lang="ru-RU" sz="2000" dirty="0"/>
              <a:t>. Если отсутствует, имена столбцов формируются из результатов запроса</a:t>
            </a:r>
            <a:r>
              <a:rPr lang="ru-RU" sz="2000" dirty="0" smtClean="0"/>
              <a:t>.</a:t>
            </a:r>
          </a:p>
          <a:p>
            <a:pPr algn="just"/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 </a:t>
            </a:r>
            <a:r>
              <a:rPr lang="ru-RU" sz="2000" b="1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имя_параметра</a:t>
            </a:r>
            <a:r>
              <a:rPr lang="ru-RU" sz="2000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smtClean="0"/>
              <a:t>необязательные </a:t>
            </a:r>
            <a:r>
              <a:rPr lang="ru-RU" sz="2000" dirty="0"/>
              <a:t>параметры </a:t>
            </a:r>
            <a:r>
              <a:rPr lang="ru-RU" sz="2000" dirty="0" smtClean="0"/>
              <a:t>представления</a:t>
            </a:r>
          </a:p>
          <a:p>
            <a:pPr marL="361950" indent="-361950" algn="just"/>
            <a:r>
              <a:rPr lang="ru-RU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</a:t>
            </a:r>
            <a:r>
              <a:rPr lang="ru-RU" sz="20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 OPTION </a:t>
            </a:r>
            <a:r>
              <a:rPr lang="ru-RU" sz="2000" dirty="0" smtClean="0"/>
              <a:t>- Если присутствует</a:t>
            </a:r>
            <a:r>
              <a:rPr lang="ru-RU" sz="2000" dirty="0"/>
              <a:t>, при выполнении операций INSERT и UPDATE с этим представлением будет проверяться, удовлетворяют ли новые строки </a:t>
            </a:r>
            <a:r>
              <a:rPr lang="ru-RU" sz="2000" dirty="0" smtClean="0"/>
              <a:t>условию. </a:t>
            </a:r>
            <a:r>
              <a:rPr lang="ru-RU" sz="2000" dirty="0"/>
              <a:t>Если </a:t>
            </a:r>
            <a:r>
              <a:rPr lang="ru-RU" sz="2000" dirty="0" smtClean="0"/>
              <a:t>условие не выполняется, то </a:t>
            </a:r>
            <a:r>
              <a:rPr lang="ru-RU" sz="2000" dirty="0"/>
              <a:t>операция не будет выполнена</a:t>
            </a:r>
          </a:p>
          <a:p>
            <a:pPr algn="just"/>
            <a:endParaRPr lang="ru-RU" sz="20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000" dirty="0"/>
              <a:t>https://www.postgresql.org/docs/18/sql-createview.html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24753186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 smtClean="0">
                <a:latin typeface="+mj-lt"/>
              </a:rPr>
              <a:t>Удаление  представления</a:t>
            </a:r>
            <a:endParaRPr lang="ru-RU" sz="40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2130822"/>
            <a:ext cx="8892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DROP VIEW &lt;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  </a:t>
            </a:r>
            <a:endParaRPr lang="ru-RU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1784" y="1124744"/>
            <a:ext cx="84066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Представление можно удалить оператором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</a:t>
            </a:r>
            <a:endParaRPr lang="ru-RU" sz="26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00577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 smtClean="0">
                <a:latin typeface="+mj-lt"/>
              </a:rPr>
              <a:t>Изменение  представления</a:t>
            </a:r>
            <a:endParaRPr lang="ru-RU" sz="4000" dirty="0" smtClean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1784" y="1448681"/>
            <a:ext cx="889248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</a:t>
            </a:r>
            <a:r>
              <a:rPr lang="en-US" sz="23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OR REPLACE</a:t>
            </a:r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VIEW &lt;</a:t>
            </a:r>
            <a:r>
              <a:rPr lang="ru-RU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[(&lt;</a:t>
            </a:r>
            <a:r>
              <a:rPr lang="ru-RU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список колонок</a:t>
            </a:r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&gt;)]</a:t>
            </a:r>
            <a:endParaRPr lang="ru-RU" sz="23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AS   &lt;</a:t>
            </a:r>
            <a:r>
              <a:rPr lang="ru-RU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оператор запроса</a:t>
            </a:r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ru-RU" sz="23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5536" y="5085184"/>
            <a:ext cx="85561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b="1" dirty="0" smtClean="0"/>
              <a:t>Если перечисленные выше правила нарушаются, то</a:t>
            </a:r>
            <a:r>
              <a:rPr lang="ru-RU" sz="2200" dirty="0" smtClean="0"/>
              <a:t>  </a:t>
            </a:r>
            <a:endParaRPr lang="ru-RU" sz="2200" dirty="0" smtClean="0"/>
          </a:p>
          <a:p>
            <a:pPr marL="895350" indent="-352425" algn="just">
              <a:buAutoNum type="arabicParenR"/>
            </a:pPr>
            <a:r>
              <a:rPr lang="ru-RU" sz="2200" dirty="0" smtClean="0"/>
              <a:t>надо удалить </a:t>
            </a:r>
            <a:r>
              <a:rPr lang="ru-RU" sz="2200" dirty="0" smtClean="0"/>
              <a:t>представление командой </a:t>
            </a:r>
            <a:r>
              <a:rPr lang="ru-RU" sz="2200" dirty="0" smtClean="0"/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</a:t>
            </a:r>
            <a:r>
              <a:rPr lang="en-US" sz="2200" b="1" dirty="0" smtClean="0">
                <a:solidFill>
                  <a:srgbClr val="7030A0"/>
                </a:solidFill>
                <a:cs typeface="Courier New" panose="02070309020205020404" pitchFamily="49" charset="0"/>
              </a:rPr>
              <a:t> </a:t>
            </a:r>
            <a:endParaRPr lang="ru-RU" sz="2200" b="1" dirty="0" smtClean="0">
              <a:solidFill>
                <a:srgbClr val="7030A0"/>
              </a:solidFill>
              <a:cs typeface="Courier New" panose="02070309020205020404" pitchFamily="49" charset="0"/>
            </a:endParaRPr>
          </a:p>
          <a:p>
            <a:pPr marL="808038" indent="-265113" algn="just">
              <a:buAutoNum type="arabicParenR"/>
            </a:pPr>
            <a:r>
              <a:rPr lang="en-US" sz="2200" dirty="0" smtClean="0">
                <a:cs typeface="Courier New" panose="02070309020205020404" pitchFamily="49" charset="0"/>
              </a:rPr>
              <a:t> </a:t>
            </a:r>
            <a:r>
              <a:rPr lang="ru-RU" sz="2200" dirty="0" smtClean="0">
                <a:cs typeface="Courier New" panose="02070309020205020404" pitchFamily="49" charset="0"/>
              </a:rPr>
              <a:t>затем создать новый вариант командой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endParaRPr lang="ru-RU" sz="2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1784" y="980728"/>
            <a:ext cx="7254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Представление можно изменить командой</a:t>
            </a:r>
            <a:endParaRPr lang="ru-R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51520" y="2276872"/>
            <a:ext cx="87001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200" dirty="0"/>
              <a:t>н</a:t>
            </a:r>
            <a:r>
              <a:rPr lang="ru-RU" sz="2200" dirty="0" smtClean="0"/>
              <a:t>овый оператор запроса </a:t>
            </a:r>
            <a:r>
              <a:rPr lang="ru-RU" sz="2200" dirty="0"/>
              <a:t>должен </a:t>
            </a:r>
            <a:r>
              <a:rPr lang="ru-RU" sz="2200" dirty="0" smtClean="0"/>
              <a:t>возвращать </a:t>
            </a:r>
            <a:r>
              <a:rPr lang="ru-RU" sz="2200" dirty="0"/>
              <a:t>те же </a:t>
            </a:r>
            <a:r>
              <a:rPr lang="ru-RU" sz="2200" dirty="0" smtClean="0"/>
              <a:t>колонки, </a:t>
            </a:r>
            <a:r>
              <a:rPr lang="ru-RU" sz="2200" dirty="0"/>
              <a:t>что </a:t>
            </a:r>
            <a:r>
              <a:rPr lang="ru-RU" sz="2200" dirty="0" smtClean="0"/>
              <a:t>и </a:t>
            </a:r>
            <a:r>
              <a:rPr lang="ru-RU" sz="2200" dirty="0"/>
              <a:t>запрос, ранее определённый для этого </a:t>
            </a:r>
            <a:r>
              <a:rPr lang="ru-RU" sz="2200" dirty="0" smtClean="0"/>
              <a:t>представления</a:t>
            </a:r>
            <a:r>
              <a:rPr lang="ru-RU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361950" algn="just"/>
            <a:r>
              <a:rPr lang="ru-RU" sz="2200" dirty="0" smtClean="0"/>
              <a:t>т.е. </a:t>
            </a:r>
            <a:r>
              <a:rPr lang="ru-RU" sz="2200" dirty="0" smtClean="0"/>
              <a:t>колонки </a:t>
            </a:r>
            <a:r>
              <a:rPr lang="ru-RU" sz="2200" dirty="0"/>
              <a:t>с такими же именами должны иметь те же типы данных и следовать в том же </a:t>
            </a:r>
            <a:r>
              <a:rPr lang="ru-RU" sz="2200" dirty="0" smtClean="0"/>
              <a:t>порядке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200" dirty="0" smtClean="0"/>
              <a:t>можно </a:t>
            </a:r>
            <a:r>
              <a:rPr lang="ru-RU" sz="2200" dirty="0"/>
              <a:t>добавить </a:t>
            </a:r>
            <a:r>
              <a:rPr lang="ru-RU" sz="2200" dirty="0" smtClean="0"/>
              <a:t>новые </a:t>
            </a:r>
            <a:r>
              <a:rPr lang="ru-RU" sz="2200" dirty="0" smtClean="0"/>
              <a:t>колонки </a:t>
            </a:r>
            <a:r>
              <a:rPr lang="ru-RU" sz="2200" dirty="0"/>
              <a:t>в конце </a:t>
            </a:r>
            <a:r>
              <a:rPr lang="ru-RU" sz="2200" dirty="0" smtClean="0"/>
              <a:t>списка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200" dirty="0"/>
              <a:t>в</a:t>
            </a:r>
            <a:r>
              <a:rPr lang="ru-RU" sz="2200" dirty="0" smtClean="0"/>
              <a:t>ычисления для формирования столбцов </a:t>
            </a:r>
            <a:r>
              <a:rPr lang="ru-RU" sz="2200" dirty="0"/>
              <a:t>представления, могут быть </a:t>
            </a:r>
            <a:r>
              <a:rPr lang="ru-RU" sz="2200" dirty="0" smtClean="0"/>
              <a:t>изменены</a:t>
            </a:r>
            <a:r>
              <a:rPr lang="en-US" sz="2200" dirty="0" smtClean="0"/>
              <a:t> </a:t>
            </a:r>
            <a:r>
              <a:rPr lang="ru-RU" sz="2200" dirty="0" smtClean="0"/>
              <a:t>без изменения типа</a:t>
            </a:r>
            <a:endParaRPr lang="ru-RU" sz="2200" dirty="0" smtClean="0"/>
          </a:p>
          <a:p>
            <a:pPr algn="just"/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34288747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Пример. Представление «Продажи»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552" y="1095077"/>
            <a:ext cx="838298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+mj-lt"/>
                <a:cs typeface="Courier New" pitchFamily="49" charset="0"/>
              </a:rPr>
              <a:t>Создать представление, отражающее продажи с указанием  ассортимента продажи и расшифровкой название продукта</a:t>
            </a:r>
            <a:endParaRPr lang="en-US" sz="2400" dirty="0" smtClean="0">
              <a:latin typeface="+mj-lt"/>
              <a:cs typeface="Courier New" pitchFamily="49" charset="0"/>
            </a:endParaRPr>
          </a:p>
          <a:p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endParaRPr lang="ru-RU" sz="28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37" y="2564904"/>
            <a:ext cx="8117443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486760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Пример. Представление «Продажи»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052736"/>
            <a:ext cx="72717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VIEW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book_v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AS</a:t>
            </a:r>
            <a:endParaRPr lang="ru-RU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SELECT 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.ndoc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.dat,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.prod_name,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.kol,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.cena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.kol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.cena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as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stoim</a:t>
            </a:r>
            <a:endParaRPr lang="en-US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FROM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book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as b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JOIN 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kart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as k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ON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.book_id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.book_id</a:t>
            </a:r>
            <a:endParaRPr lang="en-US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JOIN 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product 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as </a:t>
            </a:r>
            <a:r>
              <a:rPr lang="en-US" sz="24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</a:t>
            </a:r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ON 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.prod_kod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4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.prod_kod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endParaRPr lang="ru-RU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179821"/>
            <a:ext cx="5616624" cy="2678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dirty="0" smtClean="0"/>
              <a:t>Представление – это виртуальная таблица</a:t>
            </a:r>
            <a:endParaRPr lang="ru-RU" sz="32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90069"/>
            <a:ext cx="8640960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/>
              <a:t>Для пользователя представления - </a:t>
            </a:r>
            <a:r>
              <a:rPr lang="en-US" sz="2800" dirty="0" smtClean="0"/>
              <a:t>               </a:t>
            </a:r>
            <a:r>
              <a:rPr lang="ru-RU" sz="2800" dirty="0" smtClean="0"/>
              <a:t>это </a:t>
            </a:r>
            <a:r>
              <a:rPr lang="ru-RU" sz="2800" dirty="0" smtClean="0"/>
              <a:t>объекты очень похожие на таблицы </a:t>
            </a:r>
            <a:r>
              <a:rPr lang="ru-RU" sz="2800" dirty="0" smtClean="0"/>
              <a:t>данных </a:t>
            </a:r>
            <a:endParaRPr lang="ru-RU" sz="2800" dirty="0" smtClean="0"/>
          </a:p>
          <a:p>
            <a:pPr algn="just">
              <a:spcBef>
                <a:spcPts val="1800"/>
              </a:spcBef>
            </a:pPr>
            <a:r>
              <a:rPr lang="ru-RU" sz="2800" dirty="0" smtClean="0"/>
              <a:t>Это выражается в том, что: </a:t>
            </a:r>
          </a:p>
          <a:p>
            <a:pPr marL="534988" lvl="0" indent="-534988" algn="just">
              <a:spcBef>
                <a:spcPts val="600"/>
              </a:spcBef>
              <a:buFont typeface="Wingdings" pitchFamily="2" charset="2"/>
              <a:buChar char="q"/>
            </a:pPr>
            <a:r>
              <a:rPr lang="ru-RU" sz="2800" dirty="0" smtClean="0"/>
              <a:t>обращение к представлениям осуществляется также как и к таблицам через оператор </a:t>
            </a:r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SELECT</a:t>
            </a:r>
          </a:p>
          <a:p>
            <a:pPr marL="534988" lvl="0" indent="-534988" algn="just">
              <a:spcBef>
                <a:spcPts val="600"/>
              </a:spcBef>
              <a:buFont typeface="Wingdings" pitchFamily="2" charset="2"/>
              <a:buChar char="q"/>
            </a:pPr>
            <a:r>
              <a:rPr lang="ru-RU" sz="2800" dirty="0" smtClean="0"/>
              <a:t>для некоторых представлений могут использоваться операторы изменения данных (</a:t>
            </a:r>
            <a:r>
              <a:rPr lang="ru-RU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INSERT</a:t>
            </a:r>
            <a:r>
              <a:rPr lang="ru-RU" sz="2800" b="1" dirty="0" smtClean="0"/>
              <a:t>, </a:t>
            </a:r>
            <a:r>
              <a:rPr lang="ru-RU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UPDATE</a:t>
            </a:r>
            <a:r>
              <a:rPr lang="ru-RU" sz="2800" dirty="0" smtClean="0"/>
              <a:t> и </a:t>
            </a:r>
            <a:r>
              <a:rPr lang="ru-RU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DELETE)</a:t>
            </a: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smtClean="0"/>
              <a:t>Пример</a:t>
            </a:r>
            <a:r>
              <a:rPr lang="en-US" sz="3600" b="1" smtClean="0"/>
              <a:t>. </a:t>
            </a:r>
            <a:r>
              <a:rPr lang="ru-RU" sz="3600" b="1" smtClean="0"/>
              <a:t>Запрос к представлению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1784" y="1196752"/>
            <a:ext cx="6318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SELECT * FROM </a:t>
            </a:r>
            <a:r>
              <a:rPr lang="en-US" sz="28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book_v</a:t>
            </a:r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</a:p>
          <a:p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ORDER BY </a:t>
            </a:r>
            <a:r>
              <a:rPr lang="en-US" sz="28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dat</a:t>
            </a:r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8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ndoc</a:t>
            </a:r>
            <a:endParaRPr lang="ru-RU" sz="28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Стрелка углом 8"/>
          <p:cNvSpPr/>
          <p:nvPr/>
        </p:nvSpPr>
        <p:spPr>
          <a:xfrm rot="16200000" flipH="1" flipV="1">
            <a:off x="5904148" y="1394774"/>
            <a:ext cx="1008112" cy="1188132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88" y="2636912"/>
            <a:ext cx="8683202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Изменяемые представления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80894"/>
            <a:ext cx="8640960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Представление  может быть  изменяемым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По отношению к такому представлению можно использовать операторы изменения данных (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INSERT</a:t>
            </a:r>
            <a:r>
              <a:rPr lang="ru-RU" sz="2400" dirty="0" smtClean="0"/>
              <a:t>,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DELETE</a:t>
            </a:r>
            <a:r>
              <a:rPr lang="ru-RU" sz="2400" dirty="0" smtClean="0"/>
              <a:t> и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UPDATE</a:t>
            </a:r>
            <a:r>
              <a:rPr lang="ru-RU" sz="2400" dirty="0" smtClean="0">
                <a:latin typeface="Courier New" panose="02070309020205020404" pitchFamily="49" charset="0"/>
                <a:cs typeface="Courier New" pitchFamily="49" charset="0"/>
              </a:rPr>
              <a:t>)</a:t>
            </a:r>
            <a:r>
              <a:rPr lang="ru-RU" sz="2400" dirty="0" smtClean="0">
                <a:cs typeface="Courier New" pitchFamily="49" charset="0"/>
              </a:rPr>
              <a:t>,</a:t>
            </a:r>
            <a:r>
              <a:rPr lang="ru-RU" sz="2400" b="1" dirty="0" smtClean="0">
                <a:solidFill>
                  <a:srgbClr val="7030A0"/>
                </a:solidFill>
                <a:latin typeface="+mj-lt"/>
                <a:cs typeface="Courier New" pitchFamily="49" charset="0"/>
              </a:rPr>
              <a:t> </a:t>
            </a:r>
            <a:r>
              <a:rPr lang="ru-RU" sz="2400" dirty="0" smtClean="0"/>
              <a:t>которые применяются в базовой таблице.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Представление является изменяемым ЕСЛИ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en-US" sz="2400" dirty="0" smtClean="0">
              <a:latin typeface="Courier New" pitchFamily="49" charset="0"/>
              <a:cs typeface="Courier New" pitchFamily="49" charset="0"/>
            </a:endParaRPr>
          </a:p>
          <a:p>
            <a:pPr marL="352425" lvl="0" indent="-182563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ru-RU" sz="2200" dirty="0" smtClean="0"/>
              <a:t>Представление выбирает данные из одной таблицы</a:t>
            </a:r>
            <a:endParaRPr lang="ru-RU" sz="2200" dirty="0"/>
          </a:p>
          <a:p>
            <a:pPr marL="352425" indent="-182563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ru-RU" sz="2200" dirty="0"/>
              <a:t>В списке выборки не указано ключевое слово  </a:t>
            </a:r>
            <a:r>
              <a:rPr lang="ru-RU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DISTINCT</a:t>
            </a:r>
            <a:r>
              <a:rPr lang="ru-RU" sz="2200" dirty="0"/>
              <a:t> </a:t>
            </a:r>
          </a:p>
          <a:p>
            <a:pPr marL="352425" lvl="0" indent="-182563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ru-RU" sz="2200" dirty="0" smtClean="0"/>
              <a:t>В списке выборки используются только имена колонок и имя одного столбца не появляется более 1 раза </a:t>
            </a:r>
          </a:p>
          <a:p>
            <a:pPr marL="352425" lvl="0" indent="-182563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ru-RU" sz="2200" dirty="0" smtClean="0"/>
              <a:t>В условии раздела </a:t>
            </a:r>
            <a:r>
              <a:rPr lang="ru-RU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ru-RU" sz="2200" dirty="0" smtClean="0"/>
              <a:t> не используются подзапросы </a:t>
            </a:r>
          </a:p>
          <a:p>
            <a:pPr marL="352425" indent="-182563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ru-RU" sz="2200" dirty="0" smtClean="0"/>
              <a:t>Отсутствуют разделы </a:t>
            </a:r>
            <a:r>
              <a:rPr lang="ru-RU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GROUP BY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ru-RU" sz="2200" dirty="0" smtClean="0"/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HAVING</a:t>
            </a:r>
            <a:r>
              <a:rPr lang="ru-RU" sz="2200" dirty="0">
                <a:solidFill>
                  <a:srgbClr val="7030A0"/>
                </a:solidFill>
              </a:rPr>
              <a:t> </a:t>
            </a:r>
            <a:r>
              <a:rPr lang="ru-RU" sz="2200" dirty="0" smtClean="0"/>
              <a:t>и</a:t>
            </a:r>
            <a:r>
              <a:rPr lang="en-US" sz="2200" dirty="0" smtClean="0"/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dirty="0" smtClean="0"/>
              <a:t>Изменение данных через представления</a:t>
            </a:r>
            <a:endParaRPr lang="ru-RU" sz="32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80894"/>
            <a:ext cx="864096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Данные можно изменить через </a:t>
            </a:r>
            <a:r>
              <a:rPr lang="ru-RU" sz="2400" dirty="0" smtClean="0"/>
              <a:t>неизменяемое </a:t>
            </a:r>
            <a:r>
              <a:rPr lang="ru-RU" sz="2400" dirty="0" smtClean="0"/>
              <a:t>представление </a:t>
            </a:r>
            <a:r>
              <a:rPr lang="ru-RU" sz="2400" dirty="0" smtClean="0"/>
              <a:t>двумя способами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457200" indent="-457200" algn="just">
              <a:buAutoNum type="arabicParenR"/>
            </a:pPr>
            <a:r>
              <a:rPr lang="ru-RU" sz="2400" dirty="0" smtClean="0"/>
              <a:t>Связать с представлением триггеры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INSTEAD OF</a:t>
            </a:r>
          </a:p>
          <a:p>
            <a:pPr marL="441325" algn="just"/>
            <a:r>
              <a:rPr lang="ru-RU" sz="2400" dirty="0" smtClean="0"/>
              <a:t>Операторы изменения,  направленные в представление,</a:t>
            </a:r>
            <a:r>
              <a:rPr lang="ru-RU" sz="2400" dirty="0"/>
              <a:t> </a:t>
            </a:r>
            <a:r>
              <a:rPr lang="ru-RU" sz="2400" dirty="0" smtClean="0"/>
              <a:t>транслируются в операторы изменения </a:t>
            </a:r>
            <a:r>
              <a:rPr lang="ru-RU" sz="2400" dirty="0"/>
              <a:t>в </a:t>
            </a:r>
            <a:r>
              <a:rPr lang="ru-RU" sz="2400" dirty="0" smtClean="0"/>
              <a:t>нужную таблицу</a:t>
            </a:r>
            <a:r>
              <a:rPr lang="ru-RU" sz="2400" dirty="0"/>
              <a:t> </a:t>
            </a:r>
            <a:r>
              <a:rPr lang="ru-RU" sz="2400" dirty="0" smtClean="0"/>
              <a:t>через специальный вид триггера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INSTEAD OF</a:t>
            </a:r>
            <a:endParaRPr lang="ru-RU" sz="2400" dirty="0" smtClean="0"/>
          </a:p>
          <a:p>
            <a:pPr marL="457200" indent="-457200" algn="just">
              <a:buFont typeface="+mj-lt"/>
              <a:buAutoNum type="arabicParenR" startAt="2"/>
            </a:pPr>
            <a:r>
              <a:rPr lang="ru-RU" sz="2400" dirty="0" smtClean="0"/>
              <a:t>Использовать правило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INSTEAD</a:t>
            </a:r>
            <a:endParaRPr lang="ru-RU" sz="26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1325" algn="just"/>
            <a:r>
              <a:rPr lang="ru-RU" sz="2400" dirty="0"/>
              <a:t>Правила, заданные </a:t>
            </a:r>
            <a:r>
              <a:rPr lang="ru-RU" sz="2400" dirty="0" smtClean="0"/>
              <a:t>для команд INSERT</a:t>
            </a:r>
            <a:r>
              <a:rPr lang="ru-RU" sz="2400" dirty="0"/>
              <a:t>, UPDATE, и </a:t>
            </a:r>
            <a:r>
              <a:rPr lang="ru-RU" sz="2400" dirty="0" smtClean="0"/>
              <a:t>DELETE для представления </a:t>
            </a:r>
            <a:r>
              <a:rPr lang="ru-RU" sz="2400" dirty="0"/>
              <a:t>транслируются в операторы изменения в нужную </a:t>
            </a:r>
            <a:r>
              <a:rPr lang="ru-RU" sz="2400" dirty="0" smtClean="0"/>
              <a:t>таблицу</a:t>
            </a:r>
          </a:p>
          <a:p>
            <a:pPr marL="441325" algn="just"/>
            <a:r>
              <a:rPr lang="en-US" sz="2000" b="1" spc="-1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https://www.postgresql.org/docs/current/rules-update.html</a:t>
            </a:r>
            <a:endParaRPr lang="ru-RU" sz="2000" b="1" spc="-100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22598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Материализованные представления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err="1"/>
              <a:t>PostgreSQL</a:t>
            </a:r>
            <a:r>
              <a:rPr lang="ru-RU" sz="2400" dirty="0"/>
              <a:t> предлагает свое расширение </a:t>
            </a:r>
            <a:r>
              <a:rPr lang="en-US" sz="2400" dirty="0" smtClean="0"/>
              <a:t>VIEW </a:t>
            </a:r>
            <a:r>
              <a:rPr lang="ru-RU" sz="2400" dirty="0" smtClean="0"/>
              <a:t>—  </a:t>
            </a:r>
            <a:r>
              <a:rPr lang="ru-RU" sz="2400" dirty="0"/>
              <a:t>материализованное представление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1784" y="2714144"/>
            <a:ext cx="85506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MATERIALIZED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VIEW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представления 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[(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список колонок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)]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оператор запроса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536" y="4871482"/>
            <a:ext cx="813690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При создании представления оно заполняется данными, если не указано  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NO DATA</a:t>
            </a:r>
            <a:endParaRPr lang="ru-RU" sz="26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2132856"/>
            <a:ext cx="8046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Создание материализованного представления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54094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Обновление  данных  материализованного представления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526015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Материализованное представление очень похоже на обычную таблицу. Однако оно отличается от таблицы тем, что не только сохраняет данные, но также запоминает запрос, с помощью которого эти данные были </a:t>
            </a:r>
            <a:r>
              <a:rPr lang="ru-RU" sz="2400" dirty="0" smtClean="0"/>
              <a:t>собраны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96652" y="4664169"/>
            <a:ext cx="855069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REFRESH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MATERIALIZED VIEW имя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952" y="3758263"/>
            <a:ext cx="8136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Обновление данных представления выполняется командой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sz="26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5375538"/>
            <a:ext cx="813690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15963" indent="-715963" algn="just"/>
            <a:r>
              <a:rPr lang="ru-RU" sz="2400" b="1" dirty="0" smtClean="0"/>
              <a:t>Примечание.</a:t>
            </a:r>
            <a:r>
              <a:rPr lang="ru-RU" sz="2400" dirty="0" smtClean="0"/>
              <a:t> Данные сохраняются даже если при создании использовалось  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NO DATA</a:t>
            </a:r>
            <a:endParaRPr lang="ru-RU" sz="26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95288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Итог. Достоинства  представлений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90240"/>
            <a:ext cx="86409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0713" indent="-620713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600" dirty="0" smtClean="0"/>
              <a:t>Защита данных через разграничение прав </a:t>
            </a:r>
            <a:r>
              <a:rPr lang="ru-RU" sz="2600" dirty="0"/>
              <a:t>пользователей на доступ к </a:t>
            </a:r>
            <a:r>
              <a:rPr lang="ru-RU" sz="2600" dirty="0" smtClean="0"/>
              <a:t>хранимым данным</a:t>
            </a:r>
          </a:p>
          <a:p>
            <a:pPr marL="620713" indent="-620713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600" dirty="0"/>
              <a:t>Упрощение запросов к </a:t>
            </a:r>
            <a:r>
              <a:rPr lang="ru-RU" sz="2600" dirty="0" smtClean="0"/>
              <a:t>БД</a:t>
            </a:r>
          </a:p>
          <a:p>
            <a:pPr marL="620713" indent="-620713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600" dirty="0" smtClean="0"/>
              <a:t>Уменьшение </a:t>
            </a:r>
            <a:r>
              <a:rPr lang="ru-RU" sz="2600" dirty="0"/>
              <a:t>зависимости прикладных программ от изменений структуры таблиц базы </a:t>
            </a:r>
            <a:r>
              <a:rPr lang="ru-RU" sz="2600" dirty="0" smtClean="0"/>
              <a:t>данных</a:t>
            </a:r>
          </a:p>
          <a:p>
            <a:pPr marL="620713" indent="-620713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600" dirty="0" smtClean="0"/>
              <a:t>Сокращение </a:t>
            </a:r>
            <a:r>
              <a:rPr lang="ru-RU" sz="2600" dirty="0"/>
              <a:t>времени выполнения сложных запросов за счет использования материализованных представлений</a:t>
            </a:r>
            <a:endParaRPr lang="ru-RU" sz="26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01883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dirty="0"/>
              <a:t>Представление – средство защиты</a:t>
            </a:r>
            <a:endParaRPr lang="ru-RU" sz="3200" dirty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80728"/>
            <a:ext cx="864096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ru-RU" sz="2400" dirty="0"/>
              <a:t>Механизм представлений </a:t>
            </a:r>
            <a:r>
              <a:rPr lang="ru-RU" sz="2400" dirty="0" smtClean="0"/>
              <a:t>является удобным инструментом защиты данных, </a:t>
            </a:r>
            <a:r>
              <a:rPr lang="ru-RU" sz="2400" dirty="0"/>
              <a:t>позволяющим скрыть реальную структуру БД от некоторых пользователей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ru-RU" sz="2200" dirty="0" smtClean="0"/>
              <a:t>Использование </a:t>
            </a:r>
            <a:r>
              <a:rPr lang="ru-RU" sz="2200" dirty="0" smtClean="0"/>
              <a:t>представлений упрощает разграничение прав </a:t>
            </a:r>
            <a:r>
              <a:rPr lang="ru-RU" sz="2200" dirty="0"/>
              <a:t>пользователей на доступ к </a:t>
            </a:r>
            <a:r>
              <a:rPr lang="ru-RU" sz="2200" dirty="0" smtClean="0"/>
              <a:t>хранимым данным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ru-RU" sz="2200" dirty="0"/>
              <a:t>Разным </a:t>
            </a:r>
            <a:r>
              <a:rPr lang="ru-RU" sz="2200" dirty="0" smtClean="0"/>
              <a:t>группам </a:t>
            </a:r>
            <a:r>
              <a:rPr lang="ru-RU" sz="2200" dirty="0"/>
              <a:t>пользователей могут требоваться различные данные, хранящиеся в одних и тех же </a:t>
            </a:r>
            <a:r>
              <a:rPr lang="ru-RU" sz="2200" dirty="0" smtClean="0"/>
              <a:t>таблицах:  </a:t>
            </a:r>
            <a:r>
              <a:rPr lang="ru-RU" sz="2200" dirty="0"/>
              <a:t>как столбцов, так и строк </a:t>
            </a:r>
            <a:r>
              <a:rPr lang="ru-RU" sz="2200" dirty="0" smtClean="0"/>
              <a:t>таблиц 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ru-RU" sz="2200" dirty="0" smtClean="0"/>
              <a:t>В таких ситуациях создают различные представления </a:t>
            </a:r>
            <a:r>
              <a:rPr lang="ru-RU" sz="2200" dirty="0"/>
              <a:t>для разных </a:t>
            </a:r>
            <a:r>
              <a:rPr lang="ru-RU" sz="2200" dirty="0" smtClean="0"/>
              <a:t>групп </a:t>
            </a:r>
            <a:r>
              <a:rPr lang="ru-RU" sz="2200" dirty="0" smtClean="0"/>
              <a:t>пользователей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ru-RU" sz="2200" dirty="0"/>
              <a:t>Давая права доступа к представлениям, а не к базовым таблицам, можно не допускать пользователя к просмотру отдельных строк и колонок таблицы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ru-RU" sz="2200" dirty="0" smtClean="0"/>
          </a:p>
        </p:txBody>
      </p:sp>
    </p:spTree>
    <p:extLst>
      <p:ext uri="{BB962C8B-B14F-4D97-AF65-F5344CB8AC3E}">
        <p14:creationId xmlns:p14="http://schemas.microsoft.com/office/powerpoint/2010/main" val="27004615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Представление – средство защиты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3264" y="1052735"/>
            <a:ext cx="8640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2425" indent="-352425" algn="just"/>
            <a:r>
              <a:rPr lang="ru-RU" sz="2400" dirty="0" smtClean="0"/>
              <a:t>Для работников склада</a:t>
            </a:r>
          </a:p>
          <a:p>
            <a:pPr marL="352425" indent="-352425" algn="just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VIEW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kart_skl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d_v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</a:t>
            </a:r>
          </a:p>
          <a:p>
            <a:pPr marL="352425" indent="-352425" algn="just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SELECT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k.prod_kod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352425" indent="-352425" algn="just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p.prod_name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kol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2425" indent="-352425" algn="just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FROM kart k JOIN product p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2425" indent="-352425" algn="just"/>
            <a:endParaRPr lang="en-US" sz="800" dirty="0" smtClean="0"/>
          </a:p>
          <a:p>
            <a:pPr marL="352425" indent="-352425" algn="just"/>
            <a:endParaRPr lang="en-US" sz="2400" dirty="0" smtClean="0"/>
          </a:p>
          <a:p>
            <a:pPr marL="352425" indent="-352425" algn="just"/>
            <a:r>
              <a:rPr lang="ru-RU" sz="2400" dirty="0" smtClean="0"/>
              <a:t>Для </a:t>
            </a:r>
            <a:r>
              <a:rPr lang="ru-RU" sz="2400" dirty="0"/>
              <a:t>работников </a:t>
            </a:r>
            <a:r>
              <a:rPr lang="ru-RU" sz="2400" dirty="0" smtClean="0"/>
              <a:t>бухгалтерии</a:t>
            </a:r>
            <a:endParaRPr lang="en-US" sz="2400" dirty="0" smtClean="0"/>
          </a:p>
          <a:p>
            <a:pPr marL="352425" indent="-352425" algn="just"/>
            <a:r>
              <a:rPr lang="ru-RU" sz="2400" dirty="0" smtClean="0"/>
              <a:t> дополнительно показываем </a:t>
            </a:r>
            <a:endParaRPr lang="en-US" sz="2400" dirty="0" smtClean="0"/>
          </a:p>
          <a:p>
            <a:pPr marL="352425" indent="-352425" algn="just"/>
            <a:r>
              <a:rPr lang="en-US" sz="2400" dirty="0"/>
              <a:t> </a:t>
            </a:r>
            <a:r>
              <a:rPr lang="ru-RU" sz="2400" dirty="0" smtClean="0"/>
              <a:t>цену</a:t>
            </a:r>
            <a:r>
              <a:rPr lang="en-US" sz="2400" dirty="0" smtClean="0"/>
              <a:t> </a:t>
            </a:r>
            <a:r>
              <a:rPr lang="ru-RU" sz="2400" dirty="0" smtClean="0"/>
              <a:t>продукта</a:t>
            </a:r>
            <a:endParaRPr lang="ru-RU" sz="2400" dirty="0"/>
          </a:p>
          <a:p>
            <a:pPr marL="352425" indent="-352425" algn="just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VIEW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kart_buh_v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</a:p>
          <a:p>
            <a:pPr marL="352425" indent="-352425" algn="just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SELECT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k.prod_kod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p.prod_name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2425" indent="-352425" algn="just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kol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cena</a:t>
            </a:r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2425" indent="-352425" algn="just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FROM kart k JOIN product p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2425" indent="-352425" algn="just"/>
            <a:endParaRPr lang="en-US" sz="800" dirty="0" smtClean="0"/>
          </a:p>
          <a:p>
            <a:pPr marL="352425" indent="-352425" algn="just"/>
            <a:endParaRPr lang="ru-RU" sz="800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84"/>
          <a:stretch/>
        </p:blipFill>
        <p:spPr bwMode="auto">
          <a:xfrm>
            <a:off x="6375107" y="1219118"/>
            <a:ext cx="2805405" cy="278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935516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Упрощение </a:t>
            </a:r>
            <a:r>
              <a:rPr lang="ru-RU" sz="3600" b="1" dirty="0"/>
              <a:t>запросов к БД</a:t>
            </a:r>
          </a:p>
          <a:p>
            <a:pPr marL="6350" indent="-6350" algn="ctr"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90240"/>
            <a:ext cx="86409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0713" indent="-620713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Запросы </a:t>
            </a:r>
            <a:r>
              <a:rPr lang="ru-RU" sz="2800" dirty="0"/>
              <a:t>к базе данных могут включать несколько таблиц и быть весьма сложными </a:t>
            </a:r>
            <a:endParaRPr lang="ru-RU" sz="2800" dirty="0" smtClean="0"/>
          </a:p>
          <a:p>
            <a:pPr marL="620713" indent="-620713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Такие </a:t>
            </a:r>
            <a:r>
              <a:rPr lang="ru-RU" sz="2800" dirty="0"/>
              <a:t>запросы могут выполняться </a:t>
            </a:r>
            <a:r>
              <a:rPr lang="ru-RU" sz="2800" dirty="0" smtClean="0"/>
              <a:t>часто</a:t>
            </a:r>
          </a:p>
          <a:p>
            <a:pPr marL="620713" indent="-620713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Использование </a:t>
            </a:r>
            <a:r>
              <a:rPr lang="ru-RU" sz="2800" dirty="0"/>
              <a:t>представлений позволяет скрыть эти сложности от прикладного программиста и сделать запросы более простыми и наглядными</a:t>
            </a:r>
            <a:endParaRPr lang="ru-RU" sz="26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92911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Снижение зависимости программ от структуры БД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3399" y="1628800"/>
            <a:ext cx="847506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0713" indent="-620713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В процессе развития информационной системы структура </a:t>
            </a:r>
            <a:r>
              <a:rPr lang="ru-RU" sz="2400" dirty="0" smtClean="0"/>
              <a:t>БД может измениться</a:t>
            </a:r>
            <a:endParaRPr lang="ru-RU" sz="2400" dirty="0" smtClean="0"/>
          </a:p>
          <a:p>
            <a:pPr marL="620713" indent="-620713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Доступ к БД через представления позволяет сделать постоянным «интерфейс» доступа приложений к данным</a:t>
            </a:r>
          </a:p>
          <a:p>
            <a:pPr marL="620713" indent="-620713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При изменении </a:t>
            </a:r>
            <a:r>
              <a:rPr lang="ru-RU" sz="2400" dirty="0"/>
              <a:t>структуры базовых таблиц, на основе которых </a:t>
            </a:r>
            <a:r>
              <a:rPr lang="ru-RU" sz="2400" dirty="0" smtClean="0"/>
              <a:t>создано представление, необходимо скорректировать  запрос представления</a:t>
            </a:r>
            <a:endParaRPr lang="ru-RU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359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dirty="0"/>
              <a:t>Сокращение времени выполнения сложных запросов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 </a:t>
            </a:r>
            <a:r>
              <a:rPr lang="ru-RU" sz="2200" dirty="0" smtClean="0">
                <a:solidFill>
                  <a:srgbClr val="0070C0"/>
                </a:solidFill>
              </a:rPr>
              <a:t/>
            </a:r>
            <a:br>
              <a:rPr lang="ru-RU" sz="2200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96" y="1482164"/>
            <a:ext cx="889248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0713" indent="-620713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Использование </a:t>
            </a:r>
            <a:r>
              <a:rPr lang="ru-RU" sz="2400" dirty="0"/>
              <a:t>материализованных </a:t>
            </a:r>
            <a:r>
              <a:rPr lang="ru-RU" sz="2400" dirty="0" smtClean="0"/>
              <a:t>представлений позволяет  сократить время </a:t>
            </a:r>
            <a:r>
              <a:rPr lang="ru-RU" sz="2400" dirty="0"/>
              <a:t>выполнения </a:t>
            </a:r>
            <a:r>
              <a:rPr lang="ru-RU" sz="2400" dirty="0" smtClean="0"/>
              <a:t>запросов</a:t>
            </a:r>
          </a:p>
          <a:p>
            <a:pPr marL="620713" indent="-620713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В </a:t>
            </a:r>
            <a:r>
              <a:rPr lang="ru-RU" sz="2400" dirty="0"/>
              <a:t>материализованных представлениях </a:t>
            </a:r>
            <a:r>
              <a:rPr lang="ru-RU" sz="2400" dirty="0" smtClean="0"/>
              <a:t>следует </a:t>
            </a:r>
            <a:r>
              <a:rPr lang="ru-RU" sz="2400" dirty="0"/>
              <a:t>сохранять </a:t>
            </a:r>
            <a:r>
              <a:rPr lang="ru-RU" sz="2400" dirty="0" smtClean="0"/>
              <a:t>результаты </a:t>
            </a:r>
            <a:r>
              <a:rPr lang="ru-RU" sz="2400" dirty="0"/>
              <a:t>выполнения запросов, которые </a:t>
            </a:r>
            <a:endParaRPr lang="ru-RU" sz="2400" dirty="0" smtClean="0"/>
          </a:p>
          <a:p>
            <a:pPr marL="982663" indent="-447675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формируются </a:t>
            </a:r>
            <a:r>
              <a:rPr lang="ru-RU" sz="2400" dirty="0"/>
              <a:t>длительное </a:t>
            </a:r>
            <a:r>
              <a:rPr lang="ru-RU" sz="2400" dirty="0" smtClean="0"/>
              <a:t>время (сводные отчеты)</a:t>
            </a:r>
          </a:p>
          <a:p>
            <a:pPr marL="982663" indent="-447675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могут использоваться многократно</a:t>
            </a:r>
          </a:p>
          <a:p>
            <a:pPr marL="982663" indent="-447675" algn="just">
              <a:buFont typeface="Wingdings" panose="05000000000000000000" pitchFamily="2" charset="2"/>
              <a:buChar char="§"/>
            </a:pPr>
            <a:r>
              <a:rPr lang="ru-RU" sz="2400" dirty="0"/>
              <a:t>н</a:t>
            </a:r>
            <a:r>
              <a:rPr lang="ru-RU" sz="2400" dirty="0" smtClean="0"/>
              <a:t>е критичны к строго актуальным данным</a:t>
            </a:r>
          </a:p>
          <a:p>
            <a:pPr marL="620713" indent="-619125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Обновления данных  выполняют в менее загруженное время (ночью)</a:t>
            </a:r>
          </a:p>
          <a:p>
            <a:pPr marL="620713" indent="-620713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Не следует заменять </a:t>
            </a:r>
            <a:r>
              <a:rPr lang="ru-RU" sz="2400" dirty="0" smtClean="0"/>
              <a:t>все </a:t>
            </a:r>
            <a:r>
              <a:rPr lang="ru-RU" sz="2400" dirty="0"/>
              <a:t>сложные </a:t>
            </a:r>
            <a:r>
              <a:rPr lang="ru-RU" sz="2400" dirty="0" smtClean="0"/>
              <a:t>запросы материализованными представлениями, особенно</a:t>
            </a:r>
          </a:p>
          <a:p>
            <a:pPr algn="just"/>
            <a:r>
              <a:rPr lang="ru-RU" sz="2400" dirty="0"/>
              <a:t> </a:t>
            </a:r>
            <a:r>
              <a:rPr lang="ru-RU" sz="2400" dirty="0" smtClean="0"/>
              <a:t>                         если требуются актуальные данные</a:t>
            </a:r>
          </a:p>
          <a:p>
            <a:pPr marL="620713" indent="-620713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ru-RU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55765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432048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Вопросы</a:t>
            </a:r>
            <a:endParaRPr lang="ru-RU" sz="3600" dirty="0">
              <a:solidFill>
                <a:srgbClr val="C00000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Представления </a:t>
            </a:r>
            <a:r>
              <a:rPr lang="ru-RU" sz="1800" dirty="0" smtClean="0">
                <a:solidFill>
                  <a:srgbClr val="0070C0"/>
                </a:solidFill>
              </a:rPr>
              <a:t/>
            </a:r>
            <a:br>
              <a:rPr lang="ru-RU" sz="1800" dirty="0" smtClean="0">
                <a:solidFill>
                  <a:srgbClr val="0070C0"/>
                </a:solidFill>
              </a:rPr>
            </a:b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210101"/>
            <a:ext cx="8964488" cy="417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400"/>
              </a:spcBef>
              <a:buFont typeface="+mj-lt"/>
              <a:buAutoNum type="arabicPeriod"/>
            </a:pPr>
            <a:r>
              <a:rPr lang="ru-RU" sz="2200" dirty="0" smtClean="0"/>
              <a:t>Что сохраняется в БД для объекта </a:t>
            </a:r>
            <a:r>
              <a:rPr lang="en-US" sz="2200" dirty="0" smtClean="0"/>
              <a:t>VIEW</a:t>
            </a:r>
            <a:r>
              <a:rPr lang="ru-RU" sz="2200" dirty="0" smtClean="0"/>
              <a:t> ?</a:t>
            </a:r>
          </a:p>
          <a:p>
            <a:pPr marL="457200" indent="-457200" algn="just">
              <a:spcBef>
                <a:spcPts val="400"/>
              </a:spcBef>
              <a:buFont typeface="+mj-lt"/>
              <a:buAutoNum type="arabicPeriod"/>
            </a:pPr>
            <a:r>
              <a:rPr lang="ru-RU" sz="2200" dirty="0" smtClean="0"/>
              <a:t>Можно ли делать запрос к представлению ?</a:t>
            </a:r>
          </a:p>
          <a:p>
            <a:pPr marL="457200" indent="-457200" algn="just">
              <a:spcBef>
                <a:spcPts val="400"/>
              </a:spcBef>
              <a:buFont typeface="+mj-lt"/>
              <a:buAutoNum type="arabicPeriod"/>
            </a:pPr>
            <a:r>
              <a:rPr lang="ru-RU" sz="2200" dirty="0" smtClean="0"/>
              <a:t>В чем особенность материализованного представления ?</a:t>
            </a:r>
          </a:p>
          <a:p>
            <a:pPr marL="457200" indent="-457200" algn="just">
              <a:spcBef>
                <a:spcPts val="400"/>
              </a:spcBef>
              <a:buFont typeface="+mj-lt"/>
              <a:buAutoNum type="arabicPeriod"/>
            </a:pPr>
            <a:r>
              <a:rPr lang="ru-RU" sz="2200" dirty="0" smtClean="0"/>
              <a:t>Когда целесообразно использовать материализованное представление ?</a:t>
            </a:r>
          </a:p>
          <a:p>
            <a:pPr marL="457200" indent="-457200" algn="just">
              <a:spcBef>
                <a:spcPts val="400"/>
              </a:spcBef>
              <a:buFont typeface="+mj-lt"/>
              <a:buAutoNum type="arabicPeriod"/>
            </a:pPr>
            <a:r>
              <a:rPr lang="ru-RU" sz="2200" dirty="0" smtClean="0"/>
              <a:t>Как обновить данные в материализованном представлени</a:t>
            </a:r>
            <a:r>
              <a:rPr lang="ru-RU" sz="2200" dirty="0"/>
              <a:t>и</a:t>
            </a:r>
            <a:r>
              <a:rPr lang="ru-RU" sz="2200" dirty="0" smtClean="0"/>
              <a:t>?</a:t>
            </a:r>
          </a:p>
          <a:p>
            <a:pPr marL="457200" indent="-457200" algn="just">
              <a:spcBef>
                <a:spcPts val="400"/>
              </a:spcBef>
              <a:buFont typeface="+mj-lt"/>
              <a:buAutoNum type="arabicPeriod"/>
            </a:pPr>
            <a:r>
              <a:rPr lang="ru-RU" sz="2200" dirty="0"/>
              <a:t>Когда целесообразно обновлять данные материализованного </a:t>
            </a:r>
            <a:r>
              <a:rPr lang="ru-RU" sz="2200" dirty="0" smtClean="0"/>
              <a:t>представления ?</a:t>
            </a:r>
            <a:endParaRPr lang="ru-RU" sz="2200" dirty="0"/>
          </a:p>
          <a:p>
            <a:pPr marL="457200" indent="-457200" algn="just">
              <a:spcBef>
                <a:spcPts val="400"/>
              </a:spcBef>
              <a:buFont typeface="+mj-lt"/>
              <a:buAutoNum type="arabicPeriod"/>
            </a:pPr>
            <a:r>
              <a:rPr lang="ru-RU" sz="2200" dirty="0" smtClean="0"/>
              <a:t>Какие преимущества дает использование представлений ?</a:t>
            </a:r>
          </a:p>
          <a:p>
            <a:pPr marL="457200" indent="-457200" algn="just">
              <a:spcBef>
                <a:spcPts val="400"/>
              </a:spcBef>
              <a:buFont typeface="+mj-lt"/>
              <a:buAutoNum type="arabicPeriod"/>
            </a:pPr>
            <a:r>
              <a:rPr lang="ru-RU" sz="2200" dirty="0" smtClean="0"/>
              <a:t>Как представление позволяет обеспечить защиту данных ?</a:t>
            </a:r>
          </a:p>
        </p:txBody>
      </p:sp>
    </p:spTree>
    <p:extLst>
      <p:ext uri="{BB962C8B-B14F-4D97-AF65-F5344CB8AC3E}">
        <p14:creationId xmlns:p14="http://schemas.microsoft.com/office/powerpoint/2010/main" val="170324505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 smtClean="0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 </a:t>
            </a: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Рисунок 3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10187</TotalTime>
  <Words>1272</Words>
  <Application>Microsoft Office PowerPoint</Application>
  <PresentationFormat>Экран (4:3)</PresentationFormat>
  <Paragraphs>246</Paragraphs>
  <Slides>24</Slides>
  <Notes>0</Notes>
  <HiddenSlides>1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Открытая</vt:lpstr>
      <vt:lpstr>Презентация PowerPoint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Представления    </vt:lpstr>
      <vt:lpstr>   Представления 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*</cp:lastModifiedBy>
  <cp:revision>884</cp:revision>
  <dcterms:created xsi:type="dcterms:W3CDTF">2020-10-04T20:01:59Z</dcterms:created>
  <dcterms:modified xsi:type="dcterms:W3CDTF">2025-11-20T23:14:53Z</dcterms:modified>
</cp:coreProperties>
</file>