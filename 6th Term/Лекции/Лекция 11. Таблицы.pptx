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8" r:id="rId1"/>
  </p:sldMasterIdLst>
  <p:notesMasterIdLst>
    <p:notesMasterId r:id="rId46"/>
  </p:notesMasterIdLst>
  <p:sldIdLst>
    <p:sldId id="256" r:id="rId2"/>
    <p:sldId id="466" r:id="rId3"/>
    <p:sldId id="467" r:id="rId4"/>
    <p:sldId id="468" r:id="rId5"/>
    <p:sldId id="469" r:id="rId6"/>
    <p:sldId id="470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508" r:id="rId15"/>
    <p:sldId id="509" r:id="rId16"/>
    <p:sldId id="478" r:id="rId17"/>
    <p:sldId id="510" r:id="rId18"/>
    <p:sldId id="479" r:id="rId19"/>
    <p:sldId id="480" r:id="rId20"/>
    <p:sldId id="497" r:id="rId21"/>
    <p:sldId id="506" r:id="rId22"/>
    <p:sldId id="500" r:id="rId23"/>
    <p:sldId id="501" r:id="rId24"/>
    <p:sldId id="502" r:id="rId25"/>
    <p:sldId id="503" r:id="rId26"/>
    <p:sldId id="504" r:id="rId27"/>
    <p:sldId id="505" r:id="rId28"/>
    <p:sldId id="481" r:id="rId29"/>
    <p:sldId id="482" r:id="rId30"/>
    <p:sldId id="483" r:id="rId31"/>
    <p:sldId id="484" r:id="rId32"/>
    <p:sldId id="485" r:id="rId33"/>
    <p:sldId id="496" r:id="rId34"/>
    <p:sldId id="487" r:id="rId35"/>
    <p:sldId id="498" r:id="rId36"/>
    <p:sldId id="512" r:id="rId37"/>
    <p:sldId id="511" r:id="rId38"/>
    <p:sldId id="513" r:id="rId39"/>
    <p:sldId id="488" r:id="rId40"/>
    <p:sldId id="489" r:id="rId41"/>
    <p:sldId id="499" r:id="rId42"/>
    <p:sldId id="507" r:id="rId43"/>
    <p:sldId id="494" r:id="rId44"/>
    <p:sldId id="300" r:id="rId4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4652" autoAdjust="0"/>
  </p:normalViewPr>
  <p:slideViewPr>
    <p:cSldViewPr>
      <p:cViewPr varScale="1">
        <p:scale>
          <a:sx n="72" d="100"/>
          <a:sy n="72" d="100"/>
        </p:scale>
        <p:origin x="-90" y="-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14.11.2025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17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BF5D9-4AA4-4C09-9DDB-303A09193B8E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F000A-7D59-434E-AC61-119968F2B181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64F22-7D92-426D-8147-B259567C005D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006A-42FB-4BC3-8D0B-713D278FD97D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FC4BB-C5DC-4A55-BF0D-F172948F6FC2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58C2-66E3-4491-95E8-5725A7BF1DCF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F5AACCE-C039-4A73-A245-28F9A6C03767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6A5B-76D6-43F4-92BC-16DA687A9C7B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8BDA-C263-49AF-85CF-10CFC68679A3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14.11.2025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836712"/>
            <a:ext cx="7772400" cy="1008110"/>
          </a:xfrm>
        </p:spPr>
        <p:txBody>
          <a:bodyPr>
            <a:normAutofit fontScale="90000"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/>
            </a:r>
            <a:br>
              <a:rPr lang="ru-RU">
                <a:solidFill>
                  <a:schemeClr val="bg1"/>
                </a:solidFill>
              </a:rPr>
            </a:br>
            <a:endParaRPr lang="ru-RU">
              <a:solidFill>
                <a:srgbClr val="FFFF00"/>
              </a:solidFill>
            </a:endParaRPr>
          </a:p>
        </p:txBody>
      </p:sp>
      <p:pic>
        <p:nvPicPr>
          <p:cNvPr id="6" name="Рисунок 5" descr="Логотип АСОИиУ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2038" cy="175861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216869" y="6488668"/>
            <a:ext cx="1927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ru-RU" b="1" dirty="0">
                <a:solidFill>
                  <a:srgbClr val="FFC000"/>
                </a:solidFill>
              </a:rPr>
              <a:t>©Монахов В.И</a:t>
            </a:r>
            <a:r>
              <a:rPr lang="ru-RU" b="1" dirty="0">
                <a:solidFill>
                  <a:srgbClr val="7030A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544" y="2492896"/>
            <a:ext cx="8568952" cy="1805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Объекты БД.</a:t>
            </a:r>
          </a:p>
          <a:p>
            <a:pPr marR="64008" algn="ctr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ru-RU" sz="5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Таблицы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1800" y="1296949"/>
            <a:ext cx="4229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5400" b="1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Лекция </a:t>
            </a:r>
            <a:r>
              <a:rPr lang="ru-RU" sz="5400" b="1" smtClean="0">
                <a:solidFill>
                  <a:schemeClr val="bg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13</a:t>
            </a:r>
            <a:endParaRPr lang="ru-RU" sz="5400" b="1" dirty="0">
              <a:solidFill>
                <a:schemeClr val="bg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Объект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TABLE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19" y="1912764"/>
            <a:ext cx="875299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800" dirty="0"/>
              <a:t>Т</a:t>
            </a:r>
            <a:r>
              <a:rPr lang="ru-RU" sz="2800" dirty="0" smtClean="0"/>
              <a:t>аблица  </a:t>
            </a:r>
            <a:r>
              <a:rPr lang="ru-RU" sz="2800" dirty="0"/>
              <a:t>(объект </a:t>
            </a:r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n-US" sz="2800" dirty="0"/>
              <a:t>) </a:t>
            </a:r>
            <a:r>
              <a:rPr lang="ru-RU" sz="2800" dirty="0"/>
              <a:t>является базовым</a:t>
            </a:r>
            <a:r>
              <a:rPr lang="en-US" sz="2800" dirty="0"/>
              <a:t>  </a:t>
            </a:r>
            <a:r>
              <a:rPr lang="ru-RU" sz="2800" dirty="0"/>
              <a:t>объектом</a:t>
            </a:r>
            <a:r>
              <a:rPr lang="en-US" sz="2800" dirty="0"/>
              <a:t> </a:t>
            </a:r>
            <a:r>
              <a:rPr lang="ru-RU" sz="2800" dirty="0"/>
              <a:t>хранения данных </a:t>
            </a:r>
            <a:endParaRPr lang="en-US" sz="2800" dirty="0"/>
          </a:p>
          <a:p>
            <a:pPr marL="542925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800" dirty="0"/>
              <a:t>О</a:t>
            </a:r>
            <a:r>
              <a:rPr lang="ru-RU" sz="2800" dirty="0" smtClean="0"/>
              <a:t>тличие </a:t>
            </a:r>
            <a:r>
              <a:rPr lang="ru-RU" sz="2800" dirty="0"/>
              <a:t>от </a:t>
            </a:r>
            <a:r>
              <a:rPr lang="ru-RU" sz="2800" dirty="0" smtClean="0"/>
              <a:t>реляционного </a:t>
            </a:r>
            <a:r>
              <a:rPr lang="ru-RU" sz="2800" dirty="0"/>
              <a:t>отношения</a:t>
            </a:r>
            <a:r>
              <a:rPr lang="en-US" sz="2800" dirty="0"/>
              <a:t> -</a:t>
            </a:r>
            <a:r>
              <a:rPr lang="ru-RU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800" dirty="0"/>
              <a:t>допускается дублирование строк таблицы </a:t>
            </a:r>
            <a:r>
              <a:rPr lang="en-US" sz="2800" dirty="0"/>
              <a:t>(</a:t>
            </a:r>
            <a:r>
              <a:rPr lang="ru-RU" sz="2800" dirty="0"/>
              <a:t>только, если в таблице нет первичного ключа)</a:t>
            </a:r>
          </a:p>
        </p:txBody>
      </p:sp>
    </p:spTree>
    <p:extLst>
      <p:ext uri="{BB962C8B-B14F-4D97-AF65-F5344CB8AC3E}">
        <p14:creationId xmlns:p14="http://schemas.microsoft.com/office/powerpoint/2010/main" val="187794937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Именование  таблицы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Таблицы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19" y="1340768"/>
            <a:ext cx="875299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 algn="just">
              <a:spcBef>
                <a:spcPts val="1200"/>
              </a:spcBef>
            </a:pPr>
            <a:r>
              <a:rPr lang="ru-RU" sz="2600" dirty="0"/>
              <a:t>Таблица имеет:</a:t>
            </a:r>
          </a:p>
          <a:p>
            <a:pPr marL="992188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600" dirty="0"/>
              <a:t>простое имя</a:t>
            </a:r>
          </a:p>
          <a:p>
            <a:pPr marL="992188" indent="-542925" algn="just">
              <a:spcBef>
                <a:spcPts val="1200"/>
              </a:spcBef>
              <a:buFont typeface="Wingdings" pitchFamily="2" charset="2"/>
              <a:buChar char="q"/>
            </a:pPr>
            <a:r>
              <a:rPr lang="ru-RU" sz="2600" dirty="0" smtClean="0"/>
              <a:t>квалифицированное </a:t>
            </a:r>
            <a:r>
              <a:rPr lang="ru-RU" sz="2600" dirty="0"/>
              <a:t>имя</a:t>
            </a:r>
          </a:p>
          <a:p>
            <a:pPr algn="just">
              <a:spcBef>
                <a:spcPts val="1800"/>
              </a:spcBef>
            </a:pPr>
            <a:r>
              <a:rPr lang="ru-RU" sz="2600" dirty="0"/>
              <a:t>В качестве квалификатора в </a:t>
            </a:r>
            <a:r>
              <a:rPr lang="en-US" sz="2600" dirty="0"/>
              <a:t>PostgreSQL </a:t>
            </a:r>
            <a:r>
              <a:rPr lang="ru-RU" sz="2600" dirty="0"/>
              <a:t>выступает </a:t>
            </a:r>
            <a:r>
              <a:rPr lang="en-US" sz="2600" dirty="0"/>
              <a:t>        </a:t>
            </a:r>
            <a:r>
              <a:rPr lang="ru-RU" sz="2600" dirty="0"/>
              <a:t> </a:t>
            </a:r>
            <a:endParaRPr lang="en-US" sz="2600" dirty="0"/>
          </a:p>
          <a:p>
            <a:pPr algn="just"/>
            <a:r>
              <a:rPr lang="en-US" sz="2600" dirty="0"/>
              <a:t>                 </a:t>
            </a:r>
            <a:r>
              <a:rPr lang="ru-RU" sz="2600" dirty="0"/>
              <a:t>имя схемы</a:t>
            </a:r>
            <a:endParaRPr lang="en-US" sz="2600" dirty="0"/>
          </a:p>
          <a:p>
            <a:pPr>
              <a:spcBef>
                <a:spcPts val="1200"/>
              </a:spcBef>
            </a:pPr>
            <a:r>
              <a:rPr lang="ru-RU" sz="2400" i="1" dirty="0" smtClean="0"/>
              <a:t>Пример</a:t>
            </a:r>
            <a:r>
              <a:rPr lang="ru-RU" sz="2400" i="1" dirty="0" smtClean="0">
                <a:latin typeface="Courier New" pitchFamily="49" charset="0"/>
                <a:cs typeface="Courier New" pitchFamily="49" charset="0"/>
              </a:rPr>
              <a:t>:    </a:t>
            </a:r>
            <a:r>
              <a:rPr lang="en-US" sz="2400" i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i="1" dirty="0" smtClean="0">
                <a:latin typeface="Courier New" pitchFamily="49" charset="0"/>
                <a:cs typeface="Courier New" pitchFamily="49" charset="0"/>
              </a:rPr>
              <a:t>kart</a:t>
            </a:r>
            <a:r>
              <a:rPr lang="ru-RU" sz="2400" i="1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ru-RU" sz="2400" i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ru-RU" sz="2400" dirty="0"/>
              <a:t>                      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prod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kart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          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5115928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Определение  таблицы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19" y="1484784"/>
            <a:ext cx="889248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ru-RU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400" b="1" spc="-1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список </a:t>
            </a:r>
            <a:r>
              <a:rPr lang="ru-RU" sz="2400" b="1" spc="-1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табличных элементов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dirty="0"/>
              <a:t> </a:t>
            </a:r>
          </a:p>
          <a:p>
            <a:r>
              <a:rPr lang="ru-RU" sz="2200" dirty="0"/>
              <a:t>где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r>
              <a:rPr lang="ru-RU" sz="2400" b="1" spc="-1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табличный элемент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::=</a:t>
            </a:r>
            <a:r>
              <a:rPr lang="ru-RU" sz="24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ru-RU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определение колонки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|</a:t>
            </a:r>
            <a:endParaRPr lang="ru-RU" sz="2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spc="-100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определение ограничения целостности таблицы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sz="2400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 marL="352425" indent="-352425">
              <a:spcBef>
                <a:spcPts val="1800"/>
              </a:spcBef>
              <a:buFont typeface="Wingdings" pitchFamily="2" charset="2"/>
              <a:buChar char="§"/>
            </a:pPr>
            <a:endParaRPr lang="ru-RU" sz="2400" dirty="0"/>
          </a:p>
          <a:p>
            <a:pPr marL="352425" indent="-352425">
              <a:spcBef>
                <a:spcPts val="1800"/>
              </a:spcBef>
              <a:buFont typeface="Wingdings" pitchFamily="2" charset="2"/>
              <a:buChar char="§"/>
            </a:pPr>
            <a:r>
              <a:rPr lang="ru-RU" sz="2400" dirty="0"/>
              <a:t>элементы списка разделяются запятыми </a:t>
            </a:r>
          </a:p>
          <a:p>
            <a:pPr marL="352425" indent="-352425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требуется наличие определения хотя бы 1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345747602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Определение  колонки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19" y="1484784"/>
            <a:ext cx="875299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определение колонки</a:t>
            </a:r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::=  </a:t>
            </a:r>
            <a:r>
              <a:rPr lang="ru-RU" sz="26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имяКолонки</a:t>
            </a:r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6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тип</a:t>
            </a:r>
          </a:p>
          <a:p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[</a:t>
            </a:r>
            <a:r>
              <a:rPr lang="ru-RU" sz="2600" b="1" dirty="0">
                <a:solidFill>
                  <a:schemeClr val="accent4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значение по умолчанию</a:t>
            </a:r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 [</a:t>
            </a:r>
            <a:r>
              <a:rPr lang="ru-RU" sz="2600" b="1" dirty="0">
                <a:solidFill>
                  <a:schemeClr val="accent4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ограничение</a:t>
            </a:r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sz="2400" dirty="0"/>
              <a:t>Обязательной частью является имя колонки и ее тип данных (базовый тип или домен)</a:t>
            </a:r>
            <a:endParaRPr lang="ru-RU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26672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Значение по умолчанию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68760"/>
            <a:ext cx="8752995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значение по умолчанию</a:t>
            </a:r>
            <a:r>
              <a:rPr lang="ru-RU" sz="26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::=</a:t>
            </a:r>
          </a:p>
          <a:p>
            <a:r>
              <a:rPr lang="ru-RU" sz="26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2600" b="1" dirty="0">
                <a:solidFill>
                  <a:schemeClr val="accent3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DEFAULT</a:t>
            </a:r>
            <a:r>
              <a:rPr lang="ru-RU" sz="2600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{ литерал | </a:t>
            </a:r>
          </a:p>
          <a:p>
            <a:r>
              <a:rPr lang="ru-RU" sz="26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стандартная именованная константа}</a:t>
            </a:r>
          </a:p>
          <a:p>
            <a:pPr lvl="0">
              <a:spcBef>
                <a:spcPts val="1800"/>
              </a:spcBef>
            </a:pPr>
            <a:r>
              <a:rPr lang="ru-RU" sz="2200" dirty="0"/>
              <a:t>Литерал</a:t>
            </a:r>
            <a:r>
              <a:rPr lang="en-US" sz="2200" dirty="0"/>
              <a:t> </a:t>
            </a:r>
            <a:r>
              <a:rPr lang="ru-RU" sz="2200" dirty="0"/>
              <a:t>или</a:t>
            </a:r>
            <a:r>
              <a:rPr lang="en-US" sz="2200" dirty="0"/>
              <a:t> </a:t>
            </a:r>
            <a:r>
              <a:rPr lang="ru-RU" sz="2200" dirty="0"/>
              <a:t>стандартная именованная константа  должны иметь тип, соответствующий типу колонки</a:t>
            </a:r>
          </a:p>
          <a:p>
            <a:pPr lvl="0"/>
            <a:endParaRPr lang="ru-RU" sz="1200" dirty="0"/>
          </a:p>
          <a:p>
            <a:pPr>
              <a:spcBef>
                <a:spcPts val="1200"/>
              </a:spcBef>
            </a:pPr>
            <a:r>
              <a:rPr lang="ru-RU" sz="2200" dirty="0"/>
              <a:t>В стандарте </a:t>
            </a:r>
            <a:r>
              <a:rPr lang="en-US" sz="2200" dirty="0"/>
              <a:t>SQL</a:t>
            </a:r>
            <a:r>
              <a:rPr lang="ru-RU" sz="2200" dirty="0"/>
              <a:t>  определены именованные константы</a:t>
            </a:r>
            <a:r>
              <a:rPr lang="ru-RU" sz="22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200" dirty="0"/>
              <a:t> </a:t>
            </a:r>
          </a:p>
          <a:p>
            <a:pPr marL="542925"/>
            <a:r>
              <a:rPr lang="ru-RU" sz="2200" b="1" dirty="0"/>
              <a:t>USER -</a:t>
            </a:r>
            <a:r>
              <a:rPr lang="ru-RU" sz="2200" dirty="0"/>
              <a:t> имя текущего пользователя (символьный тип)</a:t>
            </a:r>
          </a:p>
          <a:p>
            <a:pPr marL="542925"/>
            <a:r>
              <a:rPr lang="ru-RU" sz="2200" b="1" dirty="0"/>
              <a:t>NULL</a:t>
            </a:r>
            <a:r>
              <a:rPr lang="ru-RU" sz="2200" dirty="0"/>
              <a:t> - неопределенное значение</a:t>
            </a:r>
          </a:p>
          <a:p>
            <a:r>
              <a:rPr lang="ru-RU" sz="2200" dirty="0"/>
              <a:t> </a:t>
            </a:r>
          </a:p>
          <a:p>
            <a:r>
              <a:rPr lang="ru-RU" sz="2200" dirty="0"/>
              <a:t>В </a:t>
            </a:r>
            <a:r>
              <a:rPr lang="en-US" sz="2200" dirty="0"/>
              <a:t>PostgreSQL</a:t>
            </a:r>
            <a:r>
              <a:rPr lang="ru-RU" sz="2200" dirty="0"/>
              <a:t> дополнительно определены константы</a:t>
            </a:r>
            <a:r>
              <a:rPr lang="ru-RU" sz="2200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200" dirty="0"/>
              <a:t> 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                                 </a:t>
            </a:r>
            <a:r>
              <a:rPr lang="en-US" sz="24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CURRENT_DATE</a:t>
            </a:r>
            <a:endParaRPr lang="ru-RU" sz="24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65450"/>
            <a:r>
              <a:rPr lang="en-US" sz="24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CURRENT_TIME</a:t>
            </a:r>
            <a:endParaRPr lang="ru-RU" sz="24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65450"/>
            <a:r>
              <a:rPr lang="en-US" sz="2400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CURRENT_TIMESTAMP</a:t>
            </a:r>
            <a:endParaRPr lang="ru-RU" sz="2400" b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endParaRPr lang="ru-RU" sz="2400" dirty="0"/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74103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Ограничение 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колонки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3" y="1268760"/>
            <a:ext cx="860733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ограничение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::= {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NOT NULL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ru-RU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ограничение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уникальности 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| </a:t>
            </a:r>
          </a:p>
          <a:p>
            <a:r>
              <a:rPr lang="en-US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ссылочное </a:t>
            </a:r>
            <a:r>
              <a:rPr lang="ru-RU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ограничение</a:t>
            </a:r>
            <a:r>
              <a:rPr lang="en-US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ru-RU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ru-RU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CHECK 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(условие)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ru-RU" sz="2400" dirty="0"/>
          </a:p>
          <a:p>
            <a:pPr marL="352425" indent="-352425" algn="just">
              <a:buFont typeface="Wingdings" pitchFamily="2" charset="2"/>
              <a:buChar char="§"/>
            </a:pPr>
            <a:r>
              <a:rPr lang="ru-RU" sz="2200" dirty="0"/>
              <a:t>NOT NULL - если значение колонки по умолчанию не определено, то незаданное значение приведет к ошибке</a:t>
            </a:r>
          </a:p>
          <a:p>
            <a:pPr marL="352425" indent="-352425" algn="just">
              <a:buFont typeface="Wingdings" pitchFamily="2" charset="2"/>
              <a:buChar char="§"/>
            </a:pPr>
            <a:r>
              <a:rPr lang="ru-RU" sz="2200" dirty="0">
                <a:latin typeface="+mj-lt"/>
                <a:cs typeface="Courier New" pitchFamily="49" charset="0"/>
              </a:rPr>
              <a:t>Ссылочное ограничение </a:t>
            </a:r>
            <a:r>
              <a:rPr lang="ru-RU" sz="2200" dirty="0" smtClean="0">
                <a:latin typeface="+mj-lt"/>
                <a:cs typeface="Courier New" pitchFamily="49" charset="0"/>
              </a:rPr>
              <a:t>и ограничение уникальности чаще указываются </a:t>
            </a:r>
            <a:r>
              <a:rPr lang="ru-RU" sz="2200" dirty="0">
                <a:latin typeface="+mj-lt"/>
                <a:cs typeface="Courier New" pitchFamily="49" charset="0"/>
              </a:rPr>
              <a:t>как ограничение таблицы</a:t>
            </a:r>
          </a:p>
          <a:p>
            <a:pPr marL="352425" indent="-352425">
              <a:buFont typeface="Wingdings" pitchFamily="2" charset="2"/>
              <a:buChar char="§"/>
            </a:pPr>
            <a:r>
              <a:rPr lang="en-US" sz="2400" dirty="0"/>
              <a:t>CHECK </a:t>
            </a:r>
            <a:r>
              <a:rPr lang="ru-RU" sz="2400" dirty="0"/>
              <a:t>- проверочное ограничение колонки (задается логическим выражением)</a:t>
            </a:r>
            <a:endParaRPr lang="ru-RU" sz="2200" dirty="0">
              <a:latin typeface="+mj-lt"/>
              <a:cs typeface="Courier New" pitchFamily="49" charset="0"/>
            </a:endParaRPr>
          </a:p>
          <a:p>
            <a:pPr lvl="0"/>
            <a:endParaRPr lang="ru-RU" sz="2400" dirty="0"/>
          </a:p>
          <a:p>
            <a:pPr lvl="0"/>
            <a:r>
              <a:rPr lang="ru-RU" sz="2400" dirty="0"/>
              <a:t>Для колонки можно задать несколько ограничений</a:t>
            </a:r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2019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Примеры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96752"/>
            <a:ext cx="89644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1) </a:t>
            </a:r>
            <a:r>
              <a:rPr lang="ru-RU" sz="2400" dirty="0">
                <a:latin typeface="+mj-lt"/>
                <a:cs typeface="Courier New" pitchFamily="49" charset="0"/>
              </a:rPr>
              <a:t>Колонка </a:t>
            </a:r>
            <a:r>
              <a:rPr lang="ru-RU" sz="2400" i="1" dirty="0" smtClean="0">
                <a:latin typeface="+mj-lt"/>
                <a:cs typeface="Courier New" pitchFamily="49" charset="0"/>
              </a:rPr>
              <a:t>Код продукции</a:t>
            </a:r>
            <a:endParaRPr lang="ru-RU" sz="2400" i="1" dirty="0">
              <a:latin typeface="+mj-lt"/>
              <a:cs typeface="Courier New" pitchFamily="49" charset="0"/>
            </a:endParaRPr>
          </a:p>
          <a:p>
            <a:pPr marL="803275"/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3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3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3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INTEGER</a:t>
            </a:r>
            <a:r>
              <a:rPr lang="en-US" sz="23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3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NOT </a:t>
            </a:r>
            <a:r>
              <a:rPr lang="en-US" sz="23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NULL</a:t>
            </a:r>
            <a:endParaRPr lang="ru-RU" sz="2300" b="1" dirty="0">
              <a:solidFill>
                <a:schemeClr val="accent3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2) </a:t>
            </a:r>
            <a:r>
              <a:rPr lang="ru-RU" sz="2400" dirty="0">
                <a:latin typeface="+mj-lt"/>
                <a:cs typeface="Courier New" pitchFamily="49" charset="0"/>
              </a:rPr>
              <a:t>Колонка </a:t>
            </a:r>
            <a:r>
              <a:rPr lang="ru-RU" sz="2400" dirty="0" smtClean="0">
                <a:latin typeface="+mj-lt"/>
                <a:cs typeface="Courier New" pitchFamily="49" charset="0"/>
              </a:rPr>
              <a:t>последовательного типа </a:t>
            </a:r>
            <a:r>
              <a:rPr lang="ru-RU" sz="2400" i="1" dirty="0" smtClean="0">
                <a:latin typeface="+mj-lt"/>
                <a:cs typeface="Courier New" pitchFamily="49" charset="0"/>
              </a:rPr>
              <a:t>Идентификатор</a:t>
            </a:r>
            <a:endParaRPr lang="ru-RU" sz="2400" i="1" dirty="0">
              <a:latin typeface="+mj-lt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NULL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nextval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book_seq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endParaRPr lang="ru-RU" sz="2400" b="1" dirty="0" smtClean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или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</a:p>
          <a:p>
            <a:endParaRPr lang="ru-RU" sz="2400" dirty="0">
              <a:latin typeface="+mj-lt"/>
              <a:cs typeface="Courier New" pitchFamily="49" charset="0"/>
            </a:endParaRPr>
          </a:p>
          <a:p>
            <a:r>
              <a:rPr lang="en-US" sz="2400" dirty="0" smtClean="0">
                <a:latin typeface="+mj-lt"/>
                <a:cs typeface="Courier New" pitchFamily="49" charset="0"/>
              </a:rPr>
              <a:t>3</a:t>
            </a:r>
            <a:r>
              <a:rPr lang="en-US" sz="2400" dirty="0">
                <a:latin typeface="+mj-lt"/>
                <a:cs typeface="Courier New" pitchFamily="49" charset="0"/>
              </a:rPr>
              <a:t>) </a:t>
            </a:r>
            <a:r>
              <a:rPr lang="ru-RU" sz="2400" dirty="0">
                <a:latin typeface="+mj-lt"/>
                <a:cs typeface="Courier New" pitchFamily="49" charset="0"/>
              </a:rPr>
              <a:t>Колонка </a:t>
            </a:r>
            <a:r>
              <a:rPr lang="ru-RU" sz="2400" i="1" dirty="0">
                <a:latin typeface="+mj-lt"/>
                <a:cs typeface="Courier New" pitchFamily="49" charset="0"/>
              </a:rPr>
              <a:t>Количество продукта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kol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NUMERIC(8,1)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DEFAULT 0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CHECK(</a:t>
            </a:r>
            <a:r>
              <a:rPr lang="en-US" sz="2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kol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&gt;=0)</a:t>
            </a:r>
            <a:endParaRPr lang="ru-RU" sz="2400" dirty="0">
              <a:solidFill>
                <a:srgbClr val="C00000"/>
              </a:solidFill>
            </a:endParaRPr>
          </a:p>
          <a:p>
            <a:pPr marL="352425" indent="-352425">
              <a:buFont typeface="Wingdings" pitchFamily="2" charset="2"/>
              <a:buChar char="§"/>
            </a:pPr>
            <a:endParaRPr lang="ru-RU" sz="2400" dirty="0"/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39608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Табличные ограничения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68760"/>
            <a:ext cx="875299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ограничение целостности таблицы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::=</a:t>
            </a:r>
          </a:p>
          <a:p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{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ограничение уникальности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|</a:t>
            </a:r>
          </a:p>
          <a:p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ссылочное ограничение 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|</a:t>
            </a:r>
          </a:p>
          <a:p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проверочное ограничение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52425" indent="-352425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 smtClean="0"/>
              <a:t>Для </a:t>
            </a:r>
            <a:r>
              <a:rPr lang="ru-RU" sz="2400" dirty="0"/>
              <a:t>таблицы может быть задано несколько ограничений целостности </a:t>
            </a:r>
          </a:p>
          <a:p>
            <a:pPr marL="352425" indent="-352425" algn="just">
              <a:buFont typeface="Wingdings" pitchFamily="2" charset="2"/>
              <a:buChar char="§"/>
            </a:pPr>
            <a:r>
              <a:rPr lang="ru-RU" sz="2400" dirty="0"/>
              <a:t>Ограничения таблицы проверяются при выполнении каждого оператора </a:t>
            </a:r>
            <a:r>
              <a:rPr lang="ru-RU" sz="2400" dirty="0" smtClean="0"/>
              <a:t>SQL</a:t>
            </a:r>
          </a:p>
          <a:p>
            <a:pPr marL="352425" indent="-352425" algn="just">
              <a:buFont typeface="Wingdings" pitchFamily="2" charset="2"/>
              <a:buChar char="§"/>
            </a:pPr>
            <a:r>
              <a:rPr lang="ru-RU" sz="2400" dirty="0" smtClean="0"/>
              <a:t>Каждому ограничению СУБД присваивает имя по определенным правилам</a:t>
            </a:r>
          </a:p>
          <a:p>
            <a:pPr marL="352425" indent="-352425" algn="just">
              <a:buFont typeface="Wingdings" pitchFamily="2" charset="2"/>
              <a:buChar char="§"/>
            </a:pPr>
            <a:r>
              <a:rPr lang="ru-RU" sz="2400" dirty="0" smtClean="0">
                <a:latin typeface="+mj-lt"/>
                <a:cs typeface="Cascadia Code SemiBold" panose="020B0609020000020004" pitchFamily="49" charset="0"/>
              </a:rPr>
              <a:t>Чтобы задать ограничению свое имя добавляется ключевое слово </a:t>
            </a:r>
            <a:r>
              <a:rPr lang="en-US" sz="2400" dirty="0" smtClean="0">
                <a:latin typeface="+mj-lt"/>
                <a:cs typeface="Cascadia Code SemiBold" panose="020B0609020000020004" pitchFamily="49" charset="0"/>
              </a:rPr>
              <a:t>CONSTRAINT</a:t>
            </a:r>
          </a:p>
          <a:p>
            <a:pPr algn="just"/>
            <a:r>
              <a:rPr lang="en-US" sz="2400" dirty="0">
                <a:latin typeface="+mj-lt"/>
                <a:cs typeface="Cascadia Code SemiBold" panose="020B0609020000020004" pitchFamily="49" charset="0"/>
              </a:rPr>
              <a:t> </a:t>
            </a:r>
            <a:r>
              <a:rPr lang="en-US" sz="2400" dirty="0" smtClean="0">
                <a:latin typeface="+mj-lt"/>
                <a:cs typeface="Cascadia Code SemiBold" panose="020B0609020000020004" pitchFamily="49" charset="0"/>
              </a:rPr>
              <a:t>     </a:t>
            </a:r>
            <a:r>
              <a:rPr lang="ru-RU" sz="2400" dirty="0" smtClean="0">
                <a:latin typeface="+mj-lt"/>
                <a:cs typeface="Cascadia Code SemiBold" panose="020B0609020000020004" pitchFamily="49" charset="0"/>
              </a:rPr>
              <a:t>        </a:t>
            </a:r>
            <a:r>
              <a:rPr lang="en-US" sz="2400" dirty="0" smtClean="0">
                <a:latin typeface="+mj-lt"/>
                <a:cs typeface="Cascadia Code SemiBold" panose="020B06090200000200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 </a:t>
            </a:r>
            <a:r>
              <a:rPr lang="ru-RU" sz="2400" b="1" dirty="0" smtClean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</a:t>
            </a:r>
            <a:r>
              <a:rPr lang="ru-RU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граничение</a:t>
            </a:r>
            <a:endParaRPr lang="ru-RU" sz="24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1222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Ограничение уникальности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06" y="1268760"/>
            <a:ext cx="88930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ограничение уникальности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::=</a:t>
            </a:r>
          </a:p>
          <a:p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{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PRIMARY KEY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(список колонок) |</a:t>
            </a:r>
          </a:p>
          <a:p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UNIQUE</a:t>
            </a:r>
            <a:r>
              <a:rPr lang="ru-RU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(список колонок)     }</a:t>
            </a:r>
          </a:p>
          <a:p>
            <a:pPr marL="352425" indent="-352425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Может быть определено только одно ограничение первичного ключа (с ключевым словом </a:t>
            </a:r>
            <a:r>
              <a:rPr lang="en-US" sz="2400" dirty="0"/>
              <a:t>P</a:t>
            </a:r>
            <a:r>
              <a:rPr lang="ru-RU" sz="2400" dirty="0"/>
              <a:t>RIMARY KEY) и произвольное количество ограничений </a:t>
            </a:r>
            <a:r>
              <a:rPr lang="en-US" sz="2400" dirty="0"/>
              <a:t>UNIQUE</a:t>
            </a:r>
            <a:endParaRPr lang="ru-RU" sz="2400" dirty="0"/>
          </a:p>
          <a:p>
            <a:pPr marL="352425" indent="-352425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400" dirty="0"/>
              <a:t>Действие ограничения уникальности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ru-RU" sz="2400" dirty="0">
                <a:latin typeface="+mj-lt"/>
                <a:cs typeface="Courier New" pitchFamily="49" charset="0"/>
              </a:rPr>
              <a:t>н</a:t>
            </a:r>
            <a:r>
              <a:rPr lang="ru-RU" sz="2400" dirty="0"/>
              <a:t>е допускается появление двух или более строк, у которых значения колонок, входящих в ключ совпадают </a:t>
            </a:r>
          </a:p>
          <a:p>
            <a:pPr marL="352425" indent="-352425" algn="just">
              <a:spcBef>
                <a:spcPts val="600"/>
              </a:spcBef>
              <a:buFont typeface="Wingdings" pitchFamily="2" charset="2"/>
              <a:buChar char="§"/>
            </a:pPr>
            <a:r>
              <a:rPr lang="ru-RU" sz="2400" dirty="0"/>
              <a:t>Столбцы, входящие в </a:t>
            </a:r>
            <a:r>
              <a:rPr lang="en-US" sz="2400" dirty="0"/>
              <a:t>PRIMARY KEY</a:t>
            </a:r>
            <a:r>
              <a:rPr lang="ru-RU" sz="2400" dirty="0"/>
              <a:t> не могут содержать </a:t>
            </a:r>
            <a:r>
              <a:rPr lang="en-US" sz="2400" dirty="0"/>
              <a:t>NULL</a:t>
            </a:r>
            <a:r>
              <a:rPr lang="ru-RU" sz="2400" dirty="0"/>
              <a:t>, а для ограничения </a:t>
            </a:r>
            <a:r>
              <a:rPr lang="en-US" sz="2400" dirty="0"/>
              <a:t>UNIQUE</a:t>
            </a:r>
            <a:r>
              <a:rPr lang="ru-RU" sz="2400" dirty="0"/>
              <a:t> – это </a:t>
            </a:r>
            <a:r>
              <a:rPr lang="ru-RU" sz="2400" dirty="0" smtClean="0"/>
              <a:t>допускается</a:t>
            </a:r>
            <a:r>
              <a:rPr lang="en-US" sz="2400" dirty="0" smtClean="0"/>
              <a:t> (</a:t>
            </a:r>
            <a:r>
              <a:rPr lang="ru-RU" sz="2400" dirty="0" smtClean="0"/>
              <a:t>можно запретить </a:t>
            </a:r>
            <a:r>
              <a:rPr lang="en-US" sz="2400" dirty="0" smtClean="0"/>
              <a:t>NULL)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00594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Примеры ограничений уникальности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340768"/>
            <a:ext cx="878497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  <a:cs typeface="Courier New" pitchFamily="49" charset="0"/>
              </a:rPr>
              <a:t>1) Ограничение первичного ключа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CONSTRAINT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prod_pk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PRIMARY KEY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6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      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endParaRPr lang="en-US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2) </a:t>
            </a:r>
            <a:r>
              <a:rPr lang="ru-RU" sz="2400" dirty="0">
                <a:latin typeface="+mj-lt"/>
                <a:cs typeface="Courier New" pitchFamily="49" charset="0"/>
              </a:rPr>
              <a:t>Ограничение уникальности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CONSTRAINT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prod_uq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UNIQUE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6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prod_name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6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8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446088" indent="-446088"/>
            <a:r>
              <a:rPr lang="ru-RU" sz="2400" dirty="0" smtClean="0">
                <a:cs typeface="Courier New" pitchFamily="49" charset="0"/>
              </a:rPr>
              <a:t>3</a:t>
            </a:r>
            <a:r>
              <a:rPr lang="en-US" sz="2400" dirty="0" smtClean="0">
                <a:cs typeface="Courier New" pitchFamily="49" charset="0"/>
              </a:rPr>
              <a:t>) </a:t>
            </a:r>
            <a:r>
              <a:rPr lang="ru-RU" sz="2400" dirty="0">
                <a:cs typeface="Courier New" pitchFamily="49" charset="0"/>
              </a:rPr>
              <a:t>Ограничение </a:t>
            </a:r>
            <a:r>
              <a:rPr lang="ru-RU" sz="2400" dirty="0" smtClean="0">
                <a:cs typeface="Courier New" pitchFamily="49" charset="0"/>
              </a:rPr>
              <a:t>уникальности не допускающее значения </a:t>
            </a:r>
            <a:r>
              <a:rPr lang="en-US" sz="2400" dirty="0" smtClean="0">
                <a:cs typeface="Courier New" pitchFamily="49" charset="0"/>
              </a:rPr>
              <a:t>NULL</a:t>
            </a:r>
            <a:endParaRPr lang="ru-RU" sz="2400" dirty="0">
              <a:cs typeface="Courier New" pitchFamily="49" charset="0"/>
            </a:endParaRPr>
          </a:p>
          <a:p>
            <a:r>
              <a:rPr lang="ru-RU" sz="2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CONSTRAINT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prod_uq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UNIQUE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26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NULLS </a:t>
            </a:r>
            <a:r>
              <a:rPr lang="en-US" sz="2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DISTINCT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prod_name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6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4564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Ссылочное ограничение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96752"/>
            <a:ext cx="896448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Ограничение по ссылкам  ::=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CONSTRAINT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FOREIGN KEY </a:t>
            </a:r>
            <a:endParaRPr lang="en-US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список колонок внешнего ключа</a:t>
            </a:r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sz="2400" b="1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REFERENCES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имя ссылочной таблицы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[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список колонок ключа в ссылочной таблице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)]</a:t>
            </a:r>
            <a:endParaRPr lang="en-US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ru-RU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действия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pPr marL="274638" indent="-274638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200" dirty="0"/>
              <a:t>Список столбцов, указанный в ограничении по ссылкам, должен входить в ограничении уникальности </a:t>
            </a:r>
            <a:r>
              <a:rPr lang="ru-RU" sz="2200" dirty="0" smtClean="0"/>
              <a:t>ссылочной </a:t>
            </a:r>
            <a:r>
              <a:rPr lang="ru-RU" sz="2200" dirty="0"/>
              <a:t>таблицы (</a:t>
            </a:r>
            <a:r>
              <a:rPr lang="en-US" sz="2200" dirty="0"/>
              <a:t>Primary Key</a:t>
            </a:r>
            <a:r>
              <a:rPr lang="ru-RU" sz="2200" dirty="0"/>
              <a:t> или </a:t>
            </a:r>
            <a:r>
              <a:rPr lang="en-US" sz="2200" dirty="0"/>
              <a:t>Unique</a:t>
            </a:r>
            <a:r>
              <a:rPr lang="ru-RU" sz="2200" dirty="0"/>
              <a:t>)</a:t>
            </a:r>
          </a:p>
          <a:p>
            <a:pPr marL="274638" indent="-274638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200" dirty="0"/>
              <a:t>Ограничение по ссылкам удовлетворяется, если для каждой ссылки существует объект, на который она ссылается (отсутствуют "висячие" ссылки, не ведущие ни к какому объекту)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2435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Ссылочное ограничение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68760"/>
            <a:ext cx="875299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Параметр «</a:t>
            </a:r>
            <a:r>
              <a:rPr lang="ru-RU" sz="2400" dirty="0" smtClean="0">
                <a:solidFill>
                  <a:srgbClr val="0070C0"/>
                </a:solidFill>
              </a:rPr>
              <a:t>д</a:t>
            </a:r>
            <a:r>
              <a:rPr lang="ru-RU" sz="2400" b="1" dirty="0" smtClean="0">
                <a:solidFill>
                  <a:srgbClr val="0070C0"/>
                </a:solidFill>
              </a:rPr>
              <a:t>ействия</a:t>
            </a:r>
            <a:r>
              <a:rPr lang="ru-RU" sz="2400" dirty="0"/>
              <a:t>» определяют компенсирующие действия, которые должны выполняться при изменениях в </a:t>
            </a:r>
            <a:r>
              <a:rPr lang="ru-RU" sz="2400" dirty="0" smtClean="0"/>
              <a:t>ссылочной (главной) таблице</a:t>
            </a:r>
            <a:endParaRPr lang="ru-RU" sz="2400" dirty="0"/>
          </a:p>
          <a:p>
            <a:endParaRPr lang="ru-RU" sz="2400" dirty="0"/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ON { UPDATE | DELETE }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{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NO ACTION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|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CASCADE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|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RESTRICT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| </a:t>
            </a:r>
            <a:endParaRPr lang="en-US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          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SET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NULL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|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SET DEFAULT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dirty="0"/>
          </a:p>
          <a:p>
            <a:r>
              <a:rPr lang="ru-RU" sz="2400" dirty="0"/>
              <a:t>По умолчанию </a:t>
            </a:r>
            <a:r>
              <a:rPr lang="ru-RU" sz="2400" dirty="0" smtClean="0"/>
              <a:t>– </a:t>
            </a:r>
            <a:r>
              <a:rPr lang="en-US" sz="26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ACTION</a:t>
            </a:r>
            <a:endParaRPr lang="ru-RU" sz="26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299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-31098" y="476672"/>
            <a:ext cx="936104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spc="-100" dirty="0" smtClean="0">
                <a:latin typeface="Arial" pitchFamily="34" charset="0"/>
                <a:cs typeface="Arial" pitchFamily="34" charset="0"/>
              </a:rPr>
              <a:t>Варианты действий в ссылочном ограничении</a:t>
            </a:r>
            <a:endParaRPr lang="ru-RU" sz="3200" spc="-1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333241"/>
              </p:ext>
            </p:extLst>
          </p:nvPr>
        </p:nvGraphicFramePr>
        <p:xfrm>
          <a:off x="251519" y="1052736"/>
          <a:ext cx="8608980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3"/>
                <a:gridCol w="652074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Дейстие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/>
                        <a:t>RESTRICT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Предотвращает удаление или изменение  ключа при наличии ссылок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22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ACTION 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Аналогично предыдущему. Проверка откладывается до конца транзакции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22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CASCADE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удалении  или изменении  ключа зависимые от него строки будут так же автоматически удалены или изменены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22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NULL 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удалении  или изменении  ключа </a:t>
                      </a:r>
                    </a:p>
                    <a:p>
                      <a:r>
                        <a:rPr kumimoji="0" lang="ru-RU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колонкам внешнего ключа в подчинённой таблице присваиваются значения NULL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dirty="0" smtClean="0"/>
                        <a:t>SET</a:t>
                      </a:r>
                      <a:r>
                        <a:rPr lang="en-US" sz="2200" baseline="0" dirty="0" smtClean="0"/>
                        <a:t> DEFAULT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 удалении  или изменении  ключа </a:t>
                      </a:r>
                    </a:p>
                    <a:p>
                      <a:r>
                        <a:rPr kumimoji="0" lang="ru-RU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колонкам внешнего ключа в подчинённой таблице присваивается значение по умолчанию (должно соответствовать ограничению внешнего ключа)</a:t>
                      </a:r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54963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-108520" y="404664"/>
            <a:ext cx="936104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spc="-100" dirty="0" smtClean="0">
                <a:latin typeface="Arial" pitchFamily="34" charset="0"/>
                <a:cs typeface="Arial" pitchFamily="34" charset="0"/>
              </a:rPr>
              <a:t>Выбор варианта действий</a:t>
            </a:r>
            <a:endParaRPr lang="ru-RU" sz="3200" spc="-1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1268760"/>
            <a:ext cx="864096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 smtClean="0"/>
              <a:t>Выбор варианта </a:t>
            </a:r>
            <a:r>
              <a:rPr lang="ru-RU" sz="2200" dirty="0"/>
              <a:t>действия </a:t>
            </a:r>
            <a:r>
              <a:rPr lang="ru-RU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</a:t>
            </a:r>
            <a:r>
              <a:rPr lang="ru-RU" sz="2200" dirty="0"/>
              <a:t> </a:t>
            </a:r>
            <a:r>
              <a:rPr lang="ru-RU" sz="2200" dirty="0" smtClean="0"/>
              <a:t> </a:t>
            </a:r>
            <a:r>
              <a:rPr lang="ru-RU" sz="2200" dirty="0"/>
              <a:t>зависит от того, какие типы объектов представляются в связанных </a:t>
            </a:r>
            <a:r>
              <a:rPr lang="ru-RU" sz="2200" dirty="0" smtClean="0"/>
              <a:t>таблицах </a:t>
            </a:r>
          </a:p>
          <a:p>
            <a:endParaRPr lang="ru-RU" sz="2200" dirty="0"/>
          </a:p>
          <a:p>
            <a:pPr marL="342900" indent="-342900" algn="just">
              <a:buAutoNum type="arabicParenR"/>
            </a:pPr>
            <a:r>
              <a:rPr lang="ru-RU" sz="2200" dirty="0" smtClean="0"/>
              <a:t>Объект в </a:t>
            </a:r>
            <a:r>
              <a:rPr lang="ru-RU" sz="2200" dirty="0"/>
              <a:t>подчинённой таблице </a:t>
            </a:r>
            <a:r>
              <a:rPr lang="ru-RU" sz="2200" dirty="0" smtClean="0"/>
              <a:t>является </a:t>
            </a:r>
            <a:r>
              <a:rPr lang="ru-RU" sz="2200" dirty="0"/>
              <a:t>составной частью </a:t>
            </a:r>
            <a:r>
              <a:rPr lang="ru-RU" sz="2200" dirty="0" smtClean="0"/>
              <a:t>объекта </a:t>
            </a:r>
            <a:r>
              <a:rPr lang="ru-RU" sz="2200" dirty="0"/>
              <a:t>в главной </a:t>
            </a:r>
            <a:r>
              <a:rPr lang="ru-RU" sz="2200" dirty="0" smtClean="0"/>
              <a:t>таблице </a:t>
            </a:r>
            <a:r>
              <a:rPr lang="ru-RU" sz="2200" dirty="0"/>
              <a:t>и не </a:t>
            </a:r>
            <a:r>
              <a:rPr lang="ru-RU" sz="2200" dirty="0" smtClean="0"/>
              <a:t>может </a:t>
            </a:r>
            <a:r>
              <a:rPr lang="ru-RU" sz="2200" dirty="0"/>
              <a:t>существовать </a:t>
            </a:r>
            <a:r>
              <a:rPr lang="ru-RU" sz="2200" dirty="0" smtClean="0"/>
              <a:t>независимо</a:t>
            </a:r>
          </a:p>
          <a:p>
            <a:r>
              <a:rPr lang="ru-RU" sz="2200" dirty="0" smtClean="0"/>
              <a:t>     =</a:t>
            </a:r>
            <a:r>
              <a:rPr lang="en-US" sz="2200" dirty="0" smtClean="0"/>
              <a:t>&gt; </a:t>
            </a:r>
            <a:r>
              <a:rPr lang="ru-RU" sz="2200" dirty="0" smtClean="0"/>
              <a:t>можно </a:t>
            </a:r>
            <a:r>
              <a:rPr lang="ru-RU" sz="2200" dirty="0"/>
              <a:t>выбрать действие 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ru-RU" sz="2200" dirty="0" smtClean="0"/>
              <a:t> </a:t>
            </a:r>
            <a:endParaRPr lang="en-US" sz="2200" dirty="0" smtClean="0"/>
          </a:p>
          <a:p>
            <a:r>
              <a:rPr lang="en-US" sz="2200" dirty="0"/>
              <a:t> </a:t>
            </a:r>
            <a:r>
              <a:rPr lang="en-US" sz="2200" dirty="0" smtClean="0"/>
              <a:t>   </a:t>
            </a:r>
            <a:r>
              <a:rPr lang="ru-RU" sz="2200" i="1" dirty="0" smtClean="0"/>
              <a:t>Примеры</a:t>
            </a:r>
            <a:r>
              <a:rPr lang="ru-RU" sz="22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200" dirty="0" smtClean="0"/>
              <a:t> Книга продаж </a:t>
            </a:r>
            <a:r>
              <a:rPr lang="en-US" sz="2200" dirty="0" smtClean="0"/>
              <a:t> </a:t>
            </a:r>
            <a:r>
              <a:rPr lang="ru-RU" sz="2200" dirty="0" smtClean="0"/>
              <a:t>и</a:t>
            </a:r>
            <a:r>
              <a:rPr lang="en-US" sz="2200" dirty="0" smtClean="0"/>
              <a:t> </a:t>
            </a:r>
            <a:r>
              <a:rPr lang="ru-RU" sz="2200" dirty="0" smtClean="0"/>
              <a:t> Ассортимент продаж</a:t>
            </a:r>
          </a:p>
          <a:p>
            <a:r>
              <a:rPr lang="ru-RU" sz="2200" dirty="0"/>
              <a:t> </a:t>
            </a:r>
            <a:r>
              <a:rPr lang="ru-RU" sz="2200" dirty="0" smtClean="0"/>
              <a:t>                    Заказ </a:t>
            </a:r>
            <a:r>
              <a:rPr lang="en-US" sz="2200" dirty="0" smtClean="0"/>
              <a:t> </a:t>
            </a:r>
            <a:r>
              <a:rPr lang="ru-RU" sz="2200" dirty="0" smtClean="0"/>
              <a:t>и </a:t>
            </a:r>
            <a:r>
              <a:rPr lang="en-US" sz="2200" dirty="0" smtClean="0"/>
              <a:t> </a:t>
            </a:r>
            <a:r>
              <a:rPr lang="ru-RU" sz="2200" dirty="0" smtClean="0"/>
              <a:t>Детализация заказа</a:t>
            </a:r>
          </a:p>
          <a:p>
            <a:r>
              <a:rPr lang="ru-RU" sz="2200" dirty="0" smtClean="0"/>
              <a:t>2) Объекты двух таблиц являются независимыми </a:t>
            </a:r>
          </a:p>
          <a:p>
            <a:r>
              <a:rPr lang="ru-RU" sz="2200" dirty="0"/>
              <a:t> </a:t>
            </a:r>
            <a:r>
              <a:rPr lang="ru-RU" sz="2200" dirty="0" smtClean="0"/>
              <a:t>   =</a:t>
            </a:r>
            <a:r>
              <a:rPr lang="en-US" sz="2200" dirty="0" smtClean="0"/>
              <a:t>&gt; </a:t>
            </a:r>
            <a:r>
              <a:rPr lang="ru-RU" sz="2200" dirty="0" smtClean="0"/>
              <a:t>правильным </a:t>
            </a:r>
            <a:r>
              <a:rPr lang="ru-RU" sz="2200" dirty="0"/>
              <a:t>будет </a:t>
            </a:r>
            <a:r>
              <a:rPr lang="ru-RU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RESTRICT</a:t>
            </a:r>
            <a:r>
              <a:rPr lang="ru-RU" sz="2200" dirty="0"/>
              <a:t> или </a:t>
            </a:r>
            <a:r>
              <a:rPr lang="ru-RU" sz="22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</a:t>
            </a:r>
            <a:r>
              <a:rPr lang="ru-RU" sz="22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  <a:p>
            <a:pPr marL="357188"/>
            <a:r>
              <a:rPr lang="en-US" sz="2200" dirty="0"/>
              <a:t> </a:t>
            </a:r>
            <a:r>
              <a:rPr lang="ru-RU" sz="2200" i="1" dirty="0"/>
              <a:t>Примеры</a:t>
            </a:r>
            <a:r>
              <a:rPr lang="ru-RU" sz="2200" i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200" dirty="0"/>
              <a:t> Книга продаж </a:t>
            </a:r>
            <a:r>
              <a:rPr lang="en-US" sz="2200" dirty="0" smtClean="0"/>
              <a:t> </a:t>
            </a:r>
            <a:r>
              <a:rPr lang="ru-RU" sz="2200" dirty="0" smtClean="0"/>
              <a:t>и</a:t>
            </a:r>
            <a:r>
              <a:rPr lang="en-US" sz="2200" dirty="0" smtClean="0"/>
              <a:t> </a:t>
            </a:r>
            <a:r>
              <a:rPr lang="ru-RU" sz="2200" dirty="0" smtClean="0"/>
              <a:t> Покупатель</a:t>
            </a:r>
            <a:endParaRPr lang="ru-RU" sz="2200" dirty="0"/>
          </a:p>
          <a:p>
            <a:r>
              <a:rPr lang="ru-RU" sz="2200" dirty="0"/>
              <a:t>                 </a:t>
            </a:r>
            <a:r>
              <a:rPr lang="ru-RU" sz="2200" dirty="0" smtClean="0"/>
              <a:t>     Ассортимент продаж  и  Продукция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09797911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Пример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24744"/>
            <a:ext cx="896448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ru-RU" sz="2400" dirty="0">
                <a:latin typeface="+mj-lt"/>
                <a:cs typeface="Courier New" pitchFamily="49" charset="0"/>
              </a:rPr>
              <a:t>Внешний ключ</a:t>
            </a:r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ru-RU" sz="2400" dirty="0">
                <a:latin typeface="+mj-lt"/>
                <a:cs typeface="Courier New" pitchFamily="49" charset="0"/>
              </a:rPr>
              <a:t> (колонка </a:t>
            </a:r>
            <a:r>
              <a:rPr lang="en-US" sz="2600" b="1" dirty="0" err="1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6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rod_kod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ru-RU" sz="2400" dirty="0" smtClean="0">
                <a:latin typeface="+mj-lt"/>
                <a:cs typeface="Courier New" pitchFamily="49" charset="0"/>
              </a:rPr>
              <a:t>таблицы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</a:t>
            </a:r>
            <a:r>
              <a:rPr lang="en-US" sz="2400" dirty="0" smtClean="0">
                <a:latin typeface="+mj-lt"/>
                <a:cs typeface="Courier New" pitchFamily="49" charset="0"/>
              </a:rPr>
              <a:t> </a:t>
            </a:r>
            <a:r>
              <a:rPr lang="ru-RU" sz="2400" dirty="0" smtClean="0">
                <a:latin typeface="+mj-lt"/>
                <a:cs typeface="Courier New" pitchFamily="49" charset="0"/>
              </a:rPr>
              <a:t>ссылается </a:t>
            </a:r>
            <a:r>
              <a:rPr lang="ru-RU" sz="2400" dirty="0">
                <a:latin typeface="+mj-lt"/>
                <a:cs typeface="Courier New" pitchFamily="49" charset="0"/>
              </a:rPr>
              <a:t>на таблицу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</a:t>
            </a:r>
            <a:endParaRPr lang="en-US" sz="26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 smtClean="0">
                <a:latin typeface="+mj-lt"/>
                <a:cs typeface="Courier New" pitchFamily="49" charset="0"/>
              </a:rPr>
              <a:t>Объекты таблиц являются независимыми</a:t>
            </a:r>
            <a:endParaRPr lang="en-US" sz="2400" dirty="0">
              <a:latin typeface="+mj-lt"/>
              <a:cs typeface="Courier New" pitchFamily="49" charset="0"/>
            </a:endParaRPr>
          </a:p>
          <a:p>
            <a:pPr marL="1174750" indent="-457200" defTabSz="765175"/>
            <a:endParaRPr lang="en-US" sz="2400" b="1" dirty="0" smtClean="0">
              <a:solidFill>
                <a:schemeClr val="accent3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525588" indent="-1525588" defTabSz="765175"/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kart_prod_fk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rod_kod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1525588" indent="-457200" defTabSz="765175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product(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rod_kod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525588" indent="-457200" defTabSz="765175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RESTRICT</a:t>
            </a:r>
          </a:p>
          <a:p>
            <a:pPr marL="1525588" indent="-457200" defTabSz="765175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UPDATE RESTRICT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620535"/>
            <a:ext cx="36195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07962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Пример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24744"/>
            <a:ext cx="896448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ru-RU" sz="2400" dirty="0">
                <a:latin typeface="+mj-lt"/>
                <a:cs typeface="Courier New" pitchFamily="49" charset="0"/>
              </a:rPr>
              <a:t>Внешний ключ</a:t>
            </a:r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ru-RU" sz="2400" dirty="0">
                <a:latin typeface="+mj-lt"/>
                <a:cs typeface="Courier New" pitchFamily="49" charset="0"/>
              </a:rPr>
              <a:t> (колонка </a:t>
            </a:r>
            <a:r>
              <a:rPr lang="en-US" sz="2600" b="1" dirty="0" err="1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ru-RU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ru-RU" sz="2400" dirty="0" smtClean="0">
                <a:latin typeface="+mj-lt"/>
                <a:cs typeface="Courier New" pitchFamily="49" charset="0"/>
              </a:rPr>
              <a:t>таблицы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</a:t>
            </a:r>
            <a:r>
              <a:rPr lang="en-US" sz="2400" dirty="0" smtClean="0">
                <a:latin typeface="+mj-lt"/>
                <a:cs typeface="Courier New" pitchFamily="49" charset="0"/>
              </a:rPr>
              <a:t> </a:t>
            </a:r>
            <a:r>
              <a:rPr lang="ru-RU" sz="2400" dirty="0" smtClean="0">
                <a:latin typeface="+mj-lt"/>
                <a:cs typeface="Courier New" pitchFamily="49" charset="0"/>
              </a:rPr>
              <a:t>ссылается </a:t>
            </a:r>
            <a:r>
              <a:rPr lang="ru-RU" sz="2400" dirty="0">
                <a:latin typeface="+mj-lt"/>
                <a:cs typeface="Courier New" pitchFamily="49" charset="0"/>
              </a:rPr>
              <a:t>на таблицу </a:t>
            </a:r>
            <a:r>
              <a:rPr lang="en-US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endParaRPr lang="en-US" sz="2600" b="1" dirty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7800"/>
            <a:r>
              <a:rPr lang="ru-RU" sz="2400" dirty="0" smtClean="0">
                <a:latin typeface="+mj-lt"/>
                <a:cs typeface="Courier New" pitchFamily="49" charset="0"/>
              </a:rPr>
              <a:t>Объекты таблицы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</a:t>
            </a:r>
            <a:r>
              <a:rPr lang="ru-RU" sz="2400" dirty="0" smtClean="0">
                <a:latin typeface="+mj-lt"/>
                <a:cs typeface="Courier New" pitchFamily="49" charset="0"/>
              </a:rPr>
              <a:t> являются составной частью объекта таблицы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</a:t>
            </a:r>
            <a:endParaRPr lang="en-US" sz="2400" dirty="0">
              <a:latin typeface="+mj-lt"/>
              <a:cs typeface="Courier New" pitchFamily="49" charset="0"/>
            </a:endParaRPr>
          </a:p>
          <a:p>
            <a:pPr marL="1525588" indent="-1525588" defTabSz="765175">
              <a:spcBef>
                <a:spcPts val="1200"/>
              </a:spcBef>
            </a:pPr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kart_book_fk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FOREIGN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1525588" indent="-457200" defTabSz="765175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REFERENCES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book(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book_id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525588" indent="-457200" defTabSz="765175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DELETE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525588" indent="-457200" defTabSz="765175"/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UPDATE CASCADE</a:t>
            </a:r>
            <a:endParaRPr lang="ru-RU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509120"/>
            <a:ext cx="7085013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663655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Проверочное ограничение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68760"/>
            <a:ext cx="875299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Проверочное ограничение </a:t>
            </a:r>
            <a:r>
              <a:rPr lang="ru-RU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::= </a:t>
            </a:r>
            <a:endParaRPr lang="en-US" sz="28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ru-RU" sz="2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CHECK (условие)</a:t>
            </a:r>
          </a:p>
          <a:p>
            <a:endParaRPr lang="en-US" sz="2400" dirty="0">
              <a:solidFill>
                <a:srgbClr val="7030A0"/>
              </a:solidFill>
            </a:endParaRPr>
          </a:p>
          <a:p>
            <a:pPr marL="357188" indent="-357188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Проверочное ограничение </a:t>
            </a:r>
            <a:r>
              <a:rPr lang="en-US" sz="2400" dirty="0"/>
              <a:t>CHECK</a:t>
            </a:r>
            <a:r>
              <a:rPr lang="ru-RU" sz="2400" dirty="0"/>
              <a:t> определяет условие, которому должны удовлетворять данные, вводимые в таблицу </a:t>
            </a:r>
            <a:endParaRPr lang="en-US" sz="2400" dirty="0"/>
          </a:p>
          <a:p>
            <a:pPr marL="357188" indent="-357188" algn="just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В него могут входить </a:t>
            </a:r>
            <a:r>
              <a:rPr lang="ru-RU" sz="2400" dirty="0" smtClean="0"/>
              <a:t>имена </a:t>
            </a:r>
            <a:r>
              <a:rPr lang="ru-RU" sz="2400" dirty="0"/>
              <a:t>колонок данной таблицы и литеральные константы</a:t>
            </a:r>
          </a:p>
          <a:p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44237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Примеры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023" y="1268760"/>
            <a:ext cx="83814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 algn="just"/>
            <a:r>
              <a:rPr lang="en-US" sz="2400" b="1" dirty="0">
                <a:cs typeface="Courier New" pitchFamily="49" charset="0"/>
              </a:rPr>
              <a:t>1</a:t>
            </a:r>
            <a:r>
              <a:rPr lang="en-US" sz="2400" dirty="0">
                <a:cs typeface="Courier New" pitchFamily="49" charset="0"/>
              </a:rPr>
              <a:t>.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dirty="0">
                <a:latin typeface="+mj-lt"/>
                <a:cs typeface="Courier New" pitchFamily="49" charset="0"/>
              </a:rPr>
              <a:t>Ограничение на колонку «Дата заключения договора не может превышать текущую»</a:t>
            </a:r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CHECK (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DAT_ZAKL &lt;= CURRENT 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DATE)</a:t>
            </a:r>
            <a:endParaRPr lang="ru-RU" sz="2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7629" y="3102059"/>
            <a:ext cx="83368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algn="just"/>
            <a:r>
              <a:rPr lang="ru-RU" sz="2400" b="1" dirty="0"/>
              <a:t>2</a:t>
            </a:r>
            <a:r>
              <a:rPr lang="ru-RU" sz="2400" dirty="0"/>
              <a:t>. Ограничение на таблицу «Дата окончания договора не может превышать Д</a:t>
            </a:r>
            <a:r>
              <a:rPr lang="ru-RU" sz="2400" dirty="0" smtClean="0"/>
              <a:t>ату </a:t>
            </a:r>
            <a:r>
              <a:rPr lang="ru-RU" sz="2400" dirty="0"/>
              <a:t>заключения»</a:t>
            </a:r>
          </a:p>
          <a:p>
            <a:pPr marL="450850" indent="-450850">
              <a:spcBef>
                <a:spcPts val="1200"/>
              </a:spcBef>
            </a:pP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CHECK (</a:t>
            </a: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DAT_ZAKL &lt;= DAT_FINISH</a:t>
            </a:r>
            <a:r>
              <a:rPr lang="en-US" sz="26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600" b="1" dirty="0">
              <a:latin typeface="Courier New" pitchFamily="49" charset="0"/>
              <a:cs typeface="Courier New" pitchFamily="49" charset="0"/>
            </a:endParaRPr>
          </a:p>
          <a:p>
            <a:pPr marL="450850" indent="-450850">
              <a:spcBef>
                <a:spcPts val="1200"/>
              </a:spcBef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444187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Создание таблицы по образцу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7517" y="1268760"/>
            <a:ext cx="875299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+mj-lt"/>
                <a:cs typeface="Courier New" pitchFamily="49" charset="0"/>
              </a:rPr>
              <a:t>Создание таблицы с данными</a:t>
            </a:r>
          </a:p>
          <a:p>
            <a:pPr>
              <a:spcBef>
                <a:spcPts val="600"/>
              </a:spcBef>
            </a:pP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ru-RU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SELECT *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FROM 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существующая_таблица</a:t>
            </a:r>
            <a:endParaRPr lang="ru-RU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ru-RU" sz="2400" b="1" dirty="0" smtClean="0">
                <a:latin typeface="Courier New" pitchFamily="49" charset="0"/>
                <a:cs typeface="Courier New" pitchFamily="49" charset="0"/>
              </a:rPr>
              <a:t>или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оператор запроса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7575" y="4077072"/>
            <a:ext cx="875299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>
                <a:latin typeface="+mj-lt"/>
                <a:cs typeface="Courier New" pitchFamily="49" charset="0"/>
              </a:rPr>
              <a:t>Создание таблицы без данных</a:t>
            </a:r>
          </a:p>
          <a:p>
            <a:pPr>
              <a:spcBef>
                <a:spcPts val="1200"/>
              </a:spcBef>
            </a:pP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ru-RU" sz="2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SELECT *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FROM 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существующая_таблица</a:t>
            </a:r>
            <a:endParaRPr lang="ru-RU" sz="24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WHERE  1=0  </a:t>
            </a:r>
            <a:r>
              <a:rPr lang="en-US" sz="2400" dirty="0" smtClean="0">
                <a:latin typeface="+mj-lt"/>
                <a:cs typeface="Courier New" pitchFamily="49" charset="0"/>
              </a:rPr>
              <a:t>-- </a:t>
            </a:r>
            <a:r>
              <a:rPr lang="ru-RU" sz="2400" dirty="0" smtClean="0">
                <a:latin typeface="+mj-lt"/>
                <a:cs typeface="Courier New" pitchFamily="49" charset="0"/>
              </a:rPr>
              <a:t>ложное условие</a:t>
            </a:r>
            <a:endParaRPr lang="ru-RU" sz="2400" dirty="0"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45023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dirty="0" smtClean="0">
                <a:latin typeface="+mj-lt"/>
                <a:cs typeface="Arial" pitchFamily="34" charset="0"/>
              </a:rPr>
              <a:t>Определение колонки суррогатного </a:t>
            </a:r>
            <a:r>
              <a:rPr lang="ru-RU" sz="3200" b="1" dirty="0">
                <a:latin typeface="+mj-lt"/>
                <a:cs typeface="Arial" pitchFamily="34" charset="0"/>
              </a:rPr>
              <a:t>к</a:t>
            </a:r>
            <a:r>
              <a:rPr lang="ru-RU" sz="3200" b="1" dirty="0" smtClean="0">
                <a:latin typeface="+mj-lt"/>
                <a:cs typeface="Arial" pitchFamily="34" charset="0"/>
              </a:rPr>
              <a:t>люча</a:t>
            </a:r>
            <a:endParaRPr lang="ru-RU" sz="3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1340768"/>
            <a:ext cx="7848872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Для определения колонки суррогатного ключа рекомендуется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arenR"/>
            </a:pPr>
            <a:r>
              <a:rPr lang="ru-RU" sz="2400" dirty="0" smtClean="0"/>
              <a:t>Для </a:t>
            </a:r>
            <a:r>
              <a:rPr lang="en-US" sz="2400" dirty="0" smtClean="0"/>
              <a:t>PostgreSQL </a:t>
            </a:r>
            <a:r>
              <a:rPr lang="ru-RU" sz="2400" dirty="0" smtClean="0"/>
              <a:t>версий младше 10</a:t>
            </a:r>
          </a:p>
          <a:p>
            <a:pPr marL="898525" algn="just"/>
            <a:r>
              <a:rPr lang="ru-RU" sz="2400" dirty="0"/>
              <a:t>и</a:t>
            </a:r>
            <a:r>
              <a:rPr lang="ru-RU" sz="2400" dirty="0" smtClean="0"/>
              <a:t>спользовать для колонки </a:t>
            </a:r>
          </a:p>
          <a:p>
            <a:pPr marL="898525" algn="just"/>
            <a:r>
              <a:rPr lang="ru-RU" sz="2400" dirty="0" smtClean="0"/>
              <a:t>последовательный тип </a:t>
            </a:r>
            <a:r>
              <a:rPr lang="ru-RU" sz="2600" b="1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endParaRPr lang="ru-RU" sz="2600" dirty="0" smtClean="0"/>
          </a:p>
          <a:p>
            <a:pPr marL="457200" indent="-457200" algn="just">
              <a:spcBef>
                <a:spcPts val="1200"/>
              </a:spcBef>
              <a:buFont typeface="+mj-lt"/>
              <a:buAutoNum type="arabicParenR" startAt="2"/>
            </a:pPr>
            <a:r>
              <a:rPr lang="ru-RU" sz="2400" dirty="0"/>
              <a:t>Для </a:t>
            </a:r>
            <a:r>
              <a:rPr lang="en-US" sz="2400" dirty="0"/>
              <a:t>PostgreSQL </a:t>
            </a:r>
            <a:r>
              <a:rPr lang="ru-RU" sz="2400" dirty="0" smtClean="0"/>
              <a:t>версий 10+</a:t>
            </a:r>
            <a:endParaRPr lang="ru-RU" sz="2400" dirty="0"/>
          </a:p>
          <a:p>
            <a:pPr marL="898525"/>
            <a:r>
              <a:rPr lang="ru-RU" sz="2400" dirty="0" smtClean="0"/>
              <a:t>использовать колонку идентификации  </a:t>
            </a:r>
            <a:r>
              <a:rPr lang="en-US" sz="2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IDENTITY</a:t>
            </a:r>
            <a:endParaRPr lang="ru-RU" sz="26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4555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200" b="1" dirty="0" smtClean="0">
                <a:latin typeface="+mj-lt"/>
                <a:cs typeface="Arial" pitchFamily="34" charset="0"/>
              </a:rPr>
              <a:t>Последовательный  тип</a:t>
            </a:r>
            <a:r>
              <a:rPr lang="en-US" sz="3200" b="1" dirty="0" smtClean="0">
                <a:latin typeface="+mj-lt"/>
                <a:cs typeface="Arial" pitchFamily="34" charset="0"/>
              </a:rPr>
              <a:t>  </a:t>
            </a:r>
            <a:r>
              <a:rPr lang="en-US" sz="3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endParaRPr lang="ru-RU" sz="36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0931"/>
            <a:ext cx="889248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Тип </a:t>
            </a:r>
            <a:r>
              <a:rPr lang="ru-RU" sz="2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r>
              <a:rPr lang="ru-RU" sz="2400" b="1" dirty="0"/>
              <a:t> </a:t>
            </a:r>
            <a:r>
              <a:rPr lang="ru-RU" sz="2400" b="1" dirty="0" smtClean="0"/>
              <a:t> </a:t>
            </a:r>
            <a:r>
              <a:rPr lang="ru-RU" sz="2400" dirty="0" smtClean="0"/>
              <a:t>используют, если </a:t>
            </a:r>
            <a:r>
              <a:rPr lang="ru-RU" sz="2400" dirty="0"/>
              <a:t>требуется </a:t>
            </a:r>
            <a:r>
              <a:rPr lang="ru-RU" sz="2400" dirty="0" smtClean="0"/>
              <a:t>получать </a:t>
            </a:r>
            <a:r>
              <a:rPr lang="ru-RU" sz="2400" dirty="0"/>
              <a:t>уникальные целые </a:t>
            </a:r>
            <a:r>
              <a:rPr lang="ru-RU" sz="2400" dirty="0" smtClean="0"/>
              <a:t>значения </a:t>
            </a:r>
          </a:p>
          <a:p>
            <a:endParaRPr lang="ru-RU" sz="2400" dirty="0" smtClean="0"/>
          </a:p>
          <a:p>
            <a:r>
              <a:rPr lang="ru-RU" sz="2400" b="1" dirty="0" smtClean="0"/>
              <a:t>Пример.  </a:t>
            </a:r>
            <a:r>
              <a:rPr lang="ru-RU" sz="2400" dirty="0" smtClean="0"/>
              <a:t>Определение </a:t>
            </a:r>
            <a:r>
              <a:rPr lang="ru-RU" sz="2400" dirty="0"/>
              <a:t>суррогатного первичного ключа </a:t>
            </a:r>
            <a:endParaRPr lang="ru-RU" sz="2400" dirty="0" smtClean="0"/>
          </a:p>
          <a:p>
            <a:r>
              <a:rPr lang="ru-RU" sz="2400" b="1" dirty="0" smtClean="0"/>
              <a:t>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TABLE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SERIAL);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3212976"/>
            <a:ext cx="889248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Эквивалентно </a:t>
            </a:r>
            <a:r>
              <a:rPr lang="ru-RU" sz="2400" dirty="0"/>
              <a:t>следующей группе команд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/>
              <a:t> </a:t>
            </a:r>
            <a:endParaRPr lang="ru-RU" sz="2400" dirty="0" smtClean="0"/>
          </a:p>
          <a:p>
            <a:pPr>
              <a:spcBef>
                <a:spcPts val="1200"/>
              </a:spcBef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_seq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en-US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TABLE </a:t>
            </a:r>
            <a:r>
              <a:rPr lang="en-US" sz="2400" b="1" spc="-1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tablename</a:t>
            </a:r>
            <a:r>
              <a:rPr lang="en-US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integer</a:t>
            </a: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NOT </a:t>
            </a:r>
            <a:r>
              <a:rPr lang="en-US" sz="2400" b="1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NULL </a:t>
            </a:r>
            <a:endParaRPr lang="ru-RU" sz="2400" b="1" spc="-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DEFAULT </a:t>
            </a:r>
            <a:r>
              <a:rPr lang="en-US" sz="2400" b="1" spc="-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nextval</a:t>
            </a:r>
            <a:r>
              <a:rPr lang="en-US" sz="2400" b="1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tablename_colname_seq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')); 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tablename_colname_seq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OWNED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tablename.colname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565060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200" b="1" dirty="0">
                <a:cs typeface="Arial" pitchFamily="34" charset="0"/>
              </a:rPr>
              <a:t>Столбец идентификации</a:t>
            </a:r>
            <a:r>
              <a:rPr lang="en-US" sz="3200" b="1" dirty="0">
                <a:cs typeface="Arial" pitchFamily="34" charset="0"/>
              </a:rPr>
              <a:t>  </a:t>
            </a:r>
            <a:r>
              <a:rPr lang="en-US" sz="36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IDENTITY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0931"/>
            <a:ext cx="8892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Столбец </a:t>
            </a:r>
            <a:r>
              <a:rPr lang="ru-RU" sz="2400" dirty="0" smtClean="0"/>
              <a:t>идентификации, </a:t>
            </a:r>
            <a:r>
              <a:rPr lang="ru-RU" sz="2400" dirty="0"/>
              <a:t>который автоматически генерируется из неявной </a:t>
            </a:r>
            <a:r>
              <a:rPr lang="ru-RU" sz="2400" dirty="0" smtClean="0"/>
              <a:t>последовательности</a:t>
            </a:r>
            <a:r>
              <a:rPr lang="en-US" sz="2400" dirty="0" smtClean="0"/>
              <a:t>,</a:t>
            </a:r>
            <a:r>
              <a:rPr lang="ru-RU" sz="2400" dirty="0" smtClean="0"/>
              <a:t>  используют для генерирования </a:t>
            </a:r>
            <a:r>
              <a:rPr lang="ru-RU" sz="2400" dirty="0"/>
              <a:t>значения ключей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455" y="2348880"/>
            <a:ext cx="88924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Для создания столбца идентификации используется в определении  столбца предложение</a:t>
            </a:r>
            <a:r>
              <a:rPr lang="ru-RU" sz="2400" dirty="0"/>
              <a:t> 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    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GENERATED 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IDENTITY</a:t>
            </a:r>
            <a:r>
              <a:rPr lang="en-US" sz="2400" dirty="0"/>
              <a:t> </a:t>
            </a:r>
            <a:endParaRPr lang="ru-RU" sz="2400" dirty="0" smtClean="0"/>
          </a:p>
          <a:p>
            <a:r>
              <a:rPr lang="ru-RU" sz="2400" dirty="0"/>
              <a:t>в</a:t>
            </a:r>
            <a:r>
              <a:rPr lang="ru-RU" sz="2400" dirty="0" smtClean="0"/>
              <a:t> 2-х вариантах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ru-RU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lang="ru-RU" sz="2400" b="1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мя_колонки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GENERATED ALWAYS AS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IDENTITY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dirty="0" smtClean="0"/>
              <a:t>или</a:t>
            </a:r>
          </a:p>
          <a:p>
            <a:r>
              <a:rPr lang="ru-RU" sz="2400" b="1" spc="-1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имя_колонки</a:t>
            </a:r>
            <a:r>
              <a:rPr lang="en-US" sz="2400" spc="-1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spc="-100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r>
              <a:rPr lang="en-US" sz="2400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GENERATED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DEFAULT AS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IDENTITY</a:t>
            </a:r>
            <a:endParaRPr lang="ru-RU" sz="2400" b="1" spc="-1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 smtClean="0"/>
          </a:p>
          <a:p>
            <a:r>
              <a:rPr lang="ru-RU" sz="2400" dirty="0" smtClean="0"/>
              <a:t>где </a:t>
            </a:r>
            <a:r>
              <a:rPr lang="ru-RU" sz="24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тип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smallint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bigint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306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GENERATED ALWAYS AS IDENTITY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0931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/>
              <a:t>Указывает </a:t>
            </a:r>
            <a:r>
              <a:rPr lang="ru-RU" sz="2400" dirty="0" smtClean="0"/>
              <a:t>на </a:t>
            </a:r>
            <a:r>
              <a:rPr lang="ru-RU" sz="2400" dirty="0"/>
              <a:t>необходимость всегда генерировать значение для </a:t>
            </a:r>
            <a:r>
              <a:rPr lang="ru-RU" sz="2400" dirty="0" smtClean="0"/>
              <a:t>столбца </a:t>
            </a:r>
            <a:endParaRPr lang="en-US" sz="2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243455" y="2348880"/>
            <a:ext cx="8892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Пример.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GENERATED ALWAYS AS IDENTITY,</a:t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 NOT NULL</a:t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employee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(name) VALUES ('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Иванов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5116433"/>
            <a:ext cx="2520280" cy="1094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Стрелка углом 1"/>
          <p:cNvSpPr/>
          <p:nvPr/>
        </p:nvSpPr>
        <p:spPr>
          <a:xfrm rot="10800000" flipH="1">
            <a:off x="3491880" y="4941168"/>
            <a:ext cx="1080120" cy="115212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4913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GENERATED ALWAYS AS IDENTITY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0931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Попытка явно задать значение этому столбцу в команде вставки </a:t>
            </a:r>
            <a:r>
              <a:rPr lang="ru-RU" sz="2400" dirty="0"/>
              <a:t>или </a:t>
            </a:r>
            <a:r>
              <a:rPr lang="ru-RU" sz="2400" dirty="0" smtClean="0"/>
              <a:t>изменения </a:t>
            </a:r>
            <a:r>
              <a:rPr lang="ru-RU" sz="2400" dirty="0"/>
              <a:t>приведет к </a:t>
            </a:r>
            <a:r>
              <a:rPr lang="ru-RU" sz="2400" dirty="0" smtClean="0"/>
              <a:t>ошибке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25760" y="2301260"/>
            <a:ext cx="8892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Пример.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employee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(id, name) 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VALUES (1,'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Петров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  <a:endParaRPr lang="ru-R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933056"/>
            <a:ext cx="8766720" cy="19163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50000"/>
              </a:schemeClr>
            </a:solidFill>
          </a:ln>
          <a:effectLst/>
          <a:extLst/>
        </p:spPr>
      </p:pic>
      <p:sp>
        <p:nvSpPr>
          <p:cNvPr id="2" name="Стрелка вниз 1"/>
          <p:cNvSpPr/>
          <p:nvPr/>
        </p:nvSpPr>
        <p:spPr>
          <a:xfrm>
            <a:off x="3563888" y="3501589"/>
            <a:ext cx="720080" cy="3364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14033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GENERATED ALWAYS AS IDENTITY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0931"/>
            <a:ext cx="86409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Явно задать значение этому столбцу можно, если в команде используется</a:t>
            </a:r>
            <a:r>
              <a:rPr lang="ru-RU" sz="2400" dirty="0"/>
              <a:t> </a:t>
            </a:r>
            <a:r>
              <a:rPr lang="ru-RU" sz="26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OVERRIDING SYSTEM </a:t>
            </a:r>
            <a:r>
              <a:rPr lang="ru-RU" sz="2600" b="1" dirty="0" smtClean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endParaRPr lang="ru-RU" sz="2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760" y="2060848"/>
            <a:ext cx="8892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Пример.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employee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(id, name) </a:t>
            </a:r>
            <a:endParaRPr lang="ru-RU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39850">
              <a:tabLst>
                <a:tab pos="1339850" algn="l"/>
              </a:tabLst>
            </a:pP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OVERRIDING SYSTEM VALUE</a:t>
            </a:r>
            <a:endParaRPr lang="en-US" sz="2400" b="1" dirty="0" smtClean="0">
              <a:solidFill>
                <a:schemeClr val="accent3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VALUES (1,'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Петров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  <a:endParaRPr lang="ru-RU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881644"/>
            <a:ext cx="2448272" cy="163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8230" y="4941168"/>
            <a:ext cx="84786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Замечание. </a:t>
            </a:r>
            <a:r>
              <a:rPr lang="ru-RU" sz="2400" dirty="0"/>
              <a:t>У</a:t>
            </a:r>
            <a:r>
              <a:rPr lang="ru-RU" sz="2400" dirty="0" smtClean="0"/>
              <a:t>никальность </a:t>
            </a:r>
            <a:r>
              <a:rPr lang="ru-RU" sz="2400" dirty="0"/>
              <a:t>значений не гарантируется</a:t>
            </a:r>
            <a:r>
              <a:rPr lang="ru-RU" sz="2400" dirty="0" smtClean="0"/>
              <a:t>.</a:t>
            </a:r>
          </a:p>
          <a:p>
            <a:pPr marL="1797050"/>
            <a:r>
              <a:rPr lang="ru-RU" sz="2400" dirty="0"/>
              <a:t>Уникальность можно обеспечить с помощью ограничения </a:t>
            </a:r>
            <a:endParaRPr lang="ru-RU" sz="2400" dirty="0" smtClean="0"/>
          </a:p>
          <a:p>
            <a:pPr marL="1797050"/>
            <a:r>
              <a:rPr lang="ru-RU" sz="2400" b="1" dirty="0" smtClean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PRIMARY 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ru-RU" sz="2400" dirty="0"/>
              <a:t> или </a:t>
            </a:r>
            <a:r>
              <a:rPr lang="ru-RU" sz="2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</a:p>
        </p:txBody>
      </p:sp>
      <p:sp>
        <p:nvSpPr>
          <p:cNvPr id="9" name="Стрелка углом 8"/>
          <p:cNvSpPr/>
          <p:nvPr/>
        </p:nvSpPr>
        <p:spPr>
          <a:xfrm rot="10800000" flipH="1">
            <a:off x="4600520" y="3630507"/>
            <a:ext cx="1411639" cy="69846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95802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GENERATED </a:t>
            </a:r>
            <a:r>
              <a:rPr lang="en-US" sz="3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BY DEFAULT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 IDENTITY</a:t>
            </a:r>
            <a:endParaRPr lang="ru-RU" sz="3600" dirty="0">
              <a:latin typeface="+mj-lt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+mj-lt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данных.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Типы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1100931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/>
              <a:t>Указывает</a:t>
            </a:r>
            <a:r>
              <a:rPr lang="en-US" sz="2400" dirty="0" smtClean="0"/>
              <a:t> </a:t>
            </a:r>
            <a:r>
              <a:rPr lang="ru-RU" sz="2400" dirty="0" smtClean="0"/>
              <a:t>на необходимость </a:t>
            </a:r>
            <a:r>
              <a:rPr lang="ru-RU" sz="2400" dirty="0"/>
              <a:t>генерировать значение для </a:t>
            </a:r>
            <a:r>
              <a:rPr lang="ru-RU" sz="2400" dirty="0" smtClean="0"/>
              <a:t>столбца, </a:t>
            </a:r>
            <a:r>
              <a:rPr lang="ru-RU" sz="2400" dirty="0"/>
              <a:t>но позволяет вставлять или обновлять определенные значения в </a:t>
            </a:r>
            <a:r>
              <a:rPr lang="ru-RU" sz="2400" dirty="0" smtClean="0"/>
              <a:t>столбец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43455" y="2348880"/>
            <a:ext cx="88924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Пример.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GENERATED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 DEFAULT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IDENTITY,</a:t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 NOT NULL</a:t>
            </a:r>
            <a:b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 employee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(name) VALUES ('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Иванов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employee 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(id, name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sz="2400" b="1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(2,'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Петров</a:t>
            </a:r>
            <a:r>
              <a:rPr lang="en-US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  <a:endParaRPr lang="ru-RU" sz="2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229200"/>
            <a:ext cx="2160240" cy="1490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Стрелка углом 10"/>
          <p:cNvSpPr/>
          <p:nvPr/>
        </p:nvSpPr>
        <p:spPr>
          <a:xfrm rot="10800000" flipH="1">
            <a:off x="4355975" y="5229200"/>
            <a:ext cx="1080120" cy="115212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71714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Пример. Схема  данных продаж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8623539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4358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Скрипт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файл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создания таблиц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1628800"/>
            <a:ext cx="87529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// Создание домена</a:t>
            </a: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CREATE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DOMAIN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t_cena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NUMERIC(12,2)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DEFAULT 0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CHECK (VALUE &gt;= 0);</a:t>
            </a:r>
            <a:endParaRPr lang="ru-RU" sz="24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04904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Скрипт файл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3000" b="1" dirty="0">
                <a:latin typeface="Arial" pitchFamily="34" charset="0"/>
                <a:cs typeface="Arial" pitchFamily="34" charset="0"/>
              </a:rPr>
              <a:t>продолжение)</a:t>
            </a:r>
            <a:endParaRPr lang="ru-RU" sz="3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08720"/>
            <a:ext cx="8752995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Создание таблицы Продукция </a:t>
            </a:r>
            <a:r>
              <a:rPr lang="ru-RU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product</a:t>
            </a:r>
            <a:r>
              <a:rPr lang="ru-RU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4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product(</a:t>
            </a:r>
            <a:endParaRPr lang="ru-RU" sz="23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3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3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varchar not null,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3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prod_name</a:t>
            </a:r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varchar not null,</a:t>
            </a:r>
            <a:endParaRPr lang="ru-RU" sz="23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CONSTRAINT </a:t>
            </a:r>
            <a:r>
              <a:rPr lang="en-US" sz="23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product_pk</a:t>
            </a:r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PRIMARY KEY (</a:t>
            </a:r>
            <a:r>
              <a:rPr lang="en-US" sz="23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3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3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3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ru-RU" sz="23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62717"/>
            <a:ext cx="7522096" cy="3252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042966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Скрипт файл</a:t>
            </a:r>
            <a:r>
              <a:rPr lang="en-US" sz="3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b="1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3000" b="1" dirty="0">
                <a:latin typeface="Arial" pitchFamily="34" charset="0"/>
                <a:cs typeface="Arial" pitchFamily="34" charset="0"/>
              </a:rPr>
              <a:t>продолжение)</a:t>
            </a:r>
            <a:endParaRPr lang="ru-RU" sz="3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124744"/>
            <a:ext cx="87529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 Создание таблицы </a:t>
            </a:r>
            <a:r>
              <a:rPr lang="ru-RU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Покупатель (</a:t>
            </a:r>
            <a:r>
              <a:rPr lang="en-US" sz="2400" b="1" dirty="0" err="1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4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620713"/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pokup_kod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int2 not null,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620713"/>
            <a:r>
              <a:rPr lang="en-US" sz="24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pokup_name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varchar </a:t>
            </a:r>
            <a:r>
              <a:rPr lang="ru-RU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not null,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620713"/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city         varchar not null,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marL="620713"/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CONSTRAINT 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pokupatel_pk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PRIMARY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KEY 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pokup_kod</a:t>
            </a:r>
            <a:r>
              <a:rPr lang="en-US" sz="24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ru-RU" sz="24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788" y="4023027"/>
            <a:ext cx="6169212" cy="283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536" y="4130803"/>
            <a:ext cx="6369968" cy="2754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49424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Скрипт файл </a:t>
            </a:r>
            <a:r>
              <a:rPr lang="en-US" sz="3000" b="1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3000" b="1" dirty="0">
                <a:latin typeface="Arial" pitchFamily="34" charset="0"/>
                <a:cs typeface="Arial" pitchFamily="34" charset="0"/>
              </a:rPr>
              <a:t>продолжение)</a:t>
            </a:r>
            <a:endParaRPr lang="ru-RU" sz="3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08720"/>
            <a:ext cx="89644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 Создание таблицы Книга </a:t>
            </a:r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продаж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(Book)</a:t>
            </a:r>
            <a:endParaRPr lang="ru-RU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book(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book_id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bigint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GENERATED ALWAYS AS IDENTITY,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ndoc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int2 not null,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dat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date not null, 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2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pokup_kod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int2 not null,</a:t>
            </a:r>
            <a:endParaRPr lang="ru-RU" sz="22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constraint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book_pk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primary key (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book_id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),</a:t>
            </a:r>
            <a:endParaRPr lang="ru-RU" sz="22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constraint </a:t>
            </a:r>
            <a:r>
              <a:rPr lang="en-US" sz="2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book_pokup_fk</a:t>
            </a:r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foreign key (</a:t>
            </a:r>
            <a:r>
              <a:rPr lang="en-US" sz="2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pokup_kod</a:t>
            </a:r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references </a:t>
            </a:r>
            <a:r>
              <a:rPr lang="en-US" sz="2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pokup_kod</a:t>
            </a:r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) </a:t>
            </a:r>
            <a:endParaRPr lang="ru-RU" sz="2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on  update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restrict </a:t>
            </a:r>
            <a:r>
              <a:rPr lang="en-US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on  delete restrict</a:t>
            </a:r>
            <a:r>
              <a:rPr lang="ru-RU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2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ru-RU" sz="2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2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394296"/>
            <a:ext cx="5760640" cy="24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086247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Скрипт файл </a:t>
            </a:r>
            <a:r>
              <a:rPr lang="en-US" sz="3000" b="1" dirty="0">
                <a:latin typeface="Arial" pitchFamily="34" charset="0"/>
                <a:cs typeface="Arial" pitchFamily="34" charset="0"/>
              </a:rPr>
              <a:t>(</a:t>
            </a:r>
            <a:r>
              <a:rPr lang="ru-RU" sz="3000" b="1" dirty="0">
                <a:latin typeface="Arial" pitchFamily="34" charset="0"/>
                <a:cs typeface="Arial" pitchFamily="34" charset="0"/>
              </a:rPr>
              <a:t>продолжение)</a:t>
            </a:r>
            <a:endParaRPr lang="ru-RU" sz="3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908720"/>
            <a:ext cx="89644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 Создание таблицы </a:t>
            </a:r>
            <a:r>
              <a:rPr lang="ru-RU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Ассортимент продаж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(kart)</a:t>
            </a:r>
            <a:endParaRPr lang="ru-RU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kart(</a:t>
            </a:r>
            <a:endParaRPr lang="ru-RU" sz="20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kart_id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bigint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GENERATED ALWAYS AS IDENTITY,</a:t>
            </a:r>
            <a:endParaRPr lang="ru-RU" sz="20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varchar not null,</a:t>
            </a:r>
            <a:endParaRPr lang="ru-RU" sz="20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cena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t_cena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-- </a:t>
            </a:r>
            <a:r>
              <a:rPr lang="ru-RU" sz="2000" b="1" dirty="0" smtClean="0">
                <a:latin typeface="Courier New" pitchFamily="49" charset="0"/>
                <a:cs typeface="Courier New" pitchFamily="49" charset="0"/>
              </a:rPr>
              <a:t>тип задан доменом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kol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numeric (7,1) DEFAULT 0,</a:t>
            </a:r>
          </a:p>
          <a:p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book_id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int8 not null,</a:t>
            </a:r>
            <a:endParaRPr lang="ru-RU" sz="20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constraint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kart_pk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primary key (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kart_id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),</a:t>
            </a:r>
            <a:endParaRPr lang="ru-RU" sz="2000" b="1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constraint </a:t>
            </a:r>
            <a:r>
              <a:rPr lang="en-U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kart_prod_fk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foreign key (</a:t>
            </a:r>
            <a:r>
              <a:rPr lang="en-U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references product(</a:t>
            </a:r>
            <a:r>
              <a:rPr lang="en-U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prod_kod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) </a:t>
            </a:r>
            <a:endParaRPr lang="ru-RU" sz="20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on  update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restrict 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on  delete restrict</a:t>
            </a:r>
            <a:r>
              <a:rPr lang="ru-RU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000" b="1" dirty="0" smtClean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constraint </a:t>
            </a:r>
            <a:r>
              <a:rPr lang="en-U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kart_book_fk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foreign key 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book_id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references 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book(</a:t>
            </a:r>
            <a:r>
              <a:rPr lang="en-US" sz="20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book_id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) </a:t>
            </a:r>
            <a:endParaRPr lang="ru-RU" sz="2000" b="1" dirty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 on  update  cascade on  delete </a:t>
            </a:r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cascade</a:t>
            </a:r>
            <a:r>
              <a:rPr lang="ru-RU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ru-RU" sz="20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2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5228034"/>
            <a:ext cx="35623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01221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Изменение  описания таблицы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340768"/>
            <a:ext cx="87529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Оператор  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TABLE</a:t>
            </a:r>
            <a:r>
              <a:rPr lang="ru-RU" sz="2400" b="1" dirty="0"/>
              <a:t> </a:t>
            </a:r>
            <a:r>
              <a:rPr lang="ru-RU" sz="2400" dirty="0"/>
              <a:t>изменяет определение любой колонки или ограничения таблицы</a:t>
            </a:r>
            <a:r>
              <a:rPr lang="ru-RU" sz="2400" dirty="0">
                <a:latin typeface="Courier New" pitchFamily="49" charset="0"/>
                <a:cs typeface="Courier New" pitchFamily="49" charset="0"/>
              </a:rPr>
              <a:t>: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538163"/>
            <a:r>
              <a:rPr lang="en-US" sz="2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TABLE </a:t>
            </a:r>
            <a:r>
              <a:rPr lang="ru-RU" sz="28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имя_таблицы</a:t>
            </a:r>
            <a:r>
              <a:rPr lang="ru-RU" sz="28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параметры</a:t>
            </a:r>
          </a:p>
          <a:p>
            <a:endParaRPr lang="ru-RU" sz="2400" dirty="0">
              <a:latin typeface="Courier New" pitchFamily="49" charset="0"/>
              <a:cs typeface="Courier New" pitchFamily="49" charset="0"/>
            </a:endParaRPr>
          </a:p>
          <a:p>
            <a:pPr marL="630238" indent="-630238" algn="just"/>
            <a:r>
              <a:rPr lang="ru-RU" sz="2400" dirty="0">
                <a:latin typeface="+mj-lt"/>
                <a:cs typeface="Courier New" pitchFamily="49" charset="0"/>
              </a:rPr>
              <a:t>Параметры </a:t>
            </a:r>
            <a:r>
              <a:rPr lang="ru-RU" sz="2400" dirty="0" smtClean="0">
                <a:latin typeface="+mj-lt"/>
                <a:cs typeface="Courier New" pitchFamily="49" charset="0"/>
              </a:rPr>
              <a:t>определяют, </a:t>
            </a:r>
            <a:r>
              <a:rPr lang="ru-RU" sz="2400" dirty="0">
                <a:latin typeface="+mj-lt"/>
                <a:cs typeface="Courier New" pitchFamily="49" charset="0"/>
              </a:rPr>
              <a:t>какой табличный элемент  надо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12788" indent="-449263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изменить (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</a:t>
            </a:r>
            <a:r>
              <a:rPr lang="ru-RU" sz="2400" dirty="0"/>
              <a:t>)</a:t>
            </a:r>
          </a:p>
          <a:p>
            <a:pPr marL="712788" indent="-449263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добавить (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ru-RU" sz="2400" dirty="0"/>
              <a:t>)  </a:t>
            </a:r>
          </a:p>
          <a:p>
            <a:pPr marL="712788" indent="-449263">
              <a:spcBef>
                <a:spcPts val="1200"/>
              </a:spcBef>
              <a:buFont typeface="Wingdings" pitchFamily="2" charset="2"/>
              <a:buChar char="§"/>
            </a:pPr>
            <a:r>
              <a:rPr lang="ru-RU" sz="2400" dirty="0"/>
              <a:t>удалить (</a:t>
            </a:r>
            <a:r>
              <a:rPr lang="en-US" sz="2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ru-RU" sz="2400" dirty="0"/>
              <a:t>) </a:t>
            </a:r>
          </a:p>
          <a:p>
            <a:endParaRPr lang="ru-RU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24987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Примеры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9217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1) Добавление новой колонки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product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color varchar</a:t>
            </a:r>
            <a:endParaRPr lang="ru-RU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348880"/>
            <a:ext cx="86409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Новая колонка </a:t>
            </a:r>
            <a:r>
              <a:rPr lang="ru-RU" sz="2200" dirty="0"/>
              <a:t>заполняется </a:t>
            </a:r>
            <a:r>
              <a:rPr lang="ru-RU" sz="2200" dirty="0" smtClean="0"/>
              <a:t>в имеющихся строках значением </a:t>
            </a:r>
            <a:r>
              <a:rPr lang="ru-RU" sz="2200" dirty="0"/>
              <a:t>NULL или заданным для него значением по умолчанию (если оно определено</a:t>
            </a:r>
            <a:r>
              <a:rPr lang="ru-RU" sz="2200" dirty="0" smtClean="0"/>
              <a:t>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200" dirty="0" smtClean="0"/>
              <a:t>Начиная </a:t>
            </a:r>
            <a:r>
              <a:rPr lang="ru-RU" sz="2200" dirty="0"/>
              <a:t>с </a:t>
            </a:r>
            <a:r>
              <a:rPr lang="ru-RU" sz="2200" dirty="0" err="1"/>
              <a:t>Postgres</a:t>
            </a:r>
            <a:r>
              <a:rPr lang="ru-RU" sz="2200" dirty="0"/>
              <a:t> </a:t>
            </a:r>
            <a:r>
              <a:rPr lang="ru-RU" sz="2200" dirty="0" err="1"/>
              <a:t>Pro</a:t>
            </a:r>
            <a:r>
              <a:rPr lang="ru-RU" sz="2200" dirty="0"/>
              <a:t> 11, добавление </a:t>
            </a:r>
            <a:r>
              <a:rPr lang="ru-RU" sz="2200" dirty="0" smtClean="0"/>
              <a:t>колонки со  </a:t>
            </a:r>
            <a:r>
              <a:rPr lang="ru-RU" sz="2200" dirty="0"/>
              <a:t>значением по умолчанию, заданным константой,  не изменяет все строки таблицы. </a:t>
            </a:r>
            <a:endParaRPr lang="ru-RU" sz="2200" dirty="0" smtClean="0"/>
          </a:p>
          <a:p>
            <a:pPr marL="446088" algn="just"/>
            <a:r>
              <a:rPr lang="ru-RU" sz="2200" dirty="0" smtClean="0"/>
              <a:t>Значение по умолчанию </a:t>
            </a:r>
            <a:r>
              <a:rPr lang="ru-RU" sz="2200" dirty="0"/>
              <a:t>будет применяться только при изменении </a:t>
            </a:r>
            <a:r>
              <a:rPr lang="ru-RU" sz="2200" dirty="0" smtClean="0"/>
              <a:t>строк </a:t>
            </a:r>
            <a:r>
              <a:rPr lang="ru-RU" sz="2200" dirty="0"/>
              <a:t>в команде </a:t>
            </a:r>
            <a:r>
              <a:rPr lang="en-US" sz="2200" dirty="0" smtClean="0"/>
              <a:t>UPDATE</a:t>
            </a:r>
            <a:r>
              <a:rPr lang="ru-RU" sz="2200" dirty="0" smtClean="0"/>
              <a:t> и при добавлении новых строк</a:t>
            </a:r>
          </a:p>
          <a:p>
            <a:pPr marL="446088" algn="just"/>
            <a:r>
              <a:rPr lang="ru-RU" sz="2200" dirty="0" smtClean="0"/>
              <a:t>Поэтому </a:t>
            </a:r>
            <a:r>
              <a:rPr lang="ru-RU" sz="2200" dirty="0"/>
              <a:t>команда ALTER TABLE </a:t>
            </a:r>
            <a:r>
              <a:rPr lang="ru-RU" sz="2200" dirty="0" smtClean="0"/>
              <a:t>с </a:t>
            </a:r>
            <a:r>
              <a:rPr lang="ru-RU" sz="2200" dirty="0"/>
              <a:t>большими таблицами выполняется очень </a:t>
            </a:r>
            <a:r>
              <a:rPr lang="ru-RU" sz="2200" dirty="0" smtClean="0"/>
              <a:t>быстро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51080383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Примеры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268760"/>
            <a:ext cx="92170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2</a:t>
            </a:r>
            <a:r>
              <a:rPr lang="ru-RU" sz="2400" dirty="0"/>
              <a:t>) </a:t>
            </a:r>
            <a:r>
              <a:rPr lang="ru-RU" sz="2400" dirty="0" smtClean="0"/>
              <a:t> Удаление </a:t>
            </a:r>
            <a:r>
              <a:rPr lang="ru-RU" sz="2400" dirty="0"/>
              <a:t>колонки</a:t>
            </a:r>
          </a:p>
          <a:p>
            <a:r>
              <a:rPr lang="ru-RU" sz="2400" dirty="0"/>
              <a:t>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drop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adr</a:t>
            </a:r>
            <a:endParaRPr lang="ru-RU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492896"/>
            <a:ext cx="864096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 algn="just"/>
            <a:r>
              <a:rPr lang="ru-RU" sz="2200" i="1" dirty="0"/>
              <a:t>Примечание.</a:t>
            </a:r>
            <a:r>
              <a:rPr lang="ru-RU" sz="2200" dirty="0"/>
              <a:t> Если на столбец ссылается ограничение внешнего ключа другой таблицы, то в параметре удаления необходимо разрешить удаление всех </a:t>
            </a:r>
            <a:r>
              <a:rPr lang="ru-RU" sz="2200" dirty="0" smtClean="0"/>
              <a:t>объектов (только не колонок), зависящих </a:t>
            </a:r>
            <a:r>
              <a:rPr lang="ru-RU" sz="2200" dirty="0"/>
              <a:t>от этой колонки, добавив указание CASCADE:</a:t>
            </a:r>
          </a:p>
          <a:p>
            <a:pPr>
              <a:spcBef>
                <a:spcPts val="600"/>
              </a:spcBef>
            </a:pPr>
            <a:r>
              <a:rPr lang="ru-RU" sz="2200" i="1" dirty="0" smtClean="0"/>
              <a:t>Пример</a:t>
            </a:r>
          </a:p>
          <a:p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ALTER 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product DROP COLUMN </a:t>
            </a:r>
            <a:r>
              <a:rPr lang="en-US" sz="2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prod_kod</a:t>
            </a:r>
            <a:r>
              <a:rPr lang="en-US" sz="2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</a:p>
          <a:p>
            <a:endParaRPr lang="en-US" sz="2200" dirty="0"/>
          </a:p>
          <a:p>
            <a:r>
              <a:rPr lang="ru-RU" sz="2200" dirty="0" smtClean="0"/>
              <a:t>Будет удалено ограничение внешнего ключа в ссылающейся таблице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4992639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Примеры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268760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3)  </a:t>
            </a:r>
            <a:r>
              <a:rPr lang="ru-RU" sz="2400" dirty="0"/>
              <a:t>Изменение </a:t>
            </a:r>
            <a:r>
              <a:rPr lang="ru-RU" sz="2400" dirty="0" smtClean="0"/>
              <a:t>типа данных колонки</a:t>
            </a:r>
            <a:r>
              <a:rPr lang="en-US" sz="2400" dirty="0"/>
              <a:t> </a:t>
            </a:r>
            <a:endParaRPr lang="ru-RU" sz="2400" dirty="0"/>
          </a:p>
          <a:p>
            <a:r>
              <a:rPr lang="ru-RU" sz="2400" dirty="0"/>
              <a:t>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alter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pokup_name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text</a:t>
            </a:r>
            <a:endParaRPr lang="ru-RU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4532927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4)  </a:t>
            </a:r>
            <a:r>
              <a:rPr lang="ru-RU" sz="2400" dirty="0"/>
              <a:t>Изменение имени колонки</a:t>
            </a:r>
          </a:p>
          <a:p>
            <a:r>
              <a:rPr lang="ru-RU" sz="2400" dirty="0"/>
              <a:t>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rename column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city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to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adr</a:t>
            </a:r>
            <a:endParaRPr lang="ru-RU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2708920"/>
            <a:ext cx="86409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200" dirty="0"/>
              <a:t>Операция будет выполнена, только если все существующие значения в колонке могут быть приведены к новому типу</a:t>
            </a:r>
            <a:r>
              <a:rPr lang="ru-RU" sz="2200" dirty="0" smtClean="0"/>
              <a:t>.</a:t>
            </a:r>
          </a:p>
          <a:p>
            <a:pPr algn="just"/>
            <a:r>
              <a:rPr lang="ru-RU" sz="2200" i="1" dirty="0" smtClean="0"/>
              <a:t>Например</a:t>
            </a:r>
            <a:r>
              <a:rPr lang="ru-RU" sz="2200" dirty="0"/>
              <a:t>, символьное значение, очевидно, нельзя привести к числовому </a:t>
            </a:r>
            <a:r>
              <a:rPr lang="ru-RU" sz="2200" dirty="0" smtClean="0"/>
              <a:t>типу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9725437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Примеры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052736"/>
            <a:ext cx="9217024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</a:t>
            </a:r>
            <a:r>
              <a:rPr lang="ru-RU" sz="2400" dirty="0"/>
              <a:t>)  </a:t>
            </a:r>
            <a:r>
              <a:rPr lang="ru-RU" sz="2400" dirty="0" smtClean="0"/>
              <a:t>Добавление  </a:t>
            </a:r>
            <a:r>
              <a:rPr lang="ru-RU" sz="2400" dirty="0"/>
              <a:t>ограничения   </a:t>
            </a:r>
            <a:r>
              <a:rPr lang="en-US" sz="2400" dirty="0"/>
              <a:t>NOT NULL</a:t>
            </a:r>
            <a:endParaRPr lang="ru-RU" sz="2400" dirty="0"/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alter column </a:t>
            </a:r>
            <a:r>
              <a:rPr lang="en-US" sz="2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pokup_name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SET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NOT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endParaRPr lang="ru-RU" sz="2400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2400" dirty="0" smtClean="0"/>
              <a:t>6)  Удаление  </a:t>
            </a:r>
            <a:r>
              <a:rPr lang="ru-RU" sz="2400" dirty="0"/>
              <a:t>ограничения   </a:t>
            </a:r>
            <a:r>
              <a:rPr lang="en-US" sz="2400" dirty="0"/>
              <a:t>NOT NULL</a:t>
            </a:r>
            <a:endParaRPr lang="ru-RU" sz="2400" dirty="0"/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alter column </a:t>
            </a:r>
            <a:r>
              <a:rPr lang="en-US" sz="24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pokup_name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DROP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NOT NULL</a:t>
            </a:r>
            <a:endParaRPr lang="en-US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r>
              <a:rPr lang="ru-RU" sz="2400" dirty="0" smtClean="0"/>
              <a:t>7) Добавление </a:t>
            </a:r>
            <a:r>
              <a:rPr lang="ru-RU" sz="2400" dirty="0"/>
              <a:t>ограничения уникальности</a:t>
            </a:r>
          </a:p>
          <a:p>
            <a:r>
              <a:rPr lang="ru-RU" sz="2000" dirty="0"/>
              <a:t>  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pokupatel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CONSTRAINT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pokup_uq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UNIQUE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pokup_name</a:t>
            </a:r>
            <a:r>
              <a:rPr lang="en-US" sz="2400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ru-RU" sz="2400" dirty="0">
                <a:solidFill>
                  <a:srgbClr val="002060"/>
                </a:solidFill>
                <a:cs typeface="Courier New" pitchFamily="49" charset="0"/>
              </a:rPr>
              <a:t>8</a:t>
            </a:r>
            <a:r>
              <a:rPr lang="en-US" sz="2400" dirty="0">
                <a:solidFill>
                  <a:srgbClr val="002060"/>
                </a:solidFill>
                <a:cs typeface="Courier New" pitchFamily="49" charset="0"/>
              </a:rPr>
              <a:t>) </a:t>
            </a:r>
            <a:r>
              <a:rPr lang="ru-RU" sz="2400" dirty="0">
                <a:solidFill>
                  <a:srgbClr val="002060"/>
                </a:solidFill>
                <a:cs typeface="Courier New" pitchFamily="49" charset="0"/>
              </a:rPr>
              <a:t>Удаление ограничения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book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drop CONSTRAINT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pokup_uq</a:t>
            </a:r>
            <a:endParaRPr lang="ru-RU" sz="2400" b="1" dirty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</a:pPr>
            <a:endParaRPr lang="ru-RU" sz="2400" dirty="0">
              <a:solidFill>
                <a:srgbClr val="002060"/>
              </a:solidFill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98504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Примеры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268760"/>
            <a:ext cx="92170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cs typeface="Courier New" pitchFamily="49" charset="0"/>
              </a:rPr>
              <a:t>9</a:t>
            </a:r>
            <a:r>
              <a:rPr lang="en-US" sz="2400" dirty="0" smtClean="0">
                <a:solidFill>
                  <a:srgbClr val="002060"/>
                </a:solidFill>
                <a:cs typeface="Courier New" pitchFamily="49" charset="0"/>
              </a:rPr>
              <a:t>) </a:t>
            </a:r>
            <a:r>
              <a:rPr lang="ru-RU" sz="2400" dirty="0" smtClean="0">
                <a:solidFill>
                  <a:srgbClr val="002060"/>
                </a:solidFill>
                <a:cs typeface="Courier New" pitchFamily="49" charset="0"/>
              </a:rPr>
              <a:t>Изменение имени таблицы</a:t>
            </a:r>
            <a:endParaRPr lang="ru-RU" sz="2400" dirty="0">
              <a:solidFill>
                <a:srgbClr val="002060"/>
              </a:solidFill>
              <a:cs typeface="Courier New" pitchFamily="49" charset="0"/>
            </a:endParaRPr>
          </a:p>
          <a:p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ALTER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kart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</a:t>
            </a:r>
            <a:endParaRPr lang="ru-RU" sz="24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rename TO </a:t>
            </a:r>
            <a:r>
              <a:rPr lang="en-US" sz="2400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assortiment</a:t>
            </a:r>
            <a:endParaRPr lang="ru-RU" sz="2400" b="1" dirty="0">
              <a:solidFill>
                <a:schemeClr val="accent6">
                  <a:lumMod val="60000"/>
                  <a:lumOff val="4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dirty="0">
              <a:solidFill>
                <a:srgbClr val="002060"/>
              </a:solidFill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5290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>
                <a:latin typeface="Arial" pitchFamily="34" charset="0"/>
                <a:cs typeface="Arial" pitchFamily="34" charset="0"/>
              </a:rPr>
              <a:t>Оператор удаления</a:t>
            </a:r>
            <a:r>
              <a:rPr lang="en-US" sz="3600" b="1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>
                <a:latin typeface="Arial" pitchFamily="34" charset="0"/>
                <a:cs typeface="Arial" pitchFamily="34" charset="0"/>
              </a:rPr>
              <a:t>таблицы</a:t>
            </a: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340768"/>
            <a:ext cx="87529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DROP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имя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_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таблицы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1[,</a:t>
            </a:r>
            <a:r>
              <a:rPr lang="ru-RU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имя_таблицы2,...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</a:t>
            </a:r>
            <a:endParaRPr lang="ru-RU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400" b="1" dirty="0"/>
          </a:p>
          <a:p>
            <a:r>
              <a:rPr lang="en-US" sz="2400" dirty="0"/>
              <a:t>   </a:t>
            </a:r>
            <a:r>
              <a:rPr lang="ru-RU" sz="2400" dirty="0"/>
              <a:t>Пример</a:t>
            </a:r>
          </a:p>
          <a:p>
            <a:r>
              <a:rPr lang="ru-RU" sz="2400" b="1" dirty="0"/>
              <a:t>        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DROP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kart</a:t>
            </a:r>
            <a:endParaRPr lang="ru-RU" sz="2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3068960"/>
            <a:ext cx="8680987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100" dirty="0" smtClean="0"/>
              <a:t>Команда </a:t>
            </a:r>
            <a:r>
              <a:rPr lang="ru-RU" sz="2100" dirty="0"/>
              <a:t>удаляет саму таблицу и связанные с ней другие объекты (индексы, триггеры и т.д</a:t>
            </a:r>
            <a:r>
              <a:rPr lang="ru-RU" sz="2100" dirty="0" smtClean="0"/>
              <a:t>.) </a:t>
            </a:r>
            <a:endParaRPr lang="en-US" sz="2100" dirty="0" smtClean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100" dirty="0" smtClean="0"/>
              <a:t>Если </a:t>
            </a:r>
            <a:r>
              <a:rPr lang="ru-RU" sz="2100" dirty="0"/>
              <a:t>таблица используется как источник данных в других объекта (представлениях, триггерах) или на таблицу есть ссылки внешних ключей в других таблицах, то нужно указать дополнительно опцию </a:t>
            </a:r>
            <a:r>
              <a:rPr lang="en-US" sz="2100" dirty="0"/>
              <a:t>CASCADE</a:t>
            </a:r>
            <a:r>
              <a:rPr lang="ru-RU" sz="2100" dirty="0"/>
              <a:t>. </a:t>
            </a:r>
            <a:endParaRPr lang="en-US" sz="2100" dirty="0" smtClean="0"/>
          </a:p>
          <a:p>
            <a:pPr marL="357188" algn="just"/>
            <a:r>
              <a:rPr lang="ru-RU" sz="2100" dirty="0" smtClean="0"/>
              <a:t>В </a:t>
            </a:r>
            <a:r>
              <a:rPr lang="ru-RU" sz="2100" dirty="0"/>
              <a:t>этом случае связанные объекты будут также удалены. </a:t>
            </a:r>
            <a:endParaRPr lang="en-US" sz="2100" dirty="0" smtClean="0"/>
          </a:p>
          <a:p>
            <a:pPr marL="357188" algn="just"/>
            <a:r>
              <a:rPr lang="ru-RU" sz="2100" dirty="0" smtClean="0"/>
              <a:t>Но </a:t>
            </a:r>
            <a:r>
              <a:rPr lang="ru-RU" sz="2100" dirty="0"/>
              <a:t>в ссылающейся таблице будет удалено только ограничение внешнего ключа, а колонка </a:t>
            </a:r>
            <a:r>
              <a:rPr lang="en-US" sz="2100" dirty="0" smtClean="0"/>
              <a:t> </a:t>
            </a:r>
            <a:r>
              <a:rPr lang="ru-RU" sz="2100" dirty="0" smtClean="0"/>
              <a:t>будет </a:t>
            </a:r>
            <a:r>
              <a:rPr lang="ru-RU" sz="2100" dirty="0"/>
              <a:t>оставлена.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8533842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>
                <a:latin typeface="Arial" pitchFamily="34" charset="0"/>
                <a:cs typeface="Arial" pitchFamily="34" charset="0"/>
              </a:rPr>
              <a:t>Оператор </a:t>
            </a: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очистки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3600" b="1" dirty="0">
                <a:latin typeface="Arial" pitchFamily="34" charset="0"/>
                <a:cs typeface="Arial" pitchFamily="34" charset="0"/>
              </a:rPr>
              <a:t>таблицы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340768"/>
            <a:ext cx="875299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TRANCATE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ru-RU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&lt;имя таблицы&gt;</a:t>
            </a:r>
          </a:p>
          <a:p>
            <a:endParaRPr lang="ru-RU" sz="2400" b="1" dirty="0"/>
          </a:p>
          <a:p>
            <a:r>
              <a:rPr lang="en-US" sz="2400" dirty="0"/>
              <a:t>   </a:t>
            </a:r>
            <a:r>
              <a:rPr lang="ru-RU" sz="2400" dirty="0"/>
              <a:t>Пример</a:t>
            </a:r>
          </a:p>
          <a:p>
            <a:r>
              <a:rPr lang="ru-RU" sz="2400" b="1" dirty="0"/>
              <a:t>        </a:t>
            </a:r>
            <a:r>
              <a:rPr lang="en-US" sz="24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TRANCATE </a:t>
            </a:r>
            <a:r>
              <a:rPr lang="en-US" sz="24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24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book</a:t>
            </a:r>
            <a:endParaRPr lang="ru-RU" sz="2400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sz="22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45376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Временные таблицы</a:t>
            </a: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36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36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определения </a:t>
            </a: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208941"/>
            <a:ext cx="87529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Временные таблицы создаются с помощью команды </a:t>
            </a:r>
            <a:endParaRPr lang="ru-RU" sz="2400" dirty="0" smtClean="0"/>
          </a:p>
          <a:p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</a:t>
            </a:r>
            <a:r>
              <a:rPr lang="ru-RU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TEMPORARY</a:t>
            </a:r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 (</a:t>
            </a:r>
          </a:p>
          <a:p>
            <a:r>
              <a:rPr lang="ru-RU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…)</a:t>
            </a:r>
          </a:p>
          <a:p>
            <a:r>
              <a:rPr lang="ru-RU" sz="2400" b="1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COMMIT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{PRESERVE </a:t>
            </a:r>
            <a:r>
              <a:rPr lang="en-US" sz="2400" b="1" spc="-1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ROWS | DELETE ROWS | </a:t>
            </a:r>
            <a:r>
              <a:rPr lang="en-US" sz="2400" b="1" spc="-1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DROP}</a:t>
            </a:r>
            <a:endParaRPr lang="ru-RU" sz="2400" b="1" spc="-1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Временные таблицы автоматически удаляются </a:t>
            </a:r>
            <a:endParaRPr lang="ru-RU" sz="2400" dirty="0" smtClean="0"/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в </a:t>
            </a:r>
            <a:r>
              <a:rPr lang="ru-RU" sz="2400" dirty="0"/>
              <a:t>конце сеанса </a:t>
            </a:r>
            <a:r>
              <a:rPr lang="ru-RU" sz="2400" dirty="0" smtClean="0"/>
              <a:t> 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ru-RU" sz="2400" dirty="0" smtClean="0"/>
              <a:t>при </a:t>
            </a:r>
            <a:r>
              <a:rPr lang="ru-RU" sz="2400" dirty="0"/>
              <a:t>необходимости, в конце текущей </a:t>
            </a:r>
            <a:r>
              <a:rPr lang="ru-RU" sz="2400" dirty="0" smtClean="0"/>
              <a:t>транзакции</a:t>
            </a:r>
          </a:p>
          <a:p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Временные таблицы особенно полезны для хранения промежуточных результатов при </a:t>
            </a:r>
            <a:r>
              <a:rPr lang="ru-RU" sz="2400" dirty="0" smtClean="0"/>
              <a:t>выполнении сложных задач</a:t>
            </a:r>
            <a:endParaRPr lang="ru-RU" sz="2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7756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Вопросы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2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Язык определения данных. </a:t>
            </a:r>
            <a:r>
              <a:rPr lang="ru-RU" sz="22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Таблицы </a:t>
            </a:r>
            <a:r>
              <a:rPr lang="ru-RU" dirty="0" smtClean="0">
                <a:solidFill>
                  <a:srgbClr val="0070C0"/>
                </a:solidFill>
              </a:rPr>
              <a:t/>
            </a:r>
            <a:br>
              <a:rPr lang="ru-RU" dirty="0" smtClean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980728"/>
            <a:ext cx="88924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100" dirty="0" smtClean="0"/>
              <a:t>Какое минимальное количество элементов может быть в операторе создании таблицы с первичным </a:t>
            </a:r>
            <a:r>
              <a:rPr lang="ru-RU" sz="2100" dirty="0" err="1" smtClean="0"/>
              <a:t>ключем</a:t>
            </a:r>
            <a:r>
              <a:rPr lang="ru-RU" sz="2100" dirty="0" smtClean="0"/>
              <a:t> </a:t>
            </a:r>
            <a:r>
              <a:rPr lang="en-US" sz="2100" dirty="0" smtClean="0"/>
              <a:t>?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100" dirty="0" smtClean="0"/>
              <a:t>Что должно быть обязательно задано при описании колонки таблицы</a:t>
            </a:r>
            <a:r>
              <a:rPr lang="en-US" sz="2100" dirty="0" smtClean="0">
                <a:solidFill>
                  <a:srgbClr val="7030A0"/>
                </a:solidFill>
              </a:rPr>
              <a:t> </a:t>
            </a:r>
            <a:r>
              <a:rPr lang="en-US" sz="2100" dirty="0" smtClean="0"/>
              <a:t>?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100" dirty="0" smtClean="0"/>
              <a:t>Сколько элементов должно быть в операторе создания таблицы, содержащей 3 колонки, на которую ссылаются 2 таблицы</a:t>
            </a:r>
            <a:r>
              <a:rPr lang="en-US" sz="2100" dirty="0" smtClean="0">
                <a:solidFill>
                  <a:srgbClr val="7030A0"/>
                </a:solidFill>
              </a:rPr>
              <a:t> </a:t>
            </a:r>
            <a:r>
              <a:rPr lang="en-US" sz="2100" dirty="0" smtClean="0"/>
              <a:t>?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100" dirty="0" smtClean="0"/>
              <a:t>Может ли колонка, входящая в ограничение </a:t>
            </a:r>
            <a:r>
              <a:rPr lang="en-US" sz="2100" dirty="0" smtClean="0"/>
              <a:t>UNIQUE</a:t>
            </a:r>
            <a:r>
              <a:rPr lang="ru-RU" sz="2100" dirty="0" smtClean="0"/>
              <a:t>, принимать значение </a:t>
            </a:r>
            <a:r>
              <a:rPr lang="en-US" sz="2100" dirty="0" smtClean="0"/>
              <a:t>NULL ? 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100" dirty="0" smtClean="0"/>
              <a:t>Какое ограничение надо задать для контроля положительного значения колонки </a:t>
            </a:r>
            <a:r>
              <a:rPr lang="en-US" sz="2100" dirty="0" smtClean="0"/>
              <a:t>?</a:t>
            </a:r>
            <a:endParaRPr lang="ru-RU" sz="2100" dirty="0" smtClean="0">
              <a:solidFill>
                <a:srgbClr val="7030A0"/>
              </a:solidFill>
            </a:endParaRPr>
          </a:p>
          <a:p>
            <a:pPr marL="457200" indent="-457200"/>
            <a:r>
              <a:rPr lang="ru-RU" sz="2100" dirty="0" smtClean="0"/>
              <a:t>6.  Таблица имеет 2 колонки </a:t>
            </a:r>
            <a:r>
              <a:rPr lang="en-US" sz="2100" dirty="0" smtClean="0"/>
              <a:t>CENA1 </a:t>
            </a:r>
            <a:r>
              <a:rPr lang="ru-RU" sz="2100" dirty="0" smtClean="0"/>
              <a:t>и </a:t>
            </a:r>
            <a:r>
              <a:rPr lang="en-US" sz="2100" dirty="0" smtClean="0"/>
              <a:t>CENA2</a:t>
            </a:r>
            <a:r>
              <a:rPr lang="ru-RU" sz="2100" dirty="0" smtClean="0"/>
              <a:t>. Какое ограничение надо задать  для контроля, чтобы </a:t>
            </a:r>
            <a:r>
              <a:rPr lang="en-US" sz="2100" dirty="0" smtClean="0"/>
              <a:t>CENA2 </a:t>
            </a:r>
            <a:r>
              <a:rPr lang="ru-RU" sz="2100" dirty="0" smtClean="0"/>
              <a:t>не превышала </a:t>
            </a:r>
            <a:r>
              <a:rPr lang="en-US" sz="2100" dirty="0" smtClean="0"/>
              <a:t>CENA1</a:t>
            </a:r>
            <a:r>
              <a:rPr lang="en-US" sz="2100" dirty="0" smtClean="0">
                <a:solidFill>
                  <a:srgbClr val="7030A0"/>
                </a:solidFill>
              </a:rPr>
              <a:t> </a:t>
            </a:r>
            <a:r>
              <a:rPr lang="en-US" sz="2100" dirty="0" smtClean="0"/>
              <a:t>?</a:t>
            </a:r>
            <a:endParaRPr lang="en-US" sz="2100" dirty="0" smtClean="0">
              <a:solidFill>
                <a:srgbClr val="7030A0"/>
              </a:solidFill>
            </a:endParaRPr>
          </a:p>
          <a:p>
            <a:pPr marL="457200" indent="-457200"/>
            <a:r>
              <a:rPr lang="en-US" sz="2100" dirty="0" smtClean="0"/>
              <a:t>7.  </a:t>
            </a:r>
            <a:r>
              <a:rPr lang="ru-RU" sz="2100" dirty="0" smtClean="0"/>
              <a:t>Какой оператор надо использовать для удаления колонки в таблице</a:t>
            </a:r>
            <a:r>
              <a:rPr lang="en-US" sz="2100" dirty="0" smtClean="0">
                <a:solidFill>
                  <a:srgbClr val="7030A0"/>
                </a:solidFill>
              </a:rPr>
              <a:t> </a:t>
            </a:r>
            <a:r>
              <a:rPr lang="en-US" sz="2100" dirty="0" smtClean="0"/>
              <a:t>?</a:t>
            </a:r>
            <a:endParaRPr lang="ru-RU" sz="2100" dirty="0" smtClean="0"/>
          </a:p>
        </p:txBody>
      </p:sp>
    </p:spTree>
    <p:extLst>
      <p:ext uri="{BB962C8B-B14F-4D97-AF65-F5344CB8AC3E}">
        <p14:creationId xmlns:p14="http://schemas.microsoft.com/office/powerpoint/2010/main" val="285733159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>
                <a:latin typeface="Arial" pitchFamily="34" charset="0"/>
                <a:cs typeface="Arial" pitchFamily="34" charset="0"/>
              </a:rPr>
              <a:t> </a:t>
            </a:r>
            <a:endParaRPr lang="ru-RU" sz="240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Рисунок 5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9248</TotalTime>
  <Words>2099</Words>
  <Application>Microsoft Office PowerPoint</Application>
  <PresentationFormat>Экран (4:3)</PresentationFormat>
  <Paragraphs>530</Paragraphs>
  <Slides>44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5" baseType="lpstr">
      <vt:lpstr>Открытая</vt:lpstr>
      <vt:lpstr> </vt:lpstr>
      <vt:lpstr>  Язык определения данных. Таблицы   </vt:lpstr>
      <vt:lpstr>       Язык определения данных. Таблицы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Типы данных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  Язык определения данных. Таблицы 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714</cp:revision>
  <dcterms:created xsi:type="dcterms:W3CDTF">2020-10-04T20:01:59Z</dcterms:created>
  <dcterms:modified xsi:type="dcterms:W3CDTF">2025-11-13T21:26:45Z</dcterms:modified>
</cp:coreProperties>
</file>