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88" r:id="rId1"/>
  </p:sldMasterIdLst>
  <p:notesMasterIdLst>
    <p:notesMasterId r:id="rId41"/>
  </p:notesMasterIdLst>
  <p:sldIdLst>
    <p:sldId id="256" r:id="rId2"/>
    <p:sldId id="460" r:id="rId3"/>
    <p:sldId id="462" r:id="rId4"/>
    <p:sldId id="505" r:id="rId5"/>
    <p:sldId id="506" r:id="rId6"/>
    <p:sldId id="504" r:id="rId7"/>
    <p:sldId id="507" r:id="rId8"/>
    <p:sldId id="503" r:id="rId9"/>
    <p:sldId id="461" r:id="rId10"/>
    <p:sldId id="508" r:id="rId11"/>
    <p:sldId id="463" r:id="rId12"/>
    <p:sldId id="510" r:id="rId13"/>
    <p:sldId id="509" r:id="rId14"/>
    <p:sldId id="512" r:id="rId15"/>
    <p:sldId id="511" r:id="rId16"/>
    <p:sldId id="513" r:id="rId17"/>
    <p:sldId id="497" r:id="rId18"/>
    <p:sldId id="514" r:id="rId19"/>
    <p:sldId id="498" r:id="rId20"/>
    <p:sldId id="499" r:id="rId21"/>
    <p:sldId id="515" r:id="rId22"/>
    <p:sldId id="516" r:id="rId23"/>
    <p:sldId id="518" r:id="rId24"/>
    <p:sldId id="524" r:id="rId25"/>
    <p:sldId id="517" r:id="rId26"/>
    <p:sldId id="520" r:id="rId27"/>
    <p:sldId id="521" r:id="rId28"/>
    <p:sldId id="522" r:id="rId29"/>
    <p:sldId id="523" r:id="rId30"/>
    <p:sldId id="525" r:id="rId31"/>
    <p:sldId id="500" r:id="rId32"/>
    <p:sldId id="501" r:id="rId33"/>
    <p:sldId id="502" r:id="rId34"/>
    <p:sldId id="464" r:id="rId35"/>
    <p:sldId id="465" r:id="rId36"/>
    <p:sldId id="492" r:id="rId37"/>
    <p:sldId id="493" r:id="rId38"/>
    <p:sldId id="494" r:id="rId39"/>
    <p:sldId id="300" r:id="rId4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6" autoAdjust="0"/>
    <p:restoredTop sz="94652" autoAdjust="0"/>
  </p:normalViewPr>
  <p:slideViewPr>
    <p:cSldViewPr>
      <p:cViewPr varScale="1">
        <p:scale>
          <a:sx n="85" d="100"/>
          <a:sy n="85" d="100"/>
        </p:scale>
        <p:origin x="-666" y="-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70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9EBB6-9F3F-428A-8ADC-59A3E7EA496F}" type="datetimeFigureOut">
              <a:rPr lang="ru-RU" smtClean="0"/>
              <a:pPr/>
              <a:t>02.01.2026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3CF62-B1CD-4979-B168-490C6FC125C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417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0407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0407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04072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3CF62-B1CD-4979-B168-490C6FC125CA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0407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E9F66B7-0ED7-4FE7-BE05-D223491A50A1}" type="datetime1">
              <a:rPr lang="ru-RU" smtClean="0"/>
              <a:pPr/>
              <a:t>02.01.2026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BF5D9-4AA4-4C09-9DDB-303A09193B8E}" type="datetime1">
              <a:rPr lang="ru-RU" smtClean="0"/>
              <a:pPr/>
              <a:t>02.01.2026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F000A-7D59-434E-AC61-119968F2B181}" type="datetime1">
              <a:rPr lang="ru-RU" smtClean="0"/>
              <a:pPr/>
              <a:t>02.01.2026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64F22-7D92-426D-8147-B259567C005D}" type="datetime1">
              <a:rPr lang="ru-RU" smtClean="0"/>
              <a:pPr/>
              <a:t>02.01.2026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7006A-42FB-4BC3-8D0B-713D278FD97D}" type="datetime1">
              <a:rPr lang="ru-RU" smtClean="0"/>
              <a:pPr/>
              <a:t>02.01.2026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FC4BB-C5DC-4A55-BF0D-F172948F6FC2}" type="datetime1">
              <a:rPr lang="ru-RU" smtClean="0"/>
              <a:pPr/>
              <a:t>02.01.2026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858C2-66E3-4491-95E8-5725A7BF1DCF}" type="datetime1">
              <a:rPr lang="ru-RU" smtClean="0"/>
              <a:pPr/>
              <a:t>02.01.2026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9F5AACCE-C039-4A73-A245-28F9A6C03767}" type="datetime1">
              <a:rPr lang="ru-RU" smtClean="0"/>
              <a:pPr/>
              <a:t>02.01.2026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ECB7764-95B9-4A00-A493-B2AD17D5CC58}" type="datetime1">
              <a:rPr lang="ru-RU" smtClean="0"/>
              <a:pPr/>
              <a:t>02.01.2026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6A5B-76D6-43F4-92BC-16DA687A9C7B}" type="datetime1">
              <a:rPr lang="ru-RU" smtClean="0"/>
              <a:pPr/>
              <a:t>02.01.2026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88BDA-C263-49AF-85CF-10CFC68679A3}" type="datetime1">
              <a:rPr lang="ru-RU" smtClean="0"/>
              <a:pPr/>
              <a:t>02.01.2026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7CC6EA0-FA36-4025-95B0-95641559ED04}" type="datetime1">
              <a:rPr lang="ru-RU" smtClean="0"/>
              <a:pPr/>
              <a:t>02.01.2026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фон ИМ-2.jpg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7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0975" y="0"/>
            <a:ext cx="9224976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836712"/>
            <a:ext cx="7772400" cy="1008110"/>
          </a:xfrm>
        </p:spPr>
        <p:txBody>
          <a:bodyPr>
            <a:normAutofit fontScale="90000"/>
          </a:bodyPr>
          <a:lstStyle/>
          <a:p>
            <a:pPr algn="ctr"/>
            <a:r>
              <a:rPr lang="ru-RU">
                <a:solidFill>
                  <a:schemeClr val="bg1"/>
                </a:solidFill>
              </a:rPr>
              <a:t/>
            </a:r>
            <a:br>
              <a:rPr lang="ru-RU">
                <a:solidFill>
                  <a:schemeClr val="bg1"/>
                </a:solidFill>
              </a:rPr>
            </a:br>
            <a:endParaRPr lang="ru-RU">
              <a:solidFill>
                <a:srgbClr val="FFFF00"/>
              </a:solidFill>
            </a:endParaRPr>
          </a:p>
        </p:txBody>
      </p:sp>
      <p:pic>
        <p:nvPicPr>
          <p:cNvPr id="6" name="Рисунок 5" descr="Логотип АСОИиУ-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2002038" cy="175861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216869" y="6488668"/>
            <a:ext cx="1927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ru-RU" b="1" dirty="0">
                <a:solidFill>
                  <a:srgbClr val="FFC000"/>
                </a:solidFill>
              </a:rPr>
              <a:t>©Монахов В.И</a:t>
            </a:r>
            <a:r>
              <a:rPr lang="ru-RU" b="1" dirty="0">
                <a:solidFill>
                  <a:srgbClr val="7030A0"/>
                </a:solidFill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544" y="2420888"/>
            <a:ext cx="8568952" cy="2636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64008" algn="ctr"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ru-RU" sz="5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Средства определения данных   (</a:t>
            </a:r>
            <a:r>
              <a:rPr lang="en-US" sz="5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DDL</a:t>
            </a:r>
            <a:r>
              <a:rPr lang="en-US" sz="5400" b="1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)</a:t>
            </a:r>
            <a:endParaRPr lang="ru-RU" sz="5400" b="1" dirty="0" smtClean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R="64008" algn="ctr"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ru-RU" sz="5400" b="1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Типы данных</a:t>
            </a:r>
            <a:endParaRPr lang="ru-RU" sz="54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87824" y="1052736"/>
            <a:ext cx="4229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ru-RU" sz="5400" b="1">
                <a:solidFill>
                  <a:schemeClr val="bg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Лекция </a:t>
            </a:r>
            <a:r>
              <a:rPr lang="ru-RU" sz="5400" b="1" smtClean="0">
                <a:solidFill>
                  <a:schemeClr val="bg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12</a:t>
            </a:r>
            <a:endParaRPr lang="ru-RU" sz="5400" b="1" dirty="0">
              <a:solidFill>
                <a:schemeClr val="bg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>
                <a:latin typeface="Arial" pitchFamily="34" charset="0"/>
                <a:cs typeface="Arial" pitchFamily="34" charset="0"/>
              </a:rPr>
              <a:t>Типы данных</a:t>
            </a: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Типы 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268760"/>
            <a:ext cx="8640960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6713" indent="-342900" algn="just">
              <a:spcBef>
                <a:spcPts val="1200"/>
              </a:spcBef>
            </a:pPr>
            <a:r>
              <a:rPr lang="ru-RU" sz="2600" dirty="0"/>
              <a:t>В </a:t>
            </a:r>
            <a:r>
              <a:rPr lang="ru-RU" sz="2600" dirty="0" smtClean="0"/>
              <a:t>стандарте языка </a:t>
            </a:r>
            <a:r>
              <a:rPr lang="en-US" sz="2600" dirty="0"/>
              <a:t>SQL</a:t>
            </a:r>
            <a:r>
              <a:rPr lang="ru-RU" sz="2600" dirty="0"/>
              <a:t> поддерживаются р</a:t>
            </a:r>
            <a:r>
              <a:rPr lang="ru-RU" sz="2600" dirty="0" smtClean="0"/>
              <a:t>азличные </a:t>
            </a:r>
            <a:r>
              <a:rPr lang="ru-RU" sz="2600" dirty="0"/>
              <a:t>типы данных </a:t>
            </a:r>
          </a:p>
          <a:p>
            <a:pPr marL="366713" indent="-3429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Простые (скалярные) типы данных</a:t>
            </a:r>
            <a:r>
              <a:rPr lang="ru-RU" sz="2400" dirty="0">
                <a:latin typeface="Courier New" pitchFamily="49" charset="0"/>
                <a:cs typeface="Courier New" pitchFamily="49" charset="0"/>
              </a:rPr>
              <a:t>:</a:t>
            </a:r>
            <a:r>
              <a:rPr lang="ru-RU" sz="2400" dirty="0"/>
              <a:t> </a:t>
            </a:r>
          </a:p>
          <a:p>
            <a:pPr marL="898525" indent="-373063" algn="just">
              <a:spcBef>
                <a:spcPts val="400"/>
              </a:spcBef>
              <a:buFont typeface="Wingdings" panose="05000000000000000000" pitchFamily="2" charset="2"/>
              <a:buChar char="§"/>
              <a:tabLst>
                <a:tab pos="1166813" algn="l"/>
              </a:tabLst>
            </a:pPr>
            <a:r>
              <a:rPr lang="ru-RU" sz="2400" dirty="0"/>
              <a:t>с</a:t>
            </a:r>
            <a:r>
              <a:rPr lang="ru-RU" sz="2400" dirty="0" smtClean="0"/>
              <a:t>имвольные </a:t>
            </a:r>
            <a:r>
              <a:rPr lang="ru-RU" sz="2400" dirty="0"/>
              <a:t>(текст)</a:t>
            </a:r>
          </a:p>
          <a:p>
            <a:pPr marL="898525" indent="-373063" algn="just">
              <a:spcBef>
                <a:spcPts val="400"/>
              </a:spcBef>
              <a:buFont typeface="Wingdings" panose="05000000000000000000" pitchFamily="2" charset="2"/>
              <a:buChar char="§"/>
              <a:tabLst>
                <a:tab pos="1166813" algn="l"/>
              </a:tabLst>
            </a:pPr>
            <a:r>
              <a:rPr lang="ru-RU" sz="2400" dirty="0"/>
              <a:t>ч</a:t>
            </a:r>
            <a:r>
              <a:rPr lang="ru-RU" sz="2400" dirty="0" smtClean="0"/>
              <a:t>исловые</a:t>
            </a:r>
            <a:endParaRPr lang="ru-RU" sz="2400" dirty="0"/>
          </a:p>
          <a:p>
            <a:pPr marL="898525" indent="-373063" algn="just">
              <a:spcBef>
                <a:spcPts val="400"/>
              </a:spcBef>
              <a:buFont typeface="Wingdings" panose="05000000000000000000" pitchFamily="2" charset="2"/>
              <a:buChar char="§"/>
              <a:tabLst>
                <a:tab pos="1166813" algn="l"/>
              </a:tabLst>
            </a:pPr>
            <a:r>
              <a:rPr lang="ru-RU" sz="2400" dirty="0"/>
              <a:t>в</a:t>
            </a:r>
            <a:r>
              <a:rPr lang="ru-RU" sz="2400" dirty="0" smtClean="0"/>
              <a:t>ременные</a:t>
            </a:r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48589" y="3933056"/>
            <a:ext cx="864096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400" dirty="0"/>
              <a:t>В стандарте </a:t>
            </a:r>
            <a:r>
              <a:rPr lang="en-US" sz="2400" dirty="0"/>
              <a:t>SQL99  </a:t>
            </a:r>
            <a:r>
              <a:rPr lang="ru-RU" sz="2400" dirty="0"/>
              <a:t>добавлены </a:t>
            </a:r>
            <a:endParaRPr lang="ru-RU" sz="2400" dirty="0" smtClean="0"/>
          </a:p>
          <a:p>
            <a:pPr marL="898525" indent="-361950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составной тип </a:t>
            </a:r>
            <a:r>
              <a:rPr lang="ru-RU" sz="2400" dirty="0"/>
              <a:t>(</a:t>
            </a:r>
            <a:r>
              <a:rPr lang="ru-RU" sz="2400" dirty="0" smtClean="0"/>
              <a:t>массив)</a:t>
            </a:r>
          </a:p>
          <a:p>
            <a:pPr marL="898525" indent="-361950" algn="just">
              <a:buFont typeface="Wingdings" panose="05000000000000000000" pitchFamily="2" charset="2"/>
              <a:buChar char="§"/>
            </a:pPr>
            <a:r>
              <a:rPr lang="ru-RU" sz="2400" dirty="0"/>
              <a:t>л</a:t>
            </a:r>
            <a:r>
              <a:rPr lang="ru-RU" sz="2400" dirty="0" smtClean="0"/>
              <a:t>огический тип</a:t>
            </a:r>
            <a:endParaRPr lang="ru-RU" sz="2400" dirty="0"/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В стандарте </a:t>
            </a:r>
            <a:r>
              <a:rPr lang="en-US" sz="2400" dirty="0"/>
              <a:t>SQL-2003 </a:t>
            </a:r>
            <a:r>
              <a:rPr lang="ru-RU" sz="2400" dirty="0"/>
              <a:t>добавлен тип </a:t>
            </a:r>
            <a:r>
              <a:rPr lang="en-US" sz="2400" dirty="0" smtClean="0"/>
              <a:t>XML</a:t>
            </a:r>
            <a:endParaRPr lang="ru-RU" sz="2400" dirty="0" smtClean="0"/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В </a:t>
            </a:r>
            <a:r>
              <a:rPr lang="ru-RU" sz="2400" dirty="0"/>
              <a:t>стандарте</a:t>
            </a:r>
            <a:r>
              <a:rPr lang="en-US" sz="2400" dirty="0"/>
              <a:t> SQL-2016 </a:t>
            </a:r>
            <a:r>
              <a:rPr lang="ru-RU" sz="2400" dirty="0"/>
              <a:t>добавлен тип </a:t>
            </a:r>
            <a:r>
              <a:rPr lang="en-US" sz="2400" dirty="0"/>
              <a:t>JSON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70964472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4" presetClass="entr" presetSubtype="16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4" presetClass="entr" presetSubtype="16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Числовые  типы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1844824"/>
            <a:ext cx="7632848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6575" indent="-536575" algn="just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ru-RU" sz="2600" dirty="0" smtClean="0"/>
              <a:t>Целочисленные</a:t>
            </a:r>
          </a:p>
          <a:p>
            <a:pPr marL="536575" indent="-536575" algn="just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ru-RU" sz="2600" dirty="0" smtClean="0"/>
              <a:t>Числа фиксированной точности</a:t>
            </a:r>
          </a:p>
          <a:p>
            <a:pPr marL="536575" indent="-536575" algn="just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ru-RU" sz="2600" dirty="0" smtClean="0"/>
              <a:t>Числа с плавающей точкой</a:t>
            </a:r>
          </a:p>
          <a:p>
            <a:pPr marL="536575" indent="-536575" algn="just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ru-RU" sz="2600" dirty="0" smtClean="0"/>
              <a:t>Последовательные типы</a:t>
            </a:r>
          </a:p>
          <a:p>
            <a:pPr algn="just">
              <a:spcBef>
                <a:spcPts val="1800"/>
              </a:spcBef>
            </a:pPr>
            <a:endParaRPr lang="ru-RU" sz="2600" dirty="0" smtClean="0"/>
          </a:p>
        </p:txBody>
      </p:sp>
    </p:spTree>
    <p:extLst>
      <p:ext uri="{BB962C8B-B14F-4D97-AF65-F5344CB8AC3E}">
        <p14:creationId xmlns:p14="http://schemas.microsoft.com/office/powerpoint/2010/main" val="4894308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Целочисленные  </a:t>
            </a:r>
            <a:r>
              <a:rPr lang="ru-RU" sz="3600" b="1" dirty="0">
                <a:latin typeface="Arial" pitchFamily="34" charset="0"/>
                <a:cs typeface="Arial" pitchFamily="34" charset="0"/>
              </a:rPr>
              <a:t>типы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401761"/>
              </p:ext>
            </p:extLst>
          </p:nvPr>
        </p:nvGraphicFramePr>
        <p:xfrm>
          <a:off x="323528" y="1772816"/>
          <a:ext cx="8604448" cy="259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60421"/>
                <a:gridCol w="2092974"/>
                <a:gridCol w="1519213"/>
                <a:gridCol w="313184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Тип</a:t>
                      </a:r>
                      <a:endParaRPr lang="ru-R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Синонимы в </a:t>
                      </a:r>
                      <a:r>
                        <a:rPr lang="en-US" sz="2400" b="1" dirty="0" smtClean="0"/>
                        <a:t>PostgreSQL</a:t>
                      </a:r>
                      <a:endParaRPr lang="ru-R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Размер,</a:t>
                      </a:r>
                      <a:r>
                        <a:rPr lang="ru-RU" sz="2400" b="1" baseline="0" dirty="0" smtClean="0"/>
                        <a:t> байт</a:t>
                      </a:r>
                      <a:endParaRPr lang="ru-R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Диапазон</a:t>
                      </a:r>
                      <a:r>
                        <a:rPr lang="ru-RU" sz="2400" b="1" baseline="0" dirty="0" smtClean="0"/>
                        <a:t> значений</a:t>
                      </a:r>
                      <a:endParaRPr lang="ru-RU" sz="24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173038" indent="0"/>
                      <a:r>
                        <a:rPr lang="en-US" sz="2400" b="1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smallint</a:t>
                      </a:r>
                      <a:endParaRPr lang="ru-RU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int2</a:t>
                      </a:r>
                      <a:endParaRPr lang="ru-RU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2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−32 768</a:t>
                      </a:r>
                      <a:r>
                        <a:rPr kumimoji="0" lang="ru-RU" sz="2400" b="0" i="0" kern="1200" dirty="0" smtClean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: </a:t>
                      </a:r>
                      <a:r>
                        <a:rPr kumimoji="0" lang="ru-RU" sz="2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32 767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173038" indent="0"/>
                      <a:r>
                        <a:rPr lang="en-US" sz="24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integer</a:t>
                      </a:r>
                      <a:endParaRPr lang="ru-RU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int4</a:t>
                      </a:r>
                      <a:endParaRPr lang="ru-RU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2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−2 147 483 648 </a:t>
                      </a:r>
                      <a:r>
                        <a:rPr kumimoji="0" lang="ru-RU" sz="2400" b="0" i="0" kern="1200" dirty="0" smtClean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:</a:t>
                      </a:r>
                      <a:r>
                        <a:rPr kumimoji="0" lang="ru-RU" sz="2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2 147 483 647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173038" indent="0"/>
                      <a:r>
                        <a:rPr lang="en-US" sz="2400" b="1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bigint</a:t>
                      </a:r>
                      <a:endParaRPr lang="ru-RU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int8</a:t>
                      </a:r>
                      <a:endParaRPr lang="ru-RU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8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26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</a:t>
                      </a:r>
                      <a:r>
                        <a:rPr kumimoji="0" lang="ru-RU" sz="2600" b="0" i="0" kern="1200" baseline="30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</a:t>
                      </a:r>
                      <a:r>
                        <a:rPr kumimoji="0" lang="ru-RU" sz="26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ru-RU" sz="2600" b="0" i="0" kern="1200" dirty="0" smtClean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:</a:t>
                      </a:r>
                      <a:r>
                        <a:rPr kumimoji="0" lang="ru-RU" sz="26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  <a:r>
                        <a:rPr kumimoji="0" lang="ru-RU" sz="2600" b="0" i="0" kern="1200" baseline="30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</a:t>
                      </a:r>
                      <a:r>
                        <a:rPr kumimoji="0" lang="ru-RU" sz="26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ru-RU" sz="2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182302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Числа фиксированной  точности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7544" y="2132856"/>
            <a:ext cx="7560840" cy="3339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2 идентичных типа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534988"/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numeric</a:t>
            </a:r>
          </a:p>
          <a:p>
            <a:pPr marL="534988"/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decimal</a:t>
            </a:r>
          </a:p>
          <a:p>
            <a:r>
              <a:rPr lang="ru-RU" sz="2400" dirty="0" smtClean="0"/>
              <a:t>Чаще используют 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numeric</a:t>
            </a:r>
            <a:endParaRPr lang="ru-RU" sz="26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r>
              <a:rPr lang="ru-RU" sz="2400" dirty="0"/>
              <a:t>Эти типы </a:t>
            </a:r>
            <a:r>
              <a:rPr lang="ru-RU" sz="2400" dirty="0" smtClean="0"/>
              <a:t>определяются </a:t>
            </a:r>
            <a:r>
              <a:rPr lang="ru-RU" sz="2400" dirty="0"/>
              <a:t>2 </a:t>
            </a:r>
            <a:r>
              <a:rPr lang="ru-RU" sz="2400" dirty="0" smtClean="0"/>
              <a:t>параметрами</a:t>
            </a:r>
            <a:endParaRPr lang="ru-RU" sz="2400" dirty="0"/>
          </a:p>
          <a:p>
            <a:r>
              <a:rPr lang="ru-RU" sz="2400" dirty="0" smtClean="0"/>
              <a:t>             </a:t>
            </a:r>
            <a:r>
              <a:rPr lang="en-US" sz="28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numeric(</a:t>
            </a:r>
            <a:r>
              <a:rPr lang="en-US" sz="28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n,m</a:t>
            </a:r>
            <a:r>
              <a:rPr lang="en-US" sz="28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800" dirty="0" smtClean="0"/>
          </a:p>
          <a:p>
            <a:r>
              <a:rPr lang="ru-RU" sz="2400" dirty="0" smtClean="0"/>
              <a:t>   </a:t>
            </a:r>
            <a:r>
              <a:rPr lang="en-US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2400" dirty="0" smtClean="0"/>
              <a:t> – </a:t>
            </a:r>
            <a:r>
              <a:rPr lang="ru-RU" sz="2400" dirty="0" smtClean="0"/>
              <a:t>точность (общее число цифр)</a:t>
            </a:r>
            <a:endParaRPr lang="en-US" sz="2400" dirty="0" smtClean="0"/>
          </a:p>
          <a:p>
            <a:r>
              <a:rPr lang="en-US" sz="2400" dirty="0"/>
              <a:t> </a:t>
            </a:r>
            <a:r>
              <a:rPr lang="en-US" sz="2400" dirty="0" smtClean="0"/>
              <a:t> </a:t>
            </a:r>
            <a:r>
              <a:rPr lang="ru-RU" sz="2400" dirty="0" smtClean="0"/>
              <a:t> </a:t>
            </a:r>
            <a:r>
              <a:rPr lang="en-US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sz="2400" dirty="0" smtClean="0"/>
              <a:t> </a:t>
            </a:r>
            <a:r>
              <a:rPr lang="ru-RU" sz="2400" dirty="0" smtClean="0"/>
              <a:t>– масштаб (число цифр в дробной части)</a:t>
            </a:r>
            <a:endParaRPr lang="en-US" sz="24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2195736" y="5373216"/>
            <a:ext cx="4087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/>
              <a:t>Пример</a:t>
            </a:r>
            <a:r>
              <a:rPr lang="ru-RU" sz="2400" dirty="0" smtClean="0"/>
              <a:t> 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umeric(7,2)</a:t>
            </a:r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   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980728"/>
            <a:ext cx="84249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/>
              <a:t>Данный тип </a:t>
            </a:r>
            <a:r>
              <a:rPr lang="ru-RU" sz="2400" dirty="0" smtClean="0"/>
              <a:t>используется </a:t>
            </a:r>
            <a:r>
              <a:rPr lang="ru-RU" sz="2400" dirty="0"/>
              <a:t>для хранения денежных </a:t>
            </a:r>
            <a:r>
              <a:rPr lang="ru-RU" sz="2400" dirty="0" smtClean="0"/>
              <a:t>величин, </a:t>
            </a:r>
            <a:r>
              <a:rPr lang="ru-RU" sz="2400" dirty="0"/>
              <a:t>а также в </a:t>
            </a:r>
            <a:r>
              <a:rPr lang="ru-RU" sz="2400" dirty="0" smtClean="0"/>
              <a:t> </a:t>
            </a:r>
            <a:r>
              <a:rPr lang="ru-RU" sz="2400" dirty="0"/>
              <a:t>случаях, когда требуется гарантировать точность вычислений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5500" y="5301208"/>
            <a:ext cx="1866900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563888" y="6115402"/>
            <a:ext cx="2741612" cy="476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cs typeface="Courier New" panose="02070309020205020404" pitchFamily="49" charset="0"/>
              </a:rPr>
              <a:t>Максим. число</a:t>
            </a:r>
            <a:r>
              <a:rPr lang="en-US" sz="2400" dirty="0">
                <a:cs typeface="Courier New" panose="02070309020205020404" pitchFamily="49" charset="0"/>
              </a:rPr>
              <a:t>=</a:t>
            </a:r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6516215" y="6135687"/>
            <a:ext cx="230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99999.99</a:t>
            </a:r>
            <a:endParaRPr lang="ru-R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3635897" y="6475442"/>
            <a:ext cx="2741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cs typeface="Courier New" panose="02070309020205020404" pitchFamily="49" charset="0"/>
              </a:rPr>
              <a:t>Что будет ?</a:t>
            </a:r>
            <a:endParaRPr lang="ru-R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6588224" y="6495727"/>
            <a:ext cx="230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99999.999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91207850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8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Числа с плавающей точкой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504" y="1100931"/>
            <a:ext cx="8856984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000" dirty="0" smtClean="0"/>
              <a:t>Используются в научных и инженерных вычислениях, но не обеспечивает заданную точность</a:t>
            </a:r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000" dirty="0"/>
              <a:t>Если </a:t>
            </a:r>
            <a:r>
              <a:rPr lang="ru-RU" sz="2000" dirty="0" smtClean="0"/>
              <a:t>нужно выдержать заданную точность </a:t>
            </a:r>
            <a:r>
              <a:rPr lang="ru-RU" sz="2000" dirty="0"/>
              <a:t>в</a:t>
            </a:r>
            <a:r>
              <a:rPr lang="ru-RU" sz="2000" dirty="0" smtClean="0"/>
              <a:t> </a:t>
            </a:r>
            <a:r>
              <a:rPr lang="ru-RU" sz="2000" dirty="0"/>
              <a:t>вычислениях (например, для денежных сумм), </a:t>
            </a:r>
            <a:r>
              <a:rPr lang="ru-RU" sz="2000" dirty="0" smtClean="0"/>
              <a:t>используют </a:t>
            </a:r>
            <a:r>
              <a:rPr lang="ru-RU" sz="2000" dirty="0"/>
              <a:t>тип </a:t>
            </a:r>
            <a:r>
              <a:rPr lang="ru-RU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numeric</a:t>
            </a:r>
            <a:endParaRPr lang="ru-RU" sz="22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347141"/>
              </p:ext>
            </p:extLst>
          </p:nvPr>
        </p:nvGraphicFramePr>
        <p:xfrm>
          <a:off x="251519" y="2897543"/>
          <a:ext cx="8388933" cy="24036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2169"/>
                <a:gridCol w="1800200"/>
                <a:gridCol w="2795363"/>
                <a:gridCol w="2281201"/>
              </a:tblGrid>
              <a:tr h="733651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 smtClean="0"/>
                        <a:t>Тип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 smtClean="0"/>
                        <a:t>Точность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 smtClean="0"/>
                        <a:t>Синонимы в </a:t>
                      </a:r>
                      <a:r>
                        <a:rPr lang="en-US" sz="2200" dirty="0" smtClean="0"/>
                        <a:t>PostgreSQL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 smtClean="0"/>
                        <a:t>Диапазон</a:t>
                      </a:r>
                      <a:r>
                        <a:rPr lang="en-US" sz="2200" dirty="0" smtClean="0"/>
                        <a:t> </a:t>
                      </a:r>
                      <a:r>
                        <a:rPr lang="ru-RU" sz="2200" dirty="0" smtClean="0"/>
                        <a:t>значений</a:t>
                      </a:r>
                      <a:endParaRPr lang="ru-RU" sz="2200" dirty="0"/>
                    </a:p>
                  </a:txBody>
                  <a:tcPr/>
                </a:tc>
              </a:tr>
              <a:tr h="704305">
                <a:tc>
                  <a:txBody>
                    <a:bodyPr/>
                    <a:lstStyle/>
                    <a:p>
                      <a:r>
                        <a:rPr lang="en-US" sz="2200" b="1" dirty="0" smtClean="0">
                          <a:solidFill>
                            <a:srgbClr val="7030A0"/>
                          </a:solidFill>
                        </a:rPr>
                        <a:t>real</a:t>
                      </a:r>
                      <a:endParaRPr lang="ru-RU" sz="22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≥6 </a:t>
                      </a:r>
                      <a:r>
                        <a:rPr lang="en-US" sz="2000" dirty="0" smtClean="0"/>
                        <a:t>10-</a:t>
                      </a:r>
                      <a:r>
                        <a:rPr lang="ru-RU" sz="2000" dirty="0" err="1" smtClean="0"/>
                        <a:t>чн</a:t>
                      </a:r>
                      <a:r>
                        <a:rPr lang="ru-RU" sz="2000" baseline="0" dirty="0" smtClean="0"/>
                        <a:t> цифр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float(1) :</a:t>
                      </a:r>
                      <a:r>
                        <a:rPr lang="en-US" sz="2200" baseline="0" dirty="0" smtClean="0"/>
                        <a:t> float(24)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 smtClean="0"/>
                        <a:t>10</a:t>
                      </a:r>
                      <a:r>
                        <a:rPr lang="ru-RU" sz="2200" baseline="30000" dirty="0" smtClean="0"/>
                        <a:t>-37</a:t>
                      </a:r>
                      <a:r>
                        <a:rPr lang="ru-RU" sz="2200" dirty="0" smtClean="0"/>
                        <a:t> : 10</a:t>
                      </a:r>
                      <a:r>
                        <a:rPr lang="ru-RU" sz="2200" baseline="30000" dirty="0" smtClean="0"/>
                        <a:t>+37</a:t>
                      </a:r>
                      <a:endParaRPr lang="ru-RU" sz="2200" baseline="30000" dirty="0"/>
                    </a:p>
                  </a:txBody>
                  <a:tcPr/>
                </a:tc>
              </a:tr>
              <a:tr h="910145">
                <a:tc>
                  <a:txBody>
                    <a:bodyPr/>
                    <a:lstStyle/>
                    <a:p>
                      <a:r>
                        <a:rPr lang="en-US" sz="2200" b="1" dirty="0" smtClean="0">
                          <a:solidFill>
                            <a:srgbClr val="7030A0"/>
                          </a:solidFill>
                        </a:rPr>
                        <a:t>double precision</a:t>
                      </a:r>
                      <a:endParaRPr lang="ru-RU" sz="22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/>
                        <a:t>≥15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000" dirty="0" smtClean="0"/>
                        <a:t>10-</a:t>
                      </a:r>
                      <a:r>
                        <a:rPr lang="ru-RU" sz="2000" dirty="0" err="1" smtClean="0"/>
                        <a:t>чн</a:t>
                      </a:r>
                      <a:r>
                        <a:rPr lang="ru-RU" sz="2000" baseline="0" dirty="0" smtClean="0"/>
                        <a:t> цифр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/>
                        <a:t>float(25) :</a:t>
                      </a:r>
                      <a:r>
                        <a:rPr lang="en-US" sz="2200" baseline="0" dirty="0" smtClean="0"/>
                        <a:t> float(53)</a:t>
                      </a:r>
                      <a:endParaRPr lang="ru-RU" sz="2200" dirty="0" smtClean="0"/>
                    </a:p>
                    <a:p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200" dirty="0" smtClean="0"/>
                        <a:t>10</a:t>
                      </a:r>
                      <a:r>
                        <a:rPr lang="ru-RU" sz="2200" baseline="30000" dirty="0" smtClean="0"/>
                        <a:t>-307</a:t>
                      </a:r>
                      <a:r>
                        <a:rPr lang="ru-RU" sz="2200" dirty="0" smtClean="0"/>
                        <a:t> : 10</a:t>
                      </a:r>
                      <a:r>
                        <a:rPr lang="ru-RU" sz="2200" baseline="30000" dirty="0" smtClean="0"/>
                        <a:t>+308</a:t>
                      </a:r>
                    </a:p>
                    <a:p>
                      <a:endParaRPr lang="ru-RU" sz="2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59632" y="5445804"/>
            <a:ext cx="29523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 smtClean="0"/>
              <a:t>Особые значения</a:t>
            </a:r>
            <a:endParaRPr lang="ru-RU" sz="2200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471349"/>
              </p:ext>
            </p:extLst>
          </p:nvPr>
        </p:nvGraphicFramePr>
        <p:xfrm>
          <a:off x="4067944" y="5446503"/>
          <a:ext cx="4632176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16088"/>
                <a:gridCol w="231608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2200" b="1" dirty="0" smtClean="0">
                          <a:solidFill>
                            <a:srgbClr val="0070C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Infinity</a:t>
                      </a:r>
                      <a:r>
                        <a:rPr lang="en-US" sz="2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endParaRPr lang="ru-RU" sz="2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600" dirty="0" smtClean="0"/>
                        <a:t>∞</a:t>
                      </a:r>
                      <a:endParaRPr lang="ru-RU" sz="2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'-</a:t>
                      </a:r>
                      <a:r>
                        <a:rPr lang="en-US" sz="2200" b="1" dirty="0" smtClean="0">
                          <a:solidFill>
                            <a:srgbClr val="0070C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Infinity</a:t>
                      </a:r>
                      <a:r>
                        <a:rPr lang="en-US" sz="2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endParaRPr lang="ru-RU" sz="2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-∞</a:t>
                      </a:r>
                      <a:endParaRPr lang="ru-RU" sz="2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2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2200" b="1" dirty="0" err="1" smtClean="0">
                          <a:solidFill>
                            <a:srgbClr val="0070C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NaN</a:t>
                      </a:r>
                      <a:r>
                        <a:rPr lang="en-US" sz="22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endParaRPr lang="ru-RU" sz="2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 smtClean="0"/>
                        <a:t>не число</a:t>
                      </a:r>
                      <a:endParaRPr lang="ru-RU" sz="22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186229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Последовательные  </a:t>
            </a:r>
            <a:r>
              <a:rPr lang="ru-RU" sz="3600" b="1" dirty="0">
                <a:latin typeface="Arial" pitchFamily="34" charset="0"/>
                <a:cs typeface="Arial" pitchFamily="34" charset="0"/>
              </a:rPr>
              <a:t>типы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данных . Типы 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19" y="1052736"/>
            <a:ext cx="8719059" cy="6140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ru-RU" sz="2400" dirty="0" smtClean="0"/>
              <a:t>Типы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u-RU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smallserial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2400" b="1" dirty="0" smtClean="0">
                <a:cs typeface="Courier New" panose="02070309020205020404" pitchFamily="49" charset="0"/>
              </a:rPr>
              <a:t>-</a:t>
            </a:r>
            <a:r>
              <a:rPr lang="ru-RU" sz="2400" b="1" dirty="0" smtClean="0">
                <a:cs typeface="Courier New" panose="02070309020205020404" pitchFamily="49" charset="0"/>
              </a:rPr>
              <a:t> </a:t>
            </a:r>
            <a:r>
              <a:rPr lang="ru-RU" sz="2200" dirty="0" smtClean="0">
                <a:cs typeface="Courier New" panose="02070309020205020404" pitchFamily="49" charset="0"/>
              </a:rPr>
              <a:t>по</a:t>
            </a:r>
            <a:r>
              <a:rPr lang="en-US" sz="2200" b="1" dirty="0" smtClean="0">
                <a:cs typeface="Courier New" panose="02070309020205020404" pitchFamily="49" charset="0"/>
              </a:rPr>
              <a:t> </a:t>
            </a:r>
            <a:r>
              <a:rPr lang="ru-RU" sz="2200" dirty="0" smtClean="0">
                <a:cs typeface="Courier New" panose="02070309020205020404" pitchFamily="49" charset="0"/>
              </a:rPr>
              <a:t>размеру соответствует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int2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2075"/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ru-RU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serial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b="1" dirty="0" smtClean="0">
                <a:cs typeface="Courier New" panose="02070309020205020404" pitchFamily="49" charset="0"/>
              </a:rPr>
              <a:t>-</a:t>
            </a:r>
            <a:r>
              <a:rPr lang="ru-RU" sz="2200" b="1" dirty="0" smtClean="0">
                <a:cs typeface="Courier New" panose="02070309020205020404" pitchFamily="49" charset="0"/>
              </a:rPr>
              <a:t> </a:t>
            </a:r>
            <a:r>
              <a:rPr lang="ru-RU" sz="2200" dirty="0">
                <a:cs typeface="Courier New" panose="02070309020205020404" pitchFamily="49" charset="0"/>
              </a:rPr>
              <a:t>по</a:t>
            </a:r>
            <a:r>
              <a:rPr lang="en-US" sz="2200" b="1" dirty="0">
                <a:cs typeface="Courier New" panose="02070309020205020404" pitchFamily="49" charset="0"/>
              </a:rPr>
              <a:t> </a:t>
            </a:r>
            <a:r>
              <a:rPr lang="ru-RU" sz="2200" dirty="0">
                <a:cs typeface="Courier New" panose="02070309020205020404" pitchFamily="49" charset="0"/>
              </a:rPr>
              <a:t>размеру </a:t>
            </a:r>
            <a:r>
              <a:rPr lang="ru-RU" sz="2200" dirty="0" smtClean="0">
                <a:cs typeface="Courier New" panose="02070309020205020404" pitchFamily="49" charset="0"/>
              </a:rPr>
              <a:t>соответствует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int4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2075"/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ru-RU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bigserial</a:t>
            </a:r>
            <a:r>
              <a:rPr lang="en-US" sz="2800" b="1" dirty="0" smtClean="0">
                <a:cs typeface="Courier New" panose="02070309020205020404" pitchFamily="49" charset="0"/>
              </a:rPr>
              <a:t> </a:t>
            </a:r>
            <a:r>
              <a:rPr lang="ru-RU" sz="2800" b="1" dirty="0" smtClean="0">
                <a:cs typeface="Courier New" panose="02070309020205020404" pitchFamily="49" charset="0"/>
              </a:rPr>
              <a:t>    </a:t>
            </a:r>
            <a:r>
              <a:rPr lang="en-US" sz="2200" b="1" dirty="0" smtClean="0">
                <a:cs typeface="Courier New" panose="02070309020205020404" pitchFamily="49" charset="0"/>
              </a:rPr>
              <a:t>-</a:t>
            </a:r>
            <a:r>
              <a:rPr lang="ru-RU" sz="2200" b="1" dirty="0" smtClean="0">
                <a:cs typeface="Courier New" panose="02070309020205020404" pitchFamily="49" charset="0"/>
              </a:rPr>
              <a:t> </a:t>
            </a:r>
            <a:r>
              <a:rPr lang="ru-RU" sz="2200" dirty="0">
                <a:cs typeface="Courier New" panose="02070309020205020404" pitchFamily="49" charset="0"/>
              </a:rPr>
              <a:t>по</a:t>
            </a:r>
            <a:r>
              <a:rPr lang="en-US" sz="2200" b="1" dirty="0">
                <a:cs typeface="Courier New" panose="02070309020205020404" pitchFamily="49" charset="0"/>
              </a:rPr>
              <a:t> </a:t>
            </a:r>
            <a:r>
              <a:rPr lang="ru-RU" sz="2200" dirty="0">
                <a:cs typeface="Courier New" panose="02070309020205020404" pitchFamily="49" charset="0"/>
              </a:rPr>
              <a:t>размеру соответствует</a:t>
            </a:r>
            <a:r>
              <a:rPr lang="ru-RU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2075" algn="just">
              <a:spcBef>
                <a:spcPts val="600"/>
              </a:spcBef>
            </a:pPr>
            <a:r>
              <a:rPr lang="ru-RU" sz="2400" dirty="0" smtClean="0"/>
              <a:t>Эти типы не </a:t>
            </a:r>
            <a:r>
              <a:rPr lang="ru-RU" sz="2400" dirty="0"/>
              <a:t>являются настоящими типами, а представляют </a:t>
            </a:r>
            <a:r>
              <a:rPr lang="ru-RU" sz="2400" dirty="0" smtClean="0"/>
              <a:t>удобное </a:t>
            </a:r>
            <a:r>
              <a:rPr lang="ru-RU" sz="2400" dirty="0"/>
              <a:t>средство для создания столбцов с уникальными идентификаторами </a:t>
            </a:r>
            <a:endParaRPr lang="ru-RU" sz="2400" dirty="0" smtClean="0"/>
          </a:p>
          <a:p>
            <a:pPr marL="92075" algn="just"/>
            <a:r>
              <a:rPr lang="ru-RU" sz="2400" dirty="0" smtClean="0"/>
              <a:t>(подобно </a:t>
            </a:r>
            <a:r>
              <a:rPr lang="ru-RU" sz="2400" dirty="0"/>
              <a:t>свойству AUTO_INCREMENT в </a:t>
            </a:r>
            <a:r>
              <a:rPr lang="ru-RU" sz="2400" dirty="0" smtClean="0"/>
              <a:t>других </a:t>
            </a:r>
            <a:r>
              <a:rPr lang="ru-RU" sz="2400" dirty="0"/>
              <a:t>СУБД</a:t>
            </a:r>
            <a:r>
              <a:rPr lang="ru-RU" sz="2400" dirty="0" smtClean="0"/>
              <a:t>)</a:t>
            </a:r>
          </a:p>
          <a:p>
            <a:pPr marL="92075" algn="just"/>
            <a:endParaRPr lang="ru-RU" sz="2400" dirty="0"/>
          </a:p>
          <a:p>
            <a:pPr algn="just"/>
            <a:r>
              <a:rPr lang="ru-RU" sz="2400" dirty="0" smtClean="0"/>
              <a:t>Для получения значений используются объекты </a:t>
            </a:r>
            <a:r>
              <a:rPr lang="ru-RU" sz="2400" b="1" dirty="0" smtClean="0">
                <a:solidFill>
                  <a:srgbClr val="0070C0"/>
                </a:solidFill>
              </a:rPr>
              <a:t>последовательности</a:t>
            </a:r>
            <a:r>
              <a:rPr lang="ru-RU" sz="2400" dirty="0" smtClean="0"/>
              <a:t>  -  генераторы </a:t>
            </a:r>
            <a:r>
              <a:rPr lang="ru-RU" sz="2400" dirty="0"/>
              <a:t>уникальных целых чисел. </a:t>
            </a:r>
            <a:endParaRPr lang="ru-RU" sz="2400" dirty="0" smtClean="0"/>
          </a:p>
          <a:p>
            <a:pPr algn="just"/>
            <a:r>
              <a:rPr lang="ru-RU" sz="2400" dirty="0" smtClean="0"/>
              <a:t>Для </a:t>
            </a:r>
            <a:r>
              <a:rPr lang="ru-RU" sz="2400" dirty="0"/>
              <a:t>работы с </a:t>
            </a:r>
            <a:r>
              <a:rPr lang="ru-RU" sz="2400" dirty="0" smtClean="0"/>
              <a:t> последовательностями </a:t>
            </a:r>
            <a:r>
              <a:rPr lang="ru-RU" sz="2400" dirty="0"/>
              <a:t>используются специальные </a:t>
            </a:r>
            <a:r>
              <a:rPr lang="ru-RU" sz="2400" dirty="0" smtClean="0"/>
              <a:t>функции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400" dirty="0" smtClean="0"/>
              <a:t>            </a:t>
            </a:r>
          </a:p>
          <a:p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nextval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(имя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послед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ru-RU" sz="2400" dirty="0"/>
              <a:t>- получает очередное </a:t>
            </a:r>
            <a:endParaRPr lang="ru-RU" sz="2400" dirty="0" smtClean="0"/>
          </a:p>
          <a:p>
            <a:r>
              <a:rPr lang="ru-RU" sz="2400" dirty="0"/>
              <a:t> </a:t>
            </a:r>
            <a:r>
              <a:rPr lang="ru-RU" sz="2400" dirty="0" smtClean="0"/>
              <a:t>                              число </a:t>
            </a:r>
            <a:r>
              <a:rPr lang="ru-RU" sz="2400" dirty="0"/>
              <a:t>из </a:t>
            </a:r>
            <a:r>
              <a:rPr lang="ru-RU" sz="2400" dirty="0" smtClean="0"/>
              <a:t>последовательности</a:t>
            </a:r>
            <a:endParaRPr lang="ru-RU" sz="2400" dirty="0"/>
          </a:p>
          <a:p>
            <a:pPr marL="92075" algn="just"/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79692778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200" b="1" dirty="0" smtClean="0">
                <a:latin typeface="+mj-lt"/>
                <a:cs typeface="Arial" pitchFamily="34" charset="0"/>
              </a:rPr>
              <a:t>Столбцы  </a:t>
            </a:r>
            <a:r>
              <a:rPr lang="en-US" sz="3200" b="1" dirty="0" smtClean="0">
                <a:latin typeface="+mj-lt"/>
                <a:cs typeface="Arial" pitchFamily="34" charset="0"/>
              </a:rPr>
              <a:t>IDENTITY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980728"/>
            <a:ext cx="8784976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В </a:t>
            </a:r>
            <a:r>
              <a:rPr lang="en-US" sz="2400" dirty="0" smtClean="0"/>
              <a:t>PostgreSQL 10 </a:t>
            </a:r>
            <a:r>
              <a:rPr lang="ru-RU" sz="2400" dirty="0" smtClean="0"/>
              <a:t>появился столбцы идентификации </a:t>
            </a:r>
            <a:r>
              <a:rPr lang="en-US" sz="2400" dirty="0" smtClean="0"/>
              <a:t>IDENTITY (</a:t>
            </a:r>
            <a:r>
              <a:rPr lang="ru-RU" sz="2400" dirty="0" smtClean="0"/>
              <a:t>соответствует стандарту SQL:2003)</a:t>
            </a:r>
          </a:p>
          <a:p>
            <a:pPr marL="450850" indent="-4508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Значения столбца автоматически генерируются </a:t>
            </a:r>
            <a:r>
              <a:rPr lang="ru-RU" sz="2400" dirty="0"/>
              <a:t>из неявной </a:t>
            </a:r>
            <a:r>
              <a:rPr lang="ru-RU" sz="2400" dirty="0" smtClean="0"/>
              <a:t>последовательности </a:t>
            </a:r>
          </a:p>
          <a:p>
            <a:pPr marL="450850" indent="-4508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Такие столбцы используются в качестве ключей</a:t>
            </a:r>
          </a:p>
          <a:p>
            <a:pPr marL="450850" indent="-4508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По сравнению с </a:t>
            </a:r>
            <a:r>
              <a:rPr lang="ru-RU" sz="2400" dirty="0" smtClean="0"/>
              <a:t>типом </a:t>
            </a:r>
            <a:r>
              <a:rPr lang="ru-RU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SERIAL</a:t>
            </a:r>
            <a:r>
              <a:rPr lang="ru-RU" sz="2400" dirty="0" smtClean="0"/>
              <a:t>, </a:t>
            </a:r>
            <a:r>
              <a:rPr lang="ru-RU" sz="2400" dirty="0"/>
              <a:t>столбцы </a:t>
            </a:r>
            <a:r>
              <a:rPr lang="en-US" sz="2400" dirty="0"/>
              <a:t>IDENTITY</a:t>
            </a:r>
            <a:r>
              <a:rPr lang="ru-RU" sz="2400" dirty="0" smtClean="0"/>
              <a:t> </a:t>
            </a:r>
            <a:r>
              <a:rPr lang="ru-RU" sz="2400" dirty="0"/>
              <a:t>больше соответствуют </a:t>
            </a:r>
            <a:r>
              <a:rPr lang="ru-RU" sz="2400" b="1" dirty="0"/>
              <a:t>стандартам SQL </a:t>
            </a:r>
            <a:r>
              <a:rPr lang="ru-RU" sz="2400" dirty="0"/>
              <a:t>и обеспечивают больший контроль над свойствами </a:t>
            </a:r>
            <a:r>
              <a:rPr lang="ru-RU" sz="2400" dirty="0" smtClean="0"/>
              <a:t>последовательностей</a:t>
            </a:r>
          </a:p>
          <a:p>
            <a:pPr marL="450850" indent="-4508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В современных версиях </a:t>
            </a:r>
            <a:r>
              <a:rPr lang="en-US" sz="2400" dirty="0" smtClean="0"/>
              <a:t>PostgreSQL</a:t>
            </a:r>
            <a:r>
              <a:rPr lang="ru-RU" sz="2400" dirty="0" smtClean="0"/>
              <a:t> столбцы идентификации являются предпочтительной заменой типа 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SERIAL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17410025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3929058" y="3495706"/>
            <a:ext cx="2525530" cy="3571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Символьные  типы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данных . Типы 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908720"/>
            <a:ext cx="864096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algn="just">
              <a:spcBef>
                <a:spcPts val="1200"/>
              </a:spcBef>
            </a:pPr>
            <a:r>
              <a:rPr lang="ru-RU" sz="2400" dirty="0"/>
              <a:t>Основные символьные типы в стандарте</a:t>
            </a:r>
            <a:r>
              <a:rPr lang="ru-RU" sz="2400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pPr marL="1528763" indent="-1528763"/>
            <a:r>
              <a:rPr lang="ru-RU" sz="2200" dirty="0"/>
              <a:t>   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ru-RU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ru-RU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ru-RU" sz="2200" dirty="0"/>
              <a:t> – строки фиксированной длины </a:t>
            </a:r>
          </a:p>
          <a:p>
            <a:pPr marL="1528763" indent="-1528763"/>
            <a:r>
              <a:rPr lang="ru-RU" sz="2200" dirty="0"/>
              <a:t>        Незаполненные позиции заполняются пробелами </a:t>
            </a:r>
          </a:p>
          <a:p>
            <a:r>
              <a:rPr lang="ru-RU" sz="2200" dirty="0"/>
              <a:t>    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VARCHAR</a:t>
            </a:r>
            <a:r>
              <a:rPr lang="ru-RU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ru-RU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ru-RU" sz="2200" dirty="0"/>
              <a:t>– строки переменной длины</a:t>
            </a:r>
          </a:p>
          <a:p>
            <a:pPr marL="1528763" indent="-1528763" algn="just"/>
            <a:r>
              <a:rPr lang="ru-RU" sz="2200" dirty="0"/>
              <a:t>        Сохраняются только заполненные </a:t>
            </a:r>
            <a:r>
              <a:rPr lang="ru-RU" sz="2200" dirty="0" smtClean="0"/>
              <a:t>позиции</a:t>
            </a:r>
            <a:endParaRPr lang="en-US" sz="2200" dirty="0" smtClean="0"/>
          </a:p>
          <a:p>
            <a:pPr marL="1528763" indent="-1528763" algn="just"/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2200" dirty="0" smtClean="0"/>
              <a:t> – </a:t>
            </a:r>
            <a:r>
              <a:rPr lang="ru-RU" sz="2200" dirty="0" smtClean="0"/>
              <a:t>количество символов (не байт)</a:t>
            </a:r>
            <a:endParaRPr lang="ru-RU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00694" y="3718742"/>
            <a:ext cx="933446" cy="117497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357158" y="3119770"/>
            <a:ext cx="4427198" cy="1677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200" dirty="0"/>
              <a:t>Пример. </a:t>
            </a:r>
            <a:r>
              <a:rPr lang="en-US" sz="2200" dirty="0"/>
              <a:t>C</a:t>
            </a:r>
            <a:r>
              <a:rPr lang="ru-RU" sz="2200" dirty="0"/>
              <a:t>трока </a:t>
            </a:r>
            <a:r>
              <a:rPr lang="ru-RU" sz="2200" i="1" dirty="0">
                <a:solidFill>
                  <a:srgbClr val="7030A0"/>
                </a:solidFill>
              </a:rPr>
              <a:t>Информация</a:t>
            </a:r>
            <a:endParaRPr lang="en-US" sz="2200" dirty="0"/>
          </a:p>
          <a:p>
            <a:pPr algn="just">
              <a:spcBef>
                <a:spcPts val="1200"/>
              </a:spcBef>
            </a:pPr>
            <a:r>
              <a:rPr lang="en-US" sz="2200" dirty="0"/>
              <a:t>  CHAR (15)</a:t>
            </a:r>
          </a:p>
          <a:p>
            <a:pPr algn="just">
              <a:spcBef>
                <a:spcPts val="600"/>
              </a:spcBef>
            </a:pPr>
            <a:r>
              <a:rPr lang="en-US" sz="2200" dirty="0"/>
              <a:t>  VARCHAR(15)</a:t>
            </a:r>
            <a:endParaRPr lang="ru-RU" sz="2200" dirty="0"/>
          </a:p>
          <a:p>
            <a:endParaRPr lang="ru-RU" sz="22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3929058" y="4007914"/>
            <a:ext cx="1571636" cy="3571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3857620" y="3563724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Информация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7620" y="4067780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Информация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7158" y="4869160"/>
            <a:ext cx="867933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В </a:t>
            </a:r>
            <a:r>
              <a:rPr lang="en-US" sz="2400" dirty="0" smtClean="0"/>
              <a:t>PostgreSQL</a:t>
            </a:r>
            <a:r>
              <a:rPr lang="ru-RU" sz="2400" dirty="0" smtClean="0"/>
              <a:t> есть </a:t>
            </a:r>
            <a:r>
              <a:rPr lang="ru-RU" sz="2400" dirty="0"/>
              <a:t>еще один символьный тип — 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ru-RU" sz="2400" dirty="0" smtClean="0"/>
              <a:t> </a:t>
            </a:r>
          </a:p>
          <a:p>
            <a:r>
              <a:rPr lang="ru-RU" sz="2400" dirty="0" smtClean="0"/>
              <a:t>В </a:t>
            </a:r>
            <a:r>
              <a:rPr lang="ru-RU" sz="2400" dirty="0"/>
              <a:t>столбец этого типа можно ввести сколь угодно большое </a:t>
            </a:r>
            <a:r>
              <a:rPr lang="ru-RU" sz="2400" dirty="0" smtClean="0"/>
              <a:t>значение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47049217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/>
      <p:bldP spid="15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Символьные  типы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данных . Типы 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520" y="1052736"/>
            <a:ext cx="870801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188" indent="-357188" algn="just"/>
            <a:r>
              <a:rPr lang="ru-RU" sz="2200" dirty="0" smtClean="0"/>
              <a:t>В </a:t>
            </a:r>
            <a:r>
              <a:rPr lang="en-US" sz="2200" dirty="0" smtClean="0"/>
              <a:t>PostgreSQL</a:t>
            </a:r>
            <a:r>
              <a:rPr lang="ru-RU" sz="2200" dirty="0" smtClean="0"/>
              <a:t> </a:t>
            </a:r>
            <a:r>
              <a:rPr lang="en-US" sz="2200" dirty="0" smtClean="0"/>
              <a:t> </a:t>
            </a:r>
            <a:r>
              <a:rPr lang="ru-RU" sz="2200" dirty="0" smtClean="0"/>
              <a:t>рекомендуется использовать неограниченные типы: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22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7188" indent="-357188" algn="just"/>
            <a:r>
              <a:rPr lang="ru-RU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VARCHAR</a:t>
            </a:r>
            <a:r>
              <a:rPr lang="en-US" sz="2200" dirty="0" smtClean="0"/>
              <a:t> </a:t>
            </a:r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200" dirty="0" smtClean="0"/>
              <a:t> </a:t>
            </a:r>
            <a:r>
              <a:rPr lang="ru-RU" sz="2200" dirty="0"/>
              <a:t>Максимальный размер  ~ </a:t>
            </a:r>
            <a:r>
              <a:rPr lang="ru-RU" sz="2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1Гб</a:t>
            </a:r>
            <a:r>
              <a:rPr lang="en-US" sz="2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just"/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dirty="0"/>
              <a:t>~ </a:t>
            </a:r>
            <a:r>
              <a:rPr lang="ru-RU" sz="2400" dirty="0" smtClean="0"/>
              <a:t> </a:t>
            </a:r>
            <a:r>
              <a:rPr lang="ru-RU" sz="2400" dirty="0"/>
              <a:t>1 </a:t>
            </a:r>
            <a:r>
              <a:rPr lang="ru-RU" sz="2400" dirty="0" smtClean="0"/>
              <a:t>млрд </a:t>
            </a:r>
            <a:r>
              <a:rPr lang="ru-RU" sz="2400" dirty="0"/>
              <a:t>символов (UTF-8)</a:t>
            </a:r>
            <a:endParaRPr lang="ru-RU" sz="2200" dirty="0" smtClean="0"/>
          </a:p>
          <a:p>
            <a:pPr marL="1073150" indent="-1073150" algn="just"/>
            <a:r>
              <a:rPr lang="ru-RU" sz="2200" dirty="0"/>
              <a:t> </a:t>
            </a:r>
            <a:r>
              <a:rPr lang="ru-RU" sz="2200" dirty="0" smtClean="0"/>
              <a:t>   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US" sz="2200" dirty="0" smtClean="0"/>
              <a:t>  - </a:t>
            </a:r>
            <a:r>
              <a:rPr lang="ru-RU" sz="2200" dirty="0" smtClean="0"/>
              <a:t>неограниченный аналог </a:t>
            </a:r>
            <a:r>
              <a:rPr lang="en-US" sz="2200" dirty="0" smtClean="0"/>
              <a:t>VARCHAR </a:t>
            </a:r>
            <a:r>
              <a:rPr lang="en-US" sz="2000" dirty="0" smtClean="0"/>
              <a:t>(</a:t>
            </a:r>
            <a:r>
              <a:rPr lang="ru-RU" sz="2000" dirty="0" smtClean="0"/>
              <a:t>ограничен пределами </a:t>
            </a:r>
            <a:r>
              <a:rPr lang="ru-RU" sz="2000" dirty="0"/>
              <a:t>памяти и файлового пространства </a:t>
            </a:r>
            <a:r>
              <a:rPr lang="ru-RU" sz="2000" dirty="0" smtClean="0"/>
              <a:t>БД</a:t>
            </a:r>
            <a:r>
              <a:rPr lang="en-US" sz="2000" dirty="0" smtClean="0"/>
              <a:t>)</a:t>
            </a:r>
          </a:p>
          <a:p>
            <a:pPr marL="1073150" indent="-1073150" algn="just"/>
            <a:r>
              <a:rPr lang="en-US" sz="2000" dirty="0"/>
              <a:t> </a:t>
            </a:r>
            <a:r>
              <a:rPr lang="en-US" sz="2000" dirty="0" smtClean="0"/>
              <a:t>            </a:t>
            </a:r>
            <a:r>
              <a:rPr lang="ru-RU" sz="2000" dirty="0" smtClean="0"/>
              <a:t>Не соответствует стандарту </a:t>
            </a:r>
            <a:r>
              <a:rPr lang="en-US" sz="2000" dirty="0" smtClean="0"/>
              <a:t>SQL </a:t>
            </a:r>
            <a:endParaRPr lang="ru-RU" sz="2000" dirty="0" smtClean="0"/>
          </a:p>
          <a:p>
            <a:pPr>
              <a:spcBef>
                <a:spcPts val="1200"/>
              </a:spcBef>
            </a:pPr>
            <a:r>
              <a:rPr lang="ru-RU" sz="2200" dirty="0" smtClean="0"/>
              <a:t>Символьные </a:t>
            </a:r>
            <a:r>
              <a:rPr lang="ru-RU" sz="2200" dirty="0"/>
              <a:t>константы </a:t>
            </a:r>
            <a:r>
              <a:rPr lang="ru-RU" sz="2200" dirty="0" smtClean="0"/>
              <a:t>заключаются</a:t>
            </a:r>
            <a:r>
              <a:rPr lang="ru-RU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725488" indent="-363538">
              <a:spcBef>
                <a:spcPts val="600"/>
              </a:spcBef>
              <a:buFont typeface="+mj-lt"/>
              <a:buAutoNum type="arabicParenR"/>
            </a:pPr>
            <a:r>
              <a:rPr lang="ru-RU" sz="2200" dirty="0" smtClean="0"/>
              <a:t> в </a:t>
            </a:r>
            <a:r>
              <a:rPr lang="ru-RU" sz="2200" dirty="0"/>
              <a:t>апострофы</a:t>
            </a:r>
          </a:p>
          <a:p>
            <a:pPr marL="441325"/>
            <a:r>
              <a:rPr lang="ru-RU" sz="2200" dirty="0"/>
              <a:t>         </a:t>
            </a:r>
            <a:r>
              <a:rPr lang="ru-RU" sz="2200" dirty="0" smtClean="0"/>
              <a:t>Пример</a:t>
            </a:r>
            <a:r>
              <a:rPr lang="ru-RU" sz="2200" dirty="0">
                <a:latin typeface="Courier New" pitchFamily="49" charset="0"/>
                <a:cs typeface="Courier New" pitchFamily="49" charset="0"/>
              </a:rPr>
              <a:t>:</a:t>
            </a:r>
            <a:r>
              <a:rPr lang="ru-RU" sz="2200" dirty="0"/>
              <a:t>   </a:t>
            </a:r>
            <a:r>
              <a:rPr lang="ru-RU" sz="2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ООО </a:t>
            </a:r>
            <a:r>
              <a:rPr lang="ru-RU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Темп</a:t>
            </a:r>
            <a:r>
              <a:rPr lang="ru-RU" sz="2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endParaRPr lang="ru-RU" sz="2600" b="1" dirty="0" smtClean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2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u-RU" sz="2200" dirty="0" smtClean="0">
                <a:cs typeface="Courier New" panose="02070309020205020404" pitchFamily="49" charset="0"/>
              </a:rPr>
              <a:t>Если в строке есть апостроф, то он удваивается</a:t>
            </a:r>
          </a:p>
          <a:p>
            <a:pPr marL="441325"/>
            <a:r>
              <a:rPr lang="ru-RU" sz="2200" dirty="0">
                <a:cs typeface="Courier New" panose="02070309020205020404" pitchFamily="49" charset="0"/>
              </a:rPr>
              <a:t> </a:t>
            </a:r>
            <a:r>
              <a:rPr lang="ru-RU" sz="2200" dirty="0" smtClean="0">
                <a:cs typeface="Courier New" panose="02070309020205020404" pitchFamily="49" charset="0"/>
              </a:rPr>
              <a:t>         Пример: </a:t>
            </a:r>
            <a:r>
              <a:rPr lang="ru-RU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О'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ru-RU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ru-RU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ru-RU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О</a:t>
            </a: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ru-RU" sz="2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endParaRPr lang="ru-RU" sz="2600" dirty="0" smtClean="0">
              <a:cs typeface="Courier New" panose="02070309020205020404" pitchFamily="49" charset="0"/>
            </a:endParaRPr>
          </a:p>
          <a:p>
            <a:pPr marL="803275" indent="-457200">
              <a:spcBef>
                <a:spcPts val="600"/>
              </a:spcBef>
              <a:buFont typeface="+mj-lt"/>
              <a:buAutoNum type="arabicParenR" startAt="2"/>
            </a:pPr>
            <a:r>
              <a:rPr lang="ru-RU" sz="2200" dirty="0" smtClean="0">
                <a:latin typeface="+mj-lt"/>
                <a:cs typeface="Courier New" panose="02070309020205020404" pitchFamily="49" charset="0"/>
              </a:rPr>
              <a:t>в </a:t>
            </a:r>
            <a:r>
              <a:rPr lang="ru-RU" sz="2400" dirty="0" smtClean="0"/>
              <a:t>удвоенный </a:t>
            </a:r>
            <a:r>
              <a:rPr lang="ru-RU" sz="2400" dirty="0"/>
              <a:t>символ «$» </a:t>
            </a:r>
            <a:r>
              <a:rPr lang="ru-RU" sz="2400" dirty="0" smtClean="0"/>
              <a:t> (удобно, если в строке есть апострофы)</a:t>
            </a:r>
            <a:r>
              <a:rPr lang="ru-RU" sz="22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ru-RU" sz="2200" dirty="0" smtClean="0"/>
              <a:t>                                 Пример:  </a:t>
            </a:r>
            <a:r>
              <a:rPr lang="en-US" sz="26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lang="ru-RU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sz="26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</a:t>
            </a:r>
            <a:endParaRPr lang="ru-RU" sz="2600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dirty="0" smtClean="0"/>
              <a:t>                                                        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47022466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Типы даты/времени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1196752"/>
            <a:ext cx="8964488" cy="580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ru-RU" sz="2400" b="1" dirty="0" smtClean="0"/>
              <a:t>Моменты времени </a:t>
            </a:r>
            <a:r>
              <a:rPr lang="ru-RU" sz="2400" dirty="0" smtClean="0">
                <a:latin typeface="Courier New" pitchFamily="49" charset="0"/>
                <a:cs typeface="Courier New" pitchFamily="49" charset="0"/>
              </a:rPr>
              <a:t>:</a:t>
            </a:r>
          </a:p>
          <a:p>
            <a:pPr marL="1528763" indent="-1528763"/>
            <a:r>
              <a:rPr lang="ru-RU" sz="2400" dirty="0" smtClean="0"/>
              <a:t>   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ru-RU" sz="2400" dirty="0" smtClean="0"/>
              <a:t> – дата </a:t>
            </a:r>
            <a:r>
              <a:rPr lang="ru-RU" sz="2200" dirty="0" smtClean="0"/>
              <a:t>(по григорианскому календарю)</a:t>
            </a:r>
          </a:p>
          <a:p>
            <a:pPr marL="1528763" indent="-1528763"/>
            <a:r>
              <a:rPr lang="ru-RU" sz="2400" dirty="0" smtClean="0"/>
              <a:t>   </a:t>
            </a: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n-US" sz="2400" dirty="0"/>
              <a:t> – </a:t>
            </a:r>
            <a:r>
              <a:rPr lang="ru-RU" sz="2400" dirty="0" smtClean="0"/>
              <a:t>время</a:t>
            </a:r>
          </a:p>
          <a:p>
            <a:pPr marL="1528763" indent="-1528763"/>
            <a:r>
              <a:rPr lang="en-US" sz="2400" b="1" dirty="0" smtClean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   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TIMESTAMP </a:t>
            </a:r>
            <a:r>
              <a:rPr lang="en-US" sz="2600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 </a:t>
            </a:r>
            <a:r>
              <a:rPr lang="ru-RU" sz="2400" dirty="0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временная отметка (</a:t>
            </a:r>
            <a:r>
              <a:rPr lang="ru-RU" sz="2400" dirty="0" err="1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дата+время</a:t>
            </a:r>
            <a:r>
              <a:rPr lang="ru-RU" sz="2400" dirty="0" smtClean="0">
                <a:solidFill>
                  <a:srgbClr val="002060"/>
                </a:solidFill>
                <a:latin typeface="+mj-lt"/>
                <a:cs typeface="Courier New" panose="02070309020205020404" pitchFamily="49" charset="0"/>
              </a:rPr>
              <a:t>)</a:t>
            </a:r>
            <a:endParaRPr lang="ru-RU" sz="2600" dirty="0">
              <a:solidFill>
                <a:srgbClr val="002060"/>
              </a:solidFill>
            </a:endParaRPr>
          </a:p>
          <a:p>
            <a:endParaRPr lang="ru-RU" sz="1200" dirty="0" smtClean="0"/>
          </a:p>
          <a:p>
            <a:r>
              <a:rPr lang="ru-RU" sz="2400" dirty="0"/>
              <a:t>Ф</a:t>
            </a:r>
            <a:r>
              <a:rPr lang="ru-RU" sz="2400" dirty="0" smtClean="0"/>
              <a:t>ормат </a:t>
            </a:r>
            <a:r>
              <a:rPr lang="ru-RU" sz="2400" dirty="0"/>
              <a:t>ввода </a:t>
            </a:r>
            <a:r>
              <a:rPr lang="ru-RU" sz="2400" dirty="0" smtClean="0"/>
              <a:t>дат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400" dirty="0" smtClean="0"/>
              <a:t> «</a:t>
            </a:r>
            <a:r>
              <a:rPr lang="ru-RU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гггг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-мм-</a:t>
            </a:r>
            <a:r>
              <a:rPr lang="ru-RU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дд</a:t>
            </a:r>
            <a:r>
              <a:rPr lang="ru-RU" sz="2400" dirty="0" smtClean="0"/>
              <a:t>»</a:t>
            </a:r>
            <a:endParaRPr lang="ru-RU" sz="2400" dirty="0"/>
          </a:p>
          <a:p>
            <a:pPr marL="1528763" indent="-1528763"/>
            <a:r>
              <a:rPr lang="ru-RU" sz="2400" dirty="0" smtClean="0"/>
              <a:t>             времени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400" dirty="0" smtClean="0"/>
              <a:t>   «</a:t>
            </a:r>
            <a:r>
              <a:rPr lang="ru-RU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чч:мм:сс</a:t>
            </a:r>
            <a:r>
              <a:rPr lang="ru-RU" sz="2400" dirty="0" smtClean="0"/>
              <a:t>»</a:t>
            </a:r>
          </a:p>
          <a:p>
            <a:pPr marL="1528763" indent="-1528763"/>
            <a:endParaRPr lang="ru-RU" sz="1200" dirty="0"/>
          </a:p>
          <a:p>
            <a:pPr algn="just"/>
            <a:r>
              <a:rPr lang="ru-RU" sz="2400" dirty="0" smtClean="0"/>
              <a:t>Константы даты/времени заключаются </a:t>
            </a:r>
            <a:r>
              <a:rPr lang="ru-RU" sz="2400" dirty="0"/>
              <a:t>в </a:t>
            </a:r>
            <a:r>
              <a:rPr lang="ru-RU" sz="2400" dirty="0" smtClean="0"/>
              <a:t>апострофы</a:t>
            </a:r>
          </a:p>
          <a:p>
            <a:r>
              <a:rPr lang="ru-RU" sz="2400" dirty="0" smtClean="0"/>
              <a:t>Для устранения неоднозначности используется операция приведения типа        </a:t>
            </a:r>
            <a:r>
              <a:rPr lang="ru-RU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::тип </a:t>
            </a:r>
            <a:endParaRPr lang="ru-RU" sz="24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r>
              <a:rPr lang="ru-RU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u-RU" sz="2400" dirty="0" smtClean="0"/>
              <a:t>Пример  '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202</a:t>
            </a:r>
            <a:r>
              <a:rPr lang="ru-RU" sz="24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5-10-15</a:t>
            </a:r>
            <a:r>
              <a:rPr lang="ru-RU" sz="2400" smtClean="0"/>
              <a:t>'</a:t>
            </a:r>
            <a:r>
              <a:rPr lang="ru-RU" sz="24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endParaRPr lang="ru-RU" sz="24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08150"/>
            <a:r>
              <a:rPr lang="ru-RU" sz="2400" dirty="0" smtClean="0"/>
              <a:t>'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:15</a:t>
            </a:r>
            <a:r>
              <a:rPr lang="ru-RU" sz="2400" dirty="0" smtClean="0"/>
              <a:t>'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::time    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smtClean="0">
                <a:cs typeface="Courier New" panose="02070309020205020404" pitchFamily="49" charset="0"/>
              </a:rPr>
              <a:t>- в 24-часовом формате</a:t>
            </a:r>
          </a:p>
          <a:p>
            <a:pPr marL="1708150"/>
            <a:r>
              <a:rPr lang="ru-RU" sz="2400" dirty="0" smtClean="0"/>
              <a:t>'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10:15 </a:t>
            </a:r>
            <a:r>
              <a:rPr lang="en-US" sz="24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pm</a:t>
            </a:r>
            <a:r>
              <a:rPr lang="ru-RU" sz="2400" dirty="0" smtClean="0"/>
              <a:t>'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::time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400" dirty="0">
                <a:cs typeface="Courier New" panose="02070309020205020404" pitchFamily="49" charset="0"/>
              </a:rPr>
              <a:t>- в </a:t>
            </a:r>
            <a:r>
              <a:rPr lang="en-US" sz="2400" dirty="0" smtClean="0">
                <a:cs typeface="Courier New" panose="02070309020205020404" pitchFamily="49" charset="0"/>
              </a:rPr>
              <a:t>1</a:t>
            </a:r>
            <a:r>
              <a:rPr lang="ru-RU" sz="2400" dirty="0" smtClean="0">
                <a:cs typeface="Courier New" panose="02070309020205020404" pitchFamily="49" charset="0"/>
              </a:rPr>
              <a:t>2-часовом </a:t>
            </a:r>
            <a:r>
              <a:rPr lang="ru-RU" sz="2400" dirty="0">
                <a:cs typeface="Courier New" panose="02070309020205020404" pitchFamily="49" charset="0"/>
              </a:rPr>
              <a:t>формате</a:t>
            </a:r>
          </a:p>
          <a:p>
            <a:pPr marL="1708150"/>
            <a:r>
              <a:rPr lang="ru-RU" sz="2400" dirty="0" smtClean="0">
                <a:cs typeface="Courier New" panose="02070309020205020404" pitchFamily="49" charset="0"/>
              </a:rPr>
              <a:t>                        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am</a:t>
            </a:r>
            <a:r>
              <a:rPr lang="en-US" sz="2400" dirty="0">
                <a:cs typeface="Courier New" panose="02070309020205020404" pitchFamily="49" charset="0"/>
              </a:rPr>
              <a:t> – </a:t>
            </a:r>
            <a:r>
              <a:rPr lang="ru-RU" sz="2400" dirty="0">
                <a:cs typeface="Courier New" panose="02070309020205020404" pitchFamily="49" charset="0"/>
              </a:rPr>
              <a:t>до полудня</a:t>
            </a:r>
            <a:endParaRPr lang="ru-RU" sz="2400" dirty="0" smtClean="0">
              <a:cs typeface="Courier New" panose="02070309020205020404" pitchFamily="49" charset="0"/>
            </a:endParaRPr>
          </a:p>
          <a:p>
            <a:pPr marL="1708150"/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pm</a:t>
            </a:r>
            <a:r>
              <a:rPr lang="en-US" sz="2400" dirty="0" smtClean="0">
                <a:cs typeface="Courier New" panose="02070309020205020404" pitchFamily="49" charset="0"/>
              </a:rPr>
              <a:t> </a:t>
            </a:r>
            <a:r>
              <a:rPr lang="en-US" sz="2400" dirty="0">
                <a:cs typeface="Courier New" panose="02070309020205020404" pitchFamily="49" charset="0"/>
              </a:rPr>
              <a:t>– </a:t>
            </a:r>
            <a:r>
              <a:rPr lang="en-US" sz="2400" dirty="0" smtClean="0">
                <a:cs typeface="Courier New" panose="02070309020205020404" pitchFamily="49" charset="0"/>
              </a:rPr>
              <a:t> </a:t>
            </a:r>
            <a:r>
              <a:rPr lang="ru-RU" sz="2400" dirty="0" smtClean="0">
                <a:cs typeface="Courier New" panose="02070309020205020404" pitchFamily="49" charset="0"/>
              </a:rPr>
              <a:t>после </a:t>
            </a:r>
            <a:r>
              <a:rPr lang="ru-RU" sz="2400" dirty="0">
                <a:cs typeface="Courier New" panose="02070309020205020404" pitchFamily="49" charset="0"/>
              </a:rPr>
              <a:t>полудня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26002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5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55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5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500"/>
                            </p:stCondLst>
                            <p:childTnLst>
                              <p:par>
                                <p:cTn id="67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Тип  </a:t>
            </a:r>
            <a:r>
              <a:rPr lang="en-US" sz="3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timestamp</a:t>
            </a:r>
            <a:endParaRPr lang="ru-RU" sz="36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1124744"/>
            <a:ext cx="8964488" cy="515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timestamp</a:t>
            </a:r>
            <a:r>
              <a:rPr lang="en-US" sz="2400" dirty="0" smtClean="0"/>
              <a:t> – </a:t>
            </a:r>
            <a:r>
              <a:rPr lang="ru-RU" sz="2400" dirty="0" smtClean="0"/>
              <a:t>это интегральный </a:t>
            </a:r>
            <a:r>
              <a:rPr lang="ru-RU" sz="2400" dirty="0"/>
              <a:t>тип </a:t>
            </a:r>
            <a:r>
              <a:rPr lang="ru-RU" sz="2400" dirty="0" smtClean="0"/>
              <a:t>(дата + время)</a:t>
            </a:r>
          </a:p>
          <a:p>
            <a:pPr algn="just">
              <a:spcBef>
                <a:spcPts val="600"/>
              </a:spcBef>
            </a:pPr>
            <a:r>
              <a:rPr lang="ru-RU" sz="2400" dirty="0" smtClean="0"/>
              <a:t>Существует </a:t>
            </a:r>
            <a:r>
              <a:rPr lang="ru-RU" sz="2400" dirty="0"/>
              <a:t>в двух вариантах: </a:t>
            </a:r>
            <a:endParaRPr lang="ru-RU" sz="2400" dirty="0" smtClean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 </a:t>
            </a:r>
            <a:r>
              <a:rPr lang="ru-RU" sz="2400" dirty="0" smtClean="0"/>
              <a:t>с </a:t>
            </a:r>
            <a:r>
              <a:rPr lang="ru-RU" sz="2400" dirty="0"/>
              <a:t>учетом часового пояса — </a:t>
            </a:r>
            <a:r>
              <a:rPr lang="ru-RU" sz="24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timestamp</a:t>
            </a:r>
            <a:r>
              <a:rPr lang="ru-RU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ru-RU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ru-RU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zone</a:t>
            </a:r>
            <a:endParaRPr lang="ru-RU" sz="24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41325" algn="just"/>
            <a:r>
              <a:rPr lang="ru-RU" sz="2400" dirty="0" smtClean="0"/>
              <a:t>(</a:t>
            </a:r>
            <a:r>
              <a:rPr lang="ru-RU" sz="2400" dirty="0"/>
              <a:t>сокращенное наименование — </a:t>
            </a:r>
            <a:r>
              <a:rPr lang="ru-RU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timestamptz</a:t>
            </a:r>
            <a:r>
              <a:rPr lang="ru-RU" sz="2400" dirty="0" smtClean="0"/>
              <a:t>)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без </a:t>
            </a:r>
            <a:r>
              <a:rPr lang="ru-RU" sz="2400" dirty="0"/>
              <a:t>учета часового пояса — </a:t>
            </a:r>
            <a:r>
              <a:rPr lang="ru-RU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timestamp</a:t>
            </a:r>
            <a:endParaRPr lang="ru-RU" sz="2400" dirty="0"/>
          </a:p>
          <a:p>
            <a:pPr marL="1528763" indent="-1528763">
              <a:spcBef>
                <a:spcPts val="600"/>
              </a:spcBef>
            </a:pPr>
            <a:r>
              <a:rPr lang="ru-RU" sz="2400" dirty="0"/>
              <a:t>Минимальное значение  - 4713 год до н.э.</a:t>
            </a:r>
          </a:p>
          <a:p>
            <a:pPr marL="1528763" indent="-1528763"/>
            <a:r>
              <a:rPr lang="ru-RU" sz="2400" dirty="0"/>
              <a:t>Максимальное значение - 294276 год н.э.</a:t>
            </a:r>
          </a:p>
          <a:p>
            <a:pPr marL="1528763" indent="-1528763"/>
            <a:r>
              <a:rPr lang="ru-RU" sz="2400" dirty="0">
                <a:cs typeface="Courier New" panose="02070309020205020404" pitchFamily="49" charset="0"/>
              </a:rPr>
              <a:t>Дискретность – 1 </a:t>
            </a:r>
            <a:r>
              <a:rPr lang="ru-RU" sz="2400" dirty="0" err="1">
                <a:cs typeface="Courier New" panose="02070309020205020404" pitchFamily="49" charset="0"/>
              </a:rPr>
              <a:t>мс</a:t>
            </a:r>
            <a:endParaRPr lang="ru-RU" sz="2400" dirty="0">
              <a:cs typeface="Courier New" panose="02070309020205020404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ru-RU" sz="2400" b="1" dirty="0" smtClean="0"/>
              <a:t>Примеры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а) без учета часового пояса</a:t>
            </a:r>
          </a:p>
          <a:p>
            <a:pPr marL="441325" algn="just"/>
            <a:r>
              <a:rPr lang="ru-RU" sz="2400" dirty="0"/>
              <a:t> </a:t>
            </a:r>
            <a:r>
              <a:rPr lang="ru-RU" sz="2400" dirty="0" smtClean="0"/>
              <a:t>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TIMESTAMP '20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-10-19 10:23:54'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41325" algn="just"/>
            <a:r>
              <a:rPr lang="ru-RU" sz="2400" dirty="0"/>
              <a:t> </a:t>
            </a:r>
            <a:r>
              <a:rPr lang="ru-RU" sz="2400" dirty="0" smtClean="0"/>
              <a:t>             б)  с учетом часового пояса</a:t>
            </a:r>
          </a:p>
          <a:p>
            <a:pPr marL="441325" algn="just"/>
            <a:r>
              <a:rPr lang="ru-RU" sz="2400" dirty="0" smtClean="0"/>
              <a:t>  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TIMESTAMP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'20</a:t>
            </a:r>
            <a:r>
              <a:rPr lang="ru-RU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-10-19 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10:23:54+03' </a:t>
            </a:r>
          </a:p>
          <a:p>
            <a:pPr marL="441325" algn="just"/>
            <a:r>
              <a:rPr lang="ru-RU" sz="2400" dirty="0" smtClean="0"/>
              <a:t> 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TIMESTAMP</a:t>
            </a:r>
            <a:r>
              <a:rPr lang="ru-RU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'20</a:t>
            </a:r>
            <a:r>
              <a:rPr lang="ru-RU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-10-19 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10:23:54 Europe/Moscow' </a:t>
            </a:r>
          </a:p>
        </p:txBody>
      </p:sp>
    </p:spTree>
    <p:extLst>
      <p:ext uri="{BB962C8B-B14F-4D97-AF65-F5344CB8AC3E}">
        <p14:creationId xmlns:p14="http://schemas.microsoft.com/office/powerpoint/2010/main" val="50428954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5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5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500"/>
                            </p:stCondLst>
                            <p:childTnLst>
                              <p:par>
                                <p:cTn id="82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Вывод даты/времени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1196752"/>
            <a:ext cx="8964488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ru-RU" sz="2400" dirty="0" smtClean="0"/>
              <a:t>Вывод даты/времени по умолчанию имеет тот же формат, что и ввод</a:t>
            </a:r>
            <a:endParaRPr lang="en-US" sz="2400" dirty="0" smtClean="0"/>
          </a:p>
          <a:p>
            <a:pPr algn="just">
              <a:spcBef>
                <a:spcPts val="600"/>
              </a:spcBef>
            </a:pPr>
            <a:r>
              <a:rPr lang="ru-RU" sz="2200" dirty="0" smtClean="0">
                <a:cs typeface="Courier New" panose="02070309020205020404" pitchFamily="49" charset="0"/>
              </a:rPr>
              <a:t>Формат вывода даты определяется параметром </a:t>
            </a:r>
            <a:r>
              <a:rPr lang="en-US" sz="26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datestyle</a:t>
            </a:r>
            <a:endParaRPr lang="ru-RU" sz="26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ru-RU" sz="2400" dirty="0" smtClean="0">
                <a:cs typeface="Courier New" panose="02070309020205020404" pitchFamily="49" charset="0"/>
              </a:rPr>
              <a:t>По умолчанию   </a:t>
            </a:r>
            <a:r>
              <a:rPr lang="ru-RU" sz="2400" b="1" dirty="0" smtClean="0">
                <a:solidFill>
                  <a:srgbClr val="7030A0"/>
                </a:solidFill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cs typeface="Courier New" panose="02070309020205020404" pitchFamily="49" charset="0"/>
              </a:rPr>
              <a:t>ISO,DMY</a:t>
            </a:r>
          </a:p>
          <a:p>
            <a:pPr algn="just">
              <a:spcBef>
                <a:spcPts val="1200"/>
              </a:spcBef>
            </a:pPr>
            <a:r>
              <a:rPr lang="ru-RU" sz="2400" b="1" dirty="0" smtClean="0">
                <a:cs typeface="Courier New" panose="02070309020205020404" pitchFamily="49" charset="0"/>
              </a:rPr>
              <a:t>Пример</a:t>
            </a:r>
            <a:endParaRPr lang="en-US" sz="2400" b="1" dirty="0">
              <a:cs typeface="Courier New" panose="02070309020205020404" pitchFamily="49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251520" y="3356992"/>
            <a:ext cx="52565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2025-07-16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98468" y="3356992"/>
            <a:ext cx="2394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 </a:t>
            </a:r>
            <a:r>
              <a:rPr lang="en-US" sz="2400" b="1" dirty="0" smtClean="0"/>
              <a:t>2025-07-1</a:t>
            </a:r>
            <a:r>
              <a:rPr lang="ru-RU" sz="2400" b="1" dirty="0" smtClean="0"/>
              <a:t>6</a:t>
            </a:r>
            <a:endParaRPr lang="ru-RU" sz="2400" b="1" dirty="0"/>
          </a:p>
        </p:txBody>
      </p:sp>
      <p:sp>
        <p:nvSpPr>
          <p:cNvPr id="15" name="Стрелка вправо 14"/>
          <p:cNvSpPr/>
          <p:nvPr/>
        </p:nvSpPr>
        <p:spPr>
          <a:xfrm>
            <a:off x="5850396" y="3356992"/>
            <a:ext cx="432048" cy="4616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251520" y="3933056"/>
            <a:ext cx="8712968" cy="158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 smtClean="0"/>
              <a:t>Параметр можно изменить в конфигурационном файле 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pgdir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\data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ru-RU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postgresql.conf</a:t>
            </a:r>
            <a:r>
              <a:rPr lang="ru-RU" sz="2200" dirty="0" smtClean="0"/>
              <a:t>  </a:t>
            </a:r>
            <a:endParaRPr lang="en-US" sz="24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dirty="0"/>
              <a:t>и</a:t>
            </a:r>
            <a:r>
              <a:rPr lang="ru-RU" sz="2200" dirty="0" smtClean="0"/>
              <a:t>ли для текущего сеанса командой 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</a:p>
          <a:p>
            <a:pPr>
              <a:spcBef>
                <a:spcPts val="600"/>
              </a:spcBef>
            </a:pPr>
            <a:r>
              <a:rPr lang="ru-RU" sz="2200" b="1" dirty="0" smtClean="0">
                <a:cs typeface="Courier New" panose="02070309020205020404" pitchFamily="49" charset="0"/>
              </a:rPr>
              <a:t>Пример</a:t>
            </a:r>
            <a:endParaRPr lang="ru-RU" sz="2200" b="1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1079104" y="5343599"/>
            <a:ext cx="53473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datestyle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TO 'SQL,DMY'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'2025-07-16'::date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14492" y="5733256"/>
            <a:ext cx="2394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16/07/2025</a:t>
            </a:r>
            <a:endParaRPr lang="ru-RU" sz="2400" b="1" dirty="0"/>
          </a:p>
        </p:txBody>
      </p:sp>
      <p:sp>
        <p:nvSpPr>
          <p:cNvPr id="19" name="Стрелка вправо 18"/>
          <p:cNvSpPr/>
          <p:nvPr/>
        </p:nvSpPr>
        <p:spPr>
          <a:xfrm>
            <a:off x="6066420" y="5733256"/>
            <a:ext cx="432048" cy="4616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4283968" y="6309320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datestyle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TO DEFAULT</a:t>
            </a:r>
            <a:endParaRPr lang="ru-RU" sz="24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07481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 animBg="1"/>
      <p:bldP spid="18" grpId="0"/>
      <p:bldP spid="19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Вывод даты/времени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1196752"/>
            <a:ext cx="83529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ru-RU" sz="2200" dirty="0" smtClean="0"/>
              <a:t>Более гибкий вариант вывода даты (с переводом в символьный тип)  дает функция </a:t>
            </a:r>
            <a:r>
              <a:rPr lang="en-US" sz="2200" dirty="0" err="1" smtClean="0"/>
              <a:t>to_char</a:t>
            </a:r>
            <a:endParaRPr lang="ru-RU" sz="2200" dirty="0" smtClean="0"/>
          </a:p>
          <a:p>
            <a:pPr algn="just">
              <a:spcBef>
                <a:spcPts val="1200"/>
              </a:spcBef>
            </a:pPr>
            <a:r>
              <a:rPr lang="ru-RU" sz="2200" dirty="0"/>
              <a:t> </a:t>
            </a:r>
            <a:r>
              <a:rPr lang="ru-RU" sz="2200" dirty="0" smtClean="0"/>
              <a:t> </a:t>
            </a:r>
            <a:r>
              <a:rPr lang="en-US" sz="26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to_char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временная </a:t>
            </a:r>
            <a:r>
              <a:rPr lang="ru-RU" sz="26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метка,'шаблон</a:t>
            </a:r>
            <a:r>
              <a:rPr lang="ru-RU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  <a:endParaRPr lang="en-US" sz="26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23528" y="5431935"/>
            <a:ext cx="84969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to_char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('2025-10-16'::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date,'DD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-MM-YY')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82444" y="5991671"/>
            <a:ext cx="2394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 </a:t>
            </a:r>
            <a:r>
              <a:rPr lang="en-US" sz="2400" b="1" dirty="0" smtClean="0"/>
              <a:t>16-10-25</a:t>
            </a:r>
            <a:endParaRPr lang="ru-RU" sz="2400" b="1" dirty="0"/>
          </a:p>
        </p:txBody>
      </p:sp>
      <p:sp>
        <p:nvSpPr>
          <p:cNvPr id="15" name="Стрелка вправо 14"/>
          <p:cNvSpPr/>
          <p:nvPr/>
        </p:nvSpPr>
        <p:spPr>
          <a:xfrm>
            <a:off x="5634372" y="5991671"/>
            <a:ext cx="432048" cy="4616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38647"/>
              </p:ext>
            </p:extLst>
          </p:nvPr>
        </p:nvGraphicFramePr>
        <p:xfrm>
          <a:off x="899592" y="2708920"/>
          <a:ext cx="7704856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8192"/>
                <a:gridCol w="597666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Шаблон</a:t>
                      </a:r>
                      <a:endParaRPr lang="ru-R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Результат</a:t>
                      </a:r>
                      <a:endParaRPr lang="ru-RU" sz="24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 YY/YYYY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2/4</a:t>
                      </a:r>
                      <a:r>
                        <a:rPr lang="en-US" sz="2400" baseline="0" dirty="0" smtClean="0"/>
                        <a:t> </a:t>
                      </a:r>
                      <a:r>
                        <a:rPr lang="ru-RU" sz="2400" baseline="0" dirty="0" smtClean="0"/>
                        <a:t>цифры года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 </a:t>
                      </a:r>
                      <a:r>
                        <a:rPr lang="ru-RU" sz="2400" dirty="0" smtClean="0"/>
                        <a:t>ММ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Номер месяца (01-12)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 DD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День (01-31)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 D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День недели (вс-1…суб-7)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573790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Усечение   даты/времени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355976" y="4263479"/>
            <a:ext cx="4788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 </a:t>
            </a:r>
            <a:r>
              <a:rPr lang="en-US" sz="2400" b="1" dirty="0" smtClean="0"/>
              <a:t>2025-</a:t>
            </a:r>
            <a:r>
              <a:rPr lang="ru-RU" sz="2400" b="1" dirty="0"/>
              <a:t>1</a:t>
            </a:r>
            <a:r>
              <a:rPr lang="en-US" sz="2400" b="1" dirty="0" smtClean="0"/>
              <a:t>0-16 18:00:00</a:t>
            </a:r>
            <a:endParaRPr lang="ru-RU" sz="2400" b="1" dirty="0"/>
          </a:p>
        </p:txBody>
      </p:sp>
      <p:sp>
        <p:nvSpPr>
          <p:cNvPr id="3" name="Стрелка вправо 2"/>
          <p:cNvSpPr/>
          <p:nvPr/>
        </p:nvSpPr>
        <p:spPr>
          <a:xfrm>
            <a:off x="3707904" y="4263479"/>
            <a:ext cx="432048" cy="4616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4941168"/>
            <a:ext cx="88924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date_trunc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'month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'2025-10-16'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)::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97760" y="5847655"/>
            <a:ext cx="4482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 </a:t>
            </a:r>
            <a:r>
              <a:rPr lang="en-US" sz="2400" b="1" dirty="0" smtClean="0"/>
              <a:t>2025-10-01</a:t>
            </a:r>
            <a:endParaRPr lang="ru-RU" sz="2400" b="1" dirty="0"/>
          </a:p>
        </p:txBody>
      </p:sp>
      <p:sp>
        <p:nvSpPr>
          <p:cNvPr id="11" name="Стрелка вправо 10"/>
          <p:cNvSpPr/>
          <p:nvPr/>
        </p:nvSpPr>
        <p:spPr>
          <a:xfrm>
            <a:off x="3744416" y="5847655"/>
            <a:ext cx="432048" cy="4616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251520" y="2996952"/>
            <a:ext cx="8784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sz="2400" b="1" dirty="0" smtClean="0"/>
              <a:t>Примеры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date_trunc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('hour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timestamp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'2025-10-16 18:45:50'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ru-R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51520" y="1181686"/>
            <a:ext cx="8640960" cy="1677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Значения временных отметок можно </a:t>
            </a:r>
            <a:r>
              <a:rPr lang="ru-RU" sz="2400" dirty="0" smtClean="0"/>
              <a:t>усечь </a:t>
            </a:r>
            <a:r>
              <a:rPr lang="ru-RU" sz="2400" dirty="0"/>
              <a:t>с заданной точностью </a:t>
            </a:r>
            <a:r>
              <a:rPr lang="ru-RU" sz="2400" dirty="0" smtClean="0"/>
              <a:t>(до заданного поля) с </a:t>
            </a:r>
            <a:r>
              <a:rPr lang="ru-RU" sz="2400" dirty="0"/>
              <a:t>помощью функции </a:t>
            </a:r>
            <a:r>
              <a:rPr lang="ru-RU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date_trunc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r>
              <a:rPr lang="ru-RU" sz="2400" dirty="0" smtClean="0"/>
              <a:t>      </a:t>
            </a:r>
            <a:r>
              <a:rPr lang="en-US" sz="26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date_trunc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ru-RU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поле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  <a:r>
              <a:rPr lang="ru-RU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временная метка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239760700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6" grpId="0"/>
      <p:bldP spid="9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200" b="1" dirty="0" smtClean="0">
                <a:latin typeface="Arial" pitchFamily="34" charset="0"/>
                <a:cs typeface="Arial" pitchFamily="34" charset="0"/>
              </a:rPr>
              <a:t>Извлечение компонентов  даты/времени</a:t>
            </a:r>
            <a:endParaRPr lang="ru-RU" sz="32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5085184"/>
            <a:ext cx="88924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Пример</a:t>
            </a: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extract(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month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FROM '2025-10-25'::date)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92488" y="6135687"/>
            <a:ext cx="4788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 </a:t>
            </a:r>
            <a:r>
              <a:rPr lang="en-US" sz="2400" b="1" dirty="0" smtClean="0"/>
              <a:t>10</a:t>
            </a:r>
            <a:endParaRPr lang="ru-RU" sz="2400" b="1" dirty="0"/>
          </a:p>
        </p:txBody>
      </p:sp>
      <p:sp>
        <p:nvSpPr>
          <p:cNvPr id="11" name="Стрелка вправо 10"/>
          <p:cNvSpPr/>
          <p:nvPr/>
        </p:nvSpPr>
        <p:spPr>
          <a:xfrm>
            <a:off x="3763477" y="6135687"/>
            <a:ext cx="432048" cy="4616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251520" y="1052736"/>
            <a:ext cx="864096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Из значений временных отметок </a:t>
            </a:r>
            <a:r>
              <a:rPr lang="ru-RU" sz="2400" dirty="0" smtClean="0"/>
              <a:t>можно с </a:t>
            </a:r>
            <a:r>
              <a:rPr lang="ru-RU" sz="2400" dirty="0"/>
              <a:t>помощью функции </a:t>
            </a:r>
            <a:r>
              <a:rPr lang="ru-RU" sz="26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extract</a:t>
            </a:r>
            <a:r>
              <a:rPr lang="ru-RU" sz="2400" dirty="0" smtClean="0"/>
              <a:t> </a:t>
            </a:r>
            <a:r>
              <a:rPr lang="ru-RU" sz="2400" dirty="0"/>
              <a:t>извлекать отдельные </a:t>
            </a:r>
            <a:r>
              <a:rPr lang="ru-RU" sz="2400" dirty="0" smtClean="0"/>
              <a:t>поля</a:t>
            </a:r>
            <a:endParaRPr lang="en-US" sz="2400" dirty="0" smtClean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EXTRACT(</a:t>
            </a:r>
            <a:r>
              <a:rPr lang="ru-RU" sz="26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поле</a:t>
            </a:r>
            <a:r>
              <a:rPr lang="ru-RU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ru-RU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временная метка)</a:t>
            </a:r>
          </a:p>
          <a:p>
            <a:r>
              <a:rPr lang="ru-RU" sz="2400" dirty="0" smtClean="0"/>
              <a:t>где </a:t>
            </a:r>
            <a:r>
              <a:rPr lang="ru-RU" sz="26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поле</a:t>
            </a:r>
            <a:r>
              <a:rPr lang="en-US" sz="2400" dirty="0" smtClean="0"/>
              <a:t> (</a:t>
            </a:r>
            <a:r>
              <a:rPr lang="ru-RU" sz="2400" dirty="0" smtClean="0"/>
              <a:t>регистр не имеет значения)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ru-RU" sz="2400" dirty="0"/>
              <a:t> </a:t>
            </a:r>
            <a:r>
              <a:rPr lang="ru-RU" sz="2400" dirty="0" smtClean="0"/>
              <a:t>               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year</a:t>
            </a:r>
            <a:r>
              <a:rPr lang="en-US" sz="2400" dirty="0" smtClean="0"/>
              <a:t> </a:t>
            </a:r>
            <a:r>
              <a:rPr lang="ru-RU" sz="2400" dirty="0" smtClean="0"/>
              <a:t>    </a:t>
            </a:r>
            <a:r>
              <a:rPr lang="en-US" sz="2400" dirty="0" smtClean="0"/>
              <a:t>– </a:t>
            </a:r>
            <a:r>
              <a:rPr lang="ru-RU" sz="2400" dirty="0" smtClean="0"/>
              <a:t>год</a:t>
            </a:r>
          </a:p>
          <a:p>
            <a:r>
              <a:rPr lang="ru-RU" sz="2400" dirty="0"/>
              <a:t> </a:t>
            </a:r>
            <a:r>
              <a:rPr lang="ru-RU" sz="2400" dirty="0" smtClean="0"/>
              <a:t>               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month</a:t>
            </a:r>
            <a:r>
              <a:rPr lang="en-US" sz="2400" dirty="0" smtClean="0"/>
              <a:t> – </a:t>
            </a:r>
            <a:r>
              <a:rPr lang="ru-RU" sz="2400" dirty="0" smtClean="0"/>
              <a:t>месяц</a:t>
            </a:r>
          </a:p>
          <a:p>
            <a:r>
              <a:rPr lang="ru-RU" sz="2400" dirty="0"/>
              <a:t> </a:t>
            </a:r>
            <a:r>
              <a:rPr lang="ru-RU" sz="2400" dirty="0" smtClean="0"/>
              <a:t>               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day</a:t>
            </a:r>
            <a:r>
              <a:rPr lang="en-US" sz="2400" dirty="0" smtClean="0"/>
              <a:t> </a:t>
            </a:r>
            <a:r>
              <a:rPr lang="ru-RU" sz="2400" dirty="0" smtClean="0"/>
              <a:t>     </a:t>
            </a:r>
            <a:r>
              <a:rPr lang="en-US" sz="2400" dirty="0" smtClean="0"/>
              <a:t>–</a:t>
            </a:r>
            <a:r>
              <a:rPr lang="ru-RU" sz="2400" dirty="0" smtClean="0"/>
              <a:t> день</a:t>
            </a:r>
            <a:endParaRPr lang="en-US" sz="2400" dirty="0" smtClean="0"/>
          </a:p>
          <a:p>
            <a:r>
              <a:rPr lang="en-US" sz="2400" dirty="0"/>
              <a:t> </a:t>
            </a:r>
            <a:r>
              <a:rPr lang="en-US" sz="2400" dirty="0" smtClean="0"/>
              <a:t>              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dow</a:t>
            </a:r>
            <a:r>
              <a:rPr lang="en-US" sz="2400" dirty="0" smtClean="0"/>
              <a:t> </a:t>
            </a:r>
            <a:r>
              <a:rPr lang="ru-RU" sz="2400" dirty="0" smtClean="0"/>
              <a:t>     </a:t>
            </a:r>
            <a:r>
              <a:rPr lang="en-US" sz="2400" dirty="0" smtClean="0"/>
              <a:t>–</a:t>
            </a:r>
            <a:r>
              <a:rPr lang="ru-RU" sz="2400" dirty="0" smtClean="0"/>
              <a:t> день недели (вск-0…суб-6)</a:t>
            </a:r>
            <a:endParaRPr lang="en-US" sz="2400" dirty="0" smtClean="0"/>
          </a:p>
          <a:p>
            <a:r>
              <a:rPr lang="en-US" sz="2400" dirty="0"/>
              <a:t> </a:t>
            </a:r>
            <a:r>
              <a:rPr lang="en-US" sz="2400" dirty="0" smtClean="0"/>
              <a:t>              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isodow</a:t>
            </a:r>
            <a:r>
              <a:rPr lang="en-US" sz="2400" dirty="0" smtClean="0"/>
              <a:t> –</a:t>
            </a:r>
            <a:r>
              <a:rPr lang="ru-RU" sz="2400" dirty="0" smtClean="0"/>
              <a:t> </a:t>
            </a:r>
            <a:r>
              <a:rPr lang="ru-RU" sz="2400" dirty="0"/>
              <a:t>день недели </a:t>
            </a:r>
            <a:r>
              <a:rPr lang="ru-RU" sz="2400" dirty="0" smtClean="0"/>
              <a:t>(пн-0…вск-6</a:t>
            </a:r>
            <a:r>
              <a:rPr lang="ru-RU" sz="2400" dirty="0"/>
              <a:t>)</a:t>
            </a:r>
            <a:endParaRPr lang="en-US" sz="2400" dirty="0" smtClean="0"/>
          </a:p>
          <a:p>
            <a:r>
              <a:rPr lang="en-US" sz="2400" dirty="0"/>
              <a:t> </a:t>
            </a:r>
            <a:r>
              <a:rPr lang="en-US" sz="2400" dirty="0" smtClean="0"/>
              <a:t>               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hour</a:t>
            </a:r>
            <a:r>
              <a:rPr lang="ru-RU" sz="2400" dirty="0" smtClean="0"/>
              <a:t>     - час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38147475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Интервальный  тип   </a:t>
            </a:r>
            <a:r>
              <a:rPr lang="en-US" sz="36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INTERVAL</a:t>
            </a:r>
            <a:endParaRPr lang="ru-RU" sz="36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1052736"/>
            <a:ext cx="896448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188" indent="-357188"/>
            <a:r>
              <a:rPr lang="ru-RU" sz="2400" dirty="0" smtClean="0"/>
              <a:t>Это продолжительность отрезка  между двумя моментами времени (например, разность </a:t>
            </a:r>
            <a:r>
              <a:rPr lang="en-US" sz="2400" smtClean="0"/>
              <a:t>timestamp</a:t>
            </a:r>
            <a:r>
              <a:rPr lang="ru-RU" sz="2400" smtClean="0"/>
              <a:t>)</a:t>
            </a:r>
            <a:endParaRPr lang="ru-RU" sz="2400" dirty="0"/>
          </a:p>
          <a:p>
            <a:endParaRPr lang="ru-RU" sz="1200" dirty="0"/>
          </a:p>
          <a:p>
            <a:r>
              <a:rPr lang="fr-FR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quantity</a:t>
            </a:r>
            <a:r>
              <a:rPr lang="fr-FR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400" b="1" spc="-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</a:t>
            </a:r>
            <a:r>
              <a:rPr lang="fr-FR" sz="2400" b="1" spc="-100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fr-FR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quantity</a:t>
            </a:r>
            <a:r>
              <a:rPr lang="fr-FR" sz="2400" b="1" spc="-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400" b="1" spc="-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</a:t>
            </a:r>
            <a:r>
              <a:rPr lang="fr-FR" sz="2400" b="1" spc="-100" dirty="0">
                <a:latin typeface="Courier New" panose="02070309020205020404" pitchFamily="49" charset="0"/>
                <a:cs typeface="Courier New" panose="02070309020205020404" pitchFamily="49" charset="0"/>
              </a:rPr>
              <a:t> ...] </a:t>
            </a:r>
            <a:r>
              <a:rPr lang="fr-FR" sz="2400" b="1" spc="-10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direction</a:t>
            </a:r>
            <a:endParaRPr lang="en-US" sz="2400" b="1" spc="-100" dirty="0">
              <a:solidFill>
                <a:schemeClr val="accent3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/>
          </a:p>
          <a:p>
            <a:pPr marL="542925" indent="-542925"/>
            <a:r>
              <a:rPr lang="fr-FR" sz="2400" b="1" spc="-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</a:t>
            </a:r>
            <a:r>
              <a:rPr lang="fr-FR" sz="2400" b="1" spc="-100" dirty="0">
                <a:cs typeface="Courier New" panose="02070309020205020404" pitchFamily="49" charset="0"/>
              </a:rPr>
              <a:t> </a:t>
            </a:r>
            <a:r>
              <a:rPr lang="fr-FR" sz="2400" b="1" spc="-100" dirty="0" smtClean="0">
                <a:cs typeface="Courier New" panose="02070309020205020404" pitchFamily="49" charset="0"/>
              </a:rPr>
              <a:t>– </a:t>
            </a:r>
            <a:r>
              <a:rPr lang="ru-RU" sz="2400" spc="-100" dirty="0" smtClean="0">
                <a:cs typeface="Courier New" panose="02070309020205020404" pitchFamily="49" charset="0"/>
              </a:rPr>
              <a:t>единица измерения</a:t>
            </a:r>
            <a:r>
              <a:rPr lang="ru-RU" sz="2400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400" spc="-100" dirty="0" smtClean="0">
                <a:cs typeface="Courier New" panose="02070309020205020404" pitchFamily="49" charset="0"/>
              </a:rPr>
              <a:t>  </a:t>
            </a:r>
            <a:r>
              <a:rPr lang="en-US" sz="2400" b="1" spc="-100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microsecond</a:t>
            </a:r>
            <a:r>
              <a:rPr lang="en-US" sz="2400" b="1" spc="-1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millisecond, second, minute, hour, day, week, month, year, decade, century, </a:t>
            </a:r>
            <a:r>
              <a:rPr lang="en-US" sz="2400" b="1" spc="-100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millennium</a:t>
            </a:r>
            <a:endParaRPr lang="ru-RU" sz="2400" b="1" spc="-100" dirty="0" smtClean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quantity</a:t>
            </a:r>
            <a:r>
              <a:rPr lang="en-US" sz="2400" dirty="0" smtClean="0"/>
              <a:t> </a:t>
            </a:r>
            <a:r>
              <a:rPr lang="en-US" sz="2400" dirty="0"/>
              <a:t>— </a:t>
            </a:r>
            <a:r>
              <a:rPr lang="ru-RU" sz="2400" dirty="0" smtClean="0"/>
              <a:t>количество единиц</a:t>
            </a:r>
          </a:p>
          <a:p>
            <a:r>
              <a:rPr lang="fr-FR" sz="2400" b="1" spc="-10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direction </a:t>
            </a:r>
            <a:r>
              <a:rPr lang="ru-RU" sz="2400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– </a:t>
            </a:r>
            <a:r>
              <a:rPr lang="ru-RU" sz="2400" spc="-100" dirty="0" smtClean="0">
                <a:cs typeface="Courier New" panose="02070309020205020404" pitchFamily="49" charset="0"/>
              </a:rPr>
              <a:t>направление: пусто (вперед) или </a:t>
            </a:r>
            <a:r>
              <a:rPr lang="en-US" sz="2400" spc="-100" dirty="0" smtClean="0">
                <a:cs typeface="Courier New" panose="02070309020205020404" pitchFamily="49" charset="0"/>
              </a:rPr>
              <a:t>ago (</a:t>
            </a:r>
            <a:r>
              <a:rPr lang="ru-RU" sz="2400" spc="-100" dirty="0" smtClean="0">
                <a:cs typeface="Courier New" panose="02070309020205020404" pitchFamily="49" charset="0"/>
              </a:rPr>
              <a:t>назад)</a:t>
            </a:r>
          </a:p>
          <a:p>
            <a:endParaRPr lang="ru-RU" sz="2400" b="1" spc="-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Пример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year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months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'::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interval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5373216"/>
            <a:ext cx="91450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А</a:t>
            </a:r>
            <a:r>
              <a:rPr lang="ru-RU" sz="2400" dirty="0" smtClean="0"/>
              <a:t>льтернативный формат</a:t>
            </a:r>
          </a:p>
          <a:p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spc="-100" dirty="0" smtClean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b="1" spc="-1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years</a:t>
            </a:r>
            <a:r>
              <a:rPr lang="en-US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2400" b="1" spc="-1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months</a:t>
            </a:r>
            <a:r>
              <a:rPr lang="en-US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2400" b="1" spc="-1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days</a:t>
            </a:r>
            <a:r>
              <a:rPr lang="en-US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sz="2400" b="1" spc="-100" dirty="0" err="1" smtClean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sz="2400" b="1" spc="-100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hours</a:t>
            </a:r>
            <a:r>
              <a:rPr lang="en-US" sz="2400" b="1" spc="-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400" b="1" spc="-100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minutes</a:t>
            </a:r>
            <a:r>
              <a:rPr lang="en-US" sz="2400" b="1" spc="-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400" b="1" spc="-100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seconds</a:t>
            </a:r>
            <a:r>
              <a:rPr lang="en-US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ru-RU" sz="2400" b="1" spc="-1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spc="-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 Пример 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1-2-3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4: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5:6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'::interval</a:t>
            </a:r>
            <a:endParaRPr lang="ru-RU" sz="2400" spc="-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94704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Операции с типом </a:t>
            </a:r>
            <a:r>
              <a:rPr lang="en-US" sz="36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INTERVAL</a:t>
            </a:r>
            <a:endParaRPr lang="ru-RU" sz="36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1052736"/>
            <a:ext cx="89644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188" indent="-357188"/>
            <a:r>
              <a:rPr lang="ru-RU" sz="2400" dirty="0"/>
              <a:t>Добавление интервала к </a:t>
            </a:r>
            <a:r>
              <a:rPr lang="ru-RU" sz="2400" dirty="0" smtClean="0"/>
              <a:t>временной метке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357188" indent="-357188"/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(DATE '2025-10-16' </a:t>
            </a:r>
            <a:endParaRPr lang="en-US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7188" indent="-357188"/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+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INTERVAL '2 month')::date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69768" y="2348880"/>
            <a:ext cx="4482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 </a:t>
            </a:r>
            <a:r>
              <a:rPr lang="en-US" sz="2400" b="1" dirty="0" smtClean="0"/>
              <a:t>2025-12-16</a:t>
            </a:r>
            <a:endParaRPr lang="ru-RU" sz="2400" b="1" dirty="0"/>
          </a:p>
        </p:txBody>
      </p:sp>
      <p:sp>
        <p:nvSpPr>
          <p:cNvPr id="9" name="Стрелка вправо 8"/>
          <p:cNvSpPr/>
          <p:nvPr/>
        </p:nvSpPr>
        <p:spPr>
          <a:xfrm>
            <a:off x="3816424" y="2348880"/>
            <a:ext cx="432048" cy="4616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179512" y="2967335"/>
            <a:ext cx="89644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188" indent="-357188"/>
            <a:r>
              <a:rPr lang="ru-RU" sz="2400" dirty="0" smtClean="0"/>
              <a:t>Вычитание </a:t>
            </a:r>
            <a:r>
              <a:rPr lang="ru-RU" sz="2400" dirty="0"/>
              <a:t>интервала </a:t>
            </a:r>
            <a:r>
              <a:rPr lang="ru-RU" sz="2400" dirty="0" smtClean="0"/>
              <a:t>из временной метки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357188" indent="-357188"/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(DATE '2025-10-16' </a:t>
            </a:r>
            <a:endParaRPr lang="en-US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7188" indent="-357188"/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INTERVAL '2 month')::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7188" indent="-357188"/>
            <a:r>
              <a:rPr lang="ru-RU" sz="2400" dirty="0">
                <a:latin typeface="+mj-lt"/>
                <a:cs typeface="Courier New" panose="02070309020205020404" pitchFamily="49" charset="0"/>
              </a:rPr>
              <a:t>и</a:t>
            </a:r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ли</a:t>
            </a:r>
          </a:p>
          <a:p>
            <a:pPr marL="357188" indent="-357188"/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(DATE '2025-10-16' </a:t>
            </a:r>
          </a:p>
          <a:p>
            <a:pPr marL="357188" indent="-357188"/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INTERVAL '2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month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ago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')::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69768" y="5343599"/>
            <a:ext cx="4482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 </a:t>
            </a:r>
            <a:r>
              <a:rPr lang="en-US" sz="2400" b="1" dirty="0" smtClean="0"/>
              <a:t>2025-08-16</a:t>
            </a:r>
            <a:endParaRPr lang="ru-RU" sz="2400" b="1" dirty="0"/>
          </a:p>
        </p:txBody>
      </p:sp>
      <p:sp>
        <p:nvSpPr>
          <p:cNvPr id="13" name="Стрелка вправо 12"/>
          <p:cNvSpPr/>
          <p:nvPr/>
        </p:nvSpPr>
        <p:spPr>
          <a:xfrm>
            <a:off x="3816424" y="5343599"/>
            <a:ext cx="432048" cy="4616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256091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4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2" grpId="0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Логический   тип</a:t>
            </a:r>
            <a:endParaRPr lang="ru-RU" sz="36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1273984"/>
            <a:ext cx="8941568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Может </a:t>
            </a:r>
            <a:r>
              <a:rPr lang="ru-RU" sz="2800" dirty="0"/>
              <a:t>иметь три состояния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800" dirty="0"/>
              <a:t> </a:t>
            </a:r>
            <a:endParaRPr lang="ru-RU" sz="2800" dirty="0" smtClean="0"/>
          </a:p>
          <a:p>
            <a:r>
              <a:rPr lang="ru-RU" sz="2800" dirty="0"/>
              <a:t> </a:t>
            </a:r>
            <a:r>
              <a:rPr lang="ru-RU" sz="2800" dirty="0" smtClean="0"/>
              <a:t>                             </a:t>
            </a:r>
            <a:r>
              <a:rPr lang="ru-RU" sz="2800" b="1" dirty="0" err="1" smtClean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ru-RU" sz="2800" b="1" dirty="0" smtClean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sz="2800" b="1" dirty="0" err="1" smtClean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</a:t>
            </a:r>
            <a:r>
              <a:rPr lang="en-US" sz="2800" b="1" dirty="0" smtClean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ru-RU" sz="2800" b="1" dirty="0" smtClean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800" b="1" dirty="0" smtClean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endParaRPr lang="ru-RU" sz="2800" b="1" dirty="0">
              <a:solidFill>
                <a:schemeClr val="accent3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2400" b="1" spc="-1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spc="-100" dirty="0" smtClean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fr-FR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TRUE,'t','true','y','yes','on','1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endParaRPr lang="en-US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=&gt;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FALSE,'f','false','n','no','off','0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</a:t>
            </a:r>
          </a:p>
        </p:txBody>
      </p:sp>
    </p:spTree>
    <p:extLst>
      <p:ext uri="{BB962C8B-B14F-4D97-AF65-F5344CB8AC3E}">
        <p14:creationId xmlns:p14="http://schemas.microsoft.com/office/powerpoint/2010/main" val="67540363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Массивы</a:t>
            </a:r>
            <a:endParaRPr lang="ru-RU" sz="36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1241752"/>
            <a:ext cx="8640960" cy="3339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ru-RU" sz="2800" dirty="0" smtClean="0"/>
              <a:t>Этот тип позволяет </a:t>
            </a:r>
            <a:r>
              <a:rPr lang="ru-RU" sz="2800" dirty="0"/>
              <a:t>создавать в таблицах </a:t>
            </a:r>
            <a:r>
              <a:rPr lang="ru-RU" sz="2800" dirty="0" smtClean="0"/>
              <a:t> </a:t>
            </a:r>
            <a:r>
              <a:rPr lang="ru-RU" sz="2800" dirty="0"/>
              <a:t>столбцы, в которых будут содержаться не скалярные значения, а массивы переменной </a:t>
            </a:r>
            <a:r>
              <a:rPr lang="ru-RU" sz="2800" dirty="0" smtClean="0"/>
              <a:t>длины </a:t>
            </a:r>
          </a:p>
          <a:p>
            <a:pPr marL="457200" indent="-457200" algn="just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ru-RU" sz="2800" dirty="0" smtClean="0"/>
              <a:t>Массивы </a:t>
            </a:r>
          </a:p>
          <a:p>
            <a:pPr marL="1071563" indent="-457200" algn="just">
              <a:buFont typeface="Wingdings" panose="05000000000000000000" pitchFamily="2" charset="2"/>
              <a:buChar char="§"/>
            </a:pPr>
            <a:r>
              <a:rPr lang="ru-RU" sz="2800" dirty="0" smtClean="0"/>
              <a:t>могут быть многомерными  </a:t>
            </a:r>
          </a:p>
          <a:p>
            <a:pPr marL="1071563" indent="-457200" algn="just">
              <a:buFont typeface="Wingdings" panose="05000000000000000000" pitchFamily="2" charset="2"/>
              <a:buChar char="§"/>
            </a:pPr>
            <a:r>
              <a:rPr lang="ru-RU" sz="2800" dirty="0" smtClean="0"/>
              <a:t>могут </a:t>
            </a:r>
            <a:r>
              <a:rPr lang="ru-RU" sz="2800" dirty="0"/>
              <a:t>содержать значения любого </a:t>
            </a:r>
            <a:r>
              <a:rPr lang="ru-RU" sz="2800" dirty="0" smtClean="0"/>
              <a:t>типа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94074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Определение типа «массив»</a:t>
            </a:r>
            <a:endParaRPr lang="ru-RU" sz="36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1052736"/>
            <a:ext cx="8941568" cy="4816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ru-RU" sz="2400" dirty="0" smtClean="0">
                <a:cs typeface="Courier New" panose="02070309020205020404" pitchFamily="49" charset="0"/>
              </a:rPr>
              <a:t>После типа указываются квадратные скобки</a:t>
            </a:r>
          </a:p>
          <a:p>
            <a:r>
              <a:rPr lang="ru-RU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колонка тип</a:t>
            </a:r>
            <a:r>
              <a:rPr lang="en-US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lang="ru-RU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marL="446088" indent="-446088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Задавать </a:t>
            </a:r>
            <a:r>
              <a:rPr lang="ru-RU" sz="2400" dirty="0"/>
              <a:t>число элементов не </a:t>
            </a:r>
            <a:r>
              <a:rPr lang="ru-RU" sz="2400" dirty="0" smtClean="0"/>
              <a:t>обязательно</a:t>
            </a:r>
          </a:p>
          <a:p>
            <a:pPr marL="446088" indent="-446088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Нумерация элементов </a:t>
            </a:r>
            <a:r>
              <a:rPr lang="ru-RU" sz="2400" dirty="0" smtClean="0"/>
              <a:t>начинается с 1</a:t>
            </a:r>
          </a:p>
          <a:p>
            <a:pPr marL="446088" indent="-446088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Число элементов в колонке разных строк таблицы может отличаться</a:t>
            </a:r>
            <a:endParaRPr lang="ru-RU" sz="2400" dirty="0"/>
          </a:p>
          <a:p>
            <a:endParaRPr lang="ru-RU" sz="2400" dirty="0" smtClean="0"/>
          </a:p>
          <a:p>
            <a:r>
              <a:rPr lang="ru-RU" sz="2400" dirty="0" smtClean="0"/>
              <a:t>Пример. Константа «массив» целого типа</a:t>
            </a:r>
            <a:endParaRPr lang="ru-RU" sz="2400" dirty="0"/>
          </a:p>
          <a:p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'{1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3, 5, 6,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7}'::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integer[] </a:t>
            </a:r>
            <a:endParaRPr lang="ru-RU" sz="24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Константа «массив» символьного типа</a:t>
            </a:r>
          </a:p>
          <a:p>
            <a:r>
              <a:rPr lang="ru-RU" sz="24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           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'{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одежда","обувь","продукты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"}'::</a:t>
            </a:r>
            <a:r>
              <a:rPr lang="ru-RU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38761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Операции над массивами</a:t>
            </a:r>
            <a:endParaRPr lang="ru-RU" sz="36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9552" y="3164775"/>
            <a:ext cx="7848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INTO employee(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name,grafik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values ('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Петров','{1,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2,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3,4}'::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int2[]),</a:t>
            </a: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('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Иванов','{4,5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,6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}'::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int2[]);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39552" y="1052736"/>
            <a:ext cx="860444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sz="2400" b="1" dirty="0"/>
              <a:t>Пример</a:t>
            </a:r>
            <a:r>
              <a:rPr lang="en-US" sz="2400" b="1" dirty="0"/>
              <a:t>.</a:t>
            </a:r>
            <a:r>
              <a:rPr lang="en-US" sz="2400" dirty="0"/>
              <a:t> </a:t>
            </a:r>
            <a:r>
              <a:rPr lang="ru-RU" sz="2400" dirty="0"/>
              <a:t>Таблица Работник </a:t>
            </a:r>
            <a:r>
              <a:rPr lang="ru-RU" sz="2400" dirty="0" smtClean="0"/>
              <a:t>(ид-р, имя</a:t>
            </a:r>
            <a:r>
              <a:rPr lang="ru-RU" sz="2400" dirty="0"/>
              <a:t>, </a:t>
            </a:r>
          </a:p>
          <a:p>
            <a:r>
              <a:rPr lang="ru-RU" sz="2400" dirty="0"/>
              <a:t>                        график работы-дни недели)</a:t>
            </a: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 employee(id serial PRIMARY KEY,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name text,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grafik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int2[])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4537797"/>
            <a:ext cx="5976664" cy="2275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103774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Операции над массивами</a:t>
            </a:r>
            <a:endParaRPr lang="ru-RU" sz="36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2" y="1052736"/>
            <a:ext cx="8964488" cy="3698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spcBef>
                <a:spcPts val="600"/>
              </a:spcBef>
              <a:buAutoNum type="arabicParenR"/>
            </a:pPr>
            <a:r>
              <a:rPr lang="ru-RU" sz="2400" dirty="0" smtClean="0"/>
              <a:t>Добавить элемент </a:t>
            </a:r>
          </a:p>
          <a:p>
            <a:pPr marL="1071563">
              <a:spcBef>
                <a:spcPts val="200"/>
              </a:spcBef>
            </a:pPr>
            <a:r>
              <a:rPr lang="ru-RU" sz="2400" dirty="0" smtClean="0"/>
              <a:t> а) в конец     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колонка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элемент</a:t>
            </a:r>
            <a:r>
              <a:rPr lang="en-US" sz="2400" dirty="0" smtClean="0"/>
              <a:t>   </a:t>
            </a:r>
            <a:endParaRPr lang="ru-RU" sz="2400" dirty="0"/>
          </a:p>
          <a:p>
            <a:pPr marL="1071563">
              <a:spcBef>
                <a:spcPts val="200"/>
              </a:spcBef>
            </a:pPr>
            <a:r>
              <a:rPr lang="ru-RU" sz="2400" dirty="0" smtClean="0"/>
              <a:t>     или  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array_append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колонка,элемент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1071563">
              <a:spcBef>
                <a:spcPts val="600"/>
              </a:spcBef>
            </a:pPr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б) в начало    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элемент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колонка</a:t>
            </a:r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  </a:t>
            </a:r>
          </a:p>
          <a:p>
            <a:pPr marL="1071563">
              <a:spcBef>
                <a:spcPts val="200"/>
              </a:spcBef>
            </a:pPr>
            <a:r>
              <a:rPr lang="ru-RU" sz="24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     или  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array_prepend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элемент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колонка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r>
              <a:rPr lang="ru-RU" sz="2400" b="1" dirty="0" smtClean="0"/>
              <a:t>Пример</a:t>
            </a:r>
          </a:p>
          <a:p>
            <a:r>
              <a:rPr lang="ru-RU" sz="24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employee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SET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grafik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grafik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||5</a:t>
            </a: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WHERE id=4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55156"/>
            <a:ext cx="4391025" cy="160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026" y="4633634"/>
            <a:ext cx="447675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236698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Операции над массивами</a:t>
            </a:r>
            <a:endParaRPr lang="ru-RU" sz="36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2" y="1052736"/>
            <a:ext cx="8964488" cy="2857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buFont typeface="+mj-lt"/>
              <a:buAutoNum type="arabicParenR" startAt="2"/>
            </a:pPr>
            <a:r>
              <a:rPr lang="ru-RU" sz="2400" dirty="0" smtClean="0"/>
              <a:t>Удалить элемент </a:t>
            </a:r>
          </a:p>
          <a:p>
            <a:pPr marL="1071563">
              <a:spcBef>
                <a:spcPts val="200"/>
              </a:spcBef>
            </a:pPr>
            <a:r>
              <a:rPr lang="ru-RU" sz="2400" dirty="0" smtClean="0"/>
              <a:t>  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array_remove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колонка,элемент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spcBef>
                <a:spcPts val="600"/>
              </a:spcBef>
            </a:pPr>
            <a:endParaRPr lang="en-US" sz="2400" b="1" dirty="0" smtClean="0"/>
          </a:p>
          <a:p>
            <a:pPr>
              <a:spcBef>
                <a:spcPts val="600"/>
              </a:spcBef>
            </a:pPr>
            <a:r>
              <a:rPr lang="ru-RU" sz="2400" b="1" dirty="0" smtClean="0"/>
              <a:t>Пример</a:t>
            </a:r>
          </a:p>
          <a:p>
            <a:r>
              <a:rPr lang="ru-RU" sz="24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employee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SET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grafik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array_remove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(grafik,5)</a:t>
            </a: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WHERE id=4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52913"/>
            <a:ext cx="4486275" cy="164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4243388"/>
            <a:ext cx="4391025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309102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Операции над массивами</a:t>
            </a:r>
            <a:endParaRPr lang="ru-RU" sz="36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2" y="1340768"/>
            <a:ext cx="8964488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dirty="0"/>
              <a:t>3</a:t>
            </a:r>
            <a:r>
              <a:rPr lang="en-US" sz="2400" dirty="0" smtClean="0"/>
              <a:t>) </a:t>
            </a:r>
            <a:r>
              <a:rPr lang="ru-RU" sz="2400" dirty="0" smtClean="0"/>
              <a:t>Изменить элемент    </a:t>
            </a:r>
          </a:p>
          <a:p>
            <a:pPr>
              <a:spcBef>
                <a:spcPts val="600"/>
              </a:spcBef>
            </a:pP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колонка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индекс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=значение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512" y="2204864"/>
            <a:ext cx="85689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sz="2400" b="1" dirty="0"/>
              <a:t>Пример</a:t>
            </a:r>
          </a:p>
          <a:p>
            <a:r>
              <a:rPr lang="ru-RU" sz="2400" dirty="0">
                <a:cs typeface="Courier New" panose="02070309020205020404" pitchFamily="49" charset="0"/>
              </a:rPr>
              <a:t>  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employee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SET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grafik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[1]=3</a:t>
            </a:r>
            <a:endParaRPr lang="en-US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WHERE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id=5</a:t>
            </a:r>
            <a:endParaRPr lang="ru-RU" sz="2400" dirty="0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93096"/>
            <a:ext cx="4391025" cy="160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792" y="4302621"/>
            <a:ext cx="42291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757679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Операции над массивами</a:t>
            </a:r>
            <a:endParaRPr lang="ru-RU" sz="36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2" y="1196752"/>
            <a:ext cx="8964488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sz="2400" dirty="0"/>
              <a:t>4</a:t>
            </a:r>
            <a:r>
              <a:rPr lang="en-US" sz="2400" dirty="0" smtClean="0"/>
              <a:t>) </a:t>
            </a:r>
            <a:r>
              <a:rPr lang="ru-RU" sz="2400" dirty="0"/>
              <a:t>Определение позиции элемента  </a:t>
            </a:r>
          </a:p>
          <a:p>
            <a:pPr>
              <a:spcBef>
                <a:spcPts val="600"/>
              </a:spcBef>
            </a:pPr>
            <a:r>
              <a:rPr lang="ru-RU" sz="2400" dirty="0"/>
              <a:t>                         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array_position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колонка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элемент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b="1" dirty="0"/>
              <a:t> </a:t>
            </a:r>
            <a:endParaRPr lang="ru-RU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79512" y="2507412"/>
            <a:ext cx="85689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sz="2400" dirty="0"/>
              <a:t>Пример</a:t>
            </a:r>
          </a:p>
          <a:p>
            <a:r>
              <a:rPr lang="ru-RU" sz="2400" dirty="0">
                <a:cs typeface="Courier New" panose="02070309020205020404" pitchFamily="49" charset="0"/>
              </a:rPr>
              <a:t> 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name,array_position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(grafik,6)</a:t>
            </a: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FROM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endParaRPr lang="ru-R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5652120" y="3789040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Результат</a:t>
            </a:r>
            <a:endParaRPr lang="ru-RU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4337415"/>
            <a:ext cx="3488985" cy="1683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87" y="4268598"/>
            <a:ext cx="4632107" cy="1752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39552" y="2104693"/>
            <a:ext cx="8313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 smtClean="0"/>
              <a:t>Если элемент не найден, возвращается </a:t>
            </a:r>
            <a:r>
              <a:rPr lang="en-US" sz="2200" dirty="0" smtClean="0"/>
              <a:t>  NULL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56644096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Операции над массивами</a:t>
            </a:r>
            <a:endParaRPr lang="ru-RU" sz="36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2" y="1196752"/>
            <a:ext cx="8964488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1325" indent="-441325">
              <a:spcBef>
                <a:spcPts val="600"/>
              </a:spcBef>
            </a:pPr>
            <a:r>
              <a:rPr lang="ru-RU" sz="2400" dirty="0"/>
              <a:t>5</a:t>
            </a:r>
            <a:r>
              <a:rPr lang="ru-RU" sz="2400" dirty="0" smtClean="0"/>
              <a:t>) </a:t>
            </a:r>
            <a:r>
              <a:rPr lang="ru-RU" sz="2400" dirty="0"/>
              <a:t>Определение вхождения в значение </a:t>
            </a:r>
            <a:r>
              <a:rPr lang="ru-RU" sz="2400" dirty="0" smtClean="0"/>
              <a:t>коло</a:t>
            </a:r>
            <a:r>
              <a:rPr lang="ru-RU" sz="2400" dirty="0"/>
              <a:t>н</a:t>
            </a:r>
            <a:r>
              <a:rPr lang="ru-RU" sz="2400" dirty="0" smtClean="0"/>
              <a:t>ки </a:t>
            </a:r>
            <a:r>
              <a:rPr lang="ru-RU" sz="2400" dirty="0"/>
              <a:t>всех элементов массива   </a:t>
            </a:r>
            <a:endParaRPr lang="ru-RU" sz="2400" dirty="0" smtClean="0"/>
          </a:p>
          <a:p>
            <a:pPr marL="441325" indent="-441325">
              <a:spcBef>
                <a:spcPts val="600"/>
              </a:spcBef>
            </a:pP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колонка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@&gt;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массив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512" y="2636912"/>
            <a:ext cx="85689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sz="2400" dirty="0"/>
              <a:t>Пример</a:t>
            </a:r>
          </a:p>
          <a:p>
            <a:r>
              <a:rPr lang="ru-RU" sz="2400" dirty="0">
                <a:cs typeface="Courier New" panose="02070309020205020404" pitchFamily="49" charset="0"/>
              </a:rPr>
              <a:t> 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name,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grafik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@&gt; '{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2,3}'::int2[]</a:t>
            </a:r>
            <a:endParaRPr lang="en-US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FROM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endParaRPr lang="ru-R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5652120" y="3861048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Результат</a:t>
            </a:r>
            <a:endParaRPr lang="ru-RU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79" y="4309064"/>
            <a:ext cx="3471519" cy="2000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861048"/>
            <a:ext cx="4908843" cy="18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644628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Операции над массивами</a:t>
            </a:r>
            <a:endParaRPr lang="ru-RU" sz="36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2" y="1196752"/>
            <a:ext cx="8964488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sz="2400" dirty="0">
                <a:cs typeface="Courier New" panose="02070309020205020404" pitchFamily="49" charset="0"/>
              </a:rPr>
              <a:t>6</a:t>
            </a:r>
            <a:r>
              <a:rPr lang="ru-RU" sz="2400" dirty="0" smtClean="0">
                <a:cs typeface="Courier New" panose="02070309020205020404" pitchFamily="49" charset="0"/>
              </a:rPr>
              <a:t>) </a:t>
            </a:r>
            <a:r>
              <a:rPr lang="ru-RU" sz="2400" dirty="0">
                <a:cs typeface="Courier New" panose="02070309020205020404" pitchFamily="49" charset="0"/>
              </a:rPr>
              <a:t>Пересечение (наличие общих </a:t>
            </a:r>
            <a:r>
              <a:rPr lang="ru-RU" sz="2400" dirty="0" smtClean="0">
                <a:cs typeface="Courier New" panose="02070309020205020404" pitchFamily="49" charset="0"/>
              </a:rPr>
              <a:t>элементов</a:t>
            </a:r>
            <a:r>
              <a:rPr lang="ru-RU" sz="2400" dirty="0">
                <a:cs typeface="Courier New" panose="02070309020205020404" pitchFamily="49" charset="0"/>
              </a:rPr>
              <a:t>) </a:t>
            </a:r>
          </a:p>
          <a:p>
            <a:pPr>
              <a:spcBef>
                <a:spcPts val="600"/>
              </a:spcBef>
            </a:pP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колонка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массив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512" y="2204864"/>
            <a:ext cx="85689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sz="2400" dirty="0"/>
              <a:t>Пример</a:t>
            </a:r>
          </a:p>
          <a:p>
            <a:r>
              <a:rPr lang="ru-RU" sz="2400" dirty="0">
                <a:cs typeface="Courier New" panose="02070309020205020404" pitchFamily="49" charset="0"/>
              </a:rPr>
              <a:t> 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name,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grafik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&amp;&amp; ARRAY[2,3]::int2[]</a:t>
            </a:r>
            <a:endParaRPr lang="en-US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FROM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endParaRPr lang="ru-R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5652120" y="3429000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Результат</a:t>
            </a:r>
            <a:endParaRPr lang="ru-RU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627" y="3890664"/>
            <a:ext cx="2699194" cy="1986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70" y="3576646"/>
            <a:ext cx="4938385" cy="1868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081564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Операции над массивами</a:t>
            </a:r>
            <a:endParaRPr lang="ru-RU" sz="36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2" y="1196752"/>
            <a:ext cx="8964488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sz="2400" dirty="0">
                <a:cs typeface="Courier New" panose="02070309020205020404" pitchFamily="49" charset="0"/>
              </a:rPr>
              <a:t>7</a:t>
            </a:r>
            <a:r>
              <a:rPr lang="ru-RU" sz="2400" dirty="0" smtClean="0">
                <a:cs typeface="Courier New" panose="02070309020205020404" pitchFamily="49" charset="0"/>
              </a:rPr>
              <a:t>) </a:t>
            </a:r>
            <a:r>
              <a:rPr lang="ru-RU" sz="2400" dirty="0">
                <a:cs typeface="Courier New" panose="02070309020205020404" pitchFamily="49" charset="0"/>
              </a:rPr>
              <a:t>Развернуть массив в колонку   </a:t>
            </a:r>
          </a:p>
          <a:p>
            <a:pPr>
              <a:spcBef>
                <a:spcPts val="600"/>
              </a:spcBef>
            </a:pPr>
            <a:r>
              <a:rPr lang="ru-RU" sz="2400" b="1" dirty="0">
                <a:solidFill>
                  <a:srgbClr val="7030A0"/>
                </a:solidFill>
                <a:cs typeface="Courier New" panose="02070309020205020404" pitchFamily="49" charset="0"/>
              </a:rPr>
              <a:t>                             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unnest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колонка)</a:t>
            </a:r>
            <a:endParaRPr lang="ru-RU" sz="2400" dirty="0"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9512" y="2204864"/>
            <a:ext cx="85689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sz="2400" b="1" dirty="0"/>
              <a:t>Пример</a:t>
            </a:r>
          </a:p>
          <a:p>
            <a:r>
              <a:rPr lang="ru-RU" sz="2400" dirty="0">
                <a:cs typeface="Courier New" panose="02070309020205020404" pitchFamily="49" charset="0"/>
              </a:rPr>
              <a:t> 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unnest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grafik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FROM employee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WHERE id=5</a:t>
            </a: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endParaRPr lang="ru-R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300192" y="3543399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Результат</a:t>
            </a:r>
            <a:endParaRPr lang="ru-RU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3951841"/>
            <a:ext cx="1944216" cy="2789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899" y="3866266"/>
            <a:ext cx="5124495" cy="1938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678848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Операции над массивами</a:t>
            </a:r>
            <a:endParaRPr lang="ru-RU" sz="36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2" y="1196752"/>
            <a:ext cx="89644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cs typeface="Courier New" panose="02070309020205020404" pitchFamily="49" charset="0"/>
              </a:rPr>
              <a:t>8) количество элементов в заданном измерении </a:t>
            </a:r>
            <a:r>
              <a:rPr lang="ru-RU" sz="2400" dirty="0" smtClean="0">
                <a:cs typeface="Courier New" panose="02070309020205020404" pitchFamily="49" charset="0"/>
              </a:rPr>
              <a:t>массива</a:t>
            </a:r>
          </a:p>
          <a:p>
            <a:pPr marL="1166813">
              <a:spcBef>
                <a:spcPts val="600"/>
              </a:spcBef>
              <a:spcAft>
                <a:spcPts val="600"/>
              </a:spcAft>
            </a:pPr>
            <a:r>
              <a:rPr lang="en-US" sz="2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array_length</a:t>
            </a: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6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колонка,измерение</a:t>
            </a:r>
            <a:r>
              <a:rPr lang="ru-RU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ru-RU" sz="26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dirty="0" smtClean="0"/>
              <a:t>Если </a:t>
            </a:r>
            <a:r>
              <a:rPr lang="ru-RU" sz="2400" dirty="0"/>
              <a:t>массив одномерный, то вторым параметром функции будет число </a:t>
            </a:r>
            <a:r>
              <a:rPr lang="ru-RU" sz="2400" dirty="0" smtClean="0"/>
              <a:t>1                       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1121" y="3092767"/>
            <a:ext cx="85689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sz="2400" b="1" dirty="0"/>
              <a:t>Пример</a:t>
            </a:r>
          </a:p>
          <a:p>
            <a:r>
              <a:rPr lang="ru-RU" sz="2400" dirty="0">
                <a:cs typeface="Courier New" panose="02070309020205020404" pitchFamily="49" charset="0"/>
              </a:rPr>
              <a:t> 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name,array_length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(grafik,1)</a:t>
            </a: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FROM employee</a:t>
            </a:r>
            <a:endParaRPr lang="ru-R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316263" y="4649064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Результат</a:t>
            </a:r>
            <a:endParaRPr lang="ru-RU" sz="24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899" y="4437112"/>
            <a:ext cx="5124495" cy="1938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9022" y="5129808"/>
            <a:ext cx="3110746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267236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Тип  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JSON</a:t>
            </a:r>
            <a:endParaRPr lang="ru-RU" sz="36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1052736"/>
            <a:ext cx="8941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+mj-lt"/>
                <a:cs typeface="Courier New" panose="02070309020205020404" pitchFamily="49" charset="0"/>
              </a:rPr>
              <a:t>Пример. Увлечения человека</a:t>
            </a:r>
            <a:endParaRPr lang="ru-RU" sz="2400" spc="-100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90902" y="2542252"/>
            <a:ext cx="759117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 smtClean="0"/>
              <a:t>'{ "</a:t>
            </a:r>
            <a:r>
              <a:rPr lang="ru-RU" sz="3200" b="1" dirty="0" smtClean="0"/>
              <a:t>спорт</a:t>
            </a:r>
            <a:r>
              <a:rPr lang="en-US" sz="3200" b="1" dirty="0" smtClean="0"/>
              <a:t>": </a:t>
            </a:r>
            <a:r>
              <a:rPr lang="en-US" sz="3200" b="1" dirty="0"/>
              <a:t>[ "</a:t>
            </a:r>
            <a:r>
              <a:rPr lang="ru-RU" sz="3200" b="1" dirty="0"/>
              <a:t>футбол</a:t>
            </a:r>
            <a:r>
              <a:rPr lang="ru-RU" sz="3200" b="1" dirty="0" smtClean="0"/>
              <a:t>",</a:t>
            </a:r>
            <a:r>
              <a:rPr lang="ru-RU" sz="3200" b="1" dirty="0"/>
              <a:t> "</a:t>
            </a:r>
            <a:r>
              <a:rPr lang="ru-RU" sz="3200" b="1" dirty="0" smtClean="0"/>
              <a:t>лыжи" </a:t>
            </a:r>
            <a:r>
              <a:rPr lang="ru-RU" sz="3200" b="1" dirty="0"/>
              <a:t>], </a:t>
            </a:r>
            <a:endParaRPr lang="ru-RU" sz="3200" dirty="0"/>
          </a:p>
          <a:p>
            <a:pPr>
              <a:lnSpc>
                <a:spcPct val="150000"/>
              </a:lnSpc>
            </a:pPr>
            <a:r>
              <a:rPr lang="ru-RU" sz="3200" b="1" dirty="0" smtClean="0"/>
              <a:t>   </a:t>
            </a:r>
            <a:r>
              <a:rPr lang="en-US" sz="3200" b="1" dirty="0" smtClean="0"/>
              <a:t>"</a:t>
            </a:r>
            <a:r>
              <a:rPr lang="ru-RU" sz="3200" b="1" dirty="0" smtClean="0"/>
              <a:t>наличие библиотеки</a:t>
            </a:r>
            <a:r>
              <a:rPr lang="en-US" sz="3200" b="1" dirty="0" smtClean="0"/>
              <a:t>": </a:t>
            </a:r>
            <a:r>
              <a:rPr lang="en-US" sz="3200" b="1" dirty="0"/>
              <a:t>true, </a:t>
            </a:r>
            <a:endParaRPr lang="ru-RU" sz="3200" b="1" dirty="0" smtClean="0"/>
          </a:p>
          <a:p>
            <a:pPr>
              <a:lnSpc>
                <a:spcPct val="150000"/>
              </a:lnSpc>
            </a:pPr>
            <a:r>
              <a:rPr lang="ru-RU" sz="3200" b="1" dirty="0" smtClean="0"/>
              <a:t>   </a:t>
            </a:r>
            <a:r>
              <a:rPr lang="en-US" sz="3200" b="1" dirty="0" smtClean="0"/>
              <a:t>"</a:t>
            </a:r>
            <a:r>
              <a:rPr lang="ru-RU" sz="3200" b="1" dirty="0" smtClean="0"/>
              <a:t>кол-во поездок</a:t>
            </a:r>
            <a:r>
              <a:rPr lang="en-US" sz="3200" b="1" dirty="0" smtClean="0"/>
              <a:t>": </a:t>
            </a:r>
            <a:r>
              <a:rPr lang="en-US" sz="3200" b="1" dirty="0"/>
              <a:t>3 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ru-RU" sz="3200" b="1" dirty="0"/>
              <a:t>}'</a:t>
            </a:r>
            <a:endParaRPr lang="ru-RU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990902" y="1916832"/>
            <a:ext cx="28745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 smtClean="0">
                <a:solidFill>
                  <a:srgbClr val="0070C0"/>
                </a:solidFill>
              </a:rPr>
              <a:t>Атрибут (ключ)</a:t>
            </a:r>
            <a:endParaRPr lang="ru-RU" sz="2800" b="1" dirty="0">
              <a:solidFill>
                <a:srgbClr val="0070C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44108" y="1844824"/>
            <a:ext cx="2412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>
                <a:solidFill>
                  <a:schemeClr val="accent3">
                    <a:lumMod val="75000"/>
                  </a:schemeClr>
                </a:solidFill>
              </a:rPr>
              <a:t>Значение</a:t>
            </a:r>
            <a:endParaRPr lang="ru-RU" sz="28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1763688" y="2276872"/>
            <a:ext cx="432048" cy="576064"/>
          </a:xfrm>
          <a:prstGeom prst="straightConnector1">
            <a:avLst/>
          </a:prstGeom>
          <a:ln w="444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flipH="1">
            <a:off x="5004048" y="2276872"/>
            <a:ext cx="1368152" cy="474440"/>
          </a:xfrm>
          <a:prstGeom prst="straightConnector1">
            <a:avLst/>
          </a:prstGeom>
          <a:ln w="44450"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>
            <a:off x="1763688" y="2368044"/>
            <a:ext cx="216024" cy="1132964"/>
          </a:xfrm>
          <a:prstGeom prst="straightConnector1">
            <a:avLst/>
          </a:prstGeom>
          <a:ln w="317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>
            <a:off x="6372200" y="2368044"/>
            <a:ext cx="144016" cy="1132964"/>
          </a:xfrm>
          <a:prstGeom prst="straightConnector1">
            <a:avLst/>
          </a:prstGeom>
          <a:ln w="31750"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1691680" y="2440052"/>
            <a:ext cx="0" cy="1781036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 flipH="1">
            <a:off x="5364088" y="2368044"/>
            <a:ext cx="1008112" cy="1853044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75072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Тип  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JSON</a:t>
            </a:r>
            <a:endParaRPr lang="ru-RU" sz="36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1052736"/>
            <a:ext cx="894156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sz="28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son</a:t>
            </a:r>
            <a:r>
              <a:rPr lang="en-US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ru-RU" sz="2400" spc="-100" dirty="0" smtClean="0">
                <a:cs typeface="Courier New" panose="02070309020205020404" pitchFamily="49" charset="0"/>
              </a:rPr>
              <a:t>сохранение значений в символьном формате</a:t>
            </a:r>
          </a:p>
          <a:p>
            <a:endParaRPr lang="ru-RU" sz="1200" dirty="0" smtClean="0"/>
          </a:p>
          <a:p>
            <a:r>
              <a:rPr lang="en-US" sz="28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jsonb</a:t>
            </a:r>
            <a:r>
              <a:rPr lang="en-US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spc="-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ru-RU" sz="2400" spc="-100" dirty="0">
                <a:cs typeface="Courier New" panose="02070309020205020404" pitchFamily="49" charset="0"/>
              </a:rPr>
              <a:t>сохранение значений в </a:t>
            </a:r>
            <a:r>
              <a:rPr lang="en-US" sz="2400" spc="-100" dirty="0">
                <a:cs typeface="Courier New" panose="02070309020205020404" pitchFamily="49" charset="0"/>
              </a:rPr>
              <a:t> </a:t>
            </a:r>
            <a:r>
              <a:rPr lang="ru-RU" sz="2400" spc="-100" dirty="0" smtClean="0">
                <a:cs typeface="Courier New" panose="02070309020205020404" pitchFamily="49" charset="0"/>
              </a:rPr>
              <a:t>бинарном формате</a:t>
            </a:r>
            <a:endParaRPr lang="ru-RU" sz="2400" spc="-100" dirty="0">
              <a:cs typeface="Courier New" panose="020703090202050204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2" y="2420888"/>
            <a:ext cx="8964488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1325" indent="-441325"/>
            <a:r>
              <a:rPr lang="en-US" sz="2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US" sz="2200" dirty="0" smtClean="0"/>
              <a:t> – </a:t>
            </a:r>
            <a:r>
              <a:rPr lang="ru-RU" sz="2200" dirty="0" smtClean="0"/>
              <a:t>быстрее в операциях чтения и записи, т.к. сохраняется без изменений</a:t>
            </a:r>
            <a:r>
              <a:rPr lang="en-US" sz="2200" dirty="0" smtClean="0"/>
              <a:t>.</a:t>
            </a:r>
            <a:r>
              <a:rPr lang="ru-RU" sz="2200" dirty="0" smtClean="0"/>
              <a:t> </a:t>
            </a:r>
            <a:endParaRPr lang="ru-RU" sz="2200" dirty="0"/>
          </a:p>
          <a:p>
            <a:pPr marL="441325"/>
            <a:r>
              <a:rPr lang="ru-RU" sz="2200" dirty="0" smtClean="0"/>
              <a:t>Но при использовании в обработке каждый раз выполняется разбор, и поэтому операции обработки выполняются медленнее</a:t>
            </a:r>
          </a:p>
          <a:p>
            <a:pPr marL="1071563" indent="-1071563"/>
            <a:r>
              <a:rPr lang="en-US" sz="2600" b="1" spc="-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jsonb</a:t>
            </a:r>
            <a:r>
              <a:rPr lang="en-US" sz="2200" dirty="0" smtClean="0"/>
              <a:t> </a:t>
            </a:r>
            <a:r>
              <a:rPr lang="en-US" sz="2200" dirty="0"/>
              <a:t>– </a:t>
            </a:r>
            <a:r>
              <a:rPr lang="ru-RU" sz="2200" dirty="0"/>
              <a:t>быстрее </a:t>
            </a:r>
            <a:r>
              <a:rPr lang="ru-RU" sz="2200" dirty="0" smtClean="0"/>
              <a:t>при использовании в </a:t>
            </a:r>
            <a:r>
              <a:rPr lang="ru-RU" sz="2200" dirty="0"/>
              <a:t>операциях </a:t>
            </a:r>
            <a:r>
              <a:rPr lang="ru-RU" sz="2200" dirty="0" smtClean="0"/>
              <a:t> обработки.  </a:t>
            </a:r>
          </a:p>
          <a:p>
            <a:pPr marL="361950"/>
            <a:r>
              <a:rPr lang="ru-RU" sz="2200" dirty="0" smtClean="0"/>
              <a:t>Разбор  выполняется один раз при записи. </a:t>
            </a:r>
          </a:p>
          <a:p>
            <a:pPr marL="361950"/>
            <a:r>
              <a:rPr lang="ru-RU" sz="2200" dirty="0" smtClean="0"/>
              <a:t>Но в операциях обработки разбор уже не требуется</a:t>
            </a:r>
            <a:endParaRPr lang="ru-RU" sz="2200" dirty="0"/>
          </a:p>
        </p:txBody>
      </p:sp>
      <p:sp>
        <p:nvSpPr>
          <p:cNvPr id="3" name="TextBox 2"/>
          <p:cNvSpPr txBox="1"/>
          <p:nvPr/>
        </p:nvSpPr>
        <p:spPr>
          <a:xfrm>
            <a:off x="323528" y="5570656"/>
            <a:ext cx="87975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Рекомендуется использовать </a:t>
            </a:r>
            <a:r>
              <a:rPr lang="ru-RU" sz="2400" dirty="0"/>
              <a:t>тип </a:t>
            </a:r>
            <a:r>
              <a:rPr lang="ru-RU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jsonb</a:t>
            </a:r>
            <a:r>
              <a:rPr lang="ru-RU" sz="2400" dirty="0"/>
              <a:t>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960244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Операции над типом 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JSON</a:t>
            </a:r>
            <a:endParaRPr lang="ru-RU" sz="36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1052736"/>
            <a:ext cx="894156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 smtClean="0">
                <a:cs typeface="Courier New" panose="02070309020205020404" pitchFamily="49" charset="0"/>
              </a:rPr>
              <a:t>1. Найти кто занимается видом спорта «хоккей»</a:t>
            </a:r>
            <a:endParaRPr lang="ru-RU" sz="2600" spc="-100" dirty="0"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5800" y="1700808"/>
            <a:ext cx="843751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колонка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@&gt;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'{"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спорт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": ["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хоккей"]}'::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jsonb</a:t>
            </a:r>
            <a:endParaRPr lang="ru-RU" sz="24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или</a:t>
            </a:r>
          </a:p>
          <a:p>
            <a:endParaRPr lang="ru-RU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колонка </a:t>
            </a:r>
            <a:r>
              <a:rPr lang="en-US" sz="28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'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спорт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@&gt;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'["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хоккей"]'::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jsonb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39752" y="3789040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</a:t>
            </a:r>
            <a:r>
              <a:rPr lang="ru-RU" sz="2400" dirty="0" smtClean="0"/>
              <a:t>звлечение значения атрибута</a:t>
            </a:r>
            <a:endParaRPr lang="ru-RU" sz="2400" dirty="0"/>
          </a:p>
        </p:txBody>
      </p:sp>
      <p:cxnSp>
        <p:nvCxnSpPr>
          <p:cNvPr id="11" name="Прямая со стрелкой 10"/>
          <p:cNvCxnSpPr/>
          <p:nvPr/>
        </p:nvCxnSpPr>
        <p:spPr>
          <a:xfrm flipH="1" flipV="1">
            <a:off x="2339752" y="3319111"/>
            <a:ext cx="360040" cy="469929"/>
          </a:xfrm>
          <a:prstGeom prst="straightConnector1">
            <a:avLst/>
          </a:prstGeom>
          <a:ln w="254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54310" y="4437112"/>
            <a:ext cx="894156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>
                <a:latin typeface="+mj-lt"/>
                <a:cs typeface="Courier New" panose="02070309020205020404" pitchFamily="49" charset="0"/>
              </a:rPr>
              <a:t>2</a:t>
            </a:r>
            <a:r>
              <a:rPr lang="ru-RU" sz="2600" dirty="0" smtClean="0">
                <a:latin typeface="+mj-lt"/>
                <a:cs typeface="Courier New" panose="02070309020205020404" pitchFamily="49" charset="0"/>
              </a:rPr>
              <a:t>. Определить присутствие атрибута в колонке</a:t>
            </a:r>
            <a:endParaRPr lang="ru-RU" sz="2600" spc="-100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59024" y="5210036"/>
            <a:ext cx="8437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колонка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8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'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спорт'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15912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>
                <a:latin typeface="Arial" pitchFamily="34" charset="0"/>
                <a:cs typeface="Arial" pitchFamily="34" charset="0"/>
              </a:rPr>
              <a:t>Объекты </a:t>
            </a:r>
            <a:r>
              <a:rPr lang="ru-RU" sz="3600" b="1" smtClean="0">
                <a:latin typeface="Arial" pitchFamily="34" charset="0"/>
                <a:cs typeface="Arial" pitchFamily="34" charset="0"/>
              </a:rPr>
              <a:t>базы данных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5576" y="1772816"/>
            <a:ext cx="6192688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188" indent="-357188" algn="just">
              <a:spcBef>
                <a:spcPts val="1200"/>
              </a:spcBef>
            </a:pPr>
            <a:r>
              <a:rPr lang="en-US" sz="2400" b="1" dirty="0">
                <a:solidFill>
                  <a:srgbClr val="7030A0"/>
                </a:solidFill>
              </a:rPr>
              <a:t>DOMAIN</a:t>
            </a:r>
            <a:r>
              <a:rPr lang="en-US" sz="2400" dirty="0"/>
              <a:t>        - </a:t>
            </a:r>
            <a:r>
              <a:rPr lang="ru-RU" sz="2400" dirty="0" smtClean="0"/>
              <a:t>домен</a:t>
            </a:r>
            <a:endParaRPr lang="en-US" sz="2400" dirty="0"/>
          </a:p>
          <a:p>
            <a:pPr marL="357188" indent="-357188" algn="just">
              <a:spcBef>
                <a:spcPts val="1200"/>
              </a:spcBef>
            </a:pPr>
            <a:r>
              <a:rPr lang="en-US" sz="2400" b="1" dirty="0">
                <a:solidFill>
                  <a:srgbClr val="7030A0"/>
                </a:solidFill>
              </a:rPr>
              <a:t>TABLE</a:t>
            </a:r>
            <a:r>
              <a:rPr lang="ru-RU" sz="2400" dirty="0">
                <a:solidFill>
                  <a:srgbClr val="7030A0"/>
                </a:solidFill>
              </a:rPr>
              <a:t> </a:t>
            </a:r>
            <a:r>
              <a:rPr lang="ru-RU" sz="2400" dirty="0"/>
              <a:t>           - </a:t>
            </a:r>
            <a:r>
              <a:rPr lang="ru-RU" sz="2400" dirty="0" smtClean="0"/>
              <a:t>таблиц</a:t>
            </a:r>
            <a:r>
              <a:rPr lang="ru-RU" sz="2400" dirty="0"/>
              <a:t>а</a:t>
            </a:r>
            <a:r>
              <a:rPr lang="ru-RU" sz="2400" dirty="0" smtClean="0"/>
              <a:t> </a:t>
            </a:r>
            <a:endParaRPr lang="en-US" sz="2400" dirty="0"/>
          </a:p>
          <a:p>
            <a:pPr marL="357188" indent="-357188" algn="just">
              <a:spcBef>
                <a:spcPts val="1200"/>
              </a:spcBef>
            </a:pPr>
            <a:r>
              <a:rPr lang="en-US" sz="2400" b="1" dirty="0">
                <a:solidFill>
                  <a:srgbClr val="7030A0"/>
                </a:solidFill>
              </a:rPr>
              <a:t>VIEW</a:t>
            </a:r>
            <a:r>
              <a:rPr lang="ru-RU" sz="2400" dirty="0">
                <a:solidFill>
                  <a:srgbClr val="7030A0"/>
                </a:solidFill>
              </a:rPr>
              <a:t> </a:t>
            </a:r>
            <a:r>
              <a:rPr lang="ru-RU" sz="2400" dirty="0"/>
              <a:t>             -  </a:t>
            </a:r>
            <a:r>
              <a:rPr lang="ru-RU" sz="2400" dirty="0" smtClean="0"/>
              <a:t>представление </a:t>
            </a:r>
            <a:endParaRPr lang="en-US" sz="2400" dirty="0"/>
          </a:p>
          <a:p>
            <a:pPr marL="357188" indent="-357188" algn="just">
              <a:spcBef>
                <a:spcPts val="1200"/>
              </a:spcBef>
            </a:pPr>
            <a:r>
              <a:rPr lang="en-US" sz="2400" b="1" dirty="0">
                <a:solidFill>
                  <a:srgbClr val="7030A0"/>
                </a:solidFill>
              </a:rPr>
              <a:t>SHEMA</a:t>
            </a:r>
            <a:r>
              <a:rPr lang="ru-RU" sz="2400" dirty="0">
                <a:solidFill>
                  <a:srgbClr val="7030A0"/>
                </a:solidFill>
              </a:rPr>
              <a:t> </a:t>
            </a:r>
            <a:r>
              <a:rPr lang="ru-RU" sz="2400" dirty="0"/>
              <a:t>          - </a:t>
            </a:r>
            <a:r>
              <a:rPr lang="ru-RU" sz="2400" dirty="0" smtClean="0"/>
              <a:t>схема</a:t>
            </a:r>
            <a:endParaRPr lang="en-US" sz="2400" dirty="0"/>
          </a:p>
          <a:p>
            <a:pPr marL="357188" indent="-357188" algn="just">
              <a:spcBef>
                <a:spcPts val="1200"/>
              </a:spcBef>
            </a:pPr>
            <a:r>
              <a:rPr lang="en-US" sz="2400" b="1" dirty="0">
                <a:solidFill>
                  <a:srgbClr val="7030A0"/>
                </a:solidFill>
              </a:rPr>
              <a:t>DATABASE</a:t>
            </a:r>
            <a:r>
              <a:rPr lang="ru-RU" sz="2400" dirty="0"/>
              <a:t>      - </a:t>
            </a:r>
            <a:r>
              <a:rPr lang="ru-RU" sz="2400" dirty="0" smtClean="0"/>
              <a:t>база </a:t>
            </a:r>
            <a:r>
              <a:rPr lang="ru-RU" sz="2400" dirty="0"/>
              <a:t>данных </a:t>
            </a:r>
            <a:endParaRPr lang="en-US" sz="2400" dirty="0"/>
          </a:p>
          <a:p>
            <a:pPr marL="357188" indent="-357188" algn="just">
              <a:spcBef>
                <a:spcPts val="1200"/>
              </a:spcBef>
            </a:pPr>
            <a:r>
              <a:rPr lang="en-US" sz="2400" b="1" dirty="0">
                <a:solidFill>
                  <a:srgbClr val="7030A0"/>
                </a:solidFill>
              </a:rPr>
              <a:t>TRIGGER</a:t>
            </a:r>
            <a:r>
              <a:rPr lang="ru-RU" sz="2400" b="1" dirty="0">
                <a:solidFill>
                  <a:srgbClr val="7030A0"/>
                </a:solidFill>
              </a:rPr>
              <a:t> </a:t>
            </a:r>
            <a:r>
              <a:rPr lang="ru-RU" sz="2400" dirty="0"/>
              <a:t>        - </a:t>
            </a:r>
            <a:r>
              <a:rPr lang="ru-RU" sz="2400" dirty="0" smtClean="0"/>
              <a:t>триггер</a:t>
            </a:r>
            <a:endParaRPr lang="en-US" sz="2400" dirty="0"/>
          </a:p>
          <a:p>
            <a:pPr marL="357188" indent="-357188" algn="just">
              <a:spcBef>
                <a:spcPts val="1200"/>
              </a:spcBef>
            </a:pPr>
            <a:r>
              <a:rPr lang="en-US" sz="2400" b="1" dirty="0">
                <a:solidFill>
                  <a:srgbClr val="7030A0"/>
                </a:solidFill>
              </a:rPr>
              <a:t>PROCEDURE</a:t>
            </a:r>
            <a:r>
              <a:rPr lang="ru-RU" sz="2400" dirty="0"/>
              <a:t>    - </a:t>
            </a:r>
            <a:r>
              <a:rPr lang="ru-RU" sz="2400" dirty="0" smtClean="0"/>
              <a:t>процедура</a:t>
            </a:r>
          </a:p>
          <a:p>
            <a:pPr marL="357188" indent="-357188" algn="just">
              <a:spcBef>
                <a:spcPts val="1200"/>
              </a:spcBef>
            </a:pPr>
            <a:r>
              <a:rPr lang="en-US" sz="2400" b="1" dirty="0" smtClean="0">
                <a:solidFill>
                  <a:srgbClr val="7030A0"/>
                </a:solidFill>
              </a:rPr>
              <a:t>FUNCTION  </a:t>
            </a:r>
            <a:r>
              <a:rPr lang="ru-RU" sz="2400" dirty="0" smtClean="0"/>
              <a:t>    </a:t>
            </a:r>
            <a:r>
              <a:rPr lang="ru-RU" sz="2400" dirty="0"/>
              <a:t>- </a:t>
            </a:r>
            <a:r>
              <a:rPr lang="ru-RU" sz="2400" dirty="0" smtClean="0"/>
              <a:t>функция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23528" y="1268760"/>
            <a:ext cx="8568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/>
              <a:t>Операторы </a:t>
            </a:r>
            <a:r>
              <a:rPr lang="en-US" sz="2400"/>
              <a:t>DDL</a:t>
            </a:r>
            <a:r>
              <a:rPr lang="ru-RU" sz="2400"/>
              <a:t> позволяют определить объекты БД</a:t>
            </a:r>
            <a:r>
              <a:rPr lang="ru-RU" sz="2400">
                <a:latin typeface="Courier New" pitchFamily="49" charset="0"/>
                <a:cs typeface="Courier New" pitchFamily="49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93912760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>
                <a:latin typeface="Arial" pitchFamily="34" charset="0"/>
                <a:cs typeface="Arial" pitchFamily="34" charset="0"/>
              </a:rPr>
              <a:t>Операторы  </a:t>
            </a:r>
            <a:r>
              <a:rPr lang="en-US" sz="3600" b="1">
                <a:latin typeface="Arial" pitchFamily="34" charset="0"/>
                <a:cs typeface="Arial" pitchFamily="34" charset="0"/>
              </a:rPr>
              <a:t>DDL</a:t>
            </a: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5576" y="1772816"/>
            <a:ext cx="8136904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188" indent="-357188" algn="just">
              <a:spcBef>
                <a:spcPts val="1200"/>
              </a:spcBef>
            </a:pPr>
            <a:r>
              <a:rPr lang="ru-RU" sz="2400" b="1" dirty="0"/>
              <a:t>1) </a:t>
            </a:r>
            <a:r>
              <a:rPr lang="en-US" sz="2400" b="1" dirty="0"/>
              <a:t>CREATE</a:t>
            </a:r>
            <a:r>
              <a:rPr lang="en-US" sz="2400" dirty="0"/>
              <a:t>   </a:t>
            </a:r>
            <a:r>
              <a:rPr lang="en-US" sz="2400" b="1" dirty="0"/>
              <a:t>- </a:t>
            </a:r>
            <a:r>
              <a:rPr lang="ru-RU" sz="2400" b="1" dirty="0"/>
              <a:t>создание объекта</a:t>
            </a:r>
          </a:p>
          <a:p>
            <a:pPr marL="357188" indent="-357188" algn="just">
              <a:spcBef>
                <a:spcPts val="1200"/>
              </a:spcBef>
            </a:pPr>
            <a:r>
              <a:rPr lang="ru-RU" sz="2400" dirty="0"/>
              <a:t>   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 </a:t>
            </a:r>
            <a:r>
              <a:rPr lang="ru-RU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тип_объекта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400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параметры</a:t>
            </a:r>
            <a:endParaRPr lang="en-US" sz="2400" b="1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7188" indent="-357188" algn="just">
              <a:spcBef>
                <a:spcPts val="1200"/>
              </a:spcBef>
            </a:pPr>
            <a:r>
              <a:rPr lang="ru-RU" sz="2400" dirty="0"/>
              <a:t>       Пример:   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SPROD</a:t>
            </a:r>
            <a:r>
              <a:rPr lang="en-US" sz="2400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(...)</a:t>
            </a:r>
            <a:endParaRPr lang="ru-RU" sz="2400" b="1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7188" indent="-357188" algn="just">
              <a:spcBef>
                <a:spcPts val="1200"/>
              </a:spcBef>
            </a:pPr>
            <a:r>
              <a:rPr lang="ru-RU" sz="2400" b="1" dirty="0"/>
              <a:t>2) </a:t>
            </a:r>
            <a:r>
              <a:rPr lang="en-US" sz="2400" b="1" dirty="0"/>
              <a:t>ALTER</a:t>
            </a:r>
            <a:r>
              <a:rPr lang="ru-RU" sz="2400" dirty="0"/>
              <a:t>  </a:t>
            </a:r>
            <a:r>
              <a:rPr lang="ru-RU" sz="2400" b="1" dirty="0"/>
              <a:t>- изменение объекта </a:t>
            </a:r>
          </a:p>
          <a:p>
            <a:pPr marL="357188" indent="-357188" algn="just">
              <a:spcBef>
                <a:spcPts val="1200"/>
              </a:spcBef>
            </a:pPr>
            <a:r>
              <a:rPr lang="ru-RU" sz="2400" dirty="0"/>
              <a:t> </a:t>
            </a:r>
            <a:r>
              <a:rPr lang="en-US" sz="2400" dirty="0"/>
              <a:t>  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</a:t>
            </a:r>
            <a:r>
              <a:rPr lang="ru-RU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тип_объекта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параметры</a:t>
            </a:r>
            <a:endParaRPr lang="en-US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7188" indent="-357188" algn="just">
              <a:spcBef>
                <a:spcPts val="1200"/>
              </a:spcBef>
            </a:pPr>
            <a:r>
              <a:rPr lang="ru-RU" sz="2400" dirty="0"/>
              <a:t>       Пример: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SPROD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что_изменить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7188" indent="-357188" algn="just">
              <a:spcBef>
                <a:spcPts val="1200"/>
              </a:spcBef>
            </a:pPr>
            <a:r>
              <a:rPr lang="ru-RU" sz="2400" b="1" dirty="0"/>
              <a:t>3) </a:t>
            </a:r>
            <a:r>
              <a:rPr lang="en-US" sz="2400" b="1" dirty="0"/>
              <a:t>DROP</a:t>
            </a:r>
            <a:r>
              <a:rPr lang="ru-RU" sz="2400" b="1" dirty="0"/>
              <a:t>  - удаление объекта</a:t>
            </a:r>
          </a:p>
          <a:p>
            <a:pPr marL="357188" indent="-357188" algn="just">
              <a:spcBef>
                <a:spcPts val="1200"/>
              </a:spcBef>
            </a:pPr>
            <a:r>
              <a:rPr lang="en-US" sz="2400" b="1" dirty="0">
                <a:solidFill>
                  <a:srgbClr val="7030A0"/>
                </a:solidFill>
              </a:rPr>
              <a:t> </a:t>
            </a:r>
            <a:r>
              <a:rPr lang="ru-RU" sz="2400" b="1" dirty="0">
                <a:solidFill>
                  <a:srgbClr val="7030A0"/>
                </a:solidFill>
              </a:rPr>
              <a:t>   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 </a:t>
            </a:r>
            <a:r>
              <a:rPr lang="ru-RU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тип_объекта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</a:t>
            </a:r>
            <a:endParaRPr lang="en-US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7188" indent="-357188" algn="just">
              <a:spcBef>
                <a:spcPts val="1200"/>
              </a:spcBef>
            </a:pPr>
            <a:r>
              <a:rPr lang="en-US" sz="2400" dirty="0"/>
              <a:t>         </a:t>
            </a:r>
            <a:r>
              <a:rPr lang="ru-RU" sz="2400" dirty="0"/>
              <a:t>    Пример: 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SPROD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528" y="1167135"/>
            <a:ext cx="8568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/>
              <a:t>Три основных оператора</a:t>
            </a:r>
            <a:r>
              <a:rPr lang="ru-RU" sz="2400">
                <a:latin typeface="Courier New" pitchFamily="49" charset="0"/>
                <a:cs typeface="Courier New" pitchFamily="49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15331287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smtClean="0">
                <a:latin typeface="Arial" pitchFamily="34" charset="0"/>
                <a:cs typeface="Arial" pitchFamily="34" charset="0"/>
              </a:rPr>
              <a:t>Объект  домена  </a:t>
            </a:r>
            <a:r>
              <a:rPr lang="en-US" sz="3600" b="1" smtClean="0">
                <a:latin typeface="Arial" pitchFamily="34" charset="0"/>
                <a:cs typeface="Arial" pitchFamily="34" charset="0"/>
              </a:rPr>
              <a:t>DOMAIN</a:t>
            </a:r>
            <a:endParaRPr lang="ru-RU" sz="36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определения 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520" y="1268760"/>
            <a:ext cx="8568952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 smtClean="0"/>
              <a:t>Домен (</a:t>
            </a:r>
            <a:r>
              <a:rPr lang="en-US" sz="2800" dirty="0" smtClean="0"/>
              <a:t>DOMAIN) </a:t>
            </a:r>
            <a:r>
              <a:rPr lang="ru-RU" sz="2800" dirty="0" smtClean="0"/>
              <a:t>в </a:t>
            </a:r>
            <a:r>
              <a:rPr lang="en-US" sz="2800" dirty="0" smtClean="0"/>
              <a:t>SQL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:</a:t>
            </a:r>
            <a:endParaRPr lang="ru-RU" sz="2800" dirty="0" smtClean="0">
              <a:latin typeface="Courier New" pitchFamily="49" charset="0"/>
              <a:cs typeface="Courier New" pitchFamily="49" charset="0"/>
            </a:endParaRPr>
          </a:p>
          <a:p>
            <a:pPr marL="449263" indent="-449263" algn="just">
              <a:spcBef>
                <a:spcPts val="1200"/>
              </a:spcBef>
              <a:buFont typeface="Wingdings" pitchFamily="2" charset="2"/>
              <a:buChar char="q"/>
            </a:pPr>
            <a:r>
              <a:rPr lang="ru-RU" sz="2800" dirty="0" smtClean="0"/>
              <a:t>определяет </a:t>
            </a:r>
            <a:r>
              <a:rPr lang="ru-RU" sz="2800" b="1" dirty="0" smtClean="0"/>
              <a:t>спецификацию </a:t>
            </a:r>
            <a:r>
              <a:rPr lang="ru-RU" sz="2800" dirty="0" smtClean="0"/>
              <a:t>(тип данных</a:t>
            </a:r>
            <a:r>
              <a:rPr lang="en-US" sz="2800" dirty="0" smtClean="0"/>
              <a:t> </a:t>
            </a:r>
            <a:r>
              <a:rPr lang="ru-RU" sz="2800" dirty="0" smtClean="0"/>
              <a:t>и ограничения на данные), которую затем можно </a:t>
            </a:r>
            <a:r>
              <a:rPr lang="en-US" sz="2800" dirty="0" smtClean="0"/>
              <a:t> </a:t>
            </a:r>
            <a:r>
              <a:rPr lang="ru-RU" sz="2800" dirty="0" smtClean="0"/>
              <a:t>использовать при определении колонок таблицы</a:t>
            </a:r>
            <a:endParaRPr lang="ru-RU" sz="2800" dirty="0" smtClean="0">
              <a:latin typeface="+mj-lt"/>
            </a:endParaRPr>
          </a:p>
          <a:p>
            <a:pPr marL="449263" indent="-449263" algn="just">
              <a:spcBef>
                <a:spcPts val="1200"/>
              </a:spcBef>
              <a:buFont typeface="Wingdings" pitchFamily="2" charset="2"/>
              <a:buChar char="q"/>
            </a:pPr>
            <a:r>
              <a:rPr lang="ru-RU" sz="2800" dirty="0" smtClean="0">
                <a:latin typeface="+mj-lt"/>
                <a:cs typeface="Courier New" pitchFamily="49" charset="0"/>
              </a:rPr>
              <a:t>не  допускает вложенности, нельзя определить домен на базе другого домена</a:t>
            </a:r>
          </a:p>
          <a:p>
            <a:pPr marL="449263" indent="-449263" algn="just">
              <a:spcBef>
                <a:spcPts val="1200"/>
              </a:spcBef>
              <a:buFont typeface="Wingdings" pitchFamily="2" charset="2"/>
              <a:buChar char="q"/>
            </a:pPr>
            <a:r>
              <a:rPr lang="ru-RU" sz="2800" dirty="0" smtClean="0">
                <a:latin typeface="+mj-lt"/>
                <a:cs typeface="Courier New" pitchFamily="49" charset="0"/>
              </a:rPr>
              <a:t>допускается сравнение колонок  разных  доменов, если домены имеют одинаковые  базовые типы</a:t>
            </a:r>
            <a:endParaRPr lang="ru-RU" sz="2800" dirty="0">
              <a:latin typeface="+mj-lt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68719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smtClean="0">
                <a:latin typeface="Arial" pitchFamily="34" charset="0"/>
                <a:cs typeface="Arial" pitchFamily="34" charset="0"/>
              </a:rPr>
              <a:t>Создание домена</a:t>
            </a:r>
            <a:endParaRPr lang="ru-RU" sz="36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определения 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520" y="1196752"/>
            <a:ext cx="8568952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smtClean="0"/>
              <a:t>Оператор создания домена</a:t>
            </a:r>
            <a:r>
              <a:rPr lang="en-US" sz="2400" smtClean="0">
                <a:latin typeface="Courier New" pitchFamily="49" charset="0"/>
                <a:cs typeface="Courier New" pitchFamily="49" charset="0"/>
              </a:rPr>
              <a:t>:</a:t>
            </a:r>
            <a:endParaRPr lang="ru-RU" sz="240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1200"/>
              </a:spcBef>
            </a:pPr>
            <a:r>
              <a:rPr lang="en-US" sz="2400" b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CREATE </a:t>
            </a:r>
            <a:r>
              <a:rPr lang="en-US" sz="2400" b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DOMAIN</a:t>
            </a:r>
            <a:r>
              <a:rPr lang="en-US" sz="2400" b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ru-RU" sz="2400" b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имя</a:t>
            </a:r>
            <a:r>
              <a:rPr lang="en-US" sz="2400" b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400" b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ru-RU" sz="2400" b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баз</a:t>
            </a:r>
            <a:r>
              <a:rPr lang="en-US" sz="2400" b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_</a:t>
            </a:r>
            <a:r>
              <a:rPr lang="ru-RU" sz="2400" b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тип</a:t>
            </a:r>
            <a:r>
              <a:rPr lang="en-US" sz="2400" b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ru-RU" sz="2400" b="1" smtClean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ru-RU" sz="2400" b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[&lt;знач_по_умолчанию&gt;]</a:t>
            </a:r>
          </a:p>
          <a:p>
            <a:r>
              <a:rPr lang="ru-RU" sz="2400" b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[&lt;огранич_целостности&gt;]</a:t>
            </a:r>
            <a:endParaRPr lang="ru-RU" sz="2400" smtClean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3528" y="2927841"/>
            <a:ext cx="8568952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smtClean="0">
                <a:latin typeface="+mj-lt"/>
                <a:cs typeface="Courier New" pitchFamily="49" charset="0"/>
              </a:rPr>
              <a:t>где</a:t>
            </a:r>
          </a:p>
          <a:p>
            <a:r>
              <a:rPr lang="ru-RU" sz="2400" b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знач_по_умолчанию</a:t>
            </a:r>
            <a:r>
              <a:rPr lang="ru-RU" sz="2400" b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::= DEFAULT {</a:t>
            </a:r>
            <a:r>
              <a:rPr lang="ru-RU" sz="2400" b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литерал</a:t>
            </a:r>
            <a:r>
              <a:rPr lang="en-US" sz="2400" b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|NULL}</a:t>
            </a:r>
          </a:p>
          <a:p>
            <a:pPr>
              <a:spcBef>
                <a:spcPts val="1200"/>
              </a:spcBef>
            </a:pPr>
            <a:r>
              <a:rPr lang="ru-RU" sz="2400" b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огранич_целостности ::=</a:t>
            </a:r>
          </a:p>
          <a:p>
            <a:r>
              <a:rPr lang="ru-RU" sz="2400" b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2400" b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[CONSTRAINT</a:t>
            </a:r>
            <a:r>
              <a:rPr lang="ru-RU" sz="2400" b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&lt;имя&gt;</a:t>
            </a:r>
            <a:r>
              <a:rPr lang="en-US" sz="2400" b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ru-RU" sz="2400" b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CHECK</a:t>
            </a:r>
            <a:r>
              <a:rPr lang="ru-RU" sz="2400" b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(логич_выраж)</a:t>
            </a:r>
            <a:endParaRPr lang="en-US" sz="2400" b="1" smtClean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1200"/>
              </a:spcBef>
            </a:pPr>
            <a:r>
              <a:rPr lang="ru-RU" sz="2400" smtClean="0">
                <a:latin typeface="+mj-lt"/>
                <a:cs typeface="Times New Roman" pitchFamily="18" charset="0"/>
              </a:rPr>
              <a:t>Пример</a:t>
            </a:r>
          </a:p>
          <a:p>
            <a:r>
              <a:rPr lang="ru-RU" sz="2400" smtClean="0"/>
              <a:t>      </a:t>
            </a:r>
            <a:r>
              <a:rPr lang="en-US" sz="2400" b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CREATE </a:t>
            </a:r>
            <a:r>
              <a:rPr lang="en-US" sz="2400" b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DOMAIN</a:t>
            </a:r>
            <a:r>
              <a:rPr lang="ru-RU" sz="2400" b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Т_</a:t>
            </a:r>
            <a:r>
              <a:rPr lang="en-US" sz="2400" b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Kol</a:t>
            </a:r>
            <a:r>
              <a:rPr lang="ru-RU" sz="2400" b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NUMERIC</a:t>
            </a:r>
            <a:r>
              <a:rPr lang="ru-RU" sz="2400" b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(10,2)</a:t>
            </a:r>
          </a:p>
          <a:p>
            <a:r>
              <a:rPr lang="ru-RU" sz="2400" b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            </a:t>
            </a:r>
            <a:r>
              <a:rPr lang="en-US" sz="2400" b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DEFAULT 0</a:t>
            </a:r>
            <a:endParaRPr lang="ru-RU" sz="2400" b="1" smtClean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400" b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     </a:t>
            </a:r>
            <a:r>
              <a:rPr lang="en-US" sz="2400" b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CHECK(VALUE &gt;= 0)</a:t>
            </a:r>
            <a:endParaRPr lang="ru-RU" sz="240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28718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smtClean="0">
                <a:latin typeface="Arial" pitchFamily="34" charset="0"/>
                <a:cs typeface="Arial" pitchFamily="34" charset="0"/>
              </a:rPr>
              <a:t>Вопросы</a:t>
            </a: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определения 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данных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96752"/>
            <a:ext cx="889248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100" dirty="0" smtClean="0"/>
              <a:t>В колонке могут содержаться значения в диапазоне </a:t>
            </a:r>
          </a:p>
          <a:p>
            <a:pPr marL="898525"/>
            <a:r>
              <a:rPr lang="ru-RU" sz="2100" dirty="0" smtClean="0"/>
              <a:t>1…100000.</a:t>
            </a:r>
          </a:p>
          <a:p>
            <a:pPr marL="441325" indent="95250" defTabSz="361950"/>
            <a:r>
              <a:rPr lang="ru-RU" sz="2100" dirty="0" smtClean="0"/>
              <a:t>Какой целочисленный тип целесообразно выбрать?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2"/>
            </a:pPr>
            <a:r>
              <a:rPr lang="ru-RU" sz="2100" dirty="0" smtClean="0"/>
              <a:t>Табельный номер сотрудника всегда содержит 6 знаков.</a:t>
            </a:r>
          </a:p>
          <a:p>
            <a:pPr marL="536575"/>
            <a:r>
              <a:rPr lang="ru-RU" sz="2100" dirty="0" smtClean="0"/>
              <a:t>Какой символьный тип целесообразно выбрать ?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3"/>
            </a:pPr>
            <a:r>
              <a:rPr lang="ru-RU" sz="2100" dirty="0" smtClean="0"/>
              <a:t>Какой будет результат  </a:t>
            </a:r>
            <a:r>
              <a:rPr lang="en-US" sz="21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2100" dirty="0" smtClean="0"/>
              <a:t> </a:t>
            </a:r>
            <a:r>
              <a:rPr lang="en-US" sz="21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n-US" sz="2100" dirty="0" smtClean="0"/>
              <a:t> </a:t>
            </a:r>
            <a:r>
              <a:rPr lang="en-US" sz="21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2100" dirty="0" smtClean="0">
                <a:solidFill>
                  <a:srgbClr val="7030A0"/>
                </a:solidFill>
              </a:rPr>
              <a:t> </a:t>
            </a:r>
            <a:r>
              <a:rPr lang="en-US" sz="2100" dirty="0" smtClean="0"/>
              <a:t>?</a:t>
            </a:r>
            <a:endParaRPr lang="en-US" sz="2100" dirty="0" smtClean="0">
              <a:solidFill>
                <a:srgbClr val="7030A0"/>
              </a:solidFill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 startAt="3"/>
            </a:pPr>
            <a:r>
              <a:rPr lang="ru-RU" sz="2100" dirty="0" smtClean="0"/>
              <a:t>Какой будет результат </a:t>
            </a:r>
            <a:r>
              <a:rPr lang="en-US" sz="21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sz="2100" dirty="0" smtClean="0"/>
              <a:t>  </a:t>
            </a:r>
            <a:r>
              <a:rPr lang="en-US" sz="21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sz="2100" dirty="0" smtClean="0"/>
              <a:t> </a:t>
            </a:r>
            <a:r>
              <a:rPr lang="en-US" sz="21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2100" dirty="0" smtClean="0"/>
              <a:t> ?</a:t>
            </a:r>
            <a:endParaRPr lang="en-US" sz="2100" dirty="0" smtClean="0">
              <a:solidFill>
                <a:srgbClr val="7030A0"/>
              </a:solidFill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 startAt="3"/>
            </a:pPr>
            <a:r>
              <a:rPr lang="ru-RU" sz="2100" dirty="0" smtClean="0"/>
              <a:t>Какой тип надо выбрать у колонки для хранения цвета в формате </a:t>
            </a:r>
            <a:r>
              <a:rPr lang="en-US" sz="2100" dirty="0" smtClean="0"/>
              <a:t>RGB</a:t>
            </a:r>
            <a:r>
              <a:rPr lang="ru-RU" sz="2100" dirty="0" smtClean="0"/>
              <a:t> </a:t>
            </a:r>
            <a:r>
              <a:rPr lang="en-US" sz="2100" dirty="0" smtClean="0"/>
              <a:t>?</a:t>
            </a:r>
            <a:endParaRPr lang="ru-RU" sz="2100" dirty="0" smtClean="0">
              <a:solidFill>
                <a:srgbClr val="7030A0"/>
              </a:solidFill>
            </a:endParaRPr>
          </a:p>
          <a:p>
            <a:pPr marL="457200" indent="-457200">
              <a:spcBef>
                <a:spcPts val="600"/>
              </a:spcBef>
            </a:pPr>
            <a:r>
              <a:rPr lang="ru-RU" sz="2100" dirty="0" smtClean="0"/>
              <a:t>6.  Какой тип следует выбрать у колонки для хранения в ней названия  продукта на нескольких языках</a:t>
            </a:r>
            <a:r>
              <a:rPr lang="en-US" sz="2100" dirty="0" smtClean="0"/>
              <a:t>?</a:t>
            </a:r>
            <a:endParaRPr lang="ru-RU" sz="2100" dirty="0" smtClean="0"/>
          </a:p>
        </p:txBody>
      </p:sp>
    </p:spTree>
    <p:extLst>
      <p:ext uri="{BB962C8B-B14F-4D97-AF65-F5344CB8AC3E}">
        <p14:creationId xmlns:p14="http://schemas.microsoft.com/office/powerpoint/2010/main" val="285733159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79512" y="692696"/>
            <a:ext cx="8712968" cy="5688632"/>
          </a:xfrm>
        </p:spPr>
        <p:txBody>
          <a:bodyPr rtlCol="0">
            <a:noAutofit/>
          </a:bodyPr>
          <a:lstStyle/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/>
          </a:p>
          <a:p>
            <a:pPr marL="6350" indent="-635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ru-RU" sz="3600" b="1">
              <a:solidFill>
                <a:srgbClr val="002060"/>
              </a:solidFill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000" b="1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ru-RU" sz="2400" b="1">
                <a:latin typeface="Arial" pitchFamily="34" charset="0"/>
                <a:cs typeface="Arial" pitchFamily="34" charset="0"/>
              </a:rPr>
              <a:t> </a:t>
            </a:r>
            <a:endParaRPr lang="ru-RU" sz="2400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Рисунок 5" descr="kartinka-spasibo-za-vnimanie-dlya-prezentatsij-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41" y="1"/>
            <a:ext cx="9134059" cy="686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10274</TotalTime>
  <Words>2055</Words>
  <Application>Microsoft Office PowerPoint</Application>
  <PresentationFormat>Экран (4:3)</PresentationFormat>
  <Paragraphs>559</Paragraphs>
  <Slides>39</Slides>
  <Notes>4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0" baseType="lpstr">
      <vt:lpstr>Открытая</vt:lpstr>
      <vt:lpstr>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 . Типы данных   </vt:lpstr>
      <vt:lpstr>  Язык определения данных. Типы данных   </vt:lpstr>
      <vt:lpstr>  Язык определения данных . Типы данных   </vt:lpstr>
      <vt:lpstr>  Язык определения данных 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</dc:title>
  <dc:creator>MON</dc:creator>
  <cp:lastModifiedBy>*</cp:lastModifiedBy>
  <cp:revision>748</cp:revision>
  <dcterms:created xsi:type="dcterms:W3CDTF">2020-10-04T20:01:59Z</dcterms:created>
  <dcterms:modified xsi:type="dcterms:W3CDTF">2026-01-02T20:57:40Z</dcterms:modified>
</cp:coreProperties>
</file>