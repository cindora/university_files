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1"/>
  </p:notesMasterIdLst>
  <p:sldIdLst>
    <p:sldId id="256" r:id="rId2"/>
    <p:sldId id="499" r:id="rId3"/>
    <p:sldId id="541" r:id="rId4"/>
    <p:sldId id="542" r:id="rId5"/>
    <p:sldId id="409" r:id="rId6"/>
    <p:sldId id="410" r:id="rId7"/>
    <p:sldId id="411" r:id="rId8"/>
    <p:sldId id="414" r:id="rId9"/>
    <p:sldId id="544" r:id="rId10"/>
    <p:sldId id="413" r:id="rId11"/>
    <p:sldId id="415" r:id="rId12"/>
    <p:sldId id="416" r:id="rId13"/>
    <p:sldId id="417" r:id="rId14"/>
    <p:sldId id="418" r:id="rId15"/>
    <p:sldId id="548" r:id="rId16"/>
    <p:sldId id="546" r:id="rId17"/>
    <p:sldId id="547" r:id="rId18"/>
    <p:sldId id="545" r:id="rId19"/>
    <p:sldId id="543" r:id="rId20"/>
    <p:sldId id="552" r:id="rId21"/>
    <p:sldId id="500" r:id="rId22"/>
    <p:sldId id="549" r:id="rId23"/>
    <p:sldId id="550" r:id="rId24"/>
    <p:sldId id="551" r:id="rId25"/>
    <p:sldId id="501" r:id="rId26"/>
    <p:sldId id="502" r:id="rId27"/>
    <p:sldId id="553" r:id="rId28"/>
    <p:sldId id="407" r:id="rId29"/>
    <p:sldId id="300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0" autoAdjust="0"/>
    <p:restoredTop sz="94603" autoAdjust="0"/>
  </p:normalViewPr>
  <p:slideViewPr>
    <p:cSldViewPr>
      <p:cViewPr varScale="1">
        <p:scale>
          <a:sx n="85" d="100"/>
          <a:sy n="85" d="100"/>
        </p:scale>
        <p:origin x="-10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2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04.12.2025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8208912" cy="2160240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en-US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ru-RU" sz="5400" b="1" dirty="0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6</a:t>
            </a:r>
            <a:endParaRPr lang="en-US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endParaRPr lang="ru-RU" sz="1000" b="1" dirty="0" smtClean="0"/>
          </a:p>
          <a:p>
            <a:pPr algn="ctr"/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Триггеры</a:t>
            </a: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74565" y="404664"/>
            <a:ext cx="4680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just">
              <a:spcBef>
                <a:spcPts val="1800"/>
              </a:spcBef>
            </a:pPr>
            <a:r>
              <a:rPr lang="ru-RU" sz="5400" b="1" dirty="0" smtClean="0">
                <a:solidFill>
                  <a:srgbClr val="7030A0"/>
                </a:solidFill>
              </a:rPr>
              <a:t>Триггеры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472016"/>
            <a:ext cx="3203848" cy="242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51520" y="1628800"/>
            <a:ext cx="828092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441325" algn="just"/>
            <a:r>
              <a:rPr lang="ru-RU" sz="2800" dirty="0"/>
              <a:t>Триггер — это </a:t>
            </a:r>
            <a:r>
              <a:rPr lang="ru-RU" sz="2800" dirty="0" smtClean="0"/>
              <a:t>специальная подпрограмма </a:t>
            </a:r>
            <a:r>
              <a:rPr lang="ru-RU" sz="2800" dirty="0"/>
              <a:t>базы данных, автоматически запускаемая </a:t>
            </a:r>
            <a:r>
              <a:rPr lang="ru-RU" sz="2800" dirty="0" smtClean="0"/>
              <a:t>сервером БД</a:t>
            </a:r>
            <a:r>
              <a:rPr lang="ru-RU" sz="2800" dirty="0" smtClean="0"/>
              <a:t>, </a:t>
            </a:r>
            <a:r>
              <a:rPr lang="ru-RU" sz="2800" dirty="0"/>
              <a:t>когда происходят определённые </a:t>
            </a:r>
            <a:r>
              <a:rPr lang="ru-RU" sz="2800" dirty="0" smtClean="0"/>
              <a:t>события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/>
              <a:t> </a:t>
            </a:r>
            <a:endParaRPr lang="en-US" sz="2800" dirty="0" smtClean="0"/>
          </a:p>
          <a:p>
            <a:pPr marL="896938" indent="-441325">
              <a:spcBef>
                <a:spcPts val="600"/>
              </a:spcBef>
            </a:pPr>
            <a:r>
              <a:rPr lang="en-US" sz="2800" dirty="0" smtClean="0"/>
              <a:t>1) </a:t>
            </a:r>
            <a:r>
              <a:rPr lang="ru-RU" sz="2800" dirty="0" smtClean="0"/>
              <a:t>изменения </a:t>
            </a:r>
            <a:r>
              <a:rPr lang="ru-RU" sz="2800" dirty="0" smtClean="0"/>
              <a:t>данных в таблицах </a:t>
            </a:r>
            <a:endParaRPr lang="en-US" sz="2800" dirty="0" smtClean="0"/>
          </a:p>
          <a:p>
            <a:pPr marL="896938" indent="-441325">
              <a:spcBef>
                <a:spcPts val="600"/>
              </a:spcBef>
            </a:pPr>
            <a:r>
              <a:rPr lang="en-US" sz="2800" dirty="0" smtClean="0"/>
              <a:t>2)</a:t>
            </a:r>
            <a:r>
              <a:rPr lang="ru-RU" sz="2800" dirty="0" smtClean="0"/>
              <a:t> события </a:t>
            </a:r>
            <a:r>
              <a:rPr lang="ru-RU" sz="2800" dirty="0"/>
              <a:t>в базе </a:t>
            </a:r>
            <a:r>
              <a:rPr lang="ru-RU" sz="2800" dirty="0" smtClean="0"/>
              <a:t>данных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59002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ctr">
              <a:spcBef>
                <a:spcPts val="1800"/>
              </a:spcBef>
            </a:pPr>
            <a:r>
              <a:rPr lang="ru-RU" sz="4000" b="1" dirty="0" smtClean="0"/>
              <a:t>Триггеры</a:t>
            </a:r>
            <a:r>
              <a:rPr lang="en-US" sz="4000" b="1" dirty="0" smtClean="0"/>
              <a:t> </a:t>
            </a:r>
            <a:r>
              <a:rPr lang="ru-RU" sz="4000" b="1" dirty="0" smtClean="0"/>
              <a:t>изменения данных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1268760"/>
            <a:ext cx="849694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441325"/>
            <a:r>
              <a:rPr lang="ru-RU" sz="2600" dirty="0" smtClean="0"/>
              <a:t>Триггеры </a:t>
            </a:r>
            <a:r>
              <a:rPr lang="ru-RU" sz="2600" dirty="0" smtClean="0"/>
              <a:t>(объект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lang="en-US" sz="2600" dirty="0" smtClean="0"/>
              <a:t>) </a:t>
            </a:r>
            <a:r>
              <a:rPr lang="ru-RU" sz="2600" dirty="0" smtClean="0"/>
              <a:t> </a:t>
            </a:r>
            <a:r>
              <a:rPr lang="ru-RU" sz="2600" dirty="0"/>
              <a:t>— это </a:t>
            </a:r>
            <a:r>
              <a:rPr lang="ru-RU" sz="2600" dirty="0" smtClean="0"/>
              <a:t>особый </a:t>
            </a:r>
            <a:r>
              <a:rPr lang="ru-RU" sz="2600" dirty="0"/>
              <a:t>вид </a:t>
            </a:r>
            <a:r>
              <a:rPr lang="ru-RU" sz="2600" dirty="0" smtClean="0"/>
              <a:t>объекта, который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2175" indent="-355600" algn="just">
              <a:buFont typeface="+mj-lt"/>
              <a:buAutoNum type="arabicParenR"/>
            </a:pPr>
            <a:r>
              <a:rPr lang="ru-RU" sz="2600" dirty="0" smtClean="0"/>
              <a:t>связан </a:t>
            </a:r>
            <a:r>
              <a:rPr lang="ru-RU" sz="2600" dirty="0"/>
              <a:t>с таблицей или </a:t>
            </a:r>
            <a:r>
              <a:rPr lang="ru-RU" sz="2600" dirty="0" smtClean="0"/>
              <a:t>представлением</a:t>
            </a:r>
          </a:p>
          <a:p>
            <a:pPr marL="892175" indent="-355600" algn="just">
              <a:buFont typeface="+mj-lt"/>
              <a:buAutoNum type="arabicParenR"/>
            </a:pPr>
            <a:r>
              <a:rPr lang="ru-RU" sz="2600" dirty="0" smtClean="0"/>
              <a:t>реагирует на команды </a:t>
            </a:r>
            <a:r>
              <a:rPr lang="en-US" sz="2600" dirty="0" err="1" smtClean="0"/>
              <a:t>DML</a:t>
            </a:r>
            <a:r>
              <a:rPr lang="en-US" sz="2600" dirty="0" smtClean="0"/>
              <a:t> </a:t>
            </a:r>
            <a:r>
              <a:rPr lang="ru-RU" sz="2600" dirty="0" smtClean="0"/>
              <a:t>           </a:t>
            </a:r>
          </a:p>
          <a:p>
            <a:pPr marL="1162050" algn="just"/>
            <a:r>
              <a:rPr lang="ru-RU" sz="2600" dirty="0" smtClean="0"/>
              <a:t>                      </a:t>
            </a:r>
            <a:r>
              <a:rPr lang="en-US" sz="2600" dirty="0" smtClean="0"/>
              <a:t>(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2600" dirty="0" smtClean="0"/>
              <a:t>)</a:t>
            </a:r>
            <a:endParaRPr lang="ru-RU" sz="2600" dirty="0"/>
          </a:p>
          <a:p>
            <a:pPr marL="1050925" indent="-514350" algn="just">
              <a:buFont typeface="+mj-lt"/>
              <a:buAutoNum type="arabicParenR" startAt="3"/>
            </a:pPr>
            <a:r>
              <a:rPr lang="ru-RU" sz="2600" dirty="0" smtClean="0"/>
              <a:t>запускается </a:t>
            </a:r>
            <a:r>
              <a:rPr lang="ru-RU" sz="2600" dirty="0"/>
              <a:t>автоматически (вызывается неявно) каждый раз, когда происходит событие </a:t>
            </a:r>
            <a:r>
              <a:rPr lang="ru-RU" sz="2600" dirty="0" smtClean="0"/>
              <a:t>изменения данных (</a:t>
            </a:r>
            <a:r>
              <a:rPr lang="ru-RU" sz="2600" dirty="0"/>
              <a:t>изменение, добавление, удаление ее строк) </a:t>
            </a:r>
          </a:p>
        </p:txBody>
      </p:sp>
    </p:spTree>
    <p:extLst>
      <p:ext uri="{BB962C8B-B14F-4D97-AF65-F5344CB8AC3E}">
        <p14:creationId xmlns:p14="http://schemas.microsoft.com/office/powerpoint/2010/main" val="138983992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ctr">
              <a:spcBef>
                <a:spcPts val="1800"/>
              </a:spcBef>
            </a:pPr>
            <a:r>
              <a:rPr lang="ru-RU" sz="4000" b="1" dirty="0" smtClean="0"/>
              <a:t>Триггеры</a:t>
            </a:r>
            <a:r>
              <a:rPr lang="en-US" sz="4000" b="1" dirty="0" smtClean="0"/>
              <a:t> </a:t>
            </a:r>
            <a:r>
              <a:rPr lang="ru-RU" sz="4000" b="1" dirty="0" smtClean="0"/>
              <a:t>событий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1268760"/>
            <a:ext cx="828092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441325" algn="just"/>
            <a:r>
              <a:rPr lang="ru-RU" sz="2600" dirty="0" smtClean="0"/>
              <a:t>Триггеры, реагирующие </a:t>
            </a:r>
            <a:r>
              <a:rPr lang="ru-RU" sz="2600" dirty="0"/>
              <a:t>на </a:t>
            </a:r>
            <a:r>
              <a:rPr lang="ru-RU" sz="2600" dirty="0" smtClean="0"/>
              <a:t>события в БД (объект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 TRIGGER</a:t>
            </a:r>
            <a:r>
              <a:rPr lang="en-US" sz="2600" dirty="0" smtClean="0"/>
              <a:t>) </a:t>
            </a:r>
            <a:r>
              <a:rPr lang="ru-RU" sz="2600" dirty="0" smtClean="0"/>
              <a:t> </a:t>
            </a:r>
            <a:r>
              <a:rPr lang="ru-RU" sz="2600" dirty="0"/>
              <a:t>— это </a:t>
            </a:r>
            <a:r>
              <a:rPr lang="ru-RU" sz="2600" dirty="0" smtClean="0"/>
              <a:t>особый </a:t>
            </a:r>
            <a:r>
              <a:rPr lang="ru-RU" sz="2600" dirty="0"/>
              <a:t>вид </a:t>
            </a:r>
            <a:r>
              <a:rPr lang="ru-RU" sz="2600" dirty="0" smtClean="0"/>
              <a:t>объекта, который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34975" indent="-355600" algn="just">
              <a:buFont typeface="+mj-lt"/>
              <a:buAutoNum type="arabicParenR"/>
            </a:pPr>
            <a:r>
              <a:rPr lang="ru-RU" sz="2800" dirty="0" smtClean="0"/>
              <a:t> определяется </a:t>
            </a:r>
            <a:r>
              <a:rPr lang="ru-RU" sz="2800" dirty="0"/>
              <a:t>на уровне базы данных </a:t>
            </a:r>
            <a:endParaRPr lang="ru-RU" sz="2600" dirty="0" smtClean="0"/>
          </a:p>
          <a:p>
            <a:pPr marL="434975" indent="-355600" algn="just">
              <a:buFont typeface="+mj-lt"/>
              <a:buAutoNum type="arabicParenR"/>
            </a:pPr>
            <a:r>
              <a:rPr lang="ru-RU" sz="2800" dirty="0" smtClean="0"/>
              <a:t> срабатывает всякий раз, когда в БД происходит связанное с ним событие.</a:t>
            </a:r>
          </a:p>
          <a:p>
            <a:pPr marL="441325" algn="just"/>
            <a:r>
              <a:rPr lang="ru-RU" sz="2800" dirty="0"/>
              <a:t>П</a:t>
            </a:r>
            <a:r>
              <a:rPr lang="ru-RU" sz="2800" dirty="0" smtClean="0"/>
              <a:t>оддерживаются </a:t>
            </a:r>
            <a:r>
              <a:rPr lang="ru-RU" sz="2800" dirty="0"/>
              <a:t>следующие события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93775" indent="-457200" algn="just">
              <a:buFont typeface="Wingdings" panose="05000000000000000000" pitchFamily="2" charset="2"/>
              <a:buChar char="§"/>
            </a:pPr>
            <a:r>
              <a:rPr lang="ru-RU" sz="2800" dirty="0"/>
              <a:t>в</a:t>
            </a:r>
            <a:r>
              <a:rPr lang="ru-RU" sz="2800" dirty="0" smtClean="0"/>
              <a:t>ход пользователя в систему</a:t>
            </a:r>
          </a:p>
          <a:p>
            <a:pPr marL="993775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выполнение команды </a:t>
            </a:r>
            <a:r>
              <a:rPr lang="en-US" sz="2800" dirty="0" err="1" smtClean="0"/>
              <a:t>DDL</a:t>
            </a:r>
            <a:r>
              <a:rPr lang="ru-RU" sz="2800" dirty="0" smtClean="0"/>
              <a:t> </a:t>
            </a:r>
            <a:endParaRPr lang="ru-RU" sz="2800" dirty="0" smtClean="0"/>
          </a:p>
          <a:p>
            <a:pPr marL="536575" algn="just"/>
            <a:r>
              <a:rPr lang="ru-RU" sz="2800" dirty="0"/>
              <a:t> </a:t>
            </a:r>
            <a:r>
              <a:rPr lang="ru-RU" sz="2800" dirty="0" smtClean="0"/>
              <a:t>                       </a:t>
            </a:r>
            <a:r>
              <a:rPr lang="en-US" sz="2800" dirty="0" smtClean="0"/>
              <a:t>(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sz="2800" dirty="0" smtClean="0"/>
              <a:t>)</a:t>
            </a:r>
            <a:r>
              <a:rPr lang="ru-RU" sz="2800" dirty="0" smtClean="0"/>
              <a:t> </a:t>
            </a:r>
            <a:endParaRPr lang="ru-RU" sz="2600" dirty="0"/>
          </a:p>
        </p:txBody>
      </p:sp>
      <p:sp>
        <p:nvSpPr>
          <p:cNvPr id="2" name="TextBox 1"/>
          <p:cNvSpPr txBox="1"/>
          <p:nvPr/>
        </p:nvSpPr>
        <p:spPr>
          <a:xfrm>
            <a:off x="1403648" y="5723964"/>
            <a:ext cx="7740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*Триггеры событий в курсе не рассматриваются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0067287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Использование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640960" cy="5098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>
              <a:spcBef>
                <a:spcPts val="1200"/>
              </a:spcBef>
              <a:buFont typeface="+mj-lt"/>
              <a:buAutoNum type="arabicParenR"/>
            </a:pPr>
            <a:r>
              <a:rPr lang="ru-RU" sz="2400" dirty="0" smtClean="0"/>
              <a:t>реализации сложных ограничений целостности данных, которые нельзя задать через ограничения столбцов или таблицы </a:t>
            </a:r>
          </a:p>
          <a:p>
            <a:pPr marL="1074738" lvl="0" indent="-539750" algn="just">
              <a:spcBef>
                <a:spcPts val="200"/>
              </a:spcBef>
            </a:pPr>
            <a:r>
              <a:rPr lang="ru-RU" sz="2400" i="1" dirty="0" smtClean="0"/>
              <a:t>Например</a:t>
            </a:r>
            <a:r>
              <a:rPr lang="ru-RU" sz="2400" dirty="0" smtClean="0"/>
              <a:t>, проверка </a:t>
            </a:r>
            <a:r>
              <a:rPr lang="ru-RU" sz="2400" dirty="0" err="1" smtClean="0"/>
              <a:t>заполненности</a:t>
            </a:r>
            <a:r>
              <a:rPr lang="ru-RU" sz="2400" dirty="0" smtClean="0"/>
              <a:t> поля «Поставщик» для операции «Поставка» и поля «Подразделение» для операции «Отпуск в подразделение»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arenR" startAt="2"/>
            </a:pPr>
            <a:r>
              <a:rPr lang="ru-RU" sz="2400" dirty="0" smtClean="0"/>
              <a:t>заполнение колонок строки перед ее записью в таблицу БД </a:t>
            </a:r>
          </a:p>
          <a:p>
            <a:pPr marL="982663" lvl="0" indent="-447675" algn="just">
              <a:spcBef>
                <a:spcPts val="200"/>
              </a:spcBef>
            </a:pPr>
            <a:r>
              <a:rPr lang="ru-RU" sz="2400" i="1" dirty="0" smtClean="0"/>
              <a:t>Наприме</a:t>
            </a:r>
            <a:r>
              <a:rPr lang="ru-RU" sz="2400" dirty="0" smtClean="0"/>
              <a:t>р, номер документа определяется по формуле </a:t>
            </a:r>
            <a:r>
              <a:rPr lang="en-US" sz="2400" dirty="0" smtClean="0"/>
              <a:t>MAX</a:t>
            </a:r>
            <a:r>
              <a:rPr lang="ru-RU" sz="2400" dirty="0" smtClean="0"/>
              <a:t>(</a:t>
            </a:r>
            <a:r>
              <a:rPr lang="en-US" sz="2400" dirty="0" err="1" smtClean="0"/>
              <a:t>ndoc</a:t>
            </a:r>
            <a:r>
              <a:rPr lang="ru-RU" sz="2400" dirty="0" smtClean="0"/>
              <a:t>)+1, где </a:t>
            </a:r>
            <a:r>
              <a:rPr lang="en-US" sz="2400" dirty="0" err="1" smtClean="0"/>
              <a:t>ndoc</a:t>
            </a:r>
            <a:r>
              <a:rPr lang="ru-RU" sz="2400" dirty="0" smtClean="0"/>
              <a:t> – множество значений № </a:t>
            </a:r>
            <a:r>
              <a:rPr lang="ru-RU" sz="2400" dirty="0" err="1" smtClean="0"/>
              <a:t>докум</a:t>
            </a:r>
            <a:r>
              <a:rPr lang="en-US" sz="2400" dirty="0" smtClean="0"/>
              <a:t>e</a:t>
            </a:r>
            <a:r>
              <a:rPr lang="ru-RU" sz="2400" dirty="0" err="1" smtClean="0"/>
              <a:t>нтов</a:t>
            </a:r>
            <a:r>
              <a:rPr lang="ru-RU" sz="2400" dirty="0" smtClean="0"/>
              <a:t> в существующих строках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Использование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-15766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640960" cy="5291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400" dirty="0" smtClean="0"/>
              <a:t>реализации аудита - ведение протокола (лога)  всех изменений в таблицах БД с фиксацией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400" dirty="0" smtClean="0"/>
              <a:t> кто и когда вносил изменения, вида изменений</a:t>
            </a:r>
          </a:p>
          <a:p>
            <a:pPr marL="457200" indent="-457200" algn="just">
              <a:spcBef>
                <a:spcPts val="900"/>
              </a:spcBef>
              <a:buFont typeface="+mj-lt"/>
              <a:buAutoNum type="arabicParenR" startAt="3"/>
            </a:pPr>
            <a:r>
              <a:rPr lang="ru-RU" sz="2400" dirty="0"/>
              <a:t>с</a:t>
            </a:r>
            <a:r>
              <a:rPr lang="ru-RU" sz="2400" dirty="0" smtClean="0"/>
              <a:t>инхронизация данных - поддержка согласованности данных в разных таблицах</a:t>
            </a:r>
          </a:p>
          <a:p>
            <a:pPr marL="720725" indent="-276225" algn="just">
              <a:spcBef>
                <a:spcPts val="400"/>
              </a:spcBef>
            </a:pPr>
            <a:r>
              <a:rPr lang="ru-RU" sz="2400" dirty="0" smtClean="0"/>
              <a:t>Например, изменение общей стоимости в счете (накладной) при добавлении, корректировке или удалении строки в ассортиментной части</a:t>
            </a:r>
          </a:p>
          <a:p>
            <a:pPr marL="457200" indent="-457200" algn="just">
              <a:spcBef>
                <a:spcPts val="900"/>
              </a:spcBef>
              <a:buFont typeface="+mj-lt"/>
              <a:buAutoNum type="arabicParenR" startAt="5"/>
            </a:pPr>
            <a:r>
              <a:rPr lang="ru-RU" sz="2400" dirty="0" smtClean="0"/>
              <a:t>вычисление </a:t>
            </a:r>
            <a:r>
              <a:rPr lang="ru-RU" sz="2400" dirty="0"/>
              <a:t>агрегатных </a:t>
            </a:r>
            <a:r>
              <a:rPr lang="ru-RU" sz="2400" dirty="0" smtClean="0"/>
              <a:t>значений - </a:t>
            </a:r>
            <a:r>
              <a:rPr lang="ru-RU" sz="2400" dirty="0"/>
              <a:t>ведение сводной таблицы на основе </a:t>
            </a:r>
            <a:r>
              <a:rPr lang="ru-RU" sz="2400" dirty="0" smtClean="0"/>
              <a:t>данных таблицы с оперативными данными</a:t>
            </a:r>
          </a:p>
          <a:p>
            <a:pPr marL="811213" indent="-369888" algn="just">
              <a:spcBef>
                <a:spcPts val="300"/>
              </a:spcBef>
            </a:pPr>
            <a:r>
              <a:rPr lang="ru-RU" sz="2400" dirty="0" smtClean="0"/>
              <a:t>Например, расчет сводных данных о продажах на основе данных отдельных покупок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Типы триггеров</a:t>
            </a:r>
            <a:endParaRPr lang="ru-RU" sz="40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1640701"/>
            <a:ext cx="7848872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smtClean="0"/>
              <a:t>Триггеры можно классифицировать:</a:t>
            </a:r>
          </a:p>
          <a:p>
            <a:pPr marL="809625" indent="-457200" algn="just">
              <a:spcBef>
                <a:spcPts val="1800"/>
              </a:spcBef>
              <a:buAutoNum type="arabicPeriod"/>
            </a:pPr>
            <a:r>
              <a:rPr lang="ru-RU" sz="2800" smtClean="0"/>
              <a:t>по событию активизации</a:t>
            </a:r>
          </a:p>
          <a:p>
            <a:pPr marL="809625" lvl="0" indent="-457200">
              <a:spcBef>
                <a:spcPts val="1800"/>
              </a:spcBef>
              <a:buAutoNum type="arabicPeriod"/>
            </a:pPr>
            <a:r>
              <a:rPr lang="ru-RU" sz="2800" smtClean="0"/>
              <a:t>по моменту времени активизации</a:t>
            </a:r>
          </a:p>
          <a:p>
            <a:pPr marL="809625" lvl="0" indent="-457200">
              <a:spcBef>
                <a:spcPts val="1800"/>
              </a:spcBef>
              <a:buAutoNum type="arabicPeriod"/>
            </a:pPr>
            <a:r>
              <a:rPr lang="ru-RU" sz="2800" smtClean="0"/>
              <a:t>по уровню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Типы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12949"/>
            <a:ext cx="8892480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 smtClean="0"/>
              <a:t>1.  По событию активизации</a:t>
            </a:r>
            <a:r>
              <a:rPr lang="ru-RU" sz="2800" dirty="0" smtClean="0"/>
              <a:t>:</a:t>
            </a:r>
          </a:p>
          <a:p>
            <a:pPr marL="457200" lvl="0" indent="-457200">
              <a:spcBef>
                <a:spcPts val="900"/>
              </a:spcBef>
            </a:pPr>
            <a:r>
              <a:rPr lang="ru-RU" sz="2400" dirty="0" smtClean="0"/>
              <a:t>Определяет, какой оператор </a:t>
            </a:r>
            <a:r>
              <a:rPr lang="en-US" sz="2400" dirty="0" smtClean="0"/>
              <a:t>DML</a:t>
            </a:r>
            <a:r>
              <a:rPr lang="ru-RU" sz="2400" dirty="0" smtClean="0"/>
              <a:t> активизирует триггер</a:t>
            </a:r>
          </a:p>
          <a:p>
            <a:pPr marL="457200" lvl="0" indent="-457200">
              <a:spcBef>
                <a:spcPts val="900"/>
              </a:spcBef>
              <a:spcAft>
                <a:spcPts val="1200"/>
              </a:spcAft>
            </a:pPr>
            <a:r>
              <a:rPr lang="ru-RU" sz="2400" dirty="0" smtClean="0"/>
              <a:t>Основные типы триггеров по событию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2149475" indent="-1797050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ru-RU" sz="2400" dirty="0" smtClean="0"/>
              <a:t>   - </a:t>
            </a:r>
            <a:r>
              <a:rPr lang="ru-RU" sz="2400" dirty="0" smtClean="0"/>
              <a:t>активизируется </a:t>
            </a:r>
            <a:r>
              <a:rPr lang="ru-RU" sz="2400" dirty="0" smtClean="0"/>
              <a:t>при добавлении новой строки в таблицу</a:t>
            </a:r>
          </a:p>
          <a:p>
            <a:pPr marL="2057400" indent="-170497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ru-RU" sz="2400" dirty="0" smtClean="0"/>
              <a:t>   - активизируется при удалении строки из таблицы</a:t>
            </a:r>
          </a:p>
          <a:p>
            <a:pPr marL="2057400" indent="-170497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UPDATE</a:t>
            </a:r>
            <a:r>
              <a:rPr lang="ru-RU" sz="2400" dirty="0" smtClean="0"/>
              <a:t>  - активизируется при изменении строки в таблицы</a:t>
            </a:r>
          </a:p>
          <a:p>
            <a:pPr marL="1698625" indent="-1346200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UPDATE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OF &lt;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список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колонок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dirty="0" smtClean="0"/>
              <a:t>- активизируется при изменении указанных колонок </a:t>
            </a:r>
          </a:p>
          <a:p>
            <a:pPr marL="1698625" indent="-1346200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TRUNCATE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sz="2400" dirty="0" smtClean="0">
                <a:latin typeface="+mj-lt"/>
                <a:cs typeface="Courier New" pitchFamily="49" charset="0"/>
              </a:rPr>
              <a:t>активизируется при очистке данных таблицы командой </a:t>
            </a:r>
            <a:r>
              <a:rPr lang="en-US" sz="2400" dirty="0" smtClean="0">
                <a:latin typeface="+mj-lt"/>
                <a:cs typeface="Courier New" pitchFamily="49" charset="0"/>
              </a:rPr>
              <a:t>TRUNCATE</a:t>
            </a:r>
          </a:p>
          <a:p>
            <a:pPr marL="1698625" indent="-1346200"/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en-US" sz="2400" dirty="0" smtClean="0">
                <a:latin typeface="+mj-lt"/>
                <a:cs typeface="Courier New" pitchFamily="49" charset="0"/>
              </a:rPr>
              <a:t>                       (</a:t>
            </a:r>
            <a:r>
              <a:rPr lang="ru-RU" sz="2400" dirty="0" smtClean="0">
                <a:latin typeface="+mj-lt"/>
                <a:cs typeface="Courier New" pitchFamily="49" charset="0"/>
              </a:rPr>
              <a:t>является расширением стандарта </a:t>
            </a:r>
            <a:r>
              <a:rPr lang="en-US" sz="2400" dirty="0" smtClean="0">
                <a:latin typeface="+mj-lt"/>
                <a:cs typeface="Courier New" pitchFamily="49" charset="0"/>
              </a:rPr>
              <a:t>SQL)</a:t>
            </a:r>
            <a:endParaRPr lang="ru-RU" sz="2400" dirty="0">
              <a:latin typeface="Courier New" pitchFamily="49" charset="0"/>
              <a:cs typeface="Courier New" pitchFamily="49" charset="0"/>
            </a:endParaRPr>
          </a:p>
          <a:p>
            <a:pPr marL="457200" lvl="0" indent="-457200">
              <a:spcBef>
                <a:spcPts val="1200"/>
              </a:spcBef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Типы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 smtClean="0"/>
              <a:t>2.  По  моменту времени активизации</a:t>
            </a:r>
            <a:r>
              <a:rPr lang="ru-RU" sz="2800" dirty="0" smtClean="0"/>
              <a:t>:</a:t>
            </a:r>
          </a:p>
          <a:p>
            <a:pPr marL="457200" lvl="0" indent="-457200">
              <a:spcBef>
                <a:spcPts val="1200"/>
              </a:spcBef>
            </a:pPr>
            <a:r>
              <a:rPr lang="ru-RU" sz="2400" dirty="0" smtClean="0"/>
              <a:t>Определяет момент активизации</a:t>
            </a:r>
          </a:p>
          <a:p>
            <a:pPr marL="457200" lvl="0" indent="-457200">
              <a:spcBef>
                <a:spcPts val="1200"/>
              </a:spcBef>
              <a:spcAft>
                <a:spcPts val="1200"/>
              </a:spcAft>
            </a:pPr>
            <a:r>
              <a:rPr lang="ru-RU" sz="2400" dirty="0" smtClean="0"/>
              <a:t>Основные типы триггеров по моменту времени:</a:t>
            </a:r>
          </a:p>
          <a:p>
            <a:pPr marL="1619250" indent="-126682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BEFORE</a:t>
            </a:r>
            <a:r>
              <a:rPr lang="ru-RU" sz="2400" dirty="0" smtClean="0"/>
              <a:t>   -  активизируется до события </a:t>
            </a:r>
          </a:p>
          <a:p>
            <a:pPr marL="2149475" indent="-273050"/>
            <a:r>
              <a:rPr lang="ru-RU" sz="2400" dirty="0" smtClean="0"/>
              <a:t> </a:t>
            </a:r>
            <a:r>
              <a:rPr lang="ru-RU" sz="2400" dirty="0" smtClean="0"/>
              <a:t>  (</a:t>
            </a:r>
            <a:r>
              <a:rPr lang="ru-RU" sz="2400" dirty="0" smtClean="0"/>
              <a:t>до проверки ограничений и начала выполнения операции)</a:t>
            </a:r>
          </a:p>
          <a:p>
            <a:pPr marL="1619250" indent="-126682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AFTER</a:t>
            </a:r>
            <a:r>
              <a:rPr lang="ru-RU" sz="2400" dirty="0" smtClean="0"/>
              <a:t>     - активизируется после события   </a:t>
            </a:r>
          </a:p>
          <a:p>
            <a:pPr marL="2149475" indent="-274638"/>
            <a:r>
              <a:rPr lang="ru-RU" sz="2400" dirty="0" smtClean="0"/>
              <a:t>   </a:t>
            </a:r>
            <a:r>
              <a:rPr lang="ru-RU" sz="2400" dirty="0" smtClean="0"/>
              <a:t>(после проверки ограничений и завершения операции)</a:t>
            </a:r>
          </a:p>
          <a:p>
            <a:pPr marL="1965325" indent="-1697038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 OF</a:t>
            </a:r>
            <a:r>
              <a:rPr lang="en-US" sz="2400" dirty="0" smtClean="0"/>
              <a:t> – </a:t>
            </a:r>
            <a:r>
              <a:rPr lang="ru-RU" sz="2400" dirty="0" smtClean="0"/>
              <a:t>выполняется вместо события</a:t>
            </a:r>
          </a:p>
          <a:p>
            <a:pPr marL="457200" lvl="0" indent="-457200">
              <a:spcBef>
                <a:spcPts val="1200"/>
              </a:spcBef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96032922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Типы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89248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3"/>
            </a:pPr>
            <a:r>
              <a:rPr lang="ru-RU" sz="2800" b="1" smtClean="0"/>
              <a:t>По  уровню операции</a:t>
            </a:r>
            <a:r>
              <a:rPr lang="ru-RU" sz="2800" smtClean="0"/>
              <a:t>:</a:t>
            </a:r>
          </a:p>
          <a:p>
            <a:pPr marL="1619250" indent="-1266825" algn="just">
              <a:spcBef>
                <a:spcPts val="600"/>
              </a:spcBef>
            </a:pPr>
            <a:r>
              <a:rPr lang="en-US" sz="28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ROW</a:t>
            </a:r>
            <a:r>
              <a:rPr lang="ru-RU" sz="2400" smtClean="0"/>
              <a:t>   -  </a:t>
            </a:r>
            <a:r>
              <a:rPr lang="ru-RU" sz="2400" b="1" smtClean="0"/>
              <a:t>строковый</a:t>
            </a:r>
            <a:r>
              <a:rPr lang="ru-RU" sz="2400" smtClean="0"/>
              <a:t> триггер активизируется 1 раз для каждой строки таблицы, на которые воздействует оператор изменения</a:t>
            </a:r>
          </a:p>
          <a:p>
            <a:pPr marL="1619250" indent="-1266825" algn="just"/>
            <a:r>
              <a:rPr lang="en-US" sz="28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STATEMENT</a:t>
            </a:r>
            <a:r>
              <a:rPr lang="ru-RU" sz="2400" smtClean="0"/>
              <a:t>   - </a:t>
            </a:r>
            <a:r>
              <a:rPr lang="ru-RU" sz="2400" b="1" smtClean="0"/>
              <a:t>операторный</a:t>
            </a:r>
            <a:r>
              <a:rPr lang="ru-RU" sz="2400" smtClean="0"/>
              <a:t> триггер активизируется 1 раз для оператора изменения, независимо от количества изменяемых строк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4235604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8275" indent="-1438275" algn="just"/>
            <a:r>
              <a:rPr lang="ru-RU" sz="2400" b="1" dirty="0" smtClean="0"/>
              <a:t>Пример.</a:t>
            </a:r>
            <a:r>
              <a:rPr lang="ru-RU" sz="2400" dirty="0" smtClean="0"/>
              <a:t> В таблице </a:t>
            </a:r>
            <a:r>
              <a:rPr lang="en-US" sz="2400" dirty="0" smtClean="0"/>
              <a:t>BOOK </a:t>
            </a:r>
            <a:r>
              <a:rPr lang="ru-RU" sz="2400" dirty="0" smtClean="0"/>
              <a:t>имеется 10 строк с кодом поставщика 12.</a:t>
            </a:r>
          </a:p>
          <a:p>
            <a:pPr marL="357188"/>
            <a:r>
              <a:rPr lang="ru-RU" sz="2400" dirty="0" smtClean="0"/>
              <a:t>При выполнении оператора</a:t>
            </a:r>
          </a:p>
          <a:p>
            <a:r>
              <a:rPr lang="ru-RU" sz="2400" dirty="0" smtClean="0"/>
              <a:t>   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DELETE  book  WHERE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post_kod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=1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736" y="5766355"/>
            <a:ext cx="5760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/>
              <a:t>Операторный триггер выполнится -</a:t>
            </a:r>
          </a:p>
          <a:p>
            <a:r>
              <a:rPr lang="ru-RU" sz="2400" smtClean="0"/>
              <a:t>Строковый триггер выполнится      – </a:t>
            </a:r>
            <a:endParaRPr lang="ru-RU" sz="2400"/>
          </a:p>
        </p:txBody>
      </p:sp>
      <p:sp>
        <p:nvSpPr>
          <p:cNvPr id="11" name="TextBox 10"/>
          <p:cNvSpPr txBox="1"/>
          <p:nvPr/>
        </p:nvSpPr>
        <p:spPr>
          <a:xfrm>
            <a:off x="8028384" y="576635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smtClean="0"/>
              <a:t>1 раз</a:t>
            </a:r>
            <a:endParaRPr lang="ru-RU" sz="2000"/>
          </a:p>
        </p:txBody>
      </p:sp>
      <p:sp>
        <p:nvSpPr>
          <p:cNvPr id="12" name="TextBox 11"/>
          <p:cNvSpPr txBox="1"/>
          <p:nvPr/>
        </p:nvSpPr>
        <p:spPr>
          <a:xfrm>
            <a:off x="7956376" y="6126395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smtClean="0"/>
              <a:t>10 раз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err="1" smtClean="0"/>
              <a:t>Псевдостроки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/>
              <a:t>Так как триггеры можно связать с двумя моментами времени (до и после), то они позволяют использовать данные относящиеся к этим моментам</a:t>
            </a:r>
          </a:p>
          <a:p>
            <a:pPr algn="just"/>
            <a:endParaRPr lang="ru-RU" sz="2400" smtClean="0"/>
          </a:p>
          <a:p>
            <a:pPr algn="just"/>
            <a:r>
              <a:rPr lang="ru-RU" sz="2400" smtClean="0"/>
              <a:t>Для этого применяют </a:t>
            </a:r>
            <a:r>
              <a:rPr lang="ru-RU" sz="2400" b="1" smtClean="0"/>
              <a:t>псевдостроки</a:t>
            </a:r>
            <a:r>
              <a:rPr lang="en-US" sz="2400" smtClean="0"/>
              <a:t>,</a:t>
            </a:r>
            <a:r>
              <a:rPr lang="ru-RU" sz="2400" smtClean="0"/>
              <a:t> которые</a:t>
            </a:r>
            <a:r>
              <a:rPr lang="en-US" sz="2400" smtClean="0"/>
              <a:t> </a:t>
            </a:r>
            <a:r>
              <a:rPr lang="ru-RU" sz="2400" smtClean="0"/>
              <a:t> используются в строковых триггерах для обращения к данным строки, на которую воздействует оператор изменения</a:t>
            </a:r>
          </a:p>
          <a:p>
            <a:pPr algn="just">
              <a:spcBef>
                <a:spcPts val="1200"/>
              </a:spcBef>
            </a:pPr>
            <a:r>
              <a:rPr lang="ru-RU" sz="2400" b="1" smtClean="0"/>
              <a:t>2 вида псевдострок</a:t>
            </a:r>
            <a:r>
              <a:rPr lang="ru-RU" sz="2400" b="1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182563" algn="just"/>
            <a:r>
              <a:rPr lang="en-US" sz="2400" b="1" smtClean="0">
                <a:solidFill>
                  <a:srgbClr val="7030A0"/>
                </a:solidFill>
              </a:rPr>
              <a:t>old</a:t>
            </a:r>
            <a:r>
              <a:rPr lang="en-US" sz="2400" smtClean="0"/>
              <a:t> – </a:t>
            </a:r>
            <a:r>
              <a:rPr lang="ru-RU" sz="2400" smtClean="0"/>
              <a:t>содержит прежние значения изменяемой строки</a:t>
            </a:r>
          </a:p>
          <a:p>
            <a:pPr marL="182563" algn="just"/>
            <a:r>
              <a:rPr lang="en-US" sz="2400" b="1" smtClean="0">
                <a:solidFill>
                  <a:srgbClr val="7030A0"/>
                </a:solidFill>
              </a:rPr>
              <a:t>new</a:t>
            </a:r>
            <a:r>
              <a:rPr lang="en-US" sz="2400" smtClean="0"/>
              <a:t> – </a:t>
            </a:r>
            <a:r>
              <a:rPr lang="ru-RU" sz="2400" smtClean="0"/>
              <a:t>содержат новые значения изменяемой строки</a:t>
            </a:r>
            <a:endParaRPr lang="en-US" sz="2400" smtClean="0"/>
          </a:p>
          <a:p>
            <a:pPr algn="just"/>
            <a:endParaRPr lang="en-US" sz="2400" smtClean="0"/>
          </a:p>
          <a:p>
            <a:pPr algn="just"/>
            <a:r>
              <a:rPr lang="ru-RU" sz="2400" b="1" i="1" smtClean="0"/>
              <a:t>       Примечание.</a:t>
            </a:r>
            <a:r>
              <a:rPr lang="ru-RU" sz="2400" smtClean="0"/>
              <a:t> Псевдостроку </a:t>
            </a:r>
            <a:r>
              <a:rPr lang="en-US" sz="2400" smtClean="0"/>
              <a:t>old</a:t>
            </a:r>
            <a:r>
              <a:rPr lang="ru-RU" sz="2400" smtClean="0"/>
              <a:t> (колонки строки)</a:t>
            </a:r>
          </a:p>
          <a:p>
            <a:pPr algn="just"/>
            <a:r>
              <a:rPr lang="ru-RU" sz="2400" smtClean="0"/>
              <a:t>                            </a:t>
            </a:r>
            <a:r>
              <a:rPr lang="en-US" sz="2400" smtClean="0"/>
              <a:t> </a:t>
            </a:r>
            <a:r>
              <a:rPr lang="ru-RU" sz="2400" smtClean="0"/>
              <a:t>изменять нельзя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Правила использования псевдострок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24744"/>
            <a:ext cx="7776864" cy="205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413" y="3140967"/>
            <a:ext cx="7808035" cy="1422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2739" y="4509120"/>
            <a:ext cx="7852940" cy="1082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Создание  триггера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Триггер создается оператором </a:t>
            </a:r>
            <a:r>
              <a:rPr lang="en-US" sz="2400" b="1" dirty="0" smtClean="0"/>
              <a:t>CREATE</a:t>
            </a:r>
          </a:p>
          <a:p>
            <a:pPr marL="35242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[OR REPLACE] TRIGGER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имя триггера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24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время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24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событие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[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OR 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событие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.]</a:t>
            </a:r>
            <a:endParaRPr lang="ru-RU" sz="24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таблицы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[FOR [EACH] {ROW | STATEMENT}]</a:t>
            </a:r>
            <a:endParaRPr lang="ru-RU" sz="24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[WHEN (&lt;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условие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)]</a:t>
            </a:r>
            <a:r>
              <a:rPr lang="en-US" sz="2400" dirty="0"/>
              <a:t> </a:t>
            </a:r>
            <a:endParaRPr lang="en-US" sz="2400" dirty="0" smtClean="0"/>
          </a:p>
          <a:p>
            <a:pPr marL="352425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FUNCTION  </a:t>
            </a:r>
            <a:r>
              <a:rPr lang="ru-RU" sz="2400" b="1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имя_триггерной</a:t>
            </a: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4293096"/>
            <a:ext cx="8712968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время</a:t>
            </a:r>
            <a:r>
              <a:rPr lang="ru-RU" sz="2200" dirty="0" smtClean="0"/>
              <a:t> –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BEFORE</a:t>
            </a:r>
            <a:r>
              <a:rPr lang="en-US" sz="2200" dirty="0" smtClean="0"/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200" dirty="0" smtClean="0"/>
              <a:t> 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AFTER | INSTEAD OF</a:t>
            </a:r>
          </a:p>
          <a:p>
            <a:pPr>
              <a:spcBef>
                <a:spcPts val="600"/>
              </a:spcBef>
            </a:pPr>
            <a:r>
              <a:rPr lang="ru-RU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событие</a:t>
            </a:r>
            <a:r>
              <a:rPr lang="ru-RU" sz="2200" dirty="0" smtClean="0"/>
              <a:t> -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sz="2200" dirty="0" smtClean="0"/>
              <a:t> |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sz="2200" dirty="0" smtClean="0"/>
              <a:t> |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UPDATE</a:t>
            </a:r>
            <a:r>
              <a:rPr lang="en-US" sz="2200" dirty="0" smtClean="0"/>
              <a:t> | </a:t>
            </a:r>
            <a:endParaRPr lang="ru-RU" sz="2200" dirty="0" smtClean="0"/>
          </a:p>
          <a:p>
            <a:r>
              <a:rPr lang="ru-RU" sz="2200" dirty="0" smtClean="0"/>
              <a:t>                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UPDATE OF </a:t>
            </a:r>
            <a:r>
              <a:rPr lang="en-US" sz="2200" b="1" dirty="0" smtClean="0"/>
              <a:t>&lt;</a:t>
            </a:r>
            <a:r>
              <a:rPr lang="en-US" sz="2200" b="1" dirty="0" err="1" smtClean="0"/>
              <a:t>список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колонок</a:t>
            </a:r>
            <a:r>
              <a:rPr lang="en-US" sz="2200" b="1" dirty="0" smtClean="0"/>
              <a:t>&gt;</a:t>
            </a:r>
            <a:r>
              <a:rPr lang="ru-RU" sz="2200" b="1" dirty="0" smtClean="0"/>
              <a:t>  </a:t>
            </a:r>
            <a:r>
              <a:rPr lang="en-US" sz="2200" b="1" dirty="0" smtClean="0"/>
              <a:t>|  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7096" y="5633372"/>
            <a:ext cx="8245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5488" indent="-725488"/>
            <a:r>
              <a:rPr lang="ru-RU" sz="2200" dirty="0"/>
              <a:t>Пользователь, создающий триггер должен иметь </a:t>
            </a:r>
            <a:r>
              <a:rPr lang="ru-RU" sz="2200" dirty="0" smtClean="0"/>
              <a:t>прав</a:t>
            </a:r>
            <a:r>
              <a:rPr lang="ru-RU" sz="2200" dirty="0"/>
              <a:t>о</a:t>
            </a:r>
            <a:r>
              <a:rPr lang="ru-RU" sz="2200" dirty="0" smtClean="0"/>
              <a:t> </a:t>
            </a:r>
            <a:r>
              <a:rPr lang="en-US" sz="2200" dirty="0" smtClean="0"/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TRIGGER</a:t>
            </a:r>
            <a:r>
              <a:rPr lang="ru-RU" sz="2200" dirty="0"/>
              <a:t> и право 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ru-RU" sz="2200" dirty="0"/>
              <a:t> на триггерную </a:t>
            </a:r>
            <a:r>
              <a:rPr lang="ru-RU" sz="2200" dirty="0" smtClean="0"/>
              <a:t>функцию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Порядок запуска триггеров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750590" cy="5098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Порядок выполнения триггеров (если их несколько  для одного объекта (таблицы или представления)</a:t>
            </a:r>
          </a:p>
          <a:p>
            <a:pPr marL="898525" indent="-457200" algn="just">
              <a:spcBef>
                <a:spcPts val="200"/>
              </a:spcBef>
              <a:buFont typeface="+mj-lt"/>
              <a:buAutoNum type="arabicParenR"/>
            </a:pPr>
            <a:r>
              <a:rPr lang="ru-RU" sz="2400" dirty="0" smtClean="0"/>
              <a:t>операторный </a:t>
            </a:r>
            <a:r>
              <a:rPr lang="en-US" sz="2400" dirty="0" smtClean="0"/>
              <a:t>BEFORE</a:t>
            </a:r>
          </a:p>
          <a:p>
            <a:pPr marL="898525" indent="-457200" algn="just">
              <a:spcBef>
                <a:spcPts val="200"/>
              </a:spcBef>
              <a:buFont typeface="+mj-lt"/>
              <a:buAutoNum type="arabicParenR"/>
              <a:tabLst>
                <a:tab pos="4210050" algn="l"/>
              </a:tabLst>
            </a:pPr>
            <a:r>
              <a:rPr lang="ru-RU" sz="2400" dirty="0"/>
              <a:t>с</a:t>
            </a:r>
            <a:r>
              <a:rPr lang="ru-RU" sz="2400" dirty="0" smtClean="0"/>
              <a:t>троковый </a:t>
            </a:r>
            <a:r>
              <a:rPr lang="en-US" sz="2400" dirty="0" smtClean="0"/>
              <a:t>BEFORE</a:t>
            </a:r>
            <a:r>
              <a:rPr lang="ru-RU" sz="2400" dirty="0" smtClean="0"/>
              <a:t> для каждой изменяемой строки в операторе</a:t>
            </a:r>
            <a:endParaRPr lang="en-US" sz="2400" dirty="0" smtClean="0"/>
          </a:p>
          <a:p>
            <a:pPr marL="898525" indent="-457200" algn="just">
              <a:spcBef>
                <a:spcPts val="200"/>
              </a:spcBef>
              <a:buFont typeface="+mj-lt"/>
              <a:buAutoNum type="arabicParenR"/>
              <a:tabLst>
                <a:tab pos="4210050" algn="l"/>
              </a:tabLst>
            </a:pPr>
            <a:r>
              <a:rPr lang="ru-RU" sz="2400" dirty="0"/>
              <a:t>в</a:t>
            </a:r>
            <a:r>
              <a:rPr lang="ru-RU" sz="2400" dirty="0" smtClean="0"/>
              <a:t>ыполнение оператора</a:t>
            </a:r>
          </a:p>
          <a:p>
            <a:pPr marL="898525" indent="-457200" algn="just">
              <a:spcBef>
                <a:spcPts val="200"/>
              </a:spcBef>
              <a:buFont typeface="+mj-lt"/>
              <a:buAutoNum type="arabicParenR"/>
              <a:tabLst>
                <a:tab pos="4210050" algn="l"/>
              </a:tabLst>
            </a:pPr>
            <a:r>
              <a:rPr lang="ru-RU" sz="2400" dirty="0"/>
              <a:t>с</a:t>
            </a:r>
            <a:r>
              <a:rPr lang="ru-RU" sz="2400" dirty="0" smtClean="0"/>
              <a:t>троковый </a:t>
            </a:r>
            <a:r>
              <a:rPr lang="en-US" sz="2400" dirty="0" smtClean="0"/>
              <a:t>AFTER</a:t>
            </a:r>
            <a:r>
              <a:rPr lang="ru-RU" sz="2400" dirty="0" smtClean="0"/>
              <a:t> </a:t>
            </a:r>
            <a:r>
              <a:rPr lang="ru-RU" sz="2400" dirty="0"/>
              <a:t>для каждой изменяемой строки в операторе</a:t>
            </a:r>
          </a:p>
          <a:p>
            <a:pPr marL="898525" indent="-457200" algn="just">
              <a:spcBef>
                <a:spcPts val="200"/>
              </a:spcBef>
              <a:buFont typeface="+mj-lt"/>
              <a:buAutoNum type="arabicParenR"/>
              <a:tabLst>
                <a:tab pos="4210050" algn="l"/>
              </a:tabLst>
            </a:pPr>
            <a:r>
              <a:rPr lang="ru-RU" sz="2400" dirty="0"/>
              <a:t>о</a:t>
            </a:r>
            <a:r>
              <a:rPr lang="ru-RU" sz="2400" dirty="0" smtClean="0"/>
              <a:t>ператорный </a:t>
            </a:r>
            <a:r>
              <a:rPr lang="en-US" sz="2400" dirty="0" smtClean="0"/>
              <a:t>AFTER</a:t>
            </a:r>
            <a:r>
              <a:rPr lang="ru-RU" sz="2400" dirty="0" smtClean="0"/>
              <a:t>.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Если </a:t>
            </a:r>
            <a:r>
              <a:rPr lang="ru-RU" sz="2400" dirty="0"/>
              <a:t>для одного события определено несколько триггеров одного </a:t>
            </a:r>
            <a:r>
              <a:rPr lang="ru-RU" sz="2400" dirty="0" smtClean="0"/>
              <a:t>типа (по моменту времени и уровню), </a:t>
            </a:r>
            <a:r>
              <a:rPr lang="ru-RU" sz="2400" dirty="0"/>
              <a:t>они будут </a:t>
            </a:r>
            <a:r>
              <a:rPr lang="ru-RU" sz="2400" dirty="0" smtClean="0"/>
              <a:t>запускаются </a:t>
            </a:r>
            <a:r>
              <a:rPr lang="ru-RU" sz="2400" dirty="0"/>
              <a:t>в алфавитном порядке их </a:t>
            </a:r>
            <a:r>
              <a:rPr lang="ru-RU" sz="2400" dirty="0" smtClean="0"/>
              <a:t>имён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Поведение  триггера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16608"/>
            <a:ext cx="875059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arenR"/>
            </a:pPr>
            <a:r>
              <a:rPr lang="ru-RU" sz="2400" dirty="0" smtClean="0">
                <a:latin typeface="+mj-lt"/>
                <a:cs typeface="Courier New" pitchFamily="49" charset="0"/>
              </a:rPr>
              <a:t>Триггер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BEFORE UPDATE</a:t>
            </a:r>
            <a:r>
              <a:rPr lang="ru-RU" sz="2400" dirty="0" smtClean="0"/>
              <a:t> активизируется всегда при выполнении оператора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sz="2400" dirty="0" smtClean="0"/>
              <a:t>, даже если новые значения (колонки </a:t>
            </a:r>
            <a:r>
              <a:rPr lang="ru-RU" sz="2400" dirty="0" err="1" smtClean="0"/>
              <a:t>псевдостроки</a:t>
            </a:r>
            <a:r>
              <a:rPr lang="ru-RU" sz="2400" dirty="0" smtClean="0"/>
              <a:t> </a:t>
            </a:r>
            <a:r>
              <a:rPr lang="en-US" sz="2400" b="1" dirty="0" smtClean="0">
                <a:solidFill>
                  <a:srgbClr val="7030A0"/>
                </a:solidFill>
              </a:rPr>
              <a:t>new</a:t>
            </a:r>
            <a:r>
              <a:rPr lang="ru-RU" sz="2400" dirty="0" smtClean="0"/>
              <a:t>) не отличаются от прежних (колонки </a:t>
            </a:r>
            <a:r>
              <a:rPr lang="ru-RU" sz="2400" dirty="0" err="1" smtClean="0"/>
              <a:t>псевдостроки</a:t>
            </a:r>
            <a:r>
              <a:rPr lang="ru-RU" sz="2400" dirty="0" smtClean="0"/>
              <a:t> </a:t>
            </a:r>
            <a:r>
              <a:rPr lang="en-US" sz="2400" b="1" dirty="0" smtClean="0">
                <a:solidFill>
                  <a:srgbClr val="7030A0"/>
                </a:solidFill>
              </a:rPr>
              <a:t>old</a:t>
            </a:r>
            <a:r>
              <a:rPr lang="ru-RU" sz="2400" dirty="0" smtClean="0"/>
              <a:t>). </a:t>
            </a:r>
          </a:p>
          <a:p>
            <a:pPr marL="457200" indent="-12700" algn="just">
              <a:spcBef>
                <a:spcPts val="1200"/>
              </a:spcBef>
            </a:pPr>
            <a:r>
              <a:rPr lang="ru-RU" sz="2400" dirty="0" smtClean="0">
                <a:latin typeface="+mj-lt"/>
                <a:cs typeface="Courier New" pitchFamily="49" charset="0"/>
              </a:rPr>
              <a:t>Триггер 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AFTER UPDATE</a:t>
            </a:r>
            <a:r>
              <a:rPr lang="ru-RU" sz="2400" dirty="0" smtClean="0"/>
              <a:t> активизируется только при действительных изменениях строк, т.е., если новые значения (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u-RU" sz="2400" dirty="0" smtClean="0"/>
              <a:t>)  отличаются от прежних (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</a:t>
            </a:r>
            <a:r>
              <a:rPr lang="ru-RU" sz="2400" dirty="0" smtClean="0"/>
              <a:t>)</a:t>
            </a:r>
          </a:p>
          <a:p>
            <a:pPr algn="just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8057183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Поведение  триггера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16608"/>
            <a:ext cx="864096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arenR" startAt="2"/>
            </a:pPr>
            <a:r>
              <a:rPr lang="ru-RU" sz="2400" dirty="0" smtClean="0"/>
              <a:t>Триггеры </a:t>
            </a:r>
            <a:r>
              <a:rPr lang="en-US" sz="2400" dirty="0" smtClean="0"/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en-US" sz="2400" dirty="0" smtClean="0"/>
              <a:t> </a:t>
            </a:r>
            <a:r>
              <a:rPr lang="ru-RU" sz="2400" dirty="0" smtClean="0"/>
              <a:t> и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 OF</a:t>
            </a:r>
            <a:r>
              <a:rPr lang="en-US" sz="2400" dirty="0" smtClean="0"/>
              <a:t> </a:t>
            </a:r>
            <a:r>
              <a:rPr lang="ru-RU" sz="2400" dirty="0" smtClean="0"/>
              <a:t>могут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отменить операцию (при нарушении ограничений бизнес-логики) 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изменить значения колонок добавляемой или изменяемой строки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400" dirty="0" smtClean="0"/>
              <a:t>Триггер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 OF</a:t>
            </a:r>
            <a:r>
              <a:rPr lang="ru-RU" sz="2400" dirty="0" smtClean="0"/>
              <a:t> должен </a:t>
            </a:r>
            <a:r>
              <a:rPr lang="ru-RU" sz="2400" dirty="0"/>
              <a:t>быть </a:t>
            </a:r>
            <a:r>
              <a:rPr lang="ru-RU" sz="2400" dirty="0" smtClean="0"/>
              <a:t>строковым    (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ru-RU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ru-RU" sz="2400" dirty="0" smtClean="0"/>
              <a:t>)</a:t>
            </a:r>
            <a:r>
              <a:rPr lang="ru-RU" sz="2400" dirty="0"/>
              <a:t> и </a:t>
            </a:r>
            <a:r>
              <a:rPr lang="ru-RU" sz="2400" dirty="0" smtClean="0"/>
              <a:t>может </a:t>
            </a:r>
            <a:r>
              <a:rPr lang="ru-RU" sz="2400" dirty="0"/>
              <a:t>быть </a:t>
            </a:r>
            <a:r>
              <a:rPr lang="ru-RU" sz="2400" dirty="0" smtClean="0"/>
              <a:t>определен </a:t>
            </a:r>
            <a:r>
              <a:rPr lang="ru-RU" sz="2400" dirty="0"/>
              <a:t>только для </a:t>
            </a:r>
            <a:r>
              <a:rPr lang="ru-RU" sz="2400" dirty="0" smtClean="0"/>
              <a:t>представлений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400" dirty="0" smtClean="0"/>
              <a:t>Триггеры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и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для представлений могут быть только строковыми</a:t>
            </a:r>
            <a:endParaRPr lang="ru-RU" sz="2400" dirty="0" smtClean="0">
              <a:latin typeface="+mj-lt"/>
            </a:endParaRPr>
          </a:p>
          <a:p>
            <a:pPr algn="just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2113112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Использование триггеров в таблицах и представлениях</a:t>
            </a:r>
            <a:endParaRPr lang="ru-RU" sz="32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239250"/>
              </p:ext>
            </p:extLst>
          </p:nvPr>
        </p:nvGraphicFramePr>
        <p:xfrm>
          <a:off x="72007" y="1556792"/>
          <a:ext cx="896448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673"/>
                <a:gridCol w="2689347"/>
                <a:gridCol w="2390530"/>
                <a:gridCol w="2539939"/>
              </a:tblGrid>
              <a:tr h="460225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Момент времени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Событие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 уровне строк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Операторный</a:t>
                      </a:r>
                      <a:endParaRPr lang="ru-RU" dirty="0"/>
                    </a:p>
                  </a:txBody>
                  <a:tcPr/>
                </a:tc>
              </a:tr>
              <a:tr h="547887">
                <a:tc rowSpan="2">
                  <a:txBody>
                    <a:bodyPr/>
                    <a:lstStyle/>
                    <a:p>
                      <a:r>
                        <a:rPr lang="en-US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BEFORE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INSERT,UPDATE, DELETE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Таблицы, представления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TRUNCATE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996970"/>
              </p:ext>
            </p:extLst>
          </p:nvPr>
        </p:nvGraphicFramePr>
        <p:xfrm>
          <a:off x="72007" y="3464416"/>
          <a:ext cx="896448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673"/>
                <a:gridCol w="2689347"/>
                <a:gridCol w="2390530"/>
                <a:gridCol w="2539939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AFTER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INSERT,UPDATE, DELETE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Таблицы, представления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TRUNCATE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Таблицы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43524"/>
              </p:ext>
            </p:extLst>
          </p:nvPr>
        </p:nvGraphicFramePr>
        <p:xfrm>
          <a:off x="72007" y="4688552"/>
          <a:ext cx="896448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673"/>
                <a:gridCol w="2689347"/>
                <a:gridCol w="2390530"/>
                <a:gridCol w="2539939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200" b="1" spc="-1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INSTEAD OF</a:t>
                      </a:r>
                      <a:endParaRPr lang="ru-RU" sz="2200" b="1" spc="-1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INSERT,UPDATE, DELETE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Представления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TRUNCATE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ru-RU" sz="2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1541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Логическое условие </a:t>
            </a:r>
            <a:r>
              <a:rPr lang="en-US" sz="3600" b="1" dirty="0" smtClean="0"/>
              <a:t>WHEN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16608"/>
            <a:ext cx="864096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</a:t>
            </a:r>
            <a:r>
              <a:rPr lang="ru-RU" sz="2400" dirty="0"/>
              <a:t>определении триггера можно указать логическое условие WHEN, которое </a:t>
            </a:r>
            <a:r>
              <a:rPr lang="ru-RU" sz="2400" dirty="0" smtClean="0"/>
              <a:t>определяет</a:t>
            </a:r>
            <a:r>
              <a:rPr lang="ru-RU" sz="2400" dirty="0"/>
              <a:t>, вызывать триггер или </a:t>
            </a:r>
            <a:r>
              <a:rPr lang="ru-RU" sz="2400" dirty="0" smtClean="0"/>
              <a:t>нет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Обычно условие используют в триггерах </a:t>
            </a:r>
            <a:r>
              <a:rPr lang="en-US" sz="2400" dirty="0" smtClean="0"/>
              <a:t>BEFORE </a:t>
            </a:r>
            <a:r>
              <a:rPr lang="ru-RU" sz="2400" dirty="0" smtClean="0"/>
              <a:t>для проверки бизнес-правил на основе старых (</a:t>
            </a:r>
            <a:r>
              <a:rPr lang="en-US" sz="2400" dirty="0" smtClean="0"/>
              <a:t>old)</a:t>
            </a:r>
            <a:r>
              <a:rPr lang="ru-RU" sz="2400" dirty="0" smtClean="0"/>
              <a:t> </a:t>
            </a:r>
            <a:r>
              <a:rPr lang="ru-RU" sz="2400" dirty="0"/>
              <a:t>и/или </a:t>
            </a:r>
            <a:r>
              <a:rPr lang="ru-RU" sz="2400" dirty="0" smtClean="0"/>
              <a:t>новых </a:t>
            </a:r>
            <a:r>
              <a:rPr lang="en-US" sz="2400" dirty="0" smtClean="0"/>
              <a:t>(new) </a:t>
            </a:r>
            <a:r>
              <a:rPr lang="ru-RU" sz="2400" dirty="0" smtClean="0"/>
              <a:t>значения </a:t>
            </a:r>
            <a:r>
              <a:rPr lang="ru-RU" sz="2400" dirty="0"/>
              <a:t>столбцов в строке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триггерах </a:t>
            </a:r>
            <a:r>
              <a:rPr lang="en-US" sz="2400" dirty="0" smtClean="0"/>
              <a:t>AFTER </a:t>
            </a:r>
            <a:r>
              <a:rPr lang="ru-RU" sz="2400" dirty="0" smtClean="0"/>
              <a:t>условие используется редко, т.к. нельзя ссылаться на старые и новые значения изменяемых строк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529492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lnSpc>
                <a:spcPts val="3500"/>
              </a:lnSpc>
              <a:buNone/>
              <a:defRPr/>
            </a:pPr>
            <a:r>
              <a:rPr lang="ru-RU" sz="3600" b="1" dirty="0" smtClean="0"/>
              <a:t>Использование триггеров           </a:t>
            </a:r>
            <a:r>
              <a:rPr lang="en-US" sz="3600" b="1" dirty="0" smtClean="0"/>
              <a:t>BEFORE </a:t>
            </a:r>
            <a:r>
              <a:rPr lang="ru-RU" sz="3600" b="1" dirty="0" smtClean="0"/>
              <a:t>и </a:t>
            </a:r>
            <a:r>
              <a:rPr lang="en-US" sz="3600" b="1" dirty="0" smtClean="0"/>
              <a:t>AFTER</a:t>
            </a:r>
            <a:endParaRPr lang="ru-RU" sz="3600" b="1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434256"/>
            <a:ext cx="871296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Триггеры BEFORE</a:t>
            </a:r>
            <a:r>
              <a:rPr lang="ru-RU" sz="2400" dirty="0"/>
              <a:t> </a:t>
            </a:r>
            <a:r>
              <a:rPr lang="ru-RU" sz="2400" dirty="0" smtClean="0"/>
              <a:t>на </a:t>
            </a:r>
            <a:r>
              <a:rPr lang="ru-RU" sz="2400" dirty="0"/>
              <a:t>уровне </a:t>
            </a:r>
            <a:r>
              <a:rPr lang="ru-RU" sz="2400" dirty="0" smtClean="0"/>
              <a:t>строк, как правило, </a:t>
            </a:r>
            <a:r>
              <a:rPr lang="ru-RU" sz="2400" dirty="0"/>
              <a:t>используются для проверки или изменения данных, которые будут вставлены или обновлены. </a:t>
            </a:r>
            <a:endParaRPr lang="ru-RU" sz="2400" dirty="0" smtClean="0"/>
          </a:p>
          <a:p>
            <a:pPr marL="536575" algn="just"/>
            <a:r>
              <a:rPr lang="ru-RU" sz="2400" dirty="0" smtClean="0"/>
              <a:t>Например</a:t>
            </a:r>
          </a:p>
          <a:p>
            <a:pPr marL="9906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для </a:t>
            </a:r>
            <a:r>
              <a:rPr lang="ru-RU" sz="2400" dirty="0"/>
              <a:t>вставки </a:t>
            </a:r>
            <a:r>
              <a:rPr lang="ru-RU" sz="2400" dirty="0" smtClean="0"/>
              <a:t>текущей даты</a:t>
            </a:r>
          </a:p>
          <a:p>
            <a:pPr marL="9906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для </a:t>
            </a:r>
            <a:r>
              <a:rPr lang="ru-RU" sz="2400" dirty="0"/>
              <a:t>проверки согласованности двух элементов </a:t>
            </a:r>
            <a:r>
              <a:rPr lang="ru-RU" sz="2400" dirty="0" smtClean="0"/>
              <a:t>строки (дата окончания </a:t>
            </a:r>
            <a:r>
              <a:rPr lang="en-US" sz="2400" dirty="0" smtClean="0"/>
              <a:t>&gt;= </a:t>
            </a:r>
            <a:r>
              <a:rPr lang="ru-RU" sz="2400" dirty="0" smtClean="0"/>
              <a:t>даты начала действия договора)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Триггеры</a:t>
            </a:r>
            <a:r>
              <a:rPr lang="ru-RU" sz="2400" dirty="0"/>
              <a:t> AFTER на уровне строк чаще всего используются для распространения обновлений на другие таблицы или для проверки согласованности с другими </a:t>
            </a:r>
            <a:r>
              <a:rPr lang="ru-RU" sz="2400" dirty="0" smtClean="0"/>
              <a:t>таблицами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Например, запись в таблицу аудита</a:t>
            </a:r>
          </a:p>
        </p:txBody>
      </p:sp>
    </p:spTree>
    <p:extLst>
      <p:ext uri="{BB962C8B-B14F-4D97-AF65-F5344CB8AC3E}">
        <p14:creationId xmlns:p14="http://schemas.microsoft.com/office/powerpoint/2010/main" val="1898088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Использование триггеров </a:t>
            </a:r>
            <a:r>
              <a:rPr lang="en-US" sz="3600" b="1" dirty="0" smtClean="0"/>
              <a:t>INSTEAD OF</a:t>
            </a:r>
            <a:endParaRPr lang="ru-RU" sz="3600" b="1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499300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Триггеры INSTEAD </a:t>
            </a:r>
            <a:r>
              <a:rPr lang="ru-RU" sz="2400" dirty="0"/>
              <a:t>OF выполняются вместо операции </a:t>
            </a:r>
            <a:r>
              <a:rPr lang="ru-RU" sz="2400" dirty="0" smtClean="0"/>
              <a:t> добавления, изменения или удаления </a:t>
            </a:r>
            <a:r>
              <a:rPr lang="ru-RU" sz="2400" dirty="0"/>
              <a:t>строк в </a:t>
            </a:r>
            <a:r>
              <a:rPr lang="ru-RU" sz="2400" dirty="0" smtClean="0"/>
              <a:t>представлении и используются для обновления данных </a:t>
            </a:r>
            <a:r>
              <a:rPr lang="ru-RU" sz="2400" dirty="0"/>
              <a:t>в </a:t>
            </a:r>
            <a:r>
              <a:rPr lang="ru-RU" sz="2400" dirty="0" smtClean="0"/>
              <a:t>базовых таблицах </a:t>
            </a:r>
            <a:r>
              <a:rPr lang="ru-RU" sz="2400" dirty="0"/>
              <a:t>через </a:t>
            </a:r>
            <a:r>
              <a:rPr lang="ru-RU" sz="2400" dirty="0" smtClean="0"/>
              <a:t>представление</a:t>
            </a:r>
          </a:p>
        </p:txBody>
      </p:sp>
    </p:spTree>
    <p:extLst>
      <p:ext uri="{BB962C8B-B14F-4D97-AF65-F5344CB8AC3E}">
        <p14:creationId xmlns:p14="http://schemas.microsoft.com/office/powerpoint/2010/main" val="83598890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Триггерная функция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541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Триггерная функция определяет алгоритм         (бизнес-логику) работы триггера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У </a:t>
            </a:r>
            <a:r>
              <a:rPr lang="ru-RU" sz="2200" dirty="0"/>
              <a:t>функции не должно быть аргументов, </a:t>
            </a:r>
            <a:endParaRPr lang="ru-RU" sz="22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Возвращаемый тип -</a:t>
            </a:r>
            <a:r>
              <a:rPr lang="ru-RU" sz="2200" dirty="0"/>
              <a:t> 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lang="ru-RU" sz="2200" dirty="0"/>
              <a:t> </a:t>
            </a:r>
            <a:endParaRPr lang="ru-RU" sz="22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Используется только расширенный </a:t>
            </a:r>
            <a:r>
              <a:rPr lang="en-US" sz="2200" dirty="0" smtClean="0"/>
              <a:t>SQL (PL/</a:t>
            </a:r>
            <a:r>
              <a:rPr lang="en-US" sz="2200" dirty="0" err="1" smtClean="0"/>
              <a:t>pgSQL</a:t>
            </a:r>
            <a:r>
              <a:rPr lang="en-US" sz="2200" dirty="0" smtClean="0"/>
              <a:t>)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30624" y="3775680"/>
            <a:ext cx="7281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логика функции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END;$$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325536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Создание функции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1059182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lnSpc>
                <a:spcPts val="3500"/>
              </a:lnSpc>
              <a:buNone/>
              <a:defRPr/>
            </a:pPr>
            <a:r>
              <a:rPr lang="ru-RU" sz="3600" b="1" dirty="0" smtClean="0"/>
              <a:t>Возвращаемое значение триггерной функцией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1424965"/>
            <a:ext cx="889248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Триггерные </a:t>
            </a:r>
            <a:r>
              <a:rPr lang="ru-RU" sz="2400" dirty="0"/>
              <a:t>функции, вызываемые триггерами </a:t>
            </a:r>
            <a:r>
              <a:rPr lang="ru-RU" sz="2400" dirty="0" smtClean="0"/>
              <a:t>уровня </a:t>
            </a:r>
            <a:r>
              <a:rPr lang="ru-RU" sz="2400" dirty="0"/>
              <a:t>оператора, всегда должны возвращать </a:t>
            </a:r>
            <a:r>
              <a:rPr lang="ru-RU" sz="2400" dirty="0" smtClean="0"/>
              <a:t>NULL. Любые другие значения игнорируются</a:t>
            </a:r>
          </a:p>
          <a:p>
            <a:pPr marL="361950" indent="-3619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Триггерные </a:t>
            </a:r>
            <a:r>
              <a:rPr lang="ru-RU" sz="2400" dirty="0"/>
              <a:t>функции, вызываемые триггерами </a:t>
            </a:r>
            <a:r>
              <a:rPr lang="ru-RU" sz="2400" dirty="0" smtClean="0"/>
              <a:t>уровня строки для момента </a:t>
            </a:r>
            <a:r>
              <a:rPr lang="en-US" sz="2400" dirty="0" smtClean="0"/>
              <a:t>AFTER </a:t>
            </a:r>
            <a:r>
              <a:rPr lang="ru-RU" sz="2400" dirty="0" smtClean="0"/>
              <a:t>должны возвращать </a:t>
            </a:r>
            <a:r>
              <a:rPr lang="ru-RU" sz="2400" dirty="0"/>
              <a:t>NULL </a:t>
            </a:r>
            <a:endParaRPr lang="ru-RU" sz="2400" dirty="0" smtClean="0"/>
          </a:p>
          <a:p>
            <a:pPr marL="361950" indent="-3619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Триггерные функции, вызываемые триггерами уровня строки для момента </a:t>
            </a:r>
            <a:r>
              <a:rPr lang="en-US" sz="2400" dirty="0" smtClean="0"/>
              <a:t>BEFORE </a:t>
            </a:r>
            <a:r>
              <a:rPr lang="ru-RU" sz="2400" dirty="0" smtClean="0"/>
              <a:t>могут </a:t>
            </a:r>
            <a:r>
              <a:rPr lang="ru-RU" sz="2400" dirty="0"/>
              <a:t>возвращать </a:t>
            </a:r>
            <a:r>
              <a:rPr lang="en-US" sz="2400" dirty="0" smtClean="0"/>
              <a:t>:</a:t>
            </a:r>
          </a:p>
          <a:p>
            <a:pPr marL="993775" indent="-268288" algn="just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NULL - для отмены оператора изменения данных, вызвавший триггер </a:t>
            </a:r>
            <a:endParaRPr lang="ru-RU" sz="2400" dirty="0"/>
          </a:p>
          <a:p>
            <a:pPr marL="989013" indent="-26352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sz="2400" dirty="0"/>
              <a:t>строку </a:t>
            </a:r>
            <a:r>
              <a:rPr lang="en-US" sz="2400" dirty="0" smtClean="0"/>
              <a:t>NEW</a:t>
            </a:r>
            <a:r>
              <a:rPr lang="ru-RU" sz="2400" dirty="0" smtClean="0"/>
              <a:t> - для триггеров событий </a:t>
            </a:r>
            <a:r>
              <a:rPr lang="en-US" sz="2400" dirty="0" smtClean="0"/>
              <a:t>INSERT</a:t>
            </a:r>
            <a:r>
              <a:rPr lang="ru-RU" sz="2400" dirty="0"/>
              <a:t>, </a:t>
            </a:r>
            <a:r>
              <a:rPr lang="en-US" sz="2400" dirty="0" smtClean="0"/>
              <a:t>UPDATE</a:t>
            </a:r>
            <a:endParaRPr lang="ru-RU" sz="2400" dirty="0" smtClean="0"/>
          </a:p>
          <a:p>
            <a:pPr marL="989013" indent="-26352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строку </a:t>
            </a:r>
            <a:r>
              <a:rPr lang="en-US" sz="2400" dirty="0"/>
              <a:t>OLD </a:t>
            </a:r>
            <a:r>
              <a:rPr lang="ru-RU" sz="2400" dirty="0" smtClean="0"/>
              <a:t>- для </a:t>
            </a:r>
            <a:r>
              <a:rPr lang="ru-RU" sz="2400" dirty="0"/>
              <a:t>триггеров </a:t>
            </a:r>
            <a:r>
              <a:rPr lang="ru-RU" sz="2400" dirty="0" smtClean="0"/>
              <a:t>события DELETE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655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Возвращаемое значение триггерной функцией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615440"/>
            <a:ext cx="867645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Для триггеров</a:t>
            </a:r>
            <a:r>
              <a:rPr lang="ru-RU" sz="2400" b="1" dirty="0"/>
              <a:t> INSTEAD OF</a:t>
            </a:r>
            <a:r>
              <a:rPr lang="ru-RU" sz="2400" dirty="0"/>
              <a:t> </a:t>
            </a:r>
            <a:r>
              <a:rPr lang="ru-RU" sz="2400" dirty="0" smtClean="0"/>
              <a:t>триггерная функция  должна возвращать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/>
              <a:t> </a:t>
            </a:r>
            <a:endParaRPr lang="ru-RU" sz="2400" dirty="0" smtClean="0"/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NULL - </a:t>
            </a:r>
            <a:r>
              <a:rPr lang="ru-RU" sz="2400" dirty="0"/>
              <a:t>чтобы указать, что он не изменил никаких данных в базовых таблицах </a:t>
            </a:r>
            <a:r>
              <a:rPr lang="ru-RU" sz="2400" dirty="0" smtClean="0"/>
              <a:t>представления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переданную </a:t>
            </a:r>
            <a:r>
              <a:rPr lang="ru-RU" sz="2400" dirty="0"/>
              <a:t>строку представления </a:t>
            </a:r>
            <a:endParaRPr lang="ru-RU" sz="2400" dirty="0" smtClean="0"/>
          </a:p>
          <a:p>
            <a:pPr marL="1074738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строку</a:t>
            </a:r>
            <a:r>
              <a:rPr lang="ru-RU" sz="2400" dirty="0"/>
              <a:t> NEW для операций INSERT и UPDATE </a:t>
            </a:r>
            <a:endParaRPr lang="ru-RU" sz="2400" dirty="0" smtClean="0"/>
          </a:p>
          <a:p>
            <a:pPr marL="1074738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строку</a:t>
            </a:r>
            <a:r>
              <a:rPr lang="ru-RU" sz="2400" dirty="0"/>
              <a:t> OLD для операций </a:t>
            </a:r>
            <a:r>
              <a:rPr lang="ru-RU" sz="2400" dirty="0" smtClean="0"/>
              <a:t>DELETE)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24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lnSpc>
                <a:spcPts val="3500"/>
              </a:lnSpc>
              <a:buNone/>
              <a:defRPr/>
            </a:pPr>
            <a:r>
              <a:rPr lang="ru-RU" sz="3600" b="1" dirty="0" smtClean="0"/>
              <a:t>Использование сгенерированных значений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802" y="1484784"/>
            <a:ext cx="867645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с</a:t>
            </a:r>
            <a:r>
              <a:rPr lang="ru-RU" sz="2400" dirty="0" smtClean="0"/>
              <a:t>генерированные </a:t>
            </a:r>
            <a:r>
              <a:rPr lang="ru-RU" sz="2400" dirty="0"/>
              <a:t>столбцы вычисляются после BEFORE </a:t>
            </a:r>
            <a:r>
              <a:rPr lang="ru-RU" sz="2400" dirty="0" smtClean="0"/>
              <a:t>триггеров </a:t>
            </a:r>
            <a:r>
              <a:rPr lang="ru-RU" sz="2400" dirty="0"/>
              <a:t>и перед AFTER </a:t>
            </a:r>
            <a:r>
              <a:rPr lang="ru-RU" sz="2400" dirty="0" smtClean="0"/>
              <a:t>триггерами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изменения </a:t>
            </a:r>
            <a:r>
              <a:rPr lang="ru-RU" sz="2400" dirty="0"/>
              <a:t>значения сгенерированного столбца в триггере BEFORE игнорируются и будут </a:t>
            </a:r>
            <a:r>
              <a:rPr lang="ru-RU" sz="2400" dirty="0" smtClean="0"/>
              <a:t>перезаписаны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сгенерированное значение можно проверить в AFTER </a:t>
            </a:r>
            <a:r>
              <a:rPr lang="ru-RU" sz="2400" dirty="0" smtClean="0"/>
              <a:t>триггере</a:t>
            </a:r>
            <a:endParaRPr lang="ru-RU" sz="2400" dirty="0"/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7505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Специальные локальные переменные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Для триггеров автоматически определяются специальные локальные переменные с именами вида 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TG_имя</a:t>
            </a:r>
            <a:r>
              <a:rPr lang="ru-RU" sz="2400" dirty="0" smtClean="0"/>
              <a:t>, </a:t>
            </a:r>
            <a:r>
              <a:rPr lang="ru-RU" sz="2400" dirty="0"/>
              <a:t>описывающие условие, повлёкшее вызов триггера  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3174067"/>
            <a:ext cx="8550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TG_OP</a:t>
            </a:r>
            <a:r>
              <a:rPr lang="ru-RU" sz="2400" dirty="0" smtClean="0"/>
              <a:t> – определяет событие активизации</a:t>
            </a:r>
            <a:endParaRPr lang="ru-RU" sz="2400" dirty="0"/>
          </a:p>
          <a:p>
            <a:r>
              <a:rPr lang="ru-RU" sz="2400" dirty="0" smtClean="0"/>
              <a:t>Это строка с одним из значений:           </a:t>
            </a:r>
          </a:p>
          <a:p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INSERT</a:t>
            </a:r>
            <a:r>
              <a:rPr lang="ru-RU" sz="2400" dirty="0"/>
              <a:t>, 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ru-RU" sz="2400" dirty="0"/>
              <a:t>, 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ru-RU" sz="2400" dirty="0"/>
              <a:t> или 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  <a:r>
              <a:rPr lang="ru-RU" sz="2400" dirty="0" smtClean="0"/>
              <a:t> 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4414958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TG_OP='INSERT' THEN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оператор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213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dirty="0" smtClean="0"/>
              <a:t>Примеры </a:t>
            </a:r>
            <a:r>
              <a:rPr lang="en-US" sz="3600" dirty="0" smtClean="0"/>
              <a:t> </a:t>
            </a:r>
            <a:r>
              <a:rPr lang="ru-RU" sz="3600" dirty="0" smtClean="0"/>
              <a:t>активизации  триггеров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484784"/>
            <a:ext cx="864096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book_update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book 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tf_book_update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9816" y="3667671"/>
            <a:ext cx="8190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OF </a:t>
            </a:r>
            <a:r>
              <a:rPr lang="en-US" sz="22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book 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/>
              <a:t>Активизации при любых изменения строки</a:t>
            </a:r>
            <a:endParaRPr lang="ru-RU" sz="2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16024" y="3275692"/>
            <a:ext cx="8820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/>
              <a:t>Активизации при изменении заданной колонки в строке</a:t>
            </a:r>
            <a:endParaRPr lang="ru-RU" sz="2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11560" y="5013176"/>
            <a:ext cx="8640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ON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 </a:t>
            </a:r>
          </a:p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</a:t>
            </a:r>
            <a:endParaRPr lang="en-US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OLD.kol</a:t>
            </a:r>
            <a:r>
              <a:rPr lang="en-US" sz="22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DISTINCT FROM </a:t>
            </a:r>
            <a:r>
              <a:rPr lang="en-US" sz="22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NEW.kol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38552" y="4499828"/>
            <a:ext cx="89054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/>
              <a:t>Активизация при фактическом изменении значения колонки</a:t>
            </a:r>
            <a:endParaRPr lang="ru-RU" sz="2200" b="1" dirty="0"/>
          </a:p>
        </p:txBody>
      </p:sp>
    </p:spTree>
    <p:extLst>
      <p:ext uri="{BB962C8B-B14F-4D97-AF65-F5344CB8AC3E}">
        <p14:creationId xmlns:p14="http://schemas.microsoft.com/office/powerpoint/2010/main" val="5504119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9" grpId="0"/>
      <p:bldP spid="11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dirty="0" smtClean="0"/>
              <a:t>Отключение (включение)  триггеров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784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/>
              <a:t>Триггер можно выключить</a:t>
            </a:r>
            <a:endParaRPr lang="ru-RU" sz="22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55576" y="4025415"/>
            <a:ext cx="26997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/>
              <a:t>и включить</a:t>
            </a:r>
            <a:endParaRPr lang="ru-RU" sz="22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980759"/>
            <a:ext cx="3600400" cy="291016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124743"/>
            <a:ext cx="3456384" cy="272212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32486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>
              <a:solidFill>
                <a:srgbClr val="C00000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</a:t>
            </a:r>
            <a:r>
              <a:rPr lang="ru-RU" sz="44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016" y="1005691"/>
            <a:ext cx="889248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/>
              <a:t>Назовите виды триггеров по событию активизации </a:t>
            </a:r>
            <a:r>
              <a:rPr lang="ru-RU" sz="2200" dirty="0" smtClean="0">
                <a:cs typeface="Courier New" pitchFamily="49" charset="0"/>
              </a:rPr>
              <a:t>. . .</a:t>
            </a: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/>
              <a:t>Назовите виды триггеров по моменту активизации </a:t>
            </a:r>
            <a:r>
              <a:rPr lang="ru-RU" sz="2200" dirty="0" smtClean="0">
                <a:cs typeface="Courier New" pitchFamily="49" charset="0"/>
              </a:rPr>
              <a:t>. . .</a:t>
            </a: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/>
              <a:t>Назовите виды триггеров по уровню действия </a:t>
            </a:r>
            <a:r>
              <a:rPr lang="ru-RU" sz="2200" dirty="0" smtClean="0">
                <a:cs typeface="Courier New" pitchFamily="49" charset="0"/>
              </a:rPr>
              <a:t>. . .</a:t>
            </a: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>
                <a:latin typeface="+mj-lt"/>
                <a:cs typeface="Courier New" pitchFamily="49" charset="0"/>
              </a:rPr>
              <a:t>Назовите основные виды </a:t>
            </a:r>
            <a:r>
              <a:rPr lang="ru-RU" sz="2200" dirty="0" err="1" smtClean="0">
                <a:latin typeface="+mj-lt"/>
                <a:cs typeface="Courier New" pitchFamily="49" charset="0"/>
              </a:rPr>
              <a:t>псевдострок</a:t>
            </a:r>
            <a:r>
              <a:rPr lang="ru-RU" sz="2200" dirty="0" smtClean="0">
                <a:latin typeface="+mj-lt"/>
                <a:cs typeface="Courier New" pitchFamily="49" charset="0"/>
              </a:rPr>
              <a:t> . . .</a:t>
            </a:r>
            <a:endParaRPr lang="ru-RU" sz="22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/>
              <a:t>Какой вид триггера </a:t>
            </a:r>
            <a:r>
              <a:rPr lang="ru-RU" sz="2200" dirty="0" smtClean="0"/>
              <a:t>(по моменту, уровню) надо </a:t>
            </a:r>
            <a:r>
              <a:rPr lang="ru-RU" sz="2200" dirty="0" smtClean="0"/>
              <a:t>использовать для заполнения колонок добавляемой строки ?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err="1" smtClean="0"/>
              <a:t>Псевдостроку</a:t>
            </a:r>
            <a:r>
              <a:rPr lang="ru-RU" sz="2200" dirty="0" smtClean="0"/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old</a:t>
            </a:r>
            <a:r>
              <a:rPr lang="en-US" sz="2200" dirty="0" smtClean="0"/>
              <a:t> </a:t>
            </a:r>
            <a:r>
              <a:rPr lang="ru-RU" sz="2200" dirty="0" smtClean="0"/>
              <a:t>нельзя использовать в триггерах</a:t>
            </a:r>
            <a:r>
              <a:rPr lang="ru-RU" sz="2200" dirty="0" smtClean="0">
                <a:latin typeface="Courier New" pitchFamily="49" charset="0"/>
                <a:cs typeface="Courier New" pitchFamily="49" charset="0"/>
              </a:rPr>
              <a:t> …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200" dirty="0" smtClean="0"/>
              <a:t>Сколько раз будет активизироваться операторный триггер при выполнении оператора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UPDATE</a:t>
            </a:r>
            <a:r>
              <a:rPr lang="ru-RU" sz="2200" dirty="0" smtClean="0"/>
              <a:t>, изменяющий 8 строк ?</a:t>
            </a:r>
          </a:p>
          <a:p>
            <a:pPr marL="457200" indent="-457200" algn="just">
              <a:spcBef>
                <a:spcPts val="600"/>
              </a:spcBef>
            </a:pPr>
            <a:r>
              <a:rPr lang="ru-RU" sz="2200" dirty="0" smtClean="0"/>
              <a:t>8.   Какие права должны быть у пользователя для создания</a:t>
            </a:r>
          </a:p>
          <a:p>
            <a:pPr marL="457200" indent="-457200" algn="just"/>
            <a:r>
              <a:rPr lang="ru-RU" sz="2200" dirty="0" smtClean="0"/>
              <a:t>                   триггера </a:t>
            </a:r>
            <a:r>
              <a:rPr lang="en-US" sz="2200" dirty="0" smtClean="0"/>
              <a:t>?</a:t>
            </a:r>
            <a:endParaRPr lang="en-US" sz="2200" dirty="0" smtClean="0">
              <a:solidFill>
                <a:srgbClr val="7030A0"/>
              </a:solidFill>
            </a:endParaRPr>
          </a:p>
          <a:p>
            <a:pPr marL="457200" indent="-457200" algn="just">
              <a:spcBef>
                <a:spcPts val="600"/>
              </a:spcBef>
              <a:buAutoNum type="arabicPeriod" startAt="9"/>
            </a:pPr>
            <a:endParaRPr 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13231</TotalTime>
  <Words>1209</Words>
  <Application>Microsoft Office PowerPoint</Application>
  <PresentationFormat>Экран (4:3)</PresentationFormat>
  <Paragraphs>275</Paragraphs>
  <Slides>29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Открытая</vt:lpstr>
      <vt:lpstr>Презентация PowerPoint</vt:lpstr>
      <vt:lpstr>        Триггеры  </vt:lpstr>
      <vt:lpstr>        Триггеры  </vt:lpstr>
      <vt:lpstr>        Триггеры  </vt:lpstr>
      <vt:lpstr>       Триггеры    </vt:lpstr>
      <vt:lpstr>  Триггеры    </vt:lpstr>
      <vt:lpstr>  Триггеры    </vt:lpstr>
      <vt:lpstr>     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1060</cp:revision>
  <dcterms:created xsi:type="dcterms:W3CDTF">2020-10-04T20:01:59Z</dcterms:created>
  <dcterms:modified xsi:type="dcterms:W3CDTF">2025-12-04T20:44:17Z</dcterms:modified>
</cp:coreProperties>
</file>