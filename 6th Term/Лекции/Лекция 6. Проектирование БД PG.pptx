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40"/>
  </p:notesMasterIdLst>
  <p:sldIdLst>
    <p:sldId id="256" r:id="rId2"/>
    <p:sldId id="334" r:id="rId3"/>
    <p:sldId id="336" r:id="rId4"/>
    <p:sldId id="338" r:id="rId5"/>
    <p:sldId id="335" r:id="rId6"/>
    <p:sldId id="350" r:id="rId7"/>
    <p:sldId id="386" r:id="rId8"/>
    <p:sldId id="391" r:id="rId9"/>
    <p:sldId id="339" r:id="rId10"/>
    <p:sldId id="384" r:id="rId11"/>
    <p:sldId id="337" r:id="rId12"/>
    <p:sldId id="385" r:id="rId13"/>
    <p:sldId id="387" r:id="rId14"/>
    <p:sldId id="388" r:id="rId15"/>
    <p:sldId id="340" r:id="rId16"/>
    <p:sldId id="341" r:id="rId17"/>
    <p:sldId id="351" r:id="rId18"/>
    <p:sldId id="342" r:id="rId19"/>
    <p:sldId id="390" r:id="rId20"/>
    <p:sldId id="343" r:id="rId21"/>
    <p:sldId id="344" r:id="rId22"/>
    <p:sldId id="345" r:id="rId23"/>
    <p:sldId id="392" r:id="rId24"/>
    <p:sldId id="354" r:id="rId25"/>
    <p:sldId id="346" r:id="rId26"/>
    <p:sldId id="393" r:id="rId27"/>
    <p:sldId id="396" r:id="rId28"/>
    <p:sldId id="395" r:id="rId29"/>
    <p:sldId id="349" r:id="rId30"/>
    <p:sldId id="355" r:id="rId31"/>
    <p:sldId id="394" r:id="rId32"/>
    <p:sldId id="356" r:id="rId33"/>
    <p:sldId id="357" r:id="rId34"/>
    <p:sldId id="359" r:id="rId35"/>
    <p:sldId id="360" r:id="rId36"/>
    <p:sldId id="362" r:id="rId37"/>
    <p:sldId id="333" r:id="rId38"/>
    <p:sldId id="300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6" autoAdjust="0"/>
    <p:restoredTop sz="94652" autoAdjust="0"/>
  </p:normalViewPr>
  <p:slideViewPr>
    <p:cSldViewPr>
      <p:cViewPr varScale="1">
        <p:scale>
          <a:sx n="85" d="100"/>
          <a:sy n="85" d="100"/>
        </p:scale>
        <p:origin x="-17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0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4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532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532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3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4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06.10.2025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96BF5D9-4AA4-4C09-9DDB-303A09193B8E}" type="datetime1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7F000A-7D59-434E-AC61-119968F2B181}" type="datetime1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064F22-7D92-426D-8147-B259567C005D}" type="datetime1">
              <a:rPr lang="ru-RU" smtClean="0"/>
              <a:pPr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6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444296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07006A-42FB-4BC3-8D0B-713D278FD97D}" type="datetime1">
              <a:rPr lang="ru-RU" smtClean="0"/>
              <a:pPr/>
              <a:t>06.10.2025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EFC4BB-C5DC-4A55-BF0D-F172948F6FC2}" type="datetime1">
              <a:rPr lang="ru-RU" smtClean="0"/>
              <a:pPr/>
              <a:t>06.10.2025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4858C2-66E3-4491-95E8-5725A7BF1DCF}" type="datetime1">
              <a:rPr lang="ru-RU" smtClean="0"/>
              <a:pPr/>
              <a:t>06.10.2025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F5AACCE-C039-4A73-A245-28F9A6C03767}" type="datetime1">
              <a:rPr lang="ru-RU" smtClean="0"/>
              <a:pPr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3" y="6407946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1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31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B76A5B-76D6-43F4-92BC-16DA687A9C7B}" type="datetime1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2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0B88BDA-C263-49AF-85CF-10CFC68679A3}" type="datetime1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30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06.10.2025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3" y="6407946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6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836712"/>
            <a:ext cx="7772400" cy="1008110"/>
          </a:xfrm>
        </p:spPr>
        <p:txBody>
          <a:bodyPr>
            <a:normAutofit/>
          </a:bodyPr>
          <a:lstStyle/>
          <a:p>
            <a:pPr algn="ctr"/>
            <a:r>
              <a:rPr lang="ru-RU" sz="5400">
                <a:solidFill>
                  <a:schemeClr val="bg2"/>
                </a:solidFill>
              </a:rPr>
              <a:t>Лекция </a:t>
            </a:r>
            <a:r>
              <a:rPr lang="ru-RU" sz="5400" smtClean="0">
                <a:solidFill>
                  <a:schemeClr val="bg2"/>
                </a:solidFill>
              </a:rPr>
              <a:t>8</a:t>
            </a:r>
            <a:endParaRPr lang="ru-RU" sz="5400" dirty="0">
              <a:solidFill>
                <a:schemeClr val="bg2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2132856"/>
            <a:ext cx="6400800" cy="3528392"/>
          </a:xfrm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Проектирование</a:t>
            </a:r>
          </a:p>
          <a:p>
            <a:pPr algn="ctr"/>
            <a:r>
              <a:rPr lang="ru-RU" sz="5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базы данных</a:t>
            </a:r>
          </a:p>
          <a:p>
            <a:pPr algn="ctr"/>
            <a:endParaRPr lang="ru-RU" sz="2400" b="1" dirty="0" smtClean="0">
              <a:solidFill>
                <a:srgbClr val="7030A0"/>
              </a:solidFill>
            </a:endParaRPr>
          </a:p>
        </p:txBody>
      </p:sp>
      <p:pic>
        <p:nvPicPr>
          <p:cNvPr id="6" name="Рисунок 5" descr="Логотип АСОИиУ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2038" cy="17586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216869" y="648866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ru-RU" b="1" dirty="0" smtClean="0">
                <a:solidFill>
                  <a:srgbClr val="FFC000"/>
                </a:solidFill>
              </a:rPr>
              <a:t>©Монахов В.И</a:t>
            </a:r>
            <a:r>
              <a:rPr lang="ru-RU" b="1" dirty="0" smtClean="0">
                <a:solidFill>
                  <a:srgbClr val="7030A0"/>
                </a:solidFill>
              </a:rPr>
              <a:t>.</a:t>
            </a:r>
            <a:endParaRPr lang="ru-RU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Проектирование БД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68760"/>
            <a:ext cx="8640960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0713" lvl="0" indent="-434975" algn="just">
              <a:buFont typeface="Wingdings" pitchFamily="2" charset="2"/>
              <a:buChar char="q"/>
            </a:pPr>
            <a:r>
              <a:rPr lang="ru-RU" sz="2400" dirty="0" smtClean="0"/>
              <a:t>В </a:t>
            </a:r>
            <a:r>
              <a:rPr lang="ru-RU" sz="2400" dirty="0" smtClean="0"/>
              <a:t>процессе </a:t>
            </a:r>
            <a:r>
              <a:rPr lang="ru-RU" sz="2400" dirty="0" smtClean="0"/>
              <a:t>проектирования базы данных (БД) </a:t>
            </a:r>
            <a:r>
              <a:rPr lang="ru-RU" sz="2400" dirty="0" smtClean="0"/>
              <a:t>разработчик учитывает и объединяет частные представления пользователей о содержимом базы данных и свои представления о данных, которые могут потребоваться в ИС</a:t>
            </a:r>
          </a:p>
          <a:p>
            <a:pPr marL="620713" lvl="0" indent="-434975" algn="just">
              <a:spcBef>
                <a:spcPts val="600"/>
              </a:spcBef>
              <a:buFont typeface="Wingdings" pitchFamily="2" charset="2"/>
              <a:buChar char="q"/>
            </a:pPr>
            <a:r>
              <a:rPr lang="ru-RU" sz="2400" dirty="0" smtClean="0"/>
              <a:t>Сначала создается обобщенное неформальное описание  проектируемой БД. Описание составляется с использованием естественного языка, математических формул, таблиц, диаграмм и других средств, понятных как проектировщикам  базы данных, так и заказчикам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Этапы проектирования БД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68760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0713" lvl="0" indent="-434975" algn="just">
              <a:spcBef>
                <a:spcPts val="1800"/>
              </a:spcBef>
            </a:pPr>
            <a:r>
              <a:rPr lang="ru-RU" sz="2400" dirty="0" smtClean="0"/>
              <a:t>Два уровня представления модели данных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2400" dirty="0" smtClean="0"/>
              <a:t> 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6948" y="1988840"/>
            <a:ext cx="869553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indent="-542925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en-US" sz="2400" dirty="0" smtClean="0"/>
              <a:t> </a:t>
            </a:r>
            <a:r>
              <a:rPr lang="ru-RU" sz="2400" dirty="0" smtClean="0">
                <a:solidFill>
                  <a:srgbClr val="7030A0"/>
                </a:solidFill>
              </a:rPr>
              <a:t>Логический уровень </a:t>
            </a:r>
            <a:r>
              <a:rPr lang="ru-RU" sz="2400" dirty="0" smtClean="0"/>
              <a:t>– это абстрактное представление данных,  не связанное с конкретной СУБД. На этом уровне  </a:t>
            </a:r>
            <a:r>
              <a:rPr lang="ru-RU" sz="2400" dirty="0" smtClean="0"/>
              <a:t>модель данных  понятна для обычных пользователей и заказчиков</a:t>
            </a:r>
            <a:endParaRPr lang="ru-RU" sz="2400" dirty="0" smtClean="0"/>
          </a:p>
          <a:p>
            <a:pPr marL="542925" indent="-542925" algn="just">
              <a:spcBef>
                <a:spcPts val="2400"/>
              </a:spcBef>
              <a:buFont typeface="Wingdings" pitchFamily="2" charset="2"/>
              <a:buChar char="q"/>
            </a:pPr>
            <a:r>
              <a:rPr lang="en-US" sz="2400" dirty="0" smtClean="0"/>
              <a:t> </a:t>
            </a:r>
            <a:r>
              <a:rPr lang="ru-RU" sz="2400" dirty="0" smtClean="0">
                <a:solidFill>
                  <a:srgbClr val="0070C0"/>
                </a:solidFill>
              </a:rPr>
              <a:t>Физический уровень</a:t>
            </a:r>
            <a:r>
              <a:rPr lang="ru-RU" sz="2400" dirty="0" smtClean="0"/>
              <a:t> - это отображение </a:t>
            </a:r>
            <a:r>
              <a:rPr lang="en-US" sz="2400" dirty="0" smtClean="0"/>
              <a:t> </a:t>
            </a:r>
            <a:r>
              <a:rPr lang="ru-RU" sz="2400" dirty="0" smtClean="0"/>
              <a:t>логической модели в схему данных конкретной системы управления базами данных (СУБД)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Логическое проектирование БД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484784"/>
            <a:ext cx="864096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0713" lvl="0" indent="-434975" algn="just">
              <a:spcBef>
                <a:spcPts val="1800"/>
              </a:spcBef>
            </a:pPr>
            <a:r>
              <a:rPr lang="ru-RU" sz="2400" smtClean="0"/>
              <a:t>Включает следующие шаги</a:t>
            </a:r>
            <a:r>
              <a:rPr lang="ru-RU" sz="240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1069975" lvl="0" indent="-434975" algn="just">
              <a:spcBef>
                <a:spcPts val="1800"/>
              </a:spcBef>
              <a:buFont typeface="Wingdings" pitchFamily="2" charset="2"/>
              <a:buChar char="q"/>
            </a:pPr>
            <a:r>
              <a:rPr lang="ru-RU" sz="2400" smtClean="0"/>
              <a:t>Определение сущностей (</a:t>
            </a:r>
            <a:r>
              <a:rPr lang="en-US" sz="2400" smtClean="0"/>
              <a:t>Entity)</a:t>
            </a:r>
            <a:endParaRPr lang="ru-RU" sz="2400" smtClean="0"/>
          </a:p>
          <a:p>
            <a:pPr marL="1069975" lvl="0" indent="-434975" algn="just">
              <a:spcBef>
                <a:spcPts val="1800"/>
              </a:spcBef>
              <a:buFont typeface="Wingdings" pitchFamily="2" charset="2"/>
              <a:buChar char="q"/>
            </a:pPr>
            <a:r>
              <a:rPr lang="ru-RU" sz="2400" smtClean="0"/>
              <a:t>Определение атрибутов сущностей</a:t>
            </a:r>
          </a:p>
          <a:p>
            <a:pPr marL="1069975" indent="-434975" algn="just">
              <a:spcBef>
                <a:spcPts val="1800"/>
              </a:spcBef>
              <a:buFont typeface="Wingdings" pitchFamily="2" charset="2"/>
              <a:buChar char="q"/>
            </a:pPr>
            <a:r>
              <a:rPr lang="ru-RU" sz="2400" smtClean="0"/>
              <a:t>Определение атрибутов  первичного ключа</a:t>
            </a:r>
          </a:p>
          <a:p>
            <a:pPr marL="1069975" lvl="0" indent="-434975" algn="just">
              <a:spcBef>
                <a:spcPts val="1800"/>
              </a:spcBef>
              <a:buFont typeface="Wingdings" pitchFamily="2" charset="2"/>
              <a:buChar char="q"/>
            </a:pPr>
            <a:r>
              <a:rPr lang="ru-RU" sz="2400" smtClean="0"/>
              <a:t>Определение связей между сущностями</a:t>
            </a:r>
            <a:r>
              <a:rPr lang="en-US" sz="2400" smtClean="0"/>
              <a:t> (Relation)</a:t>
            </a:r>
            <a:endParaRPr lang="ru-RU" sz="2400" smtClean="0"/>
          </a:p>
        </p:txBody>
      </p:sp>
      <p:sp>
        <p:nvSpPr>
          <p:cNvPr id="8" name="TextBox 7"/>
          <p:cNvSpPr txBox="1"/>
          <p:nvPr/>
        </p:nvSpPr>
        <p:spPr>
          <a:xfrm>
            <a:off x="683568" y="4820959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/>
              <a:t>Модели данных, включающие связанные сущности представляют в графической форме в виде  </a:t>
            </a:r>
            <a:endParaRPr lang="en-US" sz="2400" smtClean="0"/>
          </a:p>
          <a:p>
            <a:pPr algn="just"/>
            <a:r>
              <a:rPr lang="en-US" sz="2400" smtClean="0"/>
              <a:t>      </a:t>
            </a:r>
            <a:r>
              <a:rPr lang="en-US" sz="2400" b="1" smtClean="0"/>
              <a:t>ERD-</a:t>
            </a:r>
            <a:r>
              <a:rPr lang="ru-RU" sz="2400" b="1" smtClean="0"/>
              <a:t>диаграм</a:t>
            </a:r>
            <a:r>
              <a:rPr lang="en-US" sz="2400" b="1" smtClean="0"/>
              <a:t> </a:t>
            </a:r>
            <a:r>
              <a:rPr lang="en-US" sz="2400" smtClean="0"/>
              <a:t>(Entity Relation Diagram)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Средства проектирования БД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556792"/>
            <a:ext cx="864096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0713" lvl="0" indent="-434975" algn="just">
              <a:spcBef>
                <a:spcPts val="1800"/>
              </a:spcBef>
              <a:buFont typeface="Wingdings" pitchFamily="2" charset="2"/>
              <a:buChar char="q"/>
            </a:pPr>
            <a:r>
              <a:rPr lang="ru-RU" sz="2400" dirty="0" smtClean="0"/>
              <a:t>Для автоматизации процесса проектирования используются </a:t>
            </a:r>
            <a:r>
              <a:rPr lang="ru-RU" sz="2400" b="1" dirty="0" smtClean="0">
                <a:solidFill>
                  <a:srgbClr val="0070C0"/>
                </a:solidFill>
              </a:rPr>
              <a:t>CASE-технологии</a:t>
            </a:r>
            <a:r>
              <a:rPr lang="ru-RU" sz="2400" dirty="0" smtClean="0"/>
              <a:t> (</a:t>
            </a:r>
            <a:r>
              <a:rPr lang="ru-RU" sz="2400" dirty="0" err="1" smtClean="0"/>
              <a:t>Computer-Aided</a:t>
            </a:r>
            <a:r>
              <a:rPr lang="ru-RU" sz="2400" dirty="0" smtClean="0"/>
              <a:t> </a:t>
            </a:r>
            <a:r>
              <a:rPr lang="ru-RU" sz="2400" dirty="0" err="1" smtClean="0"/>
              <a:t>Software</a:t>
            </a:r>
            <a:r>
              <a:rPr lang="ru-RU" sz="2400" dirty="0" smtClean="0"/>
              <a:t>/</a:t>
            </a:r>
            <a:r>
              <a:rPr lang="ru-RU" sz="2400" dirty="0" err="1" smtClean="0"/>
              <a:t>System</a:t>
            </a:r>
            <a:r>
              <a:rPr lang="ru-RU" sz="2400" dirty="0" smtClean="0"/>
              <a:t> </a:t>
            </a:r>
            <a:r>
              <a:rPr lang="ru-RU" sz="2400" dirty="0" err="1" smtClean="0"/>
              <a:t>Engineering</a:t>
            </a:r>
            <a:r>
              <a:rPr lang="ru-RU" sz="2400" dirty="0" smtClean="0"/>
              <a:t>)</a:t>
            </a:r>
          </a:p>
          <a:p>
            <a:pPr marL="620713" lvl="0" indent="-434975" algn="just">
              <a:spcBef>
                <a:spcPts val="1800"/>
              </a:spcBef>
              <a:buFont typeface="Wingdings" pitchFamily="2" charset="2"/>
              <a:buChar char="q"/>
            </a:pPr>
            <a:r>
              <a:rPr lang="ru-RU" sz="2400" dirty="0" smtClean="0"/>
              <a:t>Для проектирования БД </a:t>
            </a:r>
            <a:r>
              <a:rPr lang="en-US" sz="2400" dirty="0" smtClean="0"/>
              <a:t>PostgreSQL </a:t>
            </a:r>
            <a:r>
              <a:rPr lang="ru-RU" sz="2400" dirty="0" smtClean="0"/>
              <a:t>будем использовать</a:t>
            </a:r>
            <a:r>
              <a:rPr lang="en-US" sz="2400" dirty="0" smtClean="0"/>
              <a:t> </a:t>
            </a:r>
            <a:r>
              <a:rPr lang="en-US" sz="2400" dirty="0" smtClean="0"/>
              <a:t>CASE</a:t>
            </a:r>
            <a:r>
              <a:rPr lang="ru-RU" sz="2400" dirty="0" smtClean="0"/>
              <a:t>-средство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0070C0"/>
                </a:solidFill>
              </a:rPr>
              <a:t>SQL Power Architect Community </a:t>
            </a:r>
            <a:r>
              <a:rPr lang="en-US" sz="2400" b="1" dirty="0" smtClean="0">
                <a:solidFill>
                  <a:srgbClr val="0070C0"/>
                </a:solidFill>
              </a:rPr>
              <a:t>Edition</a:t>
            </a:r>
            <a:r>
              <a:rPr lang="en-US" sz="2400" dirty="0" smtClean="0"/>
              <a:t> </a:t>
            </a:r>
            <a:endParaRPr lang="ru-RU" sz="2400" dirty="0" smtClean="0"/>
          </a:p>
          <a:p>
            <a:pPr marL="620713" lvl="0" indent="-434975" algn="just">
              <a:spcBef>
                <a:spcPts val="1800"/>
              </a:spcBef>
              <a:buFont typeface="Wingdings" pitchFamily="2" charset="2"/>
              <a:buChar char="q"/>
            </a:pPr>
            <a:r>
              <a:rPr lang="ru-RU" sz="2400" dirty="0" smtClean="0"/>
              <a:t>Результатом проектирования является модель данных, отражающая конкретную предметную область и являющаяся основой для создания БД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Окно программы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SQL Power Architect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268760"/>
            <a:ext cx="8712968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Режимы работы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SQL Power Architect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124744"/>
            <a:ext cx="83529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Уровни проектирования БД в </a:t>
            </a:r>
            <a:r>
              <a:rPr lang="en-US" sz="2400" dirty="0" smtClean="0"/>
              <a:t>SQL Power Architect </a:t>
            </a:r>
            <a:r>
              <a:rPr lang="ru-RU" sz="2400" dirty="0" smtClean="0"/>
              <a:t>отличаются только языком локализации: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ru-RU" sz="2400" dirty="0" smtClean="0"/>
              <a:t>логический (русский язык)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ru-RU" sz="2400" dirty="0" smtClean="0"/>
              <a:t>Физический (английский язык)</a:t>
            </a:r>
            <a:endParaRPr lang="ru-R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" y="2698523"/>
            <a:ext cx="369570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307" y="3565572"/>
            <a:ext cx="5440693" cy="290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71462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Настройка языка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Power Architect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124744"/>
            <a:ext cx="8352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По умолчанию в интерфейсе программы используется английский язык.</a:t>
            </a:r>
          </a:p>
          <a:p>
            <a:pPr algn="just"/>
            <a:r>
              <a:rPr lang="ru-RU" sz="2400" dirty="0" smtClean="0"/>
              <a:t>Можно настроить интерфейс на русский язык</a:t>
            </a:r>
            <a:endParaRPr lang="ru-R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04" y="2325073"/>
            <a:ext cx="2762250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802" y="2708920"/>
            <a:ext cx="401955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779912" y="6027003"/>
            <a:ext cx="518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После изменений надо перезапустить программу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7252108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Сущности (отношения)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676995"/>
            <a:ext cx="856895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indent="-542925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400" b="1" dirty="0" smtClean="0"/>
              <a:t>Сущность (</a:t>
            </a:r>
            <a:r>
              <a:rPr lang="ru-RU" sz="2400" b="1" dirty="0" err="1" smtClean="0"/>
              <a:t>Entity</a:t>
            </a:r>
            <a:r>
              <a:rPr lang="ru-RU" sz="2400" b="1" dirty="0" smtClean="0"/>
              <a:t>)</a:t>
            </a:r>
            <a:r>
              <a:rPr lang="ru-RU" sz="2400" dirty="0" smtClean="0"/>
              <a:t> - реальный либо воображаемый объект, имеющий существенное значение для рассматриваемой предметной области, информация о котором подлежит хранению</a:t>
            </a:r>
          </a:p>
          <a:p>
            <a:pPr marL="542925" indent="-542925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400" dirty="0" smtClean="0"/>
              <a:t>Каждая сущность имеет </a:t>
            </a:r>
            <a:r>
              <a:rPr lang="ru-RU" sz="2400" b="1" dirty="0" smtClean="0"/>
              <a:t>уникальное имя</a:t>
            </a:r>
          </a:p>
          <a:p>
            <a:pPr algn="just">
              <a:spcBef>
                <a:spcPts val="1200"/>
              </a:spcBef>
            </a:pPr>
            <a:r>
              <a:rPr lang="ru-RU" sz="2400" b="1" dirty="0"/>
              <a:t>	</a:t>
            </a:r>
            <a:r>
              <a:rPr lang="ru-RU" sz="2400" i="1" dirty="0" smtClean="0"/>
              <a:t>Например</a:t>
            </a:r>
            <a:r>
              <a:rPr lang="ru-RU" sz="2400" dirty="0" smtClean="0"/>
              <a:t>,</a:t>
            </a:r>
            <a:r>
              <a:rPr lang="ru-RU" sz="2400" b="1" dirty="0" smtClean="0"/>
              <a:t>  Сотрудник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Создание сущности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95936" y="2348880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rgbClr val="0070C0"/>
                </a:solidFill>
              </a:rPr>
              <a:t>или</a:t>
            </a:r>
            <a:endParaRPr lang="ru-RU" sz="2400" b="1" dirty="0">
              <a:solidFill>
                <a:srgbClr val="0070C0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531" y="3933056"/>
            <a:ext cx="4753065" cy="2088232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859" y="1558304"/>
            <a:ext cx="3713865" cy="2014711"/>
          </a:xfrm>
          <a:prstGeom prst="rect">
            <a:avLst/>
          </a:prstGeom>
          <a:noFill/>
          <a:ln w="9525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91269"/>
            <a:ext cx="3525962" cy="1981745"/>
          </a:xfrm>
          <a:prstGeom prst="rect">
            <a:avLst/>
          </a:prstGeom>
          <a:noFill/>
          <a:ln w="9525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5163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Атрибуты сущности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124744"/>
            <a:ext cx="864096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lvl="0" indent="-542925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200" dirty="0"/>
              <a:t>С</a:t>
            </a:r>
            <a:r>
              <a:rPr lang="ru-RU" sz="2200" dirty="0" smtClean="0"/>
              <a:t>ущность обладает одним или несколькими атрибутами (свойствами или характеристиками)  объекта предметной области. Например, в сущности Сотрудник атрибуты</a:t>
            </a:r>
            <a:r>
              <a:rPr lang="ru-RU" sz="2200" dirty="0" smtClean="0"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2200" dirty="0" smtClean="0"/>
              <a:t>  «фамилия», «должность»</a:t>
            </a:r>
          </a:p>
          <a:p>
            <a:pPr marL="542925" lvl="0" indent="-542925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200" dirty="0" smtClean="0"/>
              <a:t>В сущности необходим выбрать один </a:t>
            </a:r>
            <a:r>
              <a:rPr lang="ru-RU" sz="2200" dirty="0" smtClean="0"/>
              <a:t>или </a:t>
            </a:r>
            <a:r>
              <a:rPr lang="ru-RU" sz="2200" dirty="0" smtClean="0"/>
              <a:t>несколько атрибутов, </a:t>
            </a:r>
            <a:r>
              <a:rPr lang="ru-RU" sz="2200" dirty="0" smtClean="0"/>
              <a:t>которые однозначно идентифицируют каждый экземпляр </a:t>
            </a:r>
            <a:r>
              <a:rPr lang="ru-RU" sz="2200" dirty="0" smtClean="0"/>
              <a:t>сущности. Такой атрибут называется </a:t>
            </a:r>
            <a:r>
              <a:rPr lang="ru-RU" sz="2200" dirty="0" smtClean="0"/>
              <a:t>первичным ключом (</a:t>
            </a:r>
            <a:r>
              <a:rPr lang="en-US" sz="2200" dirty="0" smtClean="0"/>
              <a:t>Primary Key – PK</a:t>
            </a:r>
            <a:r>
              <a:rPr lang="en-US" sz="2200" dirty="0" smtClean="0"/>
              <a:t>)</a:t>
            </a:r>
            <a:endParaRPr lang="ru-RU" sz="2200" dirty="0" smtClean="0"/>
          </a:p>
          <a:p>
            <a:pPr marL="542925" lvl="0" indent="-542925" algn="just">
              <a:buFont typeface="Wingdings" pitchFamily="2" charset="2"/>
              <a:buChar char="q"/>
            </a:pPr>
            <a:r>
              <a:rPr lang="ru-RU" sz="2200" dirty="0" smtClean="0"/>
              <a:t>В отношении Сотрудник </a:t>
            </a:r>
          </a:p>
          <a:p>
            <a:pPr lvl="0" algn="just"/>
            <a:r>
              <a:rPr lang="ru-RU" sz="2200" dirty="0"/>
              <a:t> </a:t>
            </a:r>
            <a:r>
              <a:rPr lang="ru-RU" sz="2200" dirty="0" smtClean="0"/>
              <a:t>          РК -атриб</a:t>
            </a:r>
            <a:r>
              <a:rPr lang="ru-RU" sz="2200" dirty="0" smtClean="0"/>
              <a:t>ут </a:t>
            </a:r>
            <a:r>
              <a:rPr lang="ru-RU" sz="2200" dirty="0" smtClean="0"/>
              <a:t>«табельный </a:t>
            </a:r>
            <a:r>
              <a:rPr lang="ru-RU" sz="2200" dirty="0" smtClean="0"/>
              <a:t>номер»</a:t>
            </a:r>
            <a:endParaRPr lang="ru-RU" sz="2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216" y="4149080"/>
            <a:ext cx="2376264" cy="2682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Типы данных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2495" y="980728"/>
            <a:ext cx="864096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lvl="0" indent="-542925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200" dirty="0" smtClean="0"/>
              <a:t>Числовые </a:t>
            </a:r>
          </a:p>
          <a:p>
            <a:pPr marL="893763" lvl="0" indent="-358775" algn="just">
              <a:buFont typeface="Arial" panose="020B0604020202020204" pitchFamily="34" charset="0"/>
              <a:buChar char="•"/>
            </a:pPr>
            <a:r>
              <a:rPr lang="ru-RU" sz="2200" dirty="0" smtClean="0"/>
              <a:t>Целые –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</a:p>
          <a:p>
            <a:pPr marL="893763" lvl="0" indent="-358775" algn="just">
              <a:buFont typeface="Arial" panose="020B0604020202020204" pitchFamily="34" charset="0"/>
              <a:buChar char="•"/>
            </a:pPr>
            <a:r>
              <a:rPr lang="ru-RU" sz="2200" dirty="0" smtClean="0"/>
              <a:t>Вещественные точные</a:t>
            </a:r>
            <a:r>
              <a:rPr lang="en-US" sz="2200" dirty="0" smtClean="0"/>
              <a:t> –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Numeric(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n,m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534988" lvl="0" algn="just"/>
            <a:r>
              <a:rPr lang="ru-RU" sz="2200" dirty="0"/>
              <a:t>г</a:t>
            </a:r>
            <a:r>
              <a:rPr lang="ru-RU" sz="2200" dirty="0" smtClean="0"/>
              <a:t>де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200" dirty="0" smtClean="0"/>
              <a:t> – </a:t>
            </a:r>
            <a:r>
              <a:rPr lang="ru-RU" sz="2200" dirty="0" smtClean="0"/>
              <a:t>точность (общее количество разрядов)</a:t>
            </a:r>
          </a:p>
          <a:p>
            <a:pPr marL="534988" lvl="0" algn="just"/>
            <a:r>
              <a:rPr lang="ru-RU" sz="2200" dirty="0"/>
              <a:t> </a:t>
            </a:r>
            <a:r>
              <a:rPr lang="ru-RU" sz="2200" dirty="0" smtClean="0"/>
              <a:t>    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sz="2200" dirty="0" smtClean="0"/>
              <a:t> – </a:t>
            </a:r>
            <a:r>
              <a:rPr lang="ru-RU" sz="2200" dirty="0" smtClean="0"/>
              <a:t>количество дробных разрядов</a:t>
            </a:r>
          </a:p>
          <a:p>
            <a:pPr marL="534988" lvl="0" indent="-534988" algn="just" defTabSz="534988">
              <a:buFont typeface="Wingdings" panose="05000000000000000000" pitchFamily="2" charset="2"/>
              <a:buChar char="q"/>
            </a:pPr>
            <a:r>
              <a:rPr lang="ru-RU" sz="2200" dirty="0" smtClean="0"/>
              <a:t>Символьные</a:t>
            </a:r>
          </a:p>
          <a:p>
            <a:pPr marL="904875" lvl="0" indent="-342900" algn="just" defTabSz="534988">
              <a:buFont typeface="Arial" panose="020B0604020202020204" pitchFamily="34" charset="0"/>
              <a:buChar char="•"/>
            </a:pPr>
            <a:r>
              <a:rPr lang="ru-RU" sz="2200" dirty="0" smtClean="0"/>
              <a:t>Фиксированной длины -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Char(n)</a:t>
            </a:r>
          </a:p>
          <a:p>
            <a:pPr marL="904875" lvl="0" indent="-342900" algn="just" defTabSz="534988">
              <a:buFont typeface="Arial" panose="020B0604020202020204" pitchFamily="34" charset="0"/>
              <a:buChar char="•"/>
            </a:pPr>
            <a:r>
              <a:rPr lang="ru-RU" sz="2200" dirty="0" smtClean="0"/>
              <a:t>Переменной длины –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</a:p>
          <a:p>
            <a:pPr marL="539750" lvl="0" indent="-539750" algn="just" defTabSz="534988">
              <a:buFont typeface="Wingdings" panose="05000000000000000000" pitchFamily="2" charset="2"/>
              <a:buChar char="q"/>
            </a:pPr>
            <a:r>
              <a:rPr lang="ru-RU" sz="2200" dirty="0" smtClean="0"/>
              <a:t>Дата  -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4264065"/>
            <a:ext cx="2376264" cy="2682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4283968" y="4437112"/>
            <a:ext cx="486003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i="1" dirty="0" smtClean="0"/>
              <a:t>Атрибуты</a:t>
            </a:r>
            <a:r>
              <a:rPr lang="ru-RU" sz="2200" b="1" i="1" dirty="0" smtClean="0"/>
              <a:t> </a:t>
            </a:r>
            <a:r>
              <a:rPr lang="ru-RU" sz="2200" b="1" i="1" dirty="0"/>
              <a:t> </a:t>
            </a:r>
            <a:r>
              <a:rPr lang="ru-RU" sz="2200" b="1" i="1" dirty="0" smtClean="0"/>
              <a:t>сущности Сотрудник</a:t>
            </a:r>
            <a:endParaRPr lang="ru-RU" sz="2200" b="1" i="1" dirty="0" smtClean="0"/>
          </a:p>
          <a:p>
            <a:pPr>
              <a:spcBef>
                <a:spcPts val="600"/>
              </a:spcBef>
            </a:pPr>
            <a:r>
              <a:rPr lang="ru-RU" sz="2200" dirty="0" smtClean="0"/>
              <a:t>Табельный номер – </a:t>
            </a:r>
            <a:r>
              <a:rPr lang="en-US" sz="2200" dirty="0" smtClean="0"/>
              <a:t>Char(6)</a:t>
            </a:r>
            <a:endParaRPr lang="ru-RU" sz="2200" dirty="0" smtClean="0"/>
          </a:p>
          <a:p>
            <a:r>
              <a:rPr lang="ru-RU" sz="2200" dirty="0" smtClean="0"/>
              <a:t>ФИО</a:t>
            </a:r>
            <a:r>
              <a:rPr lang="en-US" sz="2200" dirty="0" smtClean="0"/>
              <a:t>                      - Varchar</a:t>
            </a:r>
            <a:endParaRPr lang="ru-RU" sz="2200" dirty="0" smtClean="0"/>
          </a:p>
          <a:p>
            <a:r>
              <a:rPr lang="ru-RU" sz="2200" dirty="0" smtClean="0"/>
              <a:t>Должность</a:t>
            </a:r>
            <a:r>
              <a:rPr lang="en-US" sz="2200" dirty="0" smtClean="0"/>
              <a:t>            - Varchar</a:t>
            </a:r>
            <a:endParaRPr lang="ru-RU" sz="2200" dirty="0" smtClean="0"/>
          </a:p>
          <a:p>
            <a:r>
              <a:rPr lang="ru-RU" sz="2200" dirty="0" smtClean="0"/>
              <a:t>Оклад</a:t>
            </a:r>
            <a:r>
              <a:rPr lang="en-US" sz="2200" dirty="0" smtClean="0"/>
              <a:t>                   - Integer</a:t>
            </a:r>
            <a:endParaRPr lang="ru-RU" sz="2200" dirty="0" smtClean="0"/>
          </a:p>
        </p:txBody>
      </p:sp>
    </p:spTree>
    <p:extLst>
      <p:ext uri="{BB962C8B-B14F-4D97-AF65-F5344CB8AC3E}">
        <p14:creationId xmlns:p14="http://schemas.microsoft.com/office/powerpoint/2010/main" val="232332883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>
                <a:latin typeface="Arial" pitchFamily="34" charset="0"/>
                <a:cs typeface="Arial" pitchFamily="34" charset="0"/>
              </a:rPr>
              <a:t>С</a:t>
            </a: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оздание атрибута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84" y="4221088"/>
            <a:ext cx="3198016" cy="1645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Штриховая стрелка вправо 2"/>
          <p:cNvSpPr/>
          <p:nvPr/>
        </p:nvSpPr>
        <p:spPr>
          <a:xfrm>
            <a:off x="5580112" y="4941168"/>
            <a:ext cx="365872" cy="36004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1052736"/>
            <a:ext cx="2774057" cy="1711200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816150"/>
            <a:ext cx="2592288" cy="3268055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510" y="2816289"/>
            <a:ext cx="2354570" cy="4071894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636791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Выбор атрибута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первичного ключа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6987" y="1196752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1200"/>
              </a:spcBef>
            </a:pPr>
            <a:r>
              <a:rPr lang="az-Cyrl-AZ" sz="2400" dirty="0" smtClean="0"/>
              <a:t>Первичным ключем выберем атрибут </a:t>
            </a:r>
          </a:p>
          <a:p>
            <a:pPr marL="4929188" lvl="0" algn="just"/>
            <a:r>
              <a:rPr lang="az-Cyrl-AZ" sz="2400" b="1" i="1" dirty="0" smtClean="0">
                <a:solidFill>
                  <a:srgbClr val="7030A0"/>
                </a:solidFill>
              </a:rPr>
              <a:t>Табельны</a:t>
            </a:r>
            <a:r>
              <a:rPr lang="ru-RU" sz="2400" b="1" i="1" dirty="0" smtClean="0">
                <a:solidFill>
                  <a:srgbClr val="7030A0"/>
                </a:solidFill>
              </a:rPr>
              <a:t>й</a:t>
            </a:r>
            <a:r>
              <a:rPr lang="az-Cyrl-AZ" sz="2400" b="1" i="1" dirty="0" smtClean="0">
                <a:solidFill>
                  <a:srgbClr val="7030A0"/>
                </a:solidFill>
              </a:rPr>
              <a:t> номер</a:t>
            </a:r>
            <a:r>
              <a:rPr lang="az-Cyrl-AZ" sz="2400" dirty="0" smtClean="0"/>
              <a:t>  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02" y="2027748"/>
            <a:ext cx="3028561" cy="1761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919918"/>
            <a:ext cx="3923928" cy="187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Стрелка углом 2"/>
          <p:cNvSpPr/>
          <p:nvPr/>
        </p:nvSpPr>
        <p:spPr>
          <a:xfrm flipV="1">
            <a:off x="3824496" y="5574077"/>
            <a:ext cx="993579" cy="927795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821" y="3232232"/>
            <a:ext cx="3242291" cy="2212992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321761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Связи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206038"/>
            <a:ext cx="86409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lvl="0" indent="-542925" algn="just">
              <a:spcBef>
                <a:spcPts val="600"/>
              </a:spcBef>
              <a:buFont typeface="Wingdings" pitchFamily="2" charset="2"/>
              <a:buChar char="q"/>
            </a:pPr>
            <a:r>
              <a:rPr lang="ru-RU" sz="2200" b="1" dirty="0" smtClean="0"/>
              <a:t>Связь (</a:t>
            </a:r>
            <a:r>
              <a:rPr lang="ru-RU" sz="2200" b="1" dirty="0" err="1" smtClean="0"/>
              <a:t>Relationship</a:t>
            </a:r>
            <a:r>
              <a:rPr lang="ru-RU" sz="2200" b="1" dirty="0" smtClean="0"/>
              <a:t>) </a:t>
            </a:r>
            <a:r>
              <a:rPr lang="ru-RU" sz="2200" dirty="0" smtClean="0"/>
              <a:t>- поименованная ассоциация между двумя сущностями, значимая для рассматриваемой предметной области</a:t>
            </a:r>
          </a:p>
          <a:p>
            <a:pPr marL="542925" lvl="0" indent="-542925" algn="just">
              <a:spcBef>
                <a:spcPts val="600"/>
              </a:spcBef>
              <a:buFont typeface="Wingdings" pitchFamily="2" charset="2"/>
              <a:buChar char="q"/>
            </a:pPr>
            <a:r>
              <a:rPr lang="ru-RU" sz="2200" dirty="0" smtClean="0"/>
              <a:t>Связь соединяет 2 сущности, одна из которых является главной, а другая подчиненной</a:t>
            </a:r>
          </a:p>
          <a:p>
            <a:pPr marL="542925" lvl="0" indent="-542925" algn="just">
              <a:spcBef>
                <a:spcPts val="600"/>
              </a:spcBef>
              <a:buFont typeface="Wingdings" pitchFamily="2" charset="2"/>
              <a:buChar char="q"/>
            </a:pPr>
            <a:r>
              <a:rPr lang="ru-RU" sz="2200" dirty="0" smtClean="0"/>
              <a:t>В подчиненной сущности имеется атрибут, указывающий (ссылающийся) на конкретное значение первичного ключа главной сущности. Такой атрибут называют внешним ключом (</a:t>
            </a:r>
            <a:r>
              <a:rPr lang="en-US" sz="2200" b="1" dirty="0" smtClean="0"/>
              <a:t>Foreign Key </a:t>
            </a:r>
            <a:r>
              <a:rPr lang="en-US" sz="2200" dirty="0" smtClean="0"/>
              <a:t>– </a:t>
            </a:r>
            <a:r>
              <a:rPr lang="en-US" sz="2200" b="1" dirty="0" smtClean="0"/>
              <a:t>FK</a:t>
            </a:r>
            <a:r>
              <a:rPr lang="en-US" sz="2200" dirty="0" smtClean="0"/>
              <a:t>)</a:t>
            </a:r>
          </a:p>
          <a:p>
            <a:pPr marL="542925" indent="-542925" algn="just">
              <a:spcBef>
                <a:spcPts val="600"/>
              </a:spcBef>
              <a:buFont typeface="Wingdings" pitchFamily="2" charset="2"/>
              <a:buChar char="q"/>
            </a:pPr>
            <a:r>
              <a:rPr lang="ru-RU" sz="2200" dirty="0" smtClean="0"/>
              <a:t>Степень связи </a:t>
            </a:r>
            <a:r>
              <a:rPr lang="en-US" sz="2200" dirty="0" smtClean="0"/>
              <a:t>(</a:t>
            </a:r>
            <a:r>
              <a:rPr lang="ru-RU" sz="2200" dirty="0" smtClean="0"/>
              <a:t>количество экземпляров в подчиненной сущности) и ее обязательность графически изображаются следующим образом </a:t>
            </a:r>
          </a:p>
          <a:p>
            <a:pPr marL="542925" lvl="0" indent="-542925" algn="just">
              <a:spcBef>
                <a:spcPts val="600"/>
              </a:spcBef>
              <a:buFont typeface="Wingdings" pitchFamily="2" charset="2"/>
              <a:buChar char="q"/>
            </a:pPr>
            <a:endParaRPr lang="ru-RU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4961" y="5589240"/>
            <a:ext cx="6399039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Связи между сущностями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321604"/>
            <a:ext cx="8892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600"/>
              </a:spcBef>
            </a:pPr>
            <a:r>
              <a:rPr lang="ru-RU" sz="2800" dirty="0" smtClean="0"/>
              <a:t>Установим </a:t>
            </a:r>
            <a:r>
              <a:rPr lang="ru-RU" sz="2800" dirty="0" err="1" smtClean="0"/>
              <a:t>неидентифицирующую</a:t>
            </a:r>
            <a:r>
              <a:rPr lang="ru-RU" sz="2800" dirty="0" smtClean="0"/>
              <a:t> связь</a:t>
            </a:r>
            <a:endParaRPr lang="ru-RU" sz="2800" dirty="0"/>
          </a:p>
        </p:txBody>
      </p:sp>
      <p:sp>
        <p:nvSpPr>
          <p:cNvPr id="9" name="Стрелка углом 8"/>
          <p:cNvSpPr/>
          <p:nvPr/>
        </p:nvSpPr>
        <p:spPr>
          <a:xfrm rot="10800000" flipH="1">
            <a:off x="3995937" y="4972332"/>
            <a:ext cx="864096" cy="79208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876" y="3352048"/>
            <a:ext cx="3841124" cy="330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2059991"/>
            <a:ext cx="4752528" cy="260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543627"/>
            <a:ext cx="1087933" cy="1134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904582"/>
            <a:ext cx="5184576" cy="4953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Настройка  связи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520" y="980728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/>
              <a:t>Задаем запрет (</a:t>
            </a:r>
            <a:r>
              <a:rPr lang="en-US" sz="2000" dirty="0" smtClean="0"/>
              <a:t>RESTRICT) </a:t>
            </a:r>
            <a:r>
              <a:rPr lang="ru-RU" sz="2000" dirty="0" smtClean="0"/>
              <a:t>на операции удаления и изменения первичного ключа  главной сущности при наличии связанных записей в подчиненной сущности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Пример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028923"/>
            <a:ext cx="889248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lvl="0" indent="-357188" algn="just">
              <a:spcBef>
                <a:spcPts val="600"/>
              </a:spcBef>
            </a:pPr>
            <a:r>
              <a:rPr lang="ru-RU" sz="2400" dirty="0" smtClean="0"/>
              <a:t>Предметная область – </a:t>
            </a:r>
            <a:r>
              <a:rPr lang="ru-RU" sz="2400" b="1" dirty="0"/>
              <a:t>П</a:t>
            </a:r>
            <a:r>
              <a:rPr lang="ru-RU" sz="2400" b="1" dirty="0" smtClean="0"/>
              <a:t>родажа  продукции</a:t>
            </a:r>
          </a:p>
          <a:p>
            <a:pPr marL="715963" indent="-530225" algn="just">
              <a:spcBef>
                <a:spcPts val="600"/>
              </a:spcBef>
              <a:buFont typeface="Wingdings" pitchFamily="2" charset="2"/>
              <a:buChar char="q"/>
            </a:pPr>
            <a:r>
              <a:rPr lang="ru-RU" sz="2400" dirty="0" smtClean="0"/>
              <a:t>Предприятие производит </a:t>
            </a:r>
            <a:r>
              <a:rPr lang="ru-RU" sz="2400" b="1" dirty="0" smtClean="0">
                <a:solidFill>
                  <a:srgbClr val="7030A0"/>
                </a:solidFill>
              </a:rPr>
              <a:t>продукцию</a:t>
            </a:r>
            <a:r>
              <a:rPr lang="ru-RU" sz="2400" dirty="0" smtClean="0"/>
              <a:t> </a:t>
            </a:r>
          </a:p>
          <a:p>
            <a:pPr marL="715963" indent="-530225" algn="just">
              <a:spcBef>
                <a:spcPts val="600"/>
              </a:spcBef>
              <a:buFont typeface="Wingdings" pitchFamily="2" charset="2"/>
              <a:buChar char="q"/>
            </a:pPr>
            <a:r>
              <a:rPr lang="ru-RU" sz="2400" dirty="0" smtClean="0"/>
              <a:t>Продукция</a:t>
            </a:r>
            <a:r>
              <a:rPr lang="ru-RU" sz="2400" dirty="0"/>
              <a:t> реализуется </a:t>
            </a:r>
            <a:r>
              <a:rPr lang="ru-RU" sz="2400" dirty="0" smtClean="0"/>
              <a:t> </a:t>
            </a:r>
            <a:r>
              <a:rPr lang="ru-RU" sz="2400" b="1" dirty="0" smtClean="0">
                <a:solidFill>
                  <a:srgbClr val="7030A0"/>
                </a:solidFill>
              </a:rPr>
              <a:t>покупателям</a:t>
            </a:r>
          </a:p>
          <a:p>
            <a:pPr marL="715963" indent="-530225" algn="just">
              <a:spcBef>
                <a:spcPts val="600"/>
              </a:spcBef>
              <a:buFont typeface="Wingdings" pitchFamily="2" charset="2"/>
              <a:buChar char="q"/>
            </a:pPr>
            <a:r>
              <a:rPr lang="ru-RU" sz="2400" dirty="0" smtClean="0"/>
              <a:t>Продукция отпускается по </a:t>
            </a:r>
            <a:r>
              <a:rPr lang="ru-RU" sz="2400" b="1" dirty="0" smtClean="0">
                <a:solidFill>
                  <a:srgbClr val="7030A0"/>
                </a:solidFill>
              </a:rPr>
              <a:t>накладным</a:t>
            </a:r>
          </a:p>
          <a:p>
            <a:pPr marL="715963" indent="-530225" algn="just">
              <a:spcBef>
                <a:spcPts val="600"/>
              </a:spcBef>
              <a:buFont typeface="Wingdings" pitchFamily="2" charset="2"/>
              <a:buChar char="q"/>
            </a:pPr>
            <a:r>
              <a:rPr lang="ru-RU" sz="2400" dirty="0" smtClean="0"/>
              <a:t>В накладной может быть несколько видов продукции</a:t>
            </a:r>
            <a:endParaRPr lang="ru-RU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393616" y="3645024"/>
            <a:ext cx="860444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solidFill>
                  <a:srgbClr val="C00000"/>
                </a:solidFill>
              </a:rPr>
              <a:t>Шаг 1</a:t>
            </a:r>
            <a:r>
              <a:rPr lang="en-US" sz="2800" b="1" dirty="0">
                <a:solidFill>
                  <a:srgbClr val="C00000"/>
                </a:solidFill>
              </a:rPr>
              <a:t>a</a:t>
            </a:r>
            <a:r>
              <a:rPr lang="ru-RU" sz="2800" b="1" dirty="0" smtClean="0">
                <a:solidFill>
                  <a:srgbClr val="C00000"/>
                </a:solidFill>
              </a:rPr>
              <a:t>.</a:t>
            </a:r>
            <a:r>
              <a:rPr lang="ru-RU" sz="2400" dirty="0" smtClean="0">
                <a:solidFill>
                  <a:srgbClr val="C00000"/>
                </a:solidFill>
              </a:rPr>
              <a:t> </a:t>
            </a:r>
            <a:r>
              <a:rPr lang="ru-RU" sz="2800" b="1" dirty="0" smtClean="0"/>
              <a:t>Выделим объекты (сущности)</a:t>
            </a:r>
            <a:r>
              <a:rPr lang="ru-RU" sz="2800" b="1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542925" indent="-357188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 smtClean="0"/>
              <a:t>Продукция</a:t>
            </a:r>
          </a:p>
          <a:p>
            <a:pPr marL="542925" indent="-357188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 smtClean="0"/>
              <a:t>Покупатель</a:t>
            </a:r>
          </a:p>
          <a:p>
            <a:pPr marL="542925" indent="-357188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 smtClean="0"/>
              <a:t>Накладные  - </a:t>
            </a:r>
            <a:r>
              <a:rPr lang="ru-RU" sz="2200" dirty="0" smtClean="0"/>
              <a:t>объект, фиксирующий факт </a:t>
            </a:r>
            <a:r>
              <a:rPr lang="ru-RU" sz="2200" b="1" dirty="0" smtClean="0">
                <a:solidFill>
                  <a:srgbClr val="7030A0"/>
                </a:solidFill>
              </a:rPr>
              <a:t>Продажи</a:t>
            </a:r>
          </a:p>
          <a:p>
            <a:pPr marL="542925" indent="-357188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200" dirty="0" smtClean="0"/>
              <a:t>Ассортимент – список продукции в накладной 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>
              <a:buNone/>
              <a:defRPr/>
            </a:pPr>
            <a:r>
              <a:rPr lang="ru-RU" sz="4000" b="1" dirty="0">
                <a:latin typeface="Arial" pitchFamily="34" charset="0"/>
                <a:cs typeface="Arial" pitchFamily="34" charset="0"/>
              </a:rPr>
              <a:t>Пример. </a:t>
            </a:r>
            <a:r>
              <a:rPr lang="ru-RU" sz="28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Шаг 1б. Создание сущностей(таблиц)</a:t>
            </a:r>
            <a:endParaRPr lang="ru-RU" sz="2800" dirty="0" smtClean="0">
              <a:solidFill>
                <a:schemeClr val="accent3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12776"/>
            <a:ext cx="3433030" cy="1296144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6" y="4221088"/>
            <a:ext cx="4596333" cy="2123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68760"/>
            <a:ext cx="362902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287462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Пример</a:t>
            </a:r>
            <a:r>
              <a:rPr lang="en-US" sz="3600" b="1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800" b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Шаг 2а.</a:t>
            </a:r>
            <a:r>
              <a:rPr lang="en-US" sz="2800" b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800" b="1" smtClean="0">
                <a:latin typeface="Arial" pitchFamily="34" charset="0"/>
                <a:cs typeface="Arial" pitchFamily="34" charset="0"/>
              </a:rPr>
              <a:t>Определение атрибутов </a:t>
            </a:r>
            <a:endParaRPr lang="ru-RU" sz="280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196752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lvl="0" indent="-357188" algn="just">
              <a:spcBef>
                <a:spcPts val="600"/>
              </a:spcBef>
            </a:pPr>
            <a:r>
              <a:rPr lang="ru-RU" sz="2400" b="1" dirty="0" smtClean="0">
                <a:solidFill>
                  <a:srgbClr val="7030A0"/>
                </a:solidFill>
              </a:rPr>
              <a:t>Атрибуты сущностей</a:t>
            </a:r>
            <a:r>
              <a:rPr lang="ru-RU" sz="2400" dirty="0" smtClean="0"/>
              <a:t> – свойства сущностей, важные для решаемой задачи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520" y="4810507"/>
            <a:ext cx="43204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Продукт</a:t>
            </a:r>
            <a:endParaRPr lang="ru-RU" sz="2400" b="1" dirty="0" smtClean="0">
              <a:latin typeface="Courier New" pitchFamily="49" charset="0"/>
              <a:cs typeface="Courier New" pitchFamily="49" charset="0"/>
            </a:endParaRPr>
          </a:p>
          <a:p>
            <a:pPr marL="542925" indent="-357188">
              <a:buFont typeface="Wingdings" pitchFamily="2" charset="2"/>
              <a:buChar char="§"/>
            </a:pPr>
            <a:r>
              <a:rPr lang="ru-RU" sz="2200" dirty="0" smtClean="0"/>
              <a:t>Код продукта</a:t>
            </a:r>
            <a:r>
              <a:rPr lang="en-US" sz="2200" dirty="0" smtClean="0"/>
              <a:t>  (PK)</a:t>
            </a:r>
            <a:endParaRPr lang="ru-RU" sz="2200" dirty="0" smtClean="0"/>
          </a:p>
          <a:p>
            <a:pPr marL="542925" indent="-357188">
              <a:buFont typeface="Wingdings" pitchFamily="2" charset="2"/>
              <a:buChar char="§"/>
            </a:pPr>
            <a:r>
              <a:rPr lang="ru-RU" sz="2200" dirty="0" smtClean="0"/>
              <a:t>Наименование продукта</a:t>
            </a:r>
            <a:endParaRPr lang="ru-RU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4723616" y="2084705"/>
            <a:ext cx="44999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Продажа (накладная)</a:t>
            </a:r>
            <a:endParaRPr lang="ru-RU" sz="2400" b="1" dirty="0" smtClean="0">
              <a:latin typeface="Courier New" pitchFamily="49" charset="0"/>
              <a:cs typeface="Courier New" pitchFamily="49" charset="0"/>
            </a:endParaRPr>
          </a:p>
          <a:p>
            <a:pPr marL="542925" indent="-357188">
              <a:buFont typeface="Wingdings" pitchFamily="2" charset="2"/>
              <a:buChar char="§"/>
            </a:pPr>
            <a:r>
              <a:rPr lang="ru-RU" sz="2200" dirty="0" smtClean="0"/>
              <a:t> </a:t>
            </a:r>
            <a:r>
              <a:rPr lang="ru-RU" sz="2200" dirty="0" smtClean="0">
                <a:solidFill>
                  <a:schemeClr val="accent3">
                    <a:lumMod val="75000"/>
                  </a:schemeClr>
                </a:solidFill>
              </a:rPr>
              <a:t>Первичный ключ </a:t>
            </a:r>
            <a:r>
              <a:rPr lang="ru-RU" sz="2200" dirty="0" smtClean="0">
                <a:solidFill>
                  <a:srgbClr val="C00000"/>
                </a:solidFill>
              </a:rPr>
              <a:t>???</a:t>
            </a:r>
          </a:p>
          <a:p>
            <a:pPr marL="542925" indent="-357188">
              <a:buFont typeface="Wingdings" pitchFamily="2" charset="2"/>
              <a:buChar char="§"/>
            </a:pPr>
            <a:r>
              <a:rPr lang="ru-RU" sz="2200" dirty="0" smtClean="0"/>
              <a:t> Дата продажи</a:t>
            </a:r>
          </a:p>
          <a:p>
            <a:pPr marL="542925" indent="-357188">
              <a:buFont typeface="Wingdings" pitchFamily="2" charset="2"/>
              <a:buChar char="§"/>
            </a:pPr>
            <a:r>
              <a:rPr lang="ru-RU" sz="2200" dirty="0" smtClean="0"/>
              <a:t> Номер документа</a:t>
            </a:r>
          </a:p>
          <a:p>
            <a:pPr marL="542925" indent="-357188">
              <a:buFont typeface="Wingdings" pitchFamily="2" charset="2"/>
              <a:buChar char="§"/>
            </a:pPr>
            <a:r>
              <a:rPr lang="ru-RU" sz="2200" dirty="0" smtClean="0"/>
              <a:t> </a:t>
            </a:r>
            <a:r>
              <a:rPr lang="ru-RU" sz="2200" dirty="0" smtClean="0">
                <a:solidFill>
                  <a:srgbClr val="0070C0"/>
                </a:solidFill>
              </a:rPr>
              <a:t>Покупатель    </a:t>
            </a:r>
            <a:r>
              <a:rPr lang="ru-RU" sz="2200" dirty="0" smtClean="0">
                <a:solidFill>
                  <a:srgbClr val="C00000"/>
                </a:solidFill>
              </a:rPr>
              <a:t>???</a:t>
            </a:r>
            <a:endParaRPr lang="en-US" sz="2200" dirty="0" smtClean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1696" y="2120077"/>
            <a:ext cx="44443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Покупатель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/>
              <a:t>Код покупателя (PK)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/>
              <a:t>Наименование покупателя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 smtClean="0"/>
              <a:t>Город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4666456" y="4154884"/>
            <a:ext cx="449999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Ассортимент  продажи</a:t>
            </a:r>
            <a:endParaRPr lang="ru-RU" sz="2400" b="1" dirty="0" smtClean="0">
              <a:latin typeface="Courier New" pitchFamily="49" charset="0"/>
              <a:cs typeface="Courier New" pitchFamily="49" charset="0"/>
            </a:endParaRPr>
          </a:p>
          <a:p>
            <a:pPr marL="542925" indent="-357188">
              <a:buFont typeface="Wingdings" pitchFamily="2" charset="2"/>
              <a:buChar char="§"/>
            </a:pPr>
            <a:r>
              <a:rPr lang="ru-RU" sz="2200" dirty="0" smtClean="0"/>
              <a:t> </a:t>
            </a:r>
            <a:r>
              <a:rPr lang="ru-RU" sz="2200" dirty="0" smtClean="0">
                <a:solidFill>
                  <a:schemeClr val="accent3">
                    <a:lumMod val="75000"/>
                  </a:schemeClr>
                </a:solidFill>
              </a:rPr>
              <a:t>Первичный ключ </a:t>
            </a:r>
            <a:r>
              <a:rPr lang="ru-RU" sz="2200" dirty="0" smtClean="0">
                <a:solidFill>
                  <a:srgbClr val="C00000"/>
                </a:solidFill>
              </a:rPr>
              <a:t>???</a:t>
            </a:r>
          </a:p>
          <a:p>
            <a:pPr marL="542925" indent="-357188">
              <a:buFont typeface="Wingdings" pitchFamily="2" charset="2"/>
              <a:buChar char="§"/>
            </a:pPr>
            <a:r>
              <a:rPr lang="ru-RU" sz="2200" dirty="0" smtClean="0"/>
              <a:t> </a:t>
            </a:r>
            <a:r>
              <a:rPr lang="ru-RU" sz="2200" dirty="0" smtClean="0">
                <a:solidFill>
                  <a:srgbClr val="0070C0"/>
                </a:solidFill>
              </a:rPr>
              <a:t>Продажа     </a:t>
            </a:r>
            <a:r>
              <a:rPr lang="ru-RU" sz="2200" dirty="0" smtClean="0">
                <a:solidFill>
                  <a:srgbClr val="C00000"/>
                </a:solidFill>
              </a:rPr>
              <a:t>???</a:t>
            </a:r>
            <a:endParaRPr lang="en-US" sz="2200" dirty="0" smtClean="0">
              <a:solidFill>
                <a:srgbClr val="C00000"/>
              </a:solidFill>
            </a:endParaRPr>
          </a:p>
          <a:p>
            <a:pPr marL="542925" indent="-357188">
              <a:buFont typeface="Wingdings" pitchFamily="2" charset="2"/>
              <a:buChar char="§"/>
            </a:pPr>
            <a:r>
              <a:rPr lang="ru-RU" sz="2200" dirty="0" smtClean="0"/>
              <a:t> </a:t>
            </a:r>
            <a:r>
              <a:rPr lang="ru-RU" sz="2200" dirty="0" smtClean="0">
                <a:solidFill>
                  <a:srgbClr val="0070C0"/>
                </a:solidFill>
              </a:rPr>
              <a:t>Продукция  </a:t>
            </a:r>
            <a:r>
              <a:rPr lang="ru-RU" sz="2200" dirty="0" smtClean="0">
                <a:solidFill>
                  <a:srgbClr val="C00000"/>
                </a:solidFill>
              </a:rPr>
              <a:t>???</a:t>
            </a:r>
            <a:endParaRPr lang="ru-RU" sz="2200" dirty="0" smtClean="0">
              <a:solidFill>
                <a:srgbClr val="0070C0"/>
              </a:solidFill>
            </a:endParaRPr>
          </a:p>
          <a:p>
            <a:pPr marL="542925" indent="-357188">
              <a:buFont typeface="Wingdings" pitchFamily="2" charset="2"/>
              <a:buChar char="§"/>
            </a:pPr>
            <a:r>
              <a:rPr lang="ru-RU" sz="2200" dirty="0" smtClean="0"/>
              <a:t> Цена</a:t>
            </a:r>
          </a:p>
          <a:p>
            <a:pPr marL="542925" indent="-357188">
              <a:buFont typeface="Wingdings" pitchFamily="2" charset="2"/>
              <a:buChar char="§"/>
            </a:pPr>
            <a:r>
              <a:rPr lang="ru-RU" sz="2200" dirty="0" smtClean="0"/>
              <a:t> Количество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400" b="1" smtClean="0">
                <a:latin typeface="Arial" pitchFamily="34" charset="0"/>
                <a:cs typeface="Arial" pitchFamily="34" charset="0"/>
              </a:rPr>
              <a:t>Пример</a:t>
            </a:r>
            <a:r>
              <a:rPr lang="en-US" sz="3400" b="1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500" b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Шаг 2б.</a:t>
            </a:r>
            <a:r>
              <a:rPr lang="ru-RU" sz="2500" b="1" smtClean="0">
                <a:latin typeface="Arial" pitchFamily="34" charset="0"/>
                <a:cs typeface="Arial" pitchFamily="34" charset="0"/>
              </a:rPr>
              <a:t> Добавление атрибутов в сущности </a:t>
            </a:r>
            <a:endParaRPr lang="ru-RU" sz="250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996951"/>
            <a:ext cx="3851920" cy="3903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3" y="1268760"/>
            <a:ext cx="2818599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25" y="2492896"/>
            <a:ext cx="2556123" cy="3450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Пример  </a:t>
            </a:r>
            <a:r>
              <a:rPr lang="ru-RU" sz="2800" b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Шаг 2в.</a:t>
            </a:r>
            <a:r>
              <a:rPr lang="ru-RU" sz="2800" b="1" smtClean="0">
                <a:latin typeface="Arial" pitchFamily="34" charset="0"/>
                <a:cs typeface="Arial" pitchFamily="34" charset="0"/>
              </a:rPr>
              <a:t> Выбор атрибута </a:t>
            </a:r>
            <a:r>
              <a:rPr lang="en-US" sz="2800" b="1" smtClean="0">
                <a:latin typeface="Arial" pitchFamily="34" charset="0"/>
                <a:cs typeface="Arial" pitchFamily="34" charset="0"/>
              </a:rPr>
              <a:t>Primary Key</a:t>
            </a:r>
            <a:r>
              <a:rPr lang="ru-RU" sz="2800" b="1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smtClean="0">
                <a:latin typeface="Arial" pitchFamily="34" charset="0"/>
                <a:cs typeface="Arial" pitchFamily="34" charset="0"/>
              </a:rPr>
              <a:t> </a:t>
            </a:r>
            <a:endParaRPr lang="ru-RU" sz="3600" smtClean="0">
              <a:latin typeface="Arial" pitchFamily="34" charset="0"/>
              <a:cs typeface="Arial" pitchFamily="34" charset="0"/>
            </a:endParaRPr>
          </a:p>
          <a:p>
            <a:pPr indent="1279525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Стрелка углом 7"/>
          <p:cNvSpPr/>
          <p:nvPr/>
        </p:nvSpPr>
        <p:spPr>
          <a:xfrm rot="10800000" flipH="1">
            <a:off x="2472792" y="4581128"/>
            <a:ext cx="864096" cy="79208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3611830" cy="2880320"/>
          </a:xfrm>
          <a:prstGeom prst="rect">
            <a:avLst/>
          </a:prstGeom>
          <a:noFill/>
          <a:ln w="254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554066"/>
            <a:ext cx="439102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Пример  </a:t>
            </a:r>
            <a:r>
              <a:rPr lang="ru-RU" sz="2400" b="1" dirty="0" smtClean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Шаг 2. Промежуточный результат</a:t>
            </a:r>
            <a:endParaRPr lang="ru-RU" sz="2400" dirty="0" smtClean="0">
              <a:solidFill>
                <a:schemeClr val="accent3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indent="1279525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63" y="1340768"/>
            <a:ext cx="8280920" cy="480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2494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Пример  </a:t>
            </a:r>
            <a:r>
              <a:rPr lang="ru-RU" sz="2600" b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Шаг 2г.</a:t>
            </a:r>
            <a:r>
              <a:rPr lang="ru-RU" sz="2600" b="1" smtClean="0">
                <a:latin typeface="Arial" pitchFamily="34" charset="0"/>
                <a:cs typeface="Arial" pitchFamily="34" charset="0"/>
              </a:rPr>
              <a:t>  Добавление суррогатного ключа</a:t>
            </a:r>
            <a:endParaRPr lang="ru-RU" sz="2600" smtClean="0">
              <a:latin typeface="Arial" pitchFamily="34" charset="0"/>
              <a:cs typeface="Arial" pitchFamily="34" charset="0"/>
            </a:endParaRPr>
          </a:p>
          <a:p>
            <a:pPr indent="1279525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83968" y="1412776"/>
            <a:ext cx="486003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3525" indent="-263525" algn="just">
              <a:buFont typeface="Wingdings" pitchFamily="2" charset="2"/>
              <a:buChar char="q"/>
            </a:pPr>
            <a:r>
              <a:rPr lang="ru-RU" sz="1900" dirty="0" smtClean="0"/>
              <a:t>В сущностях Книга продаж и Ассортимент продаж определим атрибут, который идентифицирует продажу и ассортимент - </a:t>
            </a:r>
            <a:r>
              <a:rPr lang="ru-RU" sz="1900" b="1" dirty="0" smtClean="0"/>
              <a:t>уникальный идентификатор  </a:t>
            </a:r>
            <a:r>
              <a:rPr lang="ru-RU" sz="1900" dirty="0" smtClean="0"/>
              <a:t>(</a:t>
            </a:r>
            <a:r>
              <a:rPr lang="ru-RU" sz="1900" b="1" dirty="0" err="1" smtClean="0">
                <a:solidFill>
                  <a:srgbClr val="7030A0"/>
                </a:solidFill>
              </a:rPr>
              <a:t>Идентифкатор_Имя</a:t>
            </a:r>
            <a:r>
              <a:rPr lang="ru-RU" sz="1900" b="1" dirty="0" smtClean="0">
                <a:solidFill>
                  <a:srgbClr val="7030A0"/>
                </a:solidFill>
              </a:rPr>
              <a:t> сущности</a:t>
            </a:r>
            <a:r>
              <a:rPr lang="ru-RU" sz="1900" dirty="0" smtClean="0"/>
              <a:t>)</a:t>
            </a:r>
          </a:p>
        </p:txBody>
      </p:sp>
      <p:sp>
        <p:nvSpPr>
          <p:cNvPr id="10" name="Стрелка вправо с вырезом 9"/>
          <p:cNvSpPr/>
          <p:nvPr/>
        </p:nvSpPr>
        <p:spPr>
          <a:xfrm>
            <a:off x="5868144" y="5272985"/>
            <a:ext cx="576064" cy="2880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9552" y="4509120"/>
            <a:ext cx="52565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 algn="just">
              <a:buFont typeface="Wingdings" pitchFamily="2" charset="2"/>
              <a:buChar char="q"/>
            </a:pPr>
            <a:r>
              <a:rPr lang="ru-RU" dirty="0" smtClean="0"/>
              <a:t>Такой атрибут, который отсутствует у объекта предметной области, и добавлен только для идентификации объекта и формируется по принципам </a:t>
            </a:r>
            <a:r>
              <a:rPr lang="ru-RU" dirty="0" err="1" smtClean="0"/>
              <a:t>автоувеличения</a:t>
            </a:r>
            <a:r>
              <a:rPr lang="ru-RU" dirty="0" smtClean="0"/>
              <a:t> (</a:t>
            </a:r>
            <a:r>
              <a:rPr lang="ru-RU" dirty="0" err="1" smtClean="0"/>
              <a:t>автоинкремента</a:t>
            </a:r>
            <a:r>
              <a:rPr lang="ru-RU" dirty="0" smtClean="0"/>
              <a:t>) называют </a:t>
            </a:r>
            <a:r>
              <a:rPr lang="ru-RU" b="1" dirty="0" smtClean="0"/>
              <a:t>суррогатным ключом</a:t>
            </a:r>
          </a:p>
          <a:p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575" y="1124744"/>
            <a:ext cx="4286535" cy="339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004293"/>
            <a:ext cx="3096344" cy="248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Пример    </a:t>
            </a:r>
            <a:r>
              <a:rPr lang="ru-RU" sz="2800" b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Шаг 3.</a:t>
            </a:r>
            <a:r>
              <a:rPr lang="ru-RU" sz="2800" b="1" smtClean="0">
                <a:latin typeface="Arial" pitchFamily="34" charset="0"/>
                <a:cs typeface="Arial" pitchFamily="34" charset="0"/>
              </a:rPr>
              <a:t> Установка связей</a:t>
            </a:r>
            <a:endParaRPr lang="ru-RU" sz="280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268759"/>
            <a:ext cx="8064896" cy="451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Пример    </a:t>
            </a:r>
            <a:r>
              <a:rPr lang="ru-RU" sz="2800" b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Шаг 3.</a:t>
            </a:r>
            <a:r>
              <a:rPr lang="ru-RU" sz="2800" b="1" smtClean="0">
                <a:latin typeface="Arial" pitchFamily="34" charset="0"/>
                <a:cs typeface="Arial" pitchFamily="34" charset="0"/>
              </a:rPr>
              <a:t> Установка связей</a:t>
            </a:r>
            <a:endParaRPr lang="ru-RU" sz="280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7584" y="1556792"/>
            <a:ext cx="72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Связь Книги продаж  с  Покупателем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27" y="2492896"/>
            <a:ext cx="8572738" cy="1872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868350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Пример    </a:t>
            </a:r>
            <a:r>
              <a:rPr lang="ru-RU" sz="2800" b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Шаг 3.</a:t>
            </a:r>
            <a:r>
              <a:rPr lang="ru-RU" sz="2800" b="1" smtClean="0">
                <a:latin typeface="Arial" pitchFamily="34" charset="0"/>
                <a:cs typeface="Arial" pitchFamily="34" charset="0"/>
              </a:rPr>
              <a:t> Установка связей</a:t>
            </a:r>
            <a:endParaRPr lang="ru-RU" sz="280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7584" y="1556792"/>
            <a:ext cx="72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Связь Продукции  с  Ассортиментом</a:t>
            </a:r>
            <a:endParaRPr lang="ru-RU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204864"/>
            <a:ext cx="8887845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83190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Пример    </a:t>
            </a:r>
            <a:r>
              <a:rPr lang="ru-RU" sz="2800" b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Шаг 3.</a:t>
            </a:r>
            <a:r>
              <a:rPr lang="ru-RU" sz="2800" b="1" smtClean="0">
                <a:latin typeface="Arial" pitchFamily="34" charset="0"/>
                <a:cs typeface="Arial" pitchFamily="34" charset="0"/>
              </a:rPr>
              <a:t> Установка связей</a:t>
            </a:r>
            <a:endParaRPr lang="ru-RU" sz="280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7584" y="1268760"/>
            <a:ext cx="72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Связь Книги продаж  с  Ассортиментом</a:t>
            </a:r>
            <a:endParaRPr lang="ru-RU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280920" cy="4594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03249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Физическое проектирование</a:t>
            </a:r>
            <a:endParaRPr lang="ru-RU" sz="360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1124744"/>
            <a:ext cx="8712968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/>
            <a:r>
              <a:rPr lang="ru-RU" sz="2000" dirty="0" smtClean="0"/>
              <a:t>Физическая модель определяет реализацию логической модели в конкретной БД </a:t>
            </a:r>
          </a:p>
          <a:p>
            <a:pPr marL="444500" indent="-444500">
              <a:spcBef>
                <a:spcPts val="600"/>
              </a:spcBef>
            </a:pPr>
            <a:r>
              <a:rPr lang="ru-RU" sz="2000" dirty="0" smtClean="0"/>
              <a:t>Для перехода к физической модели необходимо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2000" dirty="0" smtClean="0"/>
              <a:t> </a:t>
            </a:r>
            <a:endParaRPr lang="en-US" sz="2000" dirty="0" smtClean="0"/>
          </a:p>
        </p:txBody>
      </p:sp>
      <p:sp>
        <p:nvSpPr>
          <p:cNvPr id="13" name="Штриховая стрелка вправо 12"/>
          <p:cNvSpPr/>
          <p:nvPr/>
        </p:nvSpPr>
        <p:spPr>
          <a:xfrm>
            <a:off x="3598222" y="4870187"/>
            <a:ext cx="720080" cy="36004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525127"/>
            <a:ext cx="2819400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996" y="3020249"/>
            <a:ext cx="4503158" cy="3649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Физическая модель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980728"/>
            <a:ext cx="87129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buFont typeface="Wingdings" pitchFamily="2" charset="2"/>
              <a:buChar char="q"/>
            </a:pPr>
            <a:r>
              <a:rPr lang="ru-RU" sz="2000" dirty="0" smtClean="0"/>
              <a:t>Имена сущностей и атрибутов – в латинице</a:t>
            </a:r>
          </a:p>
          <a:p>
            <a:pPr marL="444500" indent="-444500">
              <a:buFont typeface="Wingdings" pitchFamily="2" charset="2"/>
              <a:buChar char="q"/>
            </a:pPr>
            <a:r>
              <a:rPr lang="ru-RU" sz="2000" dirty="0" smtClean="0"/>
              <a:t>Символьные колонки </a:t>
            </a:r>
            <a:r>
              <a:rPr lang="en-US" sz="2000" dirty="0" smtClean="0"/>
              <a:t>– </a:t>
            </a:r>
            <a:r>
              <a:rPr lang="ru-RU" sz="2000" dirty="0" smtClean="0"/>
              <a:t>не фиксировать </a:t>
            </a:r>
            <a:r>
              <a:rPr lang="ru-RU" sz="2000" dirty="0" smtClean="0"/>
              <a:t>длину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 smtClean="0"/>
              <a:t>  </a:t>
            </a:r>
            <a:r>
              <a:rPr lang="ru-RU" sz="2000" dirty="0" smtClean="0"/>
              <a:t>  </a:t>
            </a:r>
            <a:r>
              <a:rPr lang="en-US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  <a:endParaRPr lang="ru-RU" sz="20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4500" indent="-444500">
              <a:buFont typeface="Wingdings" pitchFamily="2" charset="2"/>
              <a:buChar char="q"/>
            </a:pPr>
            <a:r>
              <a:rPr lang="ru-RU" sz="2000" dirty="0" smtClean="0"/>
              <a:t>Колонки со стоимостными величинами</a:t>
            </a:r>
            <a:r>
              <a:rPr lang="en-US" sz="2000" dirty="0" smtClean="0"/>
              <a:t> </a:t>
            </a:r>
            <a:r>
              <a:rPr lang="ru-RU" sz="2000" dirty="0" smtClean="0"/>
              <a:t>должны иметь </a:t>
            </a:r>
            <a:r>
              <a:rPr lang="en-US" sz="2000" dirty="0" smtClean="0"/>
              <a:t>2 </a:t>
            </a:r>
            <a:r>
              <a:rPr lang="ru-RU" sz="2000" dirty="0" smtClean="0"/>
              <a:t>знака </a:t>
            </a:r>
            <a:r>
              <a:rPr lang="ru-RU" sz="2000" dirty="0" smtClean="0"/>
              <a:t>в дробной </a:t>
            </a:r>
            <a:r>
              <a:rPr lang="ru-RU" sz="2000" dirty="0" smtClean="0"/>
              <a:t>части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000" dirty="0" smtClean="0"/>
              <a:t>    </a:t>
            </a:r>
            <a:r>
              <a:rPr lang="en-US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Numeric (10,2)</a:t>
            </a:r>
            <a:endParaRPr lang="ru-RU" sz="20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9512" y="2342336"/>
            <a:ext cx="8208912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1325" indent="-441325">
              <a:buFont typeface="Wingdings" panose="05000000000000000000" pitchFamily="2" charset="2"/>
              <a:buChar char="q"/>
            </a:pPr>
            <a:r>
              <a:rPr lang="ru-RU" sz="2000" dirty="0" smtClean="0"/>
              <a:t>При задании имен таблицам </a:t>
            </a:r>
            <a:r>
              <a:rPr lang="ru-RU" sz="2000" dirty="0" smtClean="0"/>
              <a:t>и </a:t>
            </a:r>
            <a:r>
              <a:rPr lang="ru-RU" sz="2000" dirty="0" smtClean="0"/>
              <a:t>колонкам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19138" indent="-182563">
              <a:spcBef>
                <a:spcPts val="600"/>
              </a:spcBef>
              <a:buFont typeface="Wingdings" pitchFamily="2" charset="2"/>
              <a:buChar char="§"/>
            </a:pPr>
            <a:r>
              <a:rPr lang="ru-RU" sz="2000" dirty="0" smtClean="0"/>
              <a:t>использовать </a:t>
            </a:r>
            <a:r>
              <a:rPr lang="ru-RU" sz="2000" b="1" dirty="0" smtClean="0"/>
              <a:t>содержательные </a:t>
            </a:r>
            <a:r>
              <a:rPr lang="ru-RU" sz="2000" b="1" dirty="0" smtClean="0"/>
              <a:t>названия (перевод или транслитерацию)</a:t>
            </a:r>
            <a:endParaRPr lang="ru-RU" sz="2000" b="1" dirty="0" smtClean="0"/>
          </a:p>
          <a:p>
            <a:pPr marL="719138" indent="-182563">
              <a:spcBef>
                <a:spcPts val="600"/>
              </a:spcBef>
              <a:buFont typeface="Wingdings" pitchFamily="2" charset="2"/>
              <a:buChar char="§"/>
            </a:pPr>
            <a:r>
              <a:rPr lang="ru-RU" sz="2000" b="1" dirty="0" smtClean="0"/>
              <a:t>для разделения слов</a:t>
            </a:r>
            <a:r>
              <a:rPr lang="ru-RU" sz="2000" dirty="0" smtClean="0"/>
              <a:t> использовать символ «подчеркивания» или начинать каждое слово  с прописной буквы</a:t>
            </a:r>
          </a:p>
          <a:p>
            <a:pPr marL="725488">
              <a:spcBef>
                <a:spcPts val="600"/>
              </a:spcBef>
            </a:pPr>
            <a:r>
              <a:rPr lang="ru-RU" sz="2000" dirty="0" smtClean="0"/>
              <a:t>   Например, </a:t>
            </a:r>
            <a:r>
              <a:rPr lang="en-US" sz="2000" b="1" dirty="0" err="1" smtClean="0">
                <a:solidFill>
                  <a:srgbClr val="7030A0"/>
                </a:solidFill>
              </a:rPr>
              <a:t>Pokup</a:t>
            </a:r>
            <a:r>
              <a:rPr lang="ru-RU" sz="2000" b="1" dirty="0" smtClean="0">
                <a:solidFill>
                  <a:srgbClr val="7030A0"/>
                </a:solidFill>
              </a:rPr>
              <a:t>_</a:t>
            </a:r>
            <a:r>
              <a:rPr lang="en-US" sz="2000" b="1" dirty="0" err="1" smtClean="0">
                <a:solidFill>
                  <a:srgbClr val="7030A0"/>
                </a:solidFill>
              </a:rPr>
              <a:t>kod</a:t>
            </a:r>
            <a:r>
              <a:rPr lang="ru-RU" sz="2000" dirty="0" smtClean="0"/>
              <a:t> </a:t>
            </a:r>
            <a:r>
              <a:rPr lang="en-US" sz="2000" dirty="0" smtClean="0"/>
              <a:t> </a:t>
            </a:r>
            <a:r>
              <a:rPr lang="ru-RU" sz="2000" dirty="0" smtClean="0"/>
              <a:t>или </a:t>
            </a:r>
            <a:endParaRPr lang="en-US" sz="2000" dirty="0" smtClean="0"/>
          </a:p>
          <a:p>
            <a:pPr marL="630238">
              <a:spcBef>
                <a:spcPts val="600"/>
              </a:spcBef>
            </a:pPr>
            <a:r>
              <a:rPr lang="en-US" sz="2000" dirty="0"/>
              <a:t> </a:t>
            </a:r>
            <a:r>
              <a:rPr lang="en-US" sz="2000" dirty="0" smtClean="0"/>
              <a:t>                    </a:t>
            </a:r>
            <a:r>
              <a:rPr lang="en-US" sz="2000" b="1" dirty="0" err="1" smtClean="0">
                <a:solidFill>
                  <a:srgbClr val="7030A0"/>
                </a:solidFill>
              </a:rPr>
              <a:t>PokupKod</a:t>
            </a:r>
            <a:endParaRPr lang="ru-RU" sz="2000" b="1" dirty="0" smtClean="0">
              <a:solidFill>
                <a:srgbClr val="7030A0"/>
              </a:solidFill>
            </a:endParaRPr>
          </a:p>
          <a:p>
            <a:pPr marL="719138" indent="-182563">
              <a:spcBef>
                <a:spcPts val="600"/>
              </a:spcBef>
              <a:buFont typeface="Wingdings" pitchFamily="2" charset="2"/>
              <a:buChar char="§"/>
            </a:pPr>
            <a:r>
              <a:rPr lang="ru-RU" sz="2000" b="1" dirty="0" smtClean="0"/>
              <a:t>имена полей давать по возможности лаконичными</a:t>
            </a:r>
            <a:r>
              <a:rPr lang="ru-RU" sz="2000" dirty="0" smtClean="0"/>
              <a:t> </a:t>
            </a:r>
          </a:p>
          <a:p>
            <a:pPr marL="803275">
              <a:spcBef>
                <a:spcPts val="600"/>
              </a:spcBef>
            </a:pPr>
            <a:r>
              <a:rPr lang="ru-RU" sz="2000" dirty="0" smtClean="0"/>
              <a:t>(не использовать окончания при транслитерации </a:t>
            </a:r>
            <a:endParaRPr lang="en-US" sz="2000" dirty="0" smtClean="0"/>
          </a:p>
          <a:p>
            <a:pPr marL="898525">
              <a:spcBef>
                <a:spcPts val="600"/>
              </a:spcBef>
            </a:pPr>
            <a:r>
              <a:rPr lang="en-US" sz="2000" dirty="0"/>
              <a:t> </a:t>
            </a:r>
            <a:r>
              <a:rPr lang="en-US" sz="2000" dirty="0" smtClean="0"/>
              <a:t>   </a:t>
            </a:r>
            <a:r>
              <a:rPr lang="en-US" sz="2000" b="1" dirty="0" smtClean="0">
                <a:solidFill>
                  <a:srgbClr val="00B050"/>
                </a:solidFill>
              </a:rPr>
              <a:t>Prod</a:t>
            </a:r>
            <a:r>
              <a:rPr lang="ru-RU" sz="2000" b="1" dirty="0" smtClean="0">
                <a:solidFill>
                  <a:srgbClr val="00B050"/>
                </a:solidFill>
              </a:rPr>
              <a:t>_</a:t>
            </a:r>
            <a:r>
              <a:rPr lang="en-US" sz="2000" b="1" dirty="0" err="1" smtClean="0">
                <a:solidFill>
                  <a:srgbClr val="00B050"/>
                </a:solidFill>
              </a:rPr>
              <a:t>kod</a:t>
            </a:r>
            <a:r>
              <a:rPr lang="en-US" sz="2000" b="1" dirty="0" smtClean="0">
                <a:solidFill>
                  <a:srgbClr val="00B050"/>
                </a:solidFill>
              </a:rPr>
              <a:t> </a:t>
            </a:r>
            <a:r>
              <a:rPr lang="ru-RU" sz="2000" b="1" dirty="0" smtClean="0">
                <a:solidFill>
                  <a:srgbClr val="00B050"/>
                </a:solidFill>
              </a:rPr>
              <a:t>  </a:t>
            </a:r>
            <a:r>
              <a:rPr lang="ru-RU" sz="2000" dirty="0" smtClean="0"/>
              <a:t>вместо </a:t>
            </a:r>
            <a:r>
              <a:rPr lang="en-US" sz="2000" dirty="0" smtClean="0"/>
              <a:t> </a:t>
            </a:r>
            <a:r>
              <a:rPr lang="en-US" sz="2000" strike="sngStrike" dirty="0" smtClean="0">
                <a:solidFill>
                  <a:srgbClr val="FF0000"/>
                </a:solidFill>
              </a:rPr>
              <a:t> </a:t>
            </a:r>
            <a:r>
              <a:rPr lang="en-US" sz="2000" strike="sngStrike" dirty="0" err="1" smtClean="0">
                <a:solidFill>
                  <a:srgbClr val="FF0000"/>
                </a:solidFill>
              </a:rPr>
              <a:t>Produkcii</a:t>
            </a:r>
            <a:r>
              <a:rPr lang="ru-RU" sz="2000" strike="sngStrike" dirty="0" smtClean="0">
                <a:solidFill>
                  <a:srgbClr val="FF0000"/>
                </a:solidFill>
              </a:rPr>
              <a:t>_</a:t>
            </a:r>
            <a:r>
              <a:rPr lang="en-US" sz="2000" strike="sngStrike" dirty="0" err="1" smtClean="0">
                <a:solidFill>
                  <a:srgbClr val="FF0000"/>
                </a:solidFill>
              </a:rPr>
              <a:t>kod</a:t>
            </a:r>
            <a:r>
              <a:rPr lang="ru-RU" sz="2000" dirty="0" smtClean="0"/>
              <a:t>) </a:t>
            </a:r>
          </a:p>
          <a:p>
            <a:pPr marL="182563" indent="-182563"/>
            <a:r>
              <a:rPr lang="ru-RU" sz="2000" dirty="0" smtClean="0"/>
              <a:t>                              </a:t>
            </a:r>
            <a:r>
              <a:rPr lang="ru-RU" sz="2000" dirty="0" smtClean="0"/>
              <a:t>     Это </a:t>
            </a:r>
            <a:r>
              <a:rPr lang="ru-RU" sz="2000" dirty="0" smtClean="0"/>
              <a:t>сократит код </a:t>
            </a:r>
            <a:r>
              <a:rPr lang="ru-RU" sz="2000" dirty="0" smtClean="0"/>
              <a:t>запросов к данным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Физическая модель «Продажи»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68977"/>
            <a:ext cx="8712968" cy="5150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863479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3200" b="1" smtClean="0">
                <a:latin typeface="Arial" pitchFamily="34" charset="0"/>
                <a:cs typeface="Arial" pitchFamily="34" charset="0"/>
              </a:rPr>
              <a:t>1. </a:t>
            </a:r>
            <a:r>
              <a:rPr lang="ru-RU" sz="3200" b="1" smtClean="0">
                <a:latin typeface="Arial" pitchFamily="34" charset="0"/>
                <a:cs typeface="Arial" pitchFamily="34" charset="0"/>
              </a:rPr>
              <a:t>Обязательное заполнение колонок</a:t>
            </a:r>
            <a:endParaRPr lang="ru-RU" sz="320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1124744"/>
            <a:ext cx="871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Значимые колонки должны быть обязательно заполнены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772816"/>
            <a:ext cx="4176464" cy="510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3600" b="1" smtClean="0">
                <a:latin typeface="Arial" pitchFamily="34" charset="0"/>
                <a:cs typeface="Arial" pitchFamily="34" charset="0"/>
              </a:rPr>
              <a:t>2. </a:t>
            </a:r>
            <a:r>
              <a:rPr lang="ru-RU" sz="3600" b="1" smtClean="0">
                <a:latin typeface="Arial" pitchFamily="34" charset="0"/>
                <a:cs typeface="Arial" pitchFamily="34" charset="0"/>
              </a:rPr>
              <a:t>Значения по умолчанию</a:t>
            </a:r>
            <a:endParaRPr lang="ru-RU" sz="360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1124744"/>
            <a:ext cx="8712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Значение по умолчание – это значение, которое будет присвоено колонке, если ей не будет задано явное значение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720" y="1988840"/>
            <a:ext cx="5254784" cy="486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7504" y="2924944"/>
            <a:ext cx="34563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/>
            <a:r>
              <a:rPr lang="ru-RU" sz="2400" dirty="0" smtClean="0"/>
              <a:t>Зададим </a:t>
            </a:r>
            <a:r>
              <a:rPr lang="ru-RU" sz="2400" dirty="0" smtClean="0"/>
              <a:t>значения по умолчанию для </a:t>
            </a:r>
            <a:r>
              <a:rPr lang="ru-RU" sz="2400" dirty="0" smtClean="0"/>
              <a:t>колонок: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dirty="0" smtClean="0"/>
              <a:t>Количество</a:t>
            </a:r>
            <a:r>
              <a:rPr lang="en-US" sz="2400" dirty="0" smtClean="0"/>
              <a:t>  -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kol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dirty="0" smtClean="0"/>
              <a:t>Цена</a:t>
            </a:r>
            <a:r>
              <a:rPr lang="en-US" sz="2400" dirty="0" smtClean="0"/>
              <a:t>            -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cena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648" y="1049163"/>
            <a:ext cx="3856856" cy="576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3200" b="1" spc="-100" dirty="0" smtClean="0">
                <a:latin typeface="Arial" pitchFamily="34" charset="0"/>
                <a:cs typeface="Arial" pitchFamily="34" charset="0"/>
              </a:rPr>
              <a:t>2. </a:t>
            </a:r>
            <a:r>
              <a:rPr lang="ru-RU" sz="3200" b="1" spc="-100" dirty="0" smtClean="0">
                <a:latin typeface="Arial" pitchFamily="34" charset="0"/>
                <a:cs typeface="Arial" pitchFamily="34" charset="0"/>
              </a:rPr>
              <a:t>Значения по умолчанию идентификаторов</a:t>
            </a:r>
            <a:endParaRPr lang="ru-RU" sz="3200" spc="-1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496" y="1124744"/>
            <a:ext cx="89644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Для суррогатных ключей:</a:t>
            </a:r>
          </a:p>
          <a:p>
            <a:pPr marL="627063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и</a:t>
            </a:r>
            <a:r>
              <a:rPr lang="ru-RU" sz="2400" dirty="0" smtClean="0"/>
              <a:t>д-р продажи (</a:t>
            </a:r>
            <a:r>
              <a:rPr lang="en-US" sz="2400" dirty="0" err="1" smtClean="0"/>
              <a:t>book_id</a:t>
            </a:r>
            <a:r>
              <a:rPr lang="en-US" sz="2400" dirty="0" smtClean="0"/>
              <a:t>)</a:t>
            </a:r>
          </a:p>
          <a:p>
            <a:pPr marL="627063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и</a:t>
            </a:r>
            <a:r>
              <a:rPr lang="ru-RU" sz="2400" dirty="0" smtClean="0"/>
              <a:t>д-р ассортимента </a:t>
            </a:r>
            <a:r>
              <a:rPr lang="en-US" sz="2400" dirty="0" smtClean="0"/>
              <a:t>(</a:t>
            </a:r>
            <a:r>
              <a:rPr lang="en-US" sz="2400" dirty="0" err="1" smtClean="0"/>
              <a:t>kart_id</a:t>
            </a:r>
            <a:r>
              <a:rPr lang="en-US" sz="2400" dirty="0" smtClean="0"/>
              <a:t>)</a:t>
            </a:r>
            <a:r>
              <a:rPr lang="ru-RU" sz="2400" dirty="0" smtClean="0"/>
              <a:t> </a:t>
            </a:r>
          </a:p>
          <a:p>
            <a:pPr marL="534988" indent="-534988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выберем свойство</a:t>
            </a:r>
          </a:p>
          <a:p>
            <a:pPr marL="450850" indent="-450850" algn="just"/>
            <a:r>
              <a:rPr lang="ru-RU" sz="2400" dirty="0" smtClean="0"/>
              <a:t>      </a:t>
            </a:r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Автоувеличение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4500" indent="-444500" algn="just">
              <a:buFont typeface="Wingdings" pitchFamily="2" charset="2"/>
              <a:buChar char="q"/>
            </a:pP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4500" indent="-444500" algn="just">
              <a:buFont typeface="Wingdings" pitchFamily="2" charset="2"/>
              <a:buChar char="q"/>
            </a:pPr>
            <a:endParaRPr lang="ru-RU" sz="2400" dirty="0" smtClean="0">
              <a:solidFill>
                <a:srgbClr val="002060"/>
              </a:solidFill>
              <a:cs typeface="Courier New" panose="02070309020205020404" pitchFamily="49" charset="0"/>
            </a:endParaRPr>
          </a:p>
          <a:p>
            <a:pPr marL="444500" indent="-444500" algn="just">
              <a:buFont typeface="Wingdings" pitchFamily="2" charset="2"/>
              <a:buChar char="q"/>
            </a:pPr>
            <a:endParaRPr lang="ru-RU" sz="2400" dirty="0" smtClean="0">
              <a:solidFill>
                <a:srgbClr val="002060"/>
              </a:solidFill>
              <a:cs typeface="Courier New" panose="02070309020205020404" pitchFamily="49" charset="0"/>
            </a:endParaRPr>
          </a:p>
          <a:p>
            <a:pPr marL="444500" indent="-444500" algn="just">
              <a:buFont typeface="Wingdings" pitchFamily="2" charset="2"/>
              <a:buChar char="q"/>
            </a:pPr>
            <a:endParaRPr lang="ru-RU" sz="2400" dirty="0" smtClean="0">
              <a:solidFill>
                <a:srgbClr val="002060"/>
              </a:solidFill>
              <a:cs typeface="Courier New" panose="02070309020205020404" pitchFamily="49" charset="0"/>
            </a:endParaRPr>
          </a:p>
          <a:p>
            <a:pPr marL="444500" indent="-444500" algn="just">
              <a:buFont typeface="Wingdings" pitchFamily="2" charset="2"/>
              <a:buChar char="q"/>
            </a:pPr>
            <a:r>
              <a:rPr lang="ru-RU" sz="2400" dirty="0" smtClean="0">
                <a:cs typeface="Courier New" panose="02070309020205020404" pitchFamily="49" charset="0"/>
              </a:rPr>
              <a:t>Зададим имя </a:t>
            </a:r>
          </a:p>
          <a:p>
            <a:pPr algn="just"/>
            <a:r>
              <a:rPr lang="ru-RU" sz="2400" dirty="0"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cs typeface="Courier New" panose="02070309020205020404" pitchFamily="49" charset="0"/>
              </a:rPr>
              <a:t>       последовательности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2411760" y="2996952"/>
            <a:ext cx="3024336" cy="2304256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2898068" y="5157192"/>
            <a:ext cx="2414911" cy="1259374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8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8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2996129"/>
            <a:ext cx="4513278" cy="180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Формирование скрипт-файла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097449"/>
            <a:ext cx="8712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Процесс генерации схемы БД из физической модели данных называется прямым проектированием 	      (</a:t>
            </a:r>
            <a:r>
              <a:rPr lang="ru-RU" sz="2400" b="1" dirty="0" err="1" smtClean="0"/>
              <a:t>Forward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Engineering</a:t>
            </a:r>
            <a:r>
              <a:rPr lang="ru-RU" sz="2400" dirty="0" smtClean="0"/>
              <a:t>)</a:t>
            </a:r>
          </a:p>
          <a:p>
            <a:pPr algn="just"/>
            <a:r>
              <a:rPr lang="ru-RU" sz="2400" dirty="0" smtClean="0"/>
              <a:t>Цель: сгенерировать команды создания объектов БД</a:t>
            </a:r>
            <a:endParaRPr lang="en-US" sz="24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098801"/>
            <a:ext cx="4676775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Формирование скрипт-файла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mtClean="0">
                <a:solidFill>
                  <a:srgbClr val="0070C0"/>
                </a:solidFill>
              </a:rPr>
              <a:t/>
            </a:r>
            <a:br>
              <a:rPr lang="ru-RU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097449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Сохраняем скрипт в файле на диске</a:t>
            </a:r>
            <a:endParaRPr lang="en-US" sz="2400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512" y="1559114"/>
            <a:ext cx="7453405" cy="4822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Вопросы</a:t>
            </a:r>
            <a:endParaRPr lang="ru-RU" sz="3600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Проектирование БД</a:t>
            </a:r>
            <a:r>
              <a:rPr lang="ru-RU" sz="2000" smtClean="0">
                <a:solidFill>
                  <a:srgbClr val="0070C0"/>
                </a:solidFill>
              </a:rPr>
              <a:t/>
            </a:r>
            <a:br>
              <a:rPr lang="ru-RU" sz="200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0040" y="1313467"/>
            <a:ext cx="8892480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2400" dirty="0" smtClean="0"/>
              <a:t>Назовите основные этапы проектирования БД 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2400" dirty="0" smtClean="0"/>
              <a:t>Что надо определить в логической модели</a:t>
            </a:r>
            <a:r>
              <a:rPr lang="en-US" sz="2400" dirty="0" smtClean="0">
                <a:solidFill>
                  <a:srgbClr val="7030A0"/>
                </a:solidFill>
              </a:rPr>
              <a:t> </a:t>
            </a:r>
            <a:r>
              <a:rPr lang="en-US" sz="2400" dirty="0" smtClean="0"/>
              <a:t>?</a:t>
            </a:r>
            <a:endParaRPr lang="ru-RU" sz="2400" dirty="0" smtClean="0"/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2400" dirty="0" smtClean="0"/>
              <a:t>Какие виды связей между сущностями могут быть в логической модели 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2400" dirty="0" smtClean="0"/>
              <a:t>Какое значение по умолчанию задается для колонки суррогатного  первичного ключа 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2400" dirty="0" smtClean="0"/>
              <a:t>В какой таблице (главной, подчиненной) находится колонка внешнего ключа (</a:t>
            </a:r>
            <a:r>
              <a:rPr lang="en-US" sz="2400" dirty="0" smtClean="0"/>
              <a:t>Foreign Key) ?</a:t>
            </a:r>
          </a:p>
          <a:p>
            <a:pPr marL="457200" indent="-457200">
              <a:spcBef>
                <a:spcPts val="600"/>
              </a:spcBef>
            </a:pPr>
            <a:endParaRPr lang="ru-RU" sz="2400" dirty="0" smtClean="0"/>
          </a:p>
        </p:txBody>
      </p:sp>
      <p:pic>
        <p:nvPicPr>
          <p:cNvPr id="13" name="Рисунок 12" descr="SQ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1600" cy="52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 smtClean="0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Рисунок 5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7065</TotalTime>
  <Words>1121</Words>
  <Application>Microsoft Office PowerPoint</Application>
  <PresentationFormat>Экран (4:3)</PresentationFormat>
  <Paragraphs>274</Paragraphs>
  <Slides>38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39" baseType="lpstr">
      <vt:lpstr>Открытая</vt:lpstr>
      <vt:lpstr>Лекция 8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                                   Проектирование БД  </vt:lpstr>
      <vt:lpstr>       Проектирование БД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607</cp:revision>
  <dcterms:created xsi:type="dcterms:W3CDTF">2020-10-04T20:01:59Z</dcterms:created>
  <dcterms:modified xsi:type="dcterms:W3CDTF">2025-10-06T19:53:04Z</dcterms:modified>
</cp:coreProperties>
</file>