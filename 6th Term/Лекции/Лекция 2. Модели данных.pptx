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324" r:id="rId4"/>
    <p:sldId id="325" r:id="rId5"/>
    <p:sldId id="293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297" r:id="rId15"/>
    <p:sldId id="294" r:id="rId16"/>
    <p:sldId id="295" r:id="rId17"/>
    <p:sldId id="296" r:id="rId18"/>
    <p:sldId id="298" r:id="rId19"/>
    <p:sldId id="299" r:id="rId20"/>
    <p:sldId id="300" r:id="rId21"/>
    <p:sldId id="334" r:id="rId22"/>
    <p:sldId id="341" r:id="rId23"/>
    <p:sldId id="335" r:id="rId24"/>
    <p:sldId id="336" r:id="rId25"/>
    <p:sldId id="337" r:id="rId26"/>
    <p:sldId id="338" r:id="rId27"/>
    <p:sldId id="339" r:id="rId28"/>
    <p:sldId id="342" r:id="rId29"/>
    <p:sldId id="343" r:id="rId30"/>
    <p:sldId id="340" r:id="rId31"/>
    <p:sldId id="291" r:id="rId32"/>
    <p:sldId id="292" r:id="rId3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7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420FB-3134-4AFB-8A7B-878DBFF2DCBE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D46D9-5F95-4A4A-80A2-82906EEBF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702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12.09.2025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0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3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96BF5D9-4AA4-4C09-9DDB-303A09193B8E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7F000A-7D59-434E-AC61-119968F2B181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064F22-7D92-426D-8147-B259567C005D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6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444296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07006A-42FB-4BC3-8D0B-713D278FD97D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EFC4BB-C5DC-4A55-BF0D-F172948F6FC2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4858C2-66E3-4491-95E8-5725A7BF1DCF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F5AACCE-C039-4A73-A245-28F9A6C03767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3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1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31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B76A5B-76D6-43F4-92BC-16DA687A9C7B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2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0B88BDA-C263-49AF-85CF-10CFC68679A3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3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12.09.2025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3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332659"/>
            <a:ext cx="7772400" cy="1008110"/>
          </a:xfrm>
        </p:spPr>
        <p:txBody>
          <a:bodyPr>
            <a:normAutofit/>
          </a:bodyPr>
          <a:lstStyle/>
          <a:p>
            <a:pPr algn="ctr"/>
            <a:r>
              <a:rPr lang="ru-RU" sz="5400" smtClean="0">
                <a:solidFill>
                  <a:schemeClr val="bg2"/>
                </a:solidFill>
              </a:rPr>
              <a:t>Лекция 2</a:t>
            </a:r>
            <a:endParaRPr lang="ru-RU" sz="5400" dirty="0">
              <a:solidFill>
                <a:schemeClr val="bg2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39" y="1700808"/>
            <a:ext cx="6811925" cy="4320480"/>
          </a:xfrm>
        </p:spPr>
        <p:txBody>
          <a:bodyPr>
            <a:normAutofit/>
          </a:bodyPr>
          <a:lstStyle/>
          <a:p>
            <a:pPr algn="ctr"/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Организация данных.</a:t>
            </a:r>
          </a:p>
          <a:p>
            <a:pPr algn="ctr"/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Модели данных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143131" y="6488668"/>
            <a:ext cx="2000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ru-RU" b="1" dirty="0" smtClean="0">
                <a:solidFill>
                  <a:srgbClr val="FFC000"/>
                </a:solidFill>
              </a:rPr>
              <a:t>©Монахов В.И.</a:t>
            </a:r>
            <a:endParaRPr lang="ru-RU" dirty="0">
              <a:solidFill>
                <a:srgbClr val="FFC000"/>
              </a:solidFill>
            </a:endParaRPr>
          </a:p>
        </p:txBody>
      </p:sp>
      <p:pic>
        <p:nvPicPr>
          <p:cNvPr id="7" name="Рисунок 6" descr="Каф АСОИиУ логотип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0"/>
            <a:ext cx="1525124" cy="1340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340196"/>
            <a:ext cx="8640960" cy="3528964"/>
          </a:xfrm>
        </p:spPr>
        <p:txBody>
          <a:bodyPr rtlCol="0">
            <a:noAutofit/>
          </a:bodyPr>
          <a:lstStyle/>
          <a:p>
            <a:pPr marL="534988" indent="-534988" algn="just">
              <a:spcBef>
                <a:spcPts val="1200"/>
              </a:spcBef>
              <a:buClrTx/>
              <a:buSzPct val="100000"/>
              <a:buFont typeface="Wingdings" panose="05000000000000000000" pitchFamily="2" charset="2"/>
              <a:buChar char="q"/>
              <a:defRPr/>
            </a:pPr>
            <a:r>
              <a:rPr lang="ru-RU" sz="2800" dirty="0"/>
              <a:t>Основным этапом разработки </a:t>
            </a:r>
            <a:r>
              <a:rPr lang="ru-RU" sz="2800" dirty="0" smtClean="0"/>
              <a:t>информационной системы </a:t>
            </a:r>
            <a:r>
              <a:rPr lang="ru-RU" sz="2800" dirty="0"/>
              <a:t>является проектирование </a:t>
            </a:r>
            <a:r>
              <a:rPr lang="ru-RU" sz="2800" dirty="0" smtClean="0"/>
              <a:t>БД </a:t>
            </a:r>
          </a:p>
          <a:p>
            <a:pPr marL="534988" indent="-534988" algn="just">
              <a:spcBef>
                <a:spcPts val="1200"/>
              </a:spcBef>
              <a:buClrTx/>
              <a:buSzPct val="100000"/>
              <a:buFont typeface="Wingdings" panose="05000000000000000000" pitchFamily="2" charset="2"/>
              <a:buChar char="q"/>
              <a:defRPr/>
            </a:pPr>
            <a:r>
              <a:rPr lang="ru-RU" sz="2800" dirty="0" smtClean="0"/>
              <a:t>Одним </a:t>
            </a:r>
            <a:r>
              <a:rPr lang="ru-RU" sz="2800" dirty="0"/>
              <a:t>из </a:t>
            </a:r>
            <a:r>
              <a:rPr lang="ru-RU" sz="2800" dirty="0" smtClean="0"/>
              <a:t>ключевых </a:t>
            </a:r>
            <a:r>
              <a:rPr lang="ru-RU" sz="2800" dirty="0"/>
              <a:t>вопросов в проектировании БД является </a:t>
            </a:r>
            <a:r>
              <a:rPr lang="ru-RU" sz="2800" dirty="0" smtClean="0"/>
              <a:t>выбор модели данных</a:t>
            </a:r>
            <a:endParaRPr lang="ru-RU" sz="2800" dirty="0"/>
          </a:p>
          <a:p>
            <a:pPr marL="365125" indent="-6350" algn="just">
              <a:spcBef>
                <a:spcPts val="1200"/>
              </a:spcBef>
              <a:buNone/>
              <a:defRPr/>
            </a:pPr>
            <a:endParaRPr lang="ru-RU" sz="2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260648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Проектирование  БД</a:t>
            </a:r>
            <a:endParaRPr lang="ru-RU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3528964"/>
          </a:xfrm>
        </p:spPr>
        <p:txBody>
          <a:bodyPr rtlCol="0">
            <a:noAutofit/>
          </a:bodyPr>
          <a:lstStyle/>
          <a:p>
            <a:pPr marL="446088" indent="-446088" algn="just"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600" dirty="0"/>
              <a:t>До внедрения БД в практику </a:t>
            </a:r>
            <a:r>
              <a:rPr lang="ru-RU" sz="2600" dirty="0" smtClean="0"/>
              <a:t>хранения данных основным способом </a:t>
            </a:r>
            <a:r>
              <a:rPr lang="ru-RU" sz="2600" dirty="0"/>
              <a:t>хранения данных были плоские </a:t>
            </a:r>
            <a:r>
              <a:rPr lang="ru-RU" sz="2600" dirty="0" smtClean="0"/>
              <a:t>файлы, </a:t>
            </a:r>
            <a:r>
              <a:rPr lang="ru-RU" sz="2600" dirty="0"/>
              <a:t>которые имели очень простую структуру: данные хранились в виде записей, разделенных на поля фиксированной </a:t>
            </a:r>
            <a:r>
              <a:rPr lang="ru-RU" sz="2600" dirty="0" smtClean="0"/>
              <a:t>длины</a:t>
            </a:r>
            <a:endParaRPr lang="ru-RU" sz="2600" dirty="0"/>
          </a:p>
          <a:p>
            <a:pPr marL="446088" indent="-446088" algn="just"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600" dirty="0"/>
              <a:t>В реальной жизни между элементами данных </a:t>
            </a:r>
            <a:r>
              <a:rPr lang="ru-RU" sz="2600" dirty="0" smtClean="0"/>
              <a:t>существуют </a:t>
            </a:r>
            <a:r>
              <a:rPr lang="ru-RU" sz="2600" dirty="0"/>
              <a:t>сложные </a:t>
            </a:r>
            <a:r>
              <a:rPr lang="ru-RU" sz="2600" dirty="0" smtClean="0"/>
              <a:t>связи</a:t>
            </a:r>
          </a:p>
          <a:p>
            <a:pPr marL="446088" indent="-446088" algn="just"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600" dirty="0" smtClean="0"/>
              <a:t>При </a:t>
            </a:r>
            <a:r>
              <a:rPr lang="ru-RU" sz="2600" dirty="0"/>
              <a:t>использовании плоских файлов </a:t>
            </a:r>
            <a:r>
              <a:rPr lang="ru-RU" sz="2600" dirty="0" smtClean="0"/>
              <a:t>сложно:</a:t>
            </a:r>
          </a:p>
          <a:p>
            <a:pPr marL="1081088" indent="-546100" algn="just">
              <a:buClrTx/>
              <a:buSzPct val="100000"/>
              <a:buFont typeface="Wingdings" panose="05000000000000000000" pitchFamily="2" charset="2"/>
              <a:buChar char="§"/>
            </a:pPr>
            <a:r>
              <a:rPr lang="ru-RU" sz="2600" dirty="0"/>
              <a:t>о</a:t>
            </a:r>
            <a:r>
              <a:rPr lang="ru-RU" sz="2600" dirty="0" smtClean="0"/>
              <a:t>рганизовать связи между данными</a:t>
            </a:r>
          </a:p>
          <a:p>
            <a:pPr marL="1081088" indent="-546100" algn="just">
              <a:buClrTx/>
              <a:buSzPct val="100000"/>
              <a:buFont typeface="Wingdings" panose="05000000000000000000" pitchFamily="2" charset="2"/>
              <a:buChar char="§"/>
            </a:pPr>
            <a:r>
              <a:rPr lang="ru-RU" sz="2600" dirty="0" smtClean="0"/>
              <a:t>поддерживать связи </a:t>
            </a:r>
            <a:r>
              <a:rPr lang="ru-RU" sz="2600" dirty="0"/>
              <a:t>при </a:t>
            </a:r>
            <a:r>
              <a:rPr lang="ru-RU" sz="2600" dirty="0" smtClean="0"/>
              <a:t>изменении </a:t>
            </a:r>
            <a:r>
              <a:rPr lang="ru-RU" sz="2600" dirty="0"/>
              <a:t>и </a:t>
            </a:r>
            <a:r>
              <a:rPr lang="ru-RU" sz="2600" dirty="0" smtClean="0"/>
              <a:t>удалении </a:t>
            </a:r>
            <a:r>
              <a:rPr lang="ru-RU" sz="2600" dirty="0"/>
              <a:t>отдельных элементов данных</a:t>
            </a:r>
            <a:endParaRPr lang="ru-RU" sz="2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260648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Способы хранения данных</a:t>
            </a:r>
            <a:endParaRPr lang="ru-RU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615939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556792"/>
            <a:ext cx="8640960" cy="3528964"/>
          </a:xfrm>
        </p:spPr>
        <p:txBody>
          <a:bodyPr rtlCol="0">
            <a:noAutofit/>
          </a:bodyPr>
          <a:lstStyle/>
          <a:p>
            <a:pPr marL="446088" indent="-446088" algn="just"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800" dirty="0"/>
              <a:t>Одним из основных понятий в теории баз данных является модель </a:t>
            </a:r>
            <a:r>
              <a:rPr lang="ru-RU" sz="2800" dirty="0" smtClean="0"/>
              <a:t>данных</a:t>
            </a:r>
          </a:p>
          <a:p>
            <a:pPr marL="446088" indent="-446088" algn="just">
              <a:spcBef>
                <a:spcPts val="1800"/>
              </a:spcBef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800" dirty="0" smtClean="0"/>
              <a:t>Модель характеризуется </a:t>
            </a:r>
          </a:p>
          <a:p>
            <a:pPr marL="1074738" indent="-457200" algn="just">
              <a:spcBef>
                <a:spcPts val="1800"/>
              </a:spcBef>
              <a:buClrTx/>
              <a:buSzPct val="100000"/>
              <a:buFont typeface="Wingdings" panose="05000000000000000000" pitchFamily="2" charset="2"/>
              <a:buChar char="§"/>
            </a:pPr>
            <a:r>
              <a:rPr lang="ru-RU" sz="2800" b="1" dirty="0" smtClean="0"/>
              <a:t> </a:t>
            </a:r>
            <a:r>
              <a:rPr lang="ru-RU" sz="2800" b="1" dirty="0" smtClean="0">
                <a:solidFill>
                  <a:srgbClr val="C00000"/>
                </a:solidFill>
              </a:rPr>
              <a:t>способом </a:t>
            </a:r>
            <a:r>
              <a:rPr lang="ru-RU" sz="2800" b="1" dirty="0">
                <a:solidFill>
                  <a:srgbClr val="C00000"/>
                </a:solidFill>
              </a:rPr>
              <a:t>организации </a:t>
            </a:r>
            <a:r>
              <a:rPr lang="ru-RU" sz="2800" dirty="0"/>
              <a:t>данных </a:t>
            </a:r>
            <a:endParaRPr lang="ru-RU" sz="2800" dirty="0" smtClean="0"/>
          </a:p>
          <a:p>
            <a:pPr marL="1074738" indent="-457200" algn="just">
              <a:spcBef>
                <a:spcPts val="1800"/>
              </a:spcBef>
              <a:buClrTx/>
              <a:buSzPct val="100000"/>
              <a:buFont typeface="Wingdings" panose="05000000000000000000" pitchFamily="2" charset="2"/>
              <a:buChar char="§"/>
            </a:pPr>
            <a:r>
              <a:rPr lang="ru-RU" sz="2800" b="1" dirty="0" smtClean="0"/>
              <a:t> </a:t>
            </a:r>
            <a:r>
              <a:rPr lang="ru-RU" sz="2800" b="1" dirty="0" smtClean="0">
                <a:solidFill>
                  <a:schemeClr val="accent3">
                    <a:lumMod val="75000"/>
                  </a:schemeClr>
                </a:solidFill>
              </a:rPr>
              <a:t>методами </a:t>
            </a:r>
            <a:r>
              <a:rPr lang="ru-RU" sz="2800" b="1" dirty="0">
                <a:solidFill>
                  <a:schemeClr val="accent3">
                    <a:lumMod val="75000"/>
                  </a:schemeClr>
                </a:solidFill>
              </a:rPr>
              <a:t>доступа</a:t>
            </a:r>
            <a:r>
              <a:rPr lang="ru-RU" sz="2800" dirty="0"/>
              <a:t> к </a:t>
            </a:r>
            <a:r>
              <a:rPr lang="ru-RU" sz="2800" dirty="0" smtClean="0"/>
              <a:t>данным</a:t>
            </a:r>
            <a:endParaRPr lang="ru-RU" sz="2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260648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Модель данных</a:t>
            </a:r>
            <a:endParaRPr lang="ru-RU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845798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Модель данных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6409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/>
              <a:t>Модель данных -  это логическая структура хранимых в </a:t>
            </a:r>
            <a:r>
              <a:rPr lang="ru-RU" sz="2800" smtClean="0"/>
              <a:t>БД данных, включающая</a:t>
            </a:r>
            <a:r>
              <a:rPr lang="ru-RU" sz="280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95350" indent="-438150">
              <a:buFont typeface="Wingdings" pitchFamily="2" charset="2"/>
              <a:buChar char="§"/>
            </a:pPr>
            <a:r>
              <a:rPr lang="ru-RU" sz="2800" dirty="0" smtClean="0"/>
              <a:t>совокупность  сущностей</a:t>
            </a:r>
          </a:p>
          <a:p>
            <a:pPr marL="895350" indent="-438150">
              <a:buFont typeface="Wingdings" pitchFamily="2" charset="2"/>
              <a:buChar char="§"/>
            </a:pPr>
            <a:r>
              <a:rPr lang="ru-RU" sz="2800" dirty="0" smtClean="0"/>
              <a:t>связи между  сущностями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520" y="2996952"/>
            <a:ext cx="8764464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dirty="0" smtClean="0">
                <a:solidFill>
                  <a:srgbClr val="7030A0"/>
                </a:solidFill>
              </a:rPr>
              <a:t>Модель данных</a:t>
            </a:r>
            <a:r>
              <a:rPr lang="ru-RU" sz="2800" dirty="0" smtClean="0">
                <a:solidFill>
                  <a:srgbClr val="7030A0"/>
                </a:solidFill>
              </a:rPr>
              <a:t>  </a:t>
            </a:r>
            <a:r>
              <a:rPr lang="ru-RU" sz="2800" dirty="0" smtClean="0"/>
              <a:t>– это </a:t>
            </a:r>
            <a:r>
              <a:rPr lang="ru-RU" sz="2800" b="1" dirty="0" smtClean="0">
                <a:solidFill>
                  <a:srgbClr val="0070C0"/>
                </a:solidFill>
              </a:rPr>
              <a:t>абстрактное </a:t>
            </a:r>
            <a:r>
              <a:rPr lang="ru-RU" sz="2800" dirty="0" smtClean="0"/>
              <a:t>(логическое) определение </a:t>
            </a:r>
            <a:r>
              <a:rPr lang="ru-RU" sz="2800" b="1" dirty="0" smtClean="0">
                <a:solidFill>
                  <a:srgbClr val="00B050"/>
                </a:solidFill>
              </a:rPr>
              <a:t>объектов </a:t>
            </a:r>
            <a:r>
              <a:rPr lang="ru-RU" sz="2800" dirty="0" smtClean="0"/>
              <a:t>и</a:t>
            </a:r>
            <a:r>
              <a:rPr lang="ru-RU" sz="2800" b="1" dirty="0" smtClean="0"/>
              <a:t> </a:t>
            </a:r>
            <a:r>
              <a:rPr lang="ru-RU" sz="2800" b="1" dirty="0" smtClean="0">
                <a:solidFill>
                  <a:schemeClr val="accent3">
                    <a:lumMod val="75000"/>
                  </a:schemeClr>
                </a:solidFill>
              </a:rPr>
              <a:t>операторов</a:t>
            </a:r>
            <a:r>
              <a:rPr lang="ru-RU" sz="2800" b="1" dirty="0" smtClean="0">
                <a:solidFill>
                  <a:srgbClr val="0070C0"/>
                </a:solidFill>
              </a:rPr>
              <a:t> </a:t>
            </a:r>
            <a:r>
              <a:rPr lang="ru-RU" sz="2800" dirty="0" smtClean="0"/>
              <a:t>для работы с ними, в совокупности составляющих </a:t>
            </a:r>
            <a:r>
              <a:rPr lang="ru-RU" sz="2800" b="1" dirty="0" smtClean="0">
                <a:solidFill>
                  <a:srgbClr val="0070C0"/>
                </a:solidFill>
              </a:rPr>
              <a:t>машину доступа к данным</a:t>
            </a:r>
            <a:r>
              <a:rPr lang="ru-RU" sz="2800" dirty="0" smtClean="0"/>
              <a:t>, с которой взаимодействует пользователь </a:t>
            </a:r>
          </a:p>
          <a:p>
            <a:pPr algn="just">
              <a:spcBef>
                <a:spcPts val="1200"/>
              </a:spcBef>
            </a:pPr>
            <a:r>
              <a:rPr lang="ru-RU" sz="2800" b="1" dirty="0" smtClean="0">
                <a:solidFill>
                  <a:srgbClr val="00B050"/>
                </a:solidFill>
              </a:rPr>
              <a:t>Объекты</a:t>
            </a:r>
            <a:r>
              <a:rPr lang="ru-RU" sz="2800" dirty="0" smtClean="0"/>
              <a:t>  моделируют</a:t>
            </a:r>
            <a:r>
              <a:rPr lang="ru-RU" sz="2800" dirty="0" smtClean="0">
                <a:solidFill>
                  <a:srgbClr val="0070C0"/>
                </a:solidFill>
              </a:rPr>
              <a:t> </a:t>
            </a:r>
            <a:r>
              <a:rPr lang="ru-RU" sz="2800" b="1" dirty="0" smtClean="0">
                <a:solidFill>
                  <a:srgbClr val="00B050"/>
                </a:solidFill>
              </a:rPr>
              <a:t>структуру данных</a:t>
            </a:r>
            <a:r>
              <a:rPr lang="ru-RU" sz="2800" dirty="0" smtClean="0"/>
              <a:t>, </a:t>
            </a:r>
          </a:p>
          <a:p>
            <a:r>
              <a:rPr lang="ru-RU" sz="2800" dirty="0" smtClean="0"/>
              <a:t>                а </a:t>
            </a:r>
            <a:r>
              <a:rPr lang="ru-RU" sz="2800" b="1" dirty="0" smtClean="0">
                <a:solidFill>
                  <a:schemeClr val="accent3">
                    <a:lumMod val="75000"/>
                  </a:schemeClr>
                </a:solidFill>
              </a:rPr>
              <a:t>операторы</a:t>
            </a:r>
            <a:r>
              <a:rPr lang="ru-RU" sz="2800" dirty="0" smtClean="0"/>
              <a:t> </a:t>
            </a:r>
            <a:r>
              <a:rPr lang="ru-RU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800" dirty="0" smtClean="0"/>
              <a:t> </a:t>
            </a:r>
            <a:r>
              <a:rPr lang="ru-RU" sz="2800" b="1" dirty="0" smtClean="0">
                <a:solidFill>
                  <a:schemeClr val="accent3">
                    <a:lumMod val="75000"/>
                  </a:schemeClr>
                </a:solidFill>
              </a:rPr>
              <a:t>поведение данных</a:t>
            </a:r>
            <a:endParaRPr lang="ru-RU" sz="28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65483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Состав модели данных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504" y="1124744"/>
            <a:ext cx="914501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/>
              <a:t>В состав развитой модели данных входят:</a:t>
            </a:r>
          </a:p>
          <a:p>
            <a:pPr marL="720725" indent="-538163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способы </a:t>
            </a:r>
            <a:r>
              <a:rPr lang="ru-RU" sz="2800" dirty="0"/>
              <a:t>описания данных: </a:t>
            </a:r>
            <a:endParaRPr lang="ru-RU" sz="2800" dirty="0" smtClean="0"/>
          </a:p>
          <a:p>
            <a:pPr marL="1165225" indent="-365125" algn="just" defTabSz="1257300">
              <a:buFont typeface="Wingdings" panose="05000000000000000000" pitchFamily="2" charset="2"/>
              <a:buChar char="§"/>
            </a:pPr>
            <a:r>
              <a:rPr lang="ru-RU" sz="2800" dirty="0" smtClean="0"/>
              <a:t>базовые </a:t>
            </a:r>
            <a:r>
              <a:rPr lang="ru-RU" sz="2800" dirty="0"/>
              <a:t>структуры и типы </a:t>
            </a:r>
            <a:r>
              <a:rPr lang="ru-RU" sz="2800" dirty="0" smtClean="0"/>
              <a:t>данных</a:t>
            </a:r>
          </a:p>
          <a:p>
            <a:pPr marL="1165225" indent="-365125" defTabSz="1257300">
              <a:buFont typeface="Wingdings" panose="05000000000000000000" pitchFamily="2" charset="2"/>
              <a:buChar char="§"/>
            </a:pPr>
            <a:r>
              <a:rPr lang="ru-RU" sz="2800" dirty="0" smtClean="0"/>
              <a:t>способы построения сложных структур </a:t>
            </a:r>
            <a:r>
              <a:rPr lang="ru-RU" sz="2800" dirty="0"/>
              <a:t>данных из более </a:t>
            </a:r>
            <a:r>
              <a:rPr lang="ru-RU" sz="2800" dirty="0" smtClean="0"/>
              <a:t>простых</a:t>
            </a:r>
            <a:endParaRPr lang="ru-RU" sz="2800" dirty="0"/>
          </a:p>
          <a:p>
            <a:pPr marL="720725" indent="-53816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способы </a:t>
            </a:r>
            <a:r>
              <a:rPr lang="ru-RU" sz="2800" dirty="0"/>
              <a:t>описания взаимосвязей между объектами </a:t>
            </a:r>
            <a:r>
              <a:rPr lang="ru-RU" sz="2800" dirty="0" smtClean="0"/>
              <a:t>данных</a:t>
            </a:r>
            <a:endParaRPr lang="ru-RU" sz="2800" dirty="0"/>
          </a:p>
          <a:p>
            <a:pPr marL="720725" indent="-53816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средства </a:t>
            </a:r>
            <a:r>
              <a:rPr lang="ru-RU" sz="2800" dirty="0"/>
              <a:t>задания ограничений </a:t>
            </a:r>
            <a:r>
              <a:rPr lang="ru-RU" sz="2800" dirty="0" smtClean="0"/>
              <a:t>целостности</a:t>
            </a:r>
            <a:endParaRPr lang="ru-RU" sz="2800" dirty="0"/>
          </a:p>
          <a:p>
            <a:pPr marL="720725" indent="-538163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операции </a:t>
            </a:r>
            <a:r>
              <a:rPr lang="ru-RU" sz="2800" dirty="0"/>
              <a:t>над данными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32021282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Идентификация объектов данных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6409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4988" indent="-534988">
              <a:buFont typeface="Wingdings" panose="05000000000000000000" pitchFamily="2" charset="2"/>
              <a:buChar char="q"/>
            </a:pPr>
            <a:r>
              <a:rPr lang="ru-RU" sz="2800" dirty="0" smtClean="0"/>
              <a:t>Идентификация – способ </a:t>
            </a:r>
            <a:r>
              <a:rPr lang="ru-RU" sz="2800" dirty="0"/>
              <a:t>отличить один объект от </a:t>
            </a:r>
            <a:r>
              <a:rPr lang="ru-RU" sz="2800" dirty="0" smtClean="0"/>
              <a:t>других</a:t>
            </a:r>
          </a:p>
          <a:p>
            <a:pPr marL="534988" indent="-534988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Способы идентификации:</a:t>
            </a:r>
          </a:p>
          <a:p>
            <a:pPr marL="981075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по естественному признаку</a:t>
            </a:r>
          </a:p>
          <a:p>
            <a:pPr marL="981075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по искусственному признаку</a:t>
            </a:r>
          </a:p>
          <a:p>
            <a:pPr marL="981075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по связи объекта с другим объектом</a:t>
            </a:r>
          </a:p>
        </p:txBody>
      </p:sp>
    </p:spTree>
    <p:extLst>
      <p:ext uri="{BB962C8B-B14F-4D97-AF65-F5344CB8AC3E}">
        <p14:creationId xmlns:p14="http://schemas.microsoft.com/office/powerpoint/2010/main" val="55495584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Идентификация по естественному признаку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759456"/>
            <a:ext cx="864096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800" dirty="0" smtClean="0"/>
              <a:t>Используется естественный атрибут объекта </a:t>
            </a:r>
            <a:r>
              <a:rPr lang="ru-RU" sz="2800" dirty="0"/>
              <a:t>предметной области (реального мира</a:t>
            </a:r>
            <a:r>
              <a:rPr lang="ru-RU" sz="2800" dirty="0" smtClean="0"/>
              <a:t>)</a:t>
            </a:r>
          </a:p>
          <a:p>
            <a:pPr marL="182563">
              <a:spcBef>
                <a:spcPts val="1200"/>
              </a:spcBef>
            </a:pPr>
            <a:r>
              <a:rPr lang="ru-RU" sz="2800" b="1" i="1" dirty="0" smtClean="0"/>
              <a:t>Примеры</a:t>
            </a:r>
            <a:r>
              <a:rPr lang="ru-RU" sz="2800" b="1" i="1" dirty="0"/>
              <a:t>:</a:t>
            </a:r>
            <a:r>
              <a:rPr lang="ru-RU" sz="2800" dirty="0"/>
              <a:t> </a:t>
            </a:r>
            <a:endParaRPr lang="ru-RU" sz="2800" dirty="0" smtClean="0"/>
          </a:p>
          <a:p>
            <a:pPr marL="981075" indent="-3571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трехбуквенный </a:t>
            </a:r>
            <a:r>
              <a:rPr lang="ru-RU" sz="2800" dirty="0"/>
              <a:t>код </a:t>
            </a:r>
            <a:r>
              <a:rPr lang="ru-RU" sz="2800" dirty="0" smtClean="0"/>
              <a:t>аэропорта</a:t>
            </a:r>
          </a:p>
          <a:p>
            <a:pPr marL="981075" indent="-3571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номер паспорта</a:t>
            </a:r>
          </a:p>
          <a:p>
            <a:pPr marL="981075" indent="-3571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800" dirty="0"/>
              <a:t>н</a:t>
            </a:r>
            <a:r>
              <a:rPr lang="ru-RU" sz="2800" dirty="0" smtClean="0"/>
              <a:t>омер зачетной книжки студента</a:t>
            </a:r>
          </a:p>
          <a:p>
            <a:pPr marL="981075" indent="-3571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800" dirty="0"/>
              <a:t>т</a:t>
            </a:r>
            <a:r>
              <a:rPr lang="ru-RU" sz="2800" dirty="0" smtClean="0"/>
              <a:t>абельный номер работника</a:t>
            </a:r>
          </a:p>
        </p:txBody>
      </p:sp>
    </p:spTree>
    <p:extLst>
      <p:ext uri="{BB962C8B-B14F-4D97-AF65-F5344CB8AC3E}">
        <p14:creationId xmlns:p14="http://schemas.microsoft.com/office/powerpoint/2010/main" val="151552638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Идентификация по </a:t>
            </a:r>
            <a:r>
              <a:rPr lang="ru-RU" sz="4000" b="1" spc="-100" dirty="0" smtClean="0">
                <a:latin typeface="Arial" pitchFamily="34" charset="0"/>
                <a:cs typeface="Arial" pitchFamily="34" charset="0"/>
              </a:rPr>
              <a:t>искусственному</a:t>
            </a: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 признаку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759456"/>
            <a:ext cx="864096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Искусственный признак (суррогат) генерируется системой хранения данных</a:t>
            </a:r>
          </a:p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spc="-100" dirty="0" smtClean="0"/>
              <a:t>Такие суррогаты называют </a:t>
            </a:r>
            <a:r>
              <a:rPr lang="ru-RU" sz="2800" b="1" spc="-100" dirty="0" smtClean="0"/>
              <a:t>идентификаторами</a:t>
            </a:r>
            <a:r>
              <a:rPr lang="ru-RU" sz="2800" spc="-100" dirty="0" smtClean="0"/>
              <a:t> с добавлением имени сущности, которую идентифицируют</a:t>
            </a:r>
          </a:p>
          <a:p>
            <a:pPr marL="263525">
              <a:spcBef>
                <a:spcPts val="1200"/>
              </a:spcBef>
            </a:pPr>
            <a:r>
              <a:rPr lang="ru-RU" sz="2800" b="1" i="1" dirty="0" smtClean="0"/>
              <a:t>Примеры</a:t>
            </a:r>
            <a:r>
              <a:rPr lang="ru-RU" sz="2800" b="1" i="1" dirty="0"/>
              <a:t>:</a:t>
            </a:r>
            <a:r>
              <a:rPr lang="ru-RU" sz="2800" dirty="0"/>
              <a:t> </a:t>
            </a:r>
            <a:endParaRPr lang="ru-RU" sz="2800" dirty="0" smtClean="0"/>
          </a:p>
          <a:p>
            <a:pPr marL="981075" indent="-3571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800" dirty="0"/>
              <a:t>и</a:t>
            </a:r>
            <a:r>
              <a:rPr lang="ru-RU" sz="2800" dirty="0" smtClean="0"/>
              <a:t>дентификатор продажи</a:t>
            </a:r>
          </a:p>
          <a:p>
            <a:pPr marL="981075" indent="-35718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800" dirty="0"/>
              <a:t>и</a:t>
            </a:r>
            <a:r>
              <a:rPr lang="ru-RU" sz="2800" dirty="0" smtClean="0"/>
              <a:t>дентификатор заказа</a:t>
            </a:r>
          </a:p>
        </p:txBody>
      </p:sp>
    </p:spTree>
    <p:extLst>
      <p:ext uri="{BB962C8B-B14F-4D97-AF65-F5344CB8AC3E}">
        <p14:creationId xmlns:p14="http://schemas.microsoft.com/office/powerpoint/2010/main" val="331160971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Идентификация и изменяемость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1619" y="1124744"/>
            <a:ext cx="864096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4988" indent="-534988" algn="just">
              <a:buFont typeface="Wingdings" panose="05000000000000000000" pitchFamily="2" charset="2"/>
              <a:buChar char="q"/>
            </a:pPr>
            <a:r>
              <a:rPr lang="ru-RU" sz="2800" dirty="0"/>
              <a:t>Для моделей данных важно наличие  идентификатора, а не его </a:t>
            </a:r>
            <a:r>
              <a:rPr lang="ru-RU" sz="2800" dirty="0" smtClean="0"/>
              <a:t>природа</a:t>
            </a:r>
          </a:p>
          <a:p>
            <a:pPr marL="534988" indent="-534988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/>
              <a:t>Если </a:t>
            </a:r>
            <a:r>
              <a:rPr lang="ru-RU" sz="2800" dirty="0" smtClean="0"/>
              <a:t>признак </a:t>
            </a:r>
            <a:r>
              <a:rPr lang="ru-RU" sz="2800" dirty="0"/>
              <a:t>идентификации не выделен, то </a:t>
            </a:r>
            <a:r>
              <a:rPr lang="ru-RU" sz="2800" dirty="0" smtClean="0"/>
              <a:t>можно использовать совокупность всех признаков объекта</a:t>
            </a:r>
          </a:p>
          <a:p>
            <a:pPr marL="892175" indent="-357188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dirty="0" smtClean="0"/>
              <a:t>В </a:t>
            </a:r>
            <a:r>
              <a:rPr lang="ru-RU" sz="2600" dirty="0"/>
              <a:t>таких моделях данных объекты, различающиеся значением хотя бы одного элемента, считаются </a:t>
            </a:r>
            <a:r>
              <a:rPr lang="ru-RU" sz="2600" dirty="0" smtClean="0"/>
              <a:t>различными</a:t>
            </a:r>
          </a:p>
          <a:p>
            <a:pPr marL="892175" indent="-357188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dirty="0" smtClean="0"/>
              <a:t>Следовательно</a:t>
            </a:r>
            <a:r>
              <a:rPr lang="ru-RU" sz="2600" dirty="0"/>
              <a:t>, в таких моделях объекты изменяться не могут. Можно заменить объект на другой, но </a:t>
            </a:r>
            <a:r>
              <a:rPr lang="ru-RU" sz="2600" dirty="0" smtClean="0"/>
              <a:t>изменить </a:t>
            </a:r>
            <a:r>
              <a:rPr lang="ru-RU" sz="2600" dirty="0" smtClean="0"/>
              <a:t> объект невозможно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167259506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Поиск данных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68760"/>
            <a:ext cx="864096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/>
              <a:t>Поиск данных для обработки выполняется в любой системе управления базами </a:t>
            </a:r>
            <a:r>
              <a:rPr lang="ru-RU" sz="2800" dirty="0" smtClean="0"/>
              <a:t>данных</a:t>
            </a:r>
          </a:p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В </a:t>
            </a:r>
            <a:r>
              <a:rPr lang="ru-RU" sz="2800" dirty="0"/>
              <a:t>рамках разных моделей данных он осуществляется </a:t>
            </a:r>
            <a:r>
              <a:rPr lang="ru-RU" sz="2800" dirty="0" smtClean="0"/>
              <a:t>по-разному 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Основные виды </a:t>
            </a:r>
            <a:r>
              <a:rPr lang="ru-RU" sz="2800" dirty="0"/>
              <a:t>поисковых операций:</a:t>
            </a:r>
          </a:p>
          <a:p>
            <a:pPr marL="981075" indent="-357188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Навигационный поиск</a:t>
            </a:r>
          </a:p>
          <a:p>
            <a:pPr marL="981075" indent="-357188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Ассоциативный поиск</a:t>
            </a:r>
          </a:p>
        </p:txBody>
      </p:sp>
    </p:spTree>
    <p:extLst>
      <p:ext uri="{BB962C8B-B14F-4D97-AF65-F5344CB8AC3E}">
        <p14:creationId xmlns:p14="http://schemas.microsoft.com/office/powerpoint/2010/main" val="102052292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Навигационный поиск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64096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4988" indent="-534988" algn="just">
              <a:buFont typeface="Wingdings" panose="05000000000000000000" pitchFamily="2" charset="2"/>
              <a:buChar char="q"/>
            </a:pPr>
            <a:r>
              <a:rPr lang="ru-RU" sz="2800" dirty="0" smtClean="0"/>
              <a:t>Поиск выполняется переходом </a:t>
            </a:r>
            <a:r>
              <a:rPr lang="ru-RU" sz="2800" dirty="0"/>
              <a:t>от одного объекта к </a:t>
            </a:r>
            <a:r>
              <a:rPr lang="ru-RU" sz="2800" dirty="0" smtClean="0"/>
              <a:t>другому с </a:t>
            </a:r>
            <a:r>
              <a:rPr lang="ru-RU" sz="2800" dirty="0"/>
              <a:t>помощью </a:t>
            </a:r>
            <a:r>
              <a:rPr lang="ru-RU" sz="2800" dirty="0" smtClean="0"/>
              <a:t>ссылок</a:t>
            </a:r>
          </a:p>
          <a:p>
            <a:pPr marL="534988" indent="-534988" algn="just">
              <a:spcBef>
                <a:spcPts val="1200"/>
              </a:spcBef>
              <a:buFont typeface="Wingdings" panose="05000000000000000000" pitchFamily="2" charset="2"/>
              <a:buChar char="q"/>
              <a:tabLst>
                <a:tab pos="534988" algn="l"/>
              </a:tabLst>
            </a:pPr>
            <a:r>
              <a:rPr lang="ru-RU" sz="2800" dirty="0" smtClean="0"/>
              <a:t>Навигационный </a:t>
            </a:r>
            <a:r>
              <a:rPr lang="ru-RU" sz="2800" dirty="0"/>
              <a:t>доступ использует явно заданные связи между объектами. Например от текущего объекта можно перейти к другому объекту по идентификатору, значение которого содержится в одном из атрибутов текущего </a:t>
            </a:r>
            <a:r>
              <a:rPr lang="ru-RU" sz="2800" dirty="0" smtClean="0"/>
              <a:t>объекта</a:t>
            </a:r>
          </a:p>
          <a:p>
            <a:pPr marL="357188" algn="just">
              <a:spcBef>
                <a:spcPts val="1200"/>
              </a:spcBef>
            </a:pPr>
            <a:r>
              <a:rPr lang="ru-RU" sz="2800" b="1" i="1" dirty="0" smtClean="0"/>
              <a:t>Пример.</a:t>
            </a:r>
            <a:r>
              <a:rPr lang="ru-RU" sz="2800" dirty="0" smtClean="0"/>
              <a:t> Переход </a:t>
            </a:r>
            <a:r>
              <a:rPr lang="ru-RU" sz="2800" dirty="0"/>
              <a:t>по ссылкам на сайтах</a:t>
            </a:r>
          </a:p>
          <a:p>
            <a:pPr marL="534988" indent="-534988">
              <a:buFont typeface="Wingdings" panose="05000000000000000000" pitchFamily="2" charset="2"/>
              <a:buChar char="q"/>
              <a:tabLst>
                <a:tab pos="534988" algn="l"/>
              </a:tabLst>
            </a:pP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15772484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Ассоциативный поиск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52736"/>
            <a:ext cx="86409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800" dirty="0" smtClean="0"/>
              <a:t>Поиск выполняется по контексту (заданным текстовым значениям)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 dirty="0"/>
              <a:t>Результатом поиска по значениям обычно является набор объектов данных, удовлетворяющих условиям </a:t>
            </a:r>
            <a:r>
              <a:rPr lang="ru-RU" sz="2800" dirty="0" smtClean="0"/>
              <a:t>поиска 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Такой </a:t>
            </a:r>
            <a:r>
              <a:rPr lang="ru-RU" sz="2800" dirty="0"/>
              <a:t>поиск может не использовать заранее заданные связи, и часто результат </a:t>
            </a:r>
            <a:r>
              <a:rPr lang="ru-RU" sz="2800" dirty="0" smtClean="0"/>
              <a:t>поиска содержит </a:t>
            </a:r>
            <a:r>
              <a:rPr lang="ru-RU" sz="2800" dirty="0"/>
              <a:t>несколько объектов </a:t>
            </a:r>
            <a:r>
              <a:rPr lang="ru-RU" sz="2800" dirty="0" smtClean="0"/>
              <a:t>данных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87624" y="4760565"/>
            <a:ext cx="770485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algn="just"/>
            <a:r>
              <a:rPr lang="ru-RU" sz="2600" b="1" i="1" dirty="0"/>
              <a:t>Примеры</a:t>
            </a:r>
          </a:p>
          <a:p>
            <a:pPr marL="1081088" indent="-357188">
              <a:buFont typeface="Wingdings" panose="05000000000000000000" pitchFamily="2" charset="2"/>
              <a:buChar char="§"/>
              <a:tabLst>
                <a:tab pos="534988" algn="l"/>
                <a:tab pos="1081088" algn="l"/>
              </a:tabLst>
            </a:pPr>
            <a:r>
              <a:rPr lang="ru-RU" sz="2600" dirty="0"/>
              <a:t>Поисковые системы в Интернете (</a:t>
            </a:r>
            <a:r>
              <a:rPr lang="en-US" sz="2600" dirty="0"/>
              <a:t>Google, </a:t>
            </a:r>
            <a:r>
              <a:rPr lang="ru-RU" sz="2600" dirty="0"/>
              <a:t>Яндекс)</a:t>
            </a:r>
          </a:p>
          <a:p>
            <a:pPr marL="1081088" indent="-357188">
              <a:buFont typeface="Wingdings" panose="05000000000000000000" pitchFamily="2" charset="2"/>
              <a:buChar char="§"/>
              <a:tabLst>
                <a:tab pos="534988" algn="l"/>
                <a:tab pos="1081088" algn="l"/>
              </a:tabLst>
            </a:pPr>
            <a:r>
              <a:rPr lang="ru-RU" sz="2600" dirty="0"/>
              <a:t>Декларативные языки </a:t>
            </a:r>
            <a:r>
              <a:rPr lang="ru-RU" sz="2600" dirty="0" smtClean="0"/>
              <a:t>запросов (</a:t>
            </a:r>
            <a:r>
              <a:rPr lang="en-US" sz="2600" dirty="0" smtClean="0"/>
              <a:t>SQL)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58710721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Первые модели данных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82983"/>
            <a:ext cx="8640960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/>
              <a:t>На начальных этапах развития СУБД основными моделями </a:t>
            </a:r>
            <a:r>
              <a:rPr lang="ru-RU" sz="2800" dirty="0" smtClean="0"/>
              <a:t>данных </a:t>
            </a:r>
            <a:r>
              <a:rPr lang="ru-RU" sz="2800" dirty="0"/>
              <a:t>были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622300" lvl="0" indent="-4572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800" dirty="0"/>
              <a:t>системы, основанные на </a:t>
            </a:r>
            <a:r>
              <a:rPr lang="ru-RU" sz="2800" b="1" dirty="0"/>
              <a:t>инвертированных </a:t>
            </a:r>
            <a:r>
              <a:rPr lang="ru-RU" sz="2800" b="1" dirty="0" smtClean="0"/>
              <a:t>списках</a:t>
            </a:r>
            <a:r>
              <a:rPr lang="ru-RU" sz="2800" dirty="0" smtClean="0"/>
              <a:t> </a:t>
            </a:r>
            <a:endParaRPr lang="ru-RU" sz="2800" dirty="0"/>
          </a:p>
          <a:p>
            <a:pPr marL="622300" lvl="0" indent="-4572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800" b="1"/>
              <a:t>иерархические</a:t>
            </a:r>
            <a:r>
              <a:rPr lang="ru-RU" sz="2800"/>
              <a:t> </a:t>
            </a:r>
            <a:endParaRPr lang="ru-RU" sz="2800" dirty="0"/>
          </a:p>
          <a:p>
            <a:pPr marL="622300" lvl="0" indent="-4572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800" b="1"/>
              <a:t>сетевые</a:t>
            </a:r>
            <a:r>
              <a:rPr lang="ru-RU" sz="2800"/>
              <a:t> </a:t>
            </a:r>
            <a:r>
              <a:rPr lang="ru-RU" sz="2800" smtClean="0"/>
              <a:t>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8680449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Модель Инфертир списки.png"/>
          <p:cNvPicPr>
            <a:picLocks noChangeAspect="1"/>
          </p:cNvPicPr>
          <p:nvPr/>
        </p:nvPicPr>
        <p:blipFill>
          <a:blip r:embed="rId2" cstate="print"/>
          <a:srcRect b="51050"/>
          <a:stretch>
            <a:fillRect/>
          </a:stretch>
        </p:blipFill>
        <p:spPr>
          <a:xfrm>
            <a:off x="1324815" y="2325073"/>
            <a:ext cx="7819185" cy="4560311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/>
              <a:t>Системы на инвертированных списках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b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</a:b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БД – совокупность </a:t>
            </a:r>
            <a:r>
              <a:rPr lang="ru-RU" sz="2400" b="1" dirty="0" smtClean="0">
                <a:solidFill>
                  <a:srgbClr val="7030A0"/>
                </a:solidFill>
              </a:rPr>
              <a:t>таблиц</a:t>
            </a:r>
            <a:r>
              <a:rPr lang="ru-RU" sz="2400" dirty="0" smtClean="0"/>
              <a:t> с данными</a:t>
            </a:r>
          </a:p>
          <a:p>
            <a:pPr marL="628650" indent="-628650"/>
            <a:r>
              <a:rPr lang="ru-RU" sz="2400" dirty="0" smtClean="0"/>
              <a:t>        и </a:t>
            </a:r>
            <a:r>
              <a:rPr lang="ru-RU" sz="2400" b="1" dirty="0" smtClean="0">
                <a:solidFill>
                  <a:srgbClr val="7030A0"/>
                </a:solidFill>
              </a:rPr>
              <a:t>индексные файлы</a:t>
            </a:r>
            <a:r>
              <a:rPr lang="ru-RU" sz="2400" dirty="0" smtClean="0"/>
              <a:t> – для доступа к таблицам   </a:t>
            </a:r>
          </a:p>
          <a:p>
            <a:pPr marL="628650" indent="-628650"/>
            <a:r>
              <a:rPr lang="ru-RU" sz="2400" dirty="0" smtClean="0"/>
              <a:t>        (инвертированные списки)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184910240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/>
              <a:t>Иерархическая </a:t>
            </a:r>
            <a:r>
              <a:rPr lang="ru-RU" sz="4000" b="1" dirty="0" smtClean="0"/>
              <a:t>модель данных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80728"/>
            <a:ext cx="856895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3400" indent="-5334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БД – совокупность объектов, связи между которыми  представляют </a:t>
            </a:r>
            <a:r>
              <a:rPr lang="ru-RU" sz="2800" b="1" dirty="0" smtClean="0">
                <a:solidFill>
                  <a:srgbClr val="7030A0"/>
                </a:solidFill>
              </a:rPr>
              <a:t>жесткую иерархическую</a:t>
            </a:r>
            <a:r>
              <a:rPr lang="ru-RU" sz="2800" dirty="0" smtClean="0"/>
              <a:t> (древовидную) структуру </a:t>
            </a:r>
          </a:p>
          <a:p>
            <a:pPr marL="533400" indent="-5334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Каждый </a:t>
            </a:r>
            <a:r>
              <a:rPr lang="ru-RU" sz="2800" dirty="0"/>
              <a:t>элемент имеет </a:t>
            </a:r>
            <a:r>
              <a:rPr lang="ru-RU" sz="2800" b="1" dirty="0">
                <a:solidFill>
                  <a:srgbClr val="7030A0"/>
                </a:solidFill>
              </a:rPr>
              <a:t>одного</a:t>
            </a:r>
            <a:r>
              <a:rPr lang="ru-RU" sz="2800" dirty="0"/>
              <a:t> предка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82" y="2950498"/>
            <a:ext cx="8315894" cy="350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736687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Модель сетевая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23728" y="2523237"/>
            <a:ext cx="7020272" cy="4506163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b="1" dirty="0"/>
              <a:t>Сетевая </a:t>
            </a:r>
            <a:r>
              <a:rPr lang="ru-RU" sz="4000" b="1" dirty="0" smtClean="0"/>
              <a:t>модель данных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980728"/>
            <a:ext cx="84969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3400" indent="-533400" algn="just">
              <a:buFont typeface="Wingdings" panose="05000000000000000000" pitchFamily="2" charset="2"/>
              <a:buChar char="q"/>
            </a:pPr>
            <a:r>
              <a:rPr lang="ru-RU" sz="2800" dirty="0" smtClean="0"/>
              <a:t>В отличие от иерархической  сетевая модель допускает наличие у объекта </a:t>
            </a:r>
            <a:r>
              <a:rPr lang="ru-RU" sz="2800" b="1" dirty="0" smtClean="0">
                <a:solidFill>
                  <a:srgbClr val="7030A0"/>
                </a:solidFill>
              </a:rPr>
              <a:t>более одного предка</a:t>
            </a:r>
            <a:r>
              <a:rPr lang="ru-RU" sz="2800" dirty="0" smtClean="0"/>
              <a:t> (узла верхнего уровня</a:t>
            </a:r>
            <a:r>
              <a:rPr lang="ru-RU" sz="2800" dirty="0" smtClean="0"/>
              <a:t>) и горизонтальные связи</a:t>
            </a:r>
            <a:endParaRPr lang="ru-RU" sz="2800" dirty="0" smtClean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01633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dirty="0" smtClean="0"/>
              <a:t>Общие характеристики ранних моделей</a:t>
            </a:r>
            <a:endParaRPr lang="ru-RU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5496" y="1225783"/>
            <a:ext cx="864096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lvl="0" indent="-536575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Все </a:t>
            </a:r>
            <a:r>
              <a:rPr lang="ru-RU" sz="2600" dirty="0"/>
              <a:t>ранние системы не основывались на каких-либо абстрактных моделях. Понятие модели </a:t>
            </a:r>
            <a:r>
              <a:rPr lang="ru-RU" sz="2600" dirty="0" smtClean="0"/>
              <a:t>в </a:t>
            </a:r>
            <a:r>
              <a:rPr lang="ru-RU" sz="2600" dirty="0"/>
              <a:t>области БД </a:t>
            </a:r>
            <a:r>
              <a:rPr lang="ru-RU" sz="2600" dirty="0" smtClean="0"/>
              <a:t>стало использоваться только </a:t>
            </a:r>
            <a:r>
              <a:rPr lang="ru-RU" sz="2600" dirty="0"/>
              <a:t>вместе с реляционным </a:t>
            </a:r>
            <a:r>
              <a:rPr lang="ru-RU" sz="2600" dirty="0" smtClean="0"/>
              <a:t>подходом </a:t>
            </a:r>
            <a:endParaRPr lang="ru-RU" sz="2600" dirty="0"/>
          </a:p>
          <a:p>
            <a:pPr marL="536575" lvl="0" indent="-536575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600" dirty="0"/>
              <a:t>Доступ к БД производился на уровне </a:t>
            </a:r>
            <a:r>
              <a:rPr lang="ru-RU" sz="2600" dirty="0" smtClean="0"/>
              <a:t>записей </a:t>
            </a:r>
          </a:p>
          <a:p>
            <a:pPr marL="536575" lvl="0" indent="-536575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Доступ </a:t>
            </a:r>
            <a:r>
              <a:rPr lang="ru-RU" sz="2600" dirty="0"/>
              <a:t>к </a:t>
            </a:r>
            <a:r>
              <a:rPr lang="ru-RU" sz="2600" dirty="0" smtClean="0"/>
              <a:t>БД выполнялся непосредственно прикладной программой </a:t>
            </a:r>
            <a:r>
              <a:rPr lang="ru-RU" sz="2600" dirty="0"/>
              <a:t>без какой-либо поддержки </a:t>
            </a:r>
            <a:r>
              <a:rPr lang="ru-RU" sz="2600" dirty="0" smtClean="0"/>
              <a:t>СУБД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91852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188640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dirty="0" smtClean="0"/>
              <a:t>Достоинства/недостатки ранних моделей</a:t>
            </a:r>
            <a:endParaRPr lang="ru-RU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734789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b="1" dirty="0" smtClean="0"/>
              <a:t>Достоинства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</a:t>
            </a:r>
            <a:endParaRPr lang="ru-RU" sz="2400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р</a:t>
            </a:r>
            <a:r>
              <a:rPr lang="ru-RU" sz="2400" dirty="0" smtClean="0"/>
              <a:t>азвитые </a:t>
            </a:r>
            <a:r>
              <a:rPr lang="ru-RU" sz="2400" dirty="0"/>
              <a:t>средства управления данными во внешней памяти на низком </a:t>
            </a:r>
            <a:r>
              <a:rPr lang="ru-RU" sz="2400" dirty="0" smtClean="0"/>
              <a:t>уровне</a:t>
            </a:r>
            <a:endParaRPr lang="ru-RU" sz="2400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в</a:t>
            </a:r>
            <a:r>
              <a:rPr lang="ru-RU" sz="2400" dirty="0" smtClean="0"/>
              <a:t>озможность </a:t>
            </a:r>
            <a:r>
              <a:rPr lang="ru-RU" sz="2400" dirty="0"/>
              <a:t>построения </a:t>
            </a:r>
            <a:r>
              <a:rPr lang="ru-RU" sz="2400" dirty="0" smtClean="0"/>
              <a:t>эффективных </a:t>
            </a:r>
            <a:r>
              <a:rPr lang="ru-RU" sz="2400" dirty="0"/>
              <a:t>прикладных </a:t>
            </a:r>
            <a:r>
              <a:rPr lang="ru-RU" sz="2400" dirty="0" smtClean="0"/>
              <a:t>программ (по скорости выполнения) </a:t>
            </a:r>
            <a:endParaRPr lang="ru-RU" sz="2400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в</a:t>
            </a:r>
            <a:r>
              <a:rPr lang="ru-RU" sz="2400" dirty="0" smtClean="0"/>
              <a:t>озможность </a:t>
            </a:r>
            <a:r>
              <a:rPr lang="ru-RU" sz="2400" dirty="0"/>
              <a:t>экономии памяти за счет разделения подобъектов (в сетевых системах</a:t>
            </a:r>
            <a:r>
              <a:rPr lang="ru-RU" sz="2400" dirty="0" smtClean="0"/>
              <a:t>)</a:t>
            </a:r>
            <a:endParaRPr lang="ru-RU" sz="2400" dirty="0"/>
          </a:p>
          <a:p>
            <a:pPr algn="just">
              <a:spcBef>
                <a:spcPts val="1200"/>
              </a:spcBef>
            </a:pPr>
            <a:r>
              <a:rPr lang="ru-RU" sz="2600" b="1" dirty="0" smtClean="0"/>
              <a:t>Недостатки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600" b="1" dirty="0"/>
              <a:t> 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с</a:t>
            </a:r>
            <a:r>
              <a:rPr lang="ru-RU" sz="2400" dirty="0" smtClean="0"/>
              <a:t>лишком </a:t>
            </a:r>
            <a:r>
              <a:rPr lang="ru-RU" sz="2400" dirty="0"/>
              <a:t>сложно </a:t>
            </a:r>
            <a:r>
              <a:rPr lang="ru-RU" sz="2400" dirty="0" smtClean="0"/>
              <a:t>пользоваться </a:t>
            </a:r>
            <a:endParaRPr lang="ru-RU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прикладные </a:t>
            </a:r>
            <a:r>
              <a:rPr lang="ru-RU" sz="2400" dirty="0"/>
              <a:t>системы зависят от физической организации  </a:t>
            </a:r>
            <a:r>
              <a:rPr lang="ru-RU" sz="2400" dirty="0" smtClean="0"/>
              <a:t>памяти </a:t>
            </a:r>
            <a:endParaRPr lang="ru-RU" sz="2400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логика прикладных программ перегружена </a:t>
            </a:r>
            <a:r>
              <a:rPr lang="ru-RU" sz="2400" dirty="0"/>
              <a:t>деталями организации доступа к </a:t>
            </a:r>
            <a:r>
              <a:rPr lang="ru-RU" sz="2400" dirty="0" smtClean="0"/>
              <a:t>БД </a:t>
            </a:r>
            <a:endParaRPr lang="ru-RU" sz="2400" dirty="0"/>
          </a:p>
          <a:p>
            <a:pPr lvl="0" algn="just">
              <a:spcBef>
                <a:spcPts val="1200"/>
              </a:spcBef>
            </a:pPr>
            <a:endParaRPr lang="ru-RU" sz="2400" dirty="0" smtClean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tx1"/>
                </a:solidFill>
              </a:rPr>
              <a:t>Лекция 2. Модели данных</a:t>
            </a: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30579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smtClean="0"/>
              <a:t>Требования к эффективной  модели БД</a:t>
            </a:r>
            <a:endParaRPr lang="ru-RU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30952"/>
            <a:ext cx="8640960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ru-RU" sz="2600" dirty="0" smtClean="0">
                <a:latin typeface="+mj-lt"/>
              </a:rPr>
              <a:t>Для </a:t>
            </a:r>
            <a:r>
              <a:rPr lang="ru-RU" sz="2600" dirty="0">
                <a:latin typeface="+mj-lt"/>
              </a:rPr>
              <a:t>построения эффективной </a:t>
            </a:r>
            <a:r>
              <a:rPr lang="ru-RU" sz="2600" dirty="0" smtClean="0">
                <a:latin typeface="+mj-lt"/>
              </a:rPr>
              <a:t>БД</a:t>
            </a:r>
            <a:r>
              <a:rPr lang="ru-RU" sz="2600" dirty="0">
                <a:latin typeface="+mj-lt"/>
              </a:rPr>
              <a:t>, необходимо </a:t>
            </a:r>
            <a:r>
              <a:rPr lang="ru-RU" sz="2600" dirty="0" smtClean="0">
                <a:latin typeface="+mj-lt"/>
              </a:rPr>
              <a:t>иметь </a:t>
            </a:r>
            <a:r>
              <a:rPr lang="ru-RU" sz="2600" b="1" dirty="0" smtClean="0">
                <a:solidFill>
                  <a:srgbClr val="7030A0"/>
                </a:solidFill>
                <a:latin typeface="+mj-lt"/>
              </a:rPr>
              <a:t>простой</a:t>
            </a:r>
            <a:r>
              <a:rPr lang="ru-RU" sz="2600" dirty="0" smtClean="0">
                <a:latin typeface="+mj-lt"/>
              </a:rPr>
              <a:t> </a:t>
            </a:r>
            <a:r>
              <a:rPr lang="ru-RU" sz="2600" dirty="0">
                <a:latin typeface="+mj-lt"/>
              </a:rPr>
              <a:t>способ описания данных, </a:t>
            </a:r>
            <a:r>
              <a:rPr lang="ru-RU" sz="2600" dirty="0" smtClean="0">
                <a:latin typeface="+mj-lt"/>
              </a:rPr>
              <a:t>который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600" b="1" dirty="0" smtClean="0">
                <a:latin typeface="+mj-lt"/>
              </a:rPr>
              <a:t> </a:t>
            </a:r>
            <a:endParaRPr lang="ru-RU" sz="2600" b="1" dirty="0">
              <a:latin typeface="+mj-lt"/>
            </a:endParaRPr>
          </a:p>
          <a:p>
            <a:pPr marL="342900" lvl="0" indent="-34290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b="1" dirty="0">
                <a:solidFill>
                  <a:srgbClr val="0070C0"/>
                </a:solidFill>
              </a:rPr>
              <a:t>понятен пользователям</a:t>
            </a:r>
            <a:r>
              <a:rPr lang="ru-RU" sz="2600" dirty="0"/>
              <a:t>, не имеющих профессиональных навыков программирования</a:t>
            </a:r>
          </a:p>
          <a:p>
            <a:pPr marL="342900" lvl="0" indent="-34290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b="1" dirty="0">
                <a:solidFill>
                  <a:srgbClr val="0070C0"/>
                </a:solidFill>
              </a:rPr>
              <a:t>позволяет вносить изменения</a:t>
            </a:r>
            <a:r>
              <a:rPr lang="ru-RU" sz="2600" dirty="0"/>
              <a:t> в данные без изменения подсхем (внешнего представления), а значит и прикладных программ</a:t>
            </a:r>
          </a:p>
          <a:p>
            <a:pPr marL="342900" lvl="0" indent="-34290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b="1" dirty="0">
                <a:solidFill>
                  <a:srgbClr val="0070C0"/>
                </a:solidFill>
              </a:rPr>
              <a:t>допускает максимальную гибкость</a:t>
            </a:r>
            <a:r>
              <a:rPr lang="ru-RU" sz="2600" dirty="0"/>
              <a:t> при обработке произвольных запросов к </a:t>
            </a:r>
            <a:r>
              <a:rPr lang="ru-RU" sz="2600" dirty="0" smtClean="0"/>
              <a:t>БД</a:t>
            </a:r>
            <a:endParaRPr lang="ru-RU" sz="2600" dirty="0"/>
          </a:p>
          <a:p>
            <a:pPr lvl="0" algn="just">
              <a:spcBef>
                <a:spcPts val="1200"/>
              </a:spcBef>
            </a:pPr>
            <a:endParaRPr lang="ru-RU" sz="2600" dirty="0" smtClean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3757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smtClean="0"/>
              <a:t>Требования к эффективной  модели БД</a:t>
            </a:r>
            <a:endParaRPr lang="ru-RU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30952"/>
            <a:ext cx="86409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Изменение взглядов на возможность создания высокоэффективных систем </a:t>
            </a:r>
            <a:r>
              <a:rPr lang="ru-RU" sz="2400" dirty="0" smtClean="0"/>
              <a:t>организации данных </a:t>
            </a:r>
            <a:r>
              <a:rPr lang="ru-RU" sz="2400" dirty="0"/>
              <a:t>в значительной мере определяется не технологиями хранения </a:t>
            </a:r>
            <a:r>
              <a:rPr lang="ru-RU" sz="2400" dirty="0" smtClean="0"/>
              <a:t>данных</a:t>
            </a:r>
            <a:r>
              <a:rPr lang="ru-RU" sz="2400" dirty="0"/>
              <a:t>, а изменением критериев эффективности и требований к системам:</a:t>
            </a:r>
          </a:p>
          <a:p>
            <a:pPr lvl="0" algn="just"/>
            <a:endParaRPr lang="ru-RU" sz="2400" dirty="0" smtClean="0"/>
          </a:p>
          <a:p>
            <a:pPr marL="620713" lvl="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в </a:t>
            </a:r>
            <a:r>
              <a:rPr lang="ru-RU" sz="2400" dirty="0"/>
              <a:t>70-е гг. важной считалась эффективность доступа к отдельным объектам данных и навигации между ними </a:t>
            </a:r>
            <a:r>
              <a:rPr lang="ru-RU" sz="2400" dirty="0" smtClean="0"/>
              <a:t>(навигационный поиск)</a:t>
            </a:r>
          </a:p>
          <a:p>
            <a:pPr marL="620713" lvl="0" indent="-342900" algn="just">
              <a:buFont typeface="Wingdings" panose="05000000000000000000" pitchFamily="2" charset="2"/>
              <a:buChar char="§"/>
            </a:pPr>
            <a:endParaRPr lang="ru-RU" sz="2400" dirty="0"/>
          </a:p>
          <a:p>
            <a:pPr marL="620713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начиная с 80-х гг. наиболее важными стали эффективность массовой обработки и поиск по значениям атрибутов </a:t>
            </a:r>
            <a:r>
              <a:rPr lang="ru-RU" sz="2400" dirty="0" smtClean="0"/>
              <a:t>(ассоциативный </a:t>
            </a:r>
            <a:r>
              <a:rPr lang="ru-RU" sz="2400" dirty="0"/>
              <a:t>поиск</a:t>
            </a:r>
            <a:r>
              <a:rPr lang="ru-RU" sz="2400" dirty="0" smtClean="0"/>
              <a:t>)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 smtClean="0">
                <a:solidFill>
                  <a:schemeClr val="accent4">
                    <a:lumMod val="75000"/>
                  </a:schemeClr>
                </a:solidFill>
              </a:rPr>
              <a:t>Лекция 2. Модели данных</a:t>
            </a:r>
            <a:endParaRPr lang="ru-RU" sz="18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00931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Реляционная модель данных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 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 smtClean="0">
                <a:solidFill>
                  <a:schemeClr val="accent4">
                    <a:lumMod val="75000"/>
                  </a:schemeClr>
                </a:solidFill>
              </a:rPr>
              <a:t>Лекция </a:t>
            </a:r>
            <a:r>
              <a:rPr lang="ru-RU" sz="2000" dirty="0">
                <a:solidFill>
                  <a:schemeClr val="accent4">
                    <a:lumMod val="75000"/>
                  </a:schemeClr>
                </a:solidFill>
              </a:rPr>
              <a:t>2. Модели данных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504" y="1124744"/>
            <a:ext cx="889248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52450" indent="-552450">
              <a:buFont typeface="Wingdings" pitchFamily="2" charset="2"/>
              <a:buChar char="§"/>
            </a:pPr>
            <a:r>
              <a:rPr lang="ru-RU" sz="2400" b="1" dirty="0" smtClean="0"/>
              <a:t>Данные представлены строками в таблицах (кортежами в отношениях) </a:t>
            </a:r>
          </a:p>
          <a:p>
            <a:pPr marL="533400"/>
            <a:r>
              <a:rPr lang="ru-RU" sz="2400" dirty="0" smtClean="0"/>
              <a:t>Кортежи рассматривают как истинные высказывания:</a:t>
            </a:r>
          </a:p>
          <a:p>
            <a:pPr marL="1085850" indent="-552450">
              <a:spcBef>
                <a:spcPts val="600"/>
              </a:spcBef>
            </a:pPr>
            <a:r>
              <a:rPr lang="ru-RU" sz="2400" i="1" dirty="0" smtClean="0"/>
              <a:t>Пример.</a:t>
            </a:r>
            <a:r>
              <a:rPr lang="ru-RU" sz="2400" dirty="0" smtClean="0"/>
              <a:t> Кортеж сотрудника – это высказывание  «</a:t>
            </a:r>
            <a:r>
              <a:rPr lang="ru-RU" sz="2400" b="1" dirty="0" smtClean="0">
                <a:solidFill>
                  <a:srgbClr val="002060"/>
                </a:solidFill>
              </a:rPr>
              <a:t>Табельный номер </a:t>
            </a:r>
            <a:r>
              <a:rPr lang="ru-RU" sz="2400" b="1" dirty="0" smtClean="0">
                <a:solidFill>
                  <a:srgbClr val="7030A0"/>
                </a:solidFill>
              </a:rPr>
              <a:t>1001</a:t>
            </a:r>
            <a:r>
              <a:rPr lang="ru-RU" sz="2400" dirty="0" smtClean="0"/>
              <a:t> имеет </a:t>
            </a:r>
            <a:r>
              <a:rPr lang="ru-RU" sz="2400" b="1" dirty="0" smtClean="0">
                <a:solidFill>
                  <a:srgbClr val="002060"/>
                </a:solidFill>
              </a:rPr>
              <a:t>сотрудник</a:t>
            </a:r>
            <a:r>
              <a:rPr lang="ru-RU" sz="2400" dirty="0" smtClean="0">
                <a:solidFill>
                  <a:srgbClr val="7030A0"/>
                </a:solidFill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</a:rPr>
              <a:t>Иванов Иван Иванович</a:t>
            </a:r>
            <a:r>
              <a:rPr lang="ru-RU" sz="2400" dirty="0" smtClean="0"/>
              <a:t>, занимающий </a:t>
            </a:r>
            <a:r>
              <a:rPr lang="ru-RU" sz="2400" b="1" dirty="0" smtClean="0">
                <a:solidFill>
                  <a:srgbClr val="002060"/>
                </a:solidFill>
              </a:rPr>
              <a:t>должность</a:t>
            </a:r>
            <a:r>
              <a:rPr lang="ru-RU" sz="2400" dirty="0" smtClean="0"/>
              <a:t> </a:t>
            </a:r>
            <a:r>
              <a:rPr lang="ru-RU" sz="2400" b="1" dirty="0" smtClean="0">
                <a:solidFill>
                  <a:srgbClr val="7030A0"/>
                </a:solidFill>
              </a:rPr>
              <a:t>менеджер</a:t>
            </a:r>
            <a:r>
              <a:rPr lang="ru-RU" sz="2400" dirty="0" smtClean="0"/>
              <a:t> и работающий в </a:t>
            </a:r>
            <a:r>
              <a:rPr lang="ru-RU" sz="2400" b="1" dirty="0" smtClean="0">
                <a:solidFill>
                  <a:srgbClr val="002060"/>
                </a:solidFill>
              </a:rPr>
              <a:t>отделе</a:t>
            </a:r>
            <a:r>
              <a:rPr lang="ru-RU" sz="2400" dirty="0" smtClean="0"/>
              <a:t> </a:t>
            </a:r>
            <a:r>
              <a:rPr lang="ru-RU" sz="2400" b="1" dirty="0" smtClean="0">
                <a:solidFill>
                  <a:srgbClr val="7030A0"/>
                </a:solidFill>
              </a:rPr>
              <a:t>продаж</a:t>
            </a:r>
            <a:r>
              <a:rPr lang="ru-RU" sz="2400" dirty="0" smtClean="0"/>
              <a:t>»</a:t>
            </a:r>
          </a:p>
          <a:p>
            <a:pPr marL="533400" indent="-533400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 smtClean="0"/>
              <a:t> </a:t>
            </a:r>
            <a:r>
              <a:rPr lang="ru-RU" sz="2400" b="1" dirty="0" smtClean="0"/>
              <a:t>Для обработки данных предоставляются операторы</a:t>
            </a:r>
            <a:r>
              <a:rPr lang="ru-RU" sz="2400" dirty="0" smtClean="0"/>
              <a:t> которые </a:t>
            </a:r>
            <a:r>
              <a:rPr lang="ru-RU" sz="2400" b="1" dirty="0" smtClean="0"/>
              <a:t>поддерживают процесс логического вывода </a:t>
            </a:r>
            <a:r>
              <a:rPr lang="ru-RU" sz="2400" dirty="0" smtClean="0"/>
              <a:t>новых истинных высказываний из существующих. </a:t>
            </a:r>
          </a:p>
          <a:p>
            <a:pPr marL="1085850" indent="-552450">
              <a:spcBef>
                <a:spcPts val="600"/>
              </a:spcBef>
            </a:pPr>
            <a:r>
              <a:rPr lang="ru-RU" sz="2400" i="1" dirty="0" smtClean="0"/>
              <a:t>Пример</a:t>
            </a:r>
            <a:r>
              <a:rPr lang="ru-RU" sz="2400" dirty="0" smtClean="0"/>
              <a:t>, </a:t>
            </a:r>
            <a:r>
              <a:rPr lang="ru-RU" sz="2400" b="1" dirty="0" smtClean="0">
                <a:solidFill>
                  <a:srgbClr val="7030A0"/>
                </a:solidFill>
              </a:rPr>
              <a:t>10.02.2021</a:t>
            </a:r>
            <a:r>
              <a:rPr lang="ru-RU" sz="2400" dirty="0" smtClean="0"/>
              <a:t> была отпущена продукция покупателям: </a:t>
            </a:r>
            <a:r>
              <a:rPr lang="ru-RU" sz="2400" b="1" dirty="0" smtClean="0">
                <a:solidFill>
                  <a:srgbClr val="7030A0"/>
                </a:solidFill>
              </a:rPr>
              <a:t>Павлов, Махов, Семенов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17247270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>
                <a:latin typeface="Arial" pitchFamily="34" charset="0"/>
                <a:cs typeface="Arial" pitchFamily="34" charset="0"/>
              </a:rPr>
              <a:t>Новые архитектуры БД</a:t>
            </a:r>
            <a:endParaRPr lang="ru-RU" sz="4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</a:t>
            </a:r>
            <a:r>
              <a:rPr lang="ru-RU" sz="2200" dirty="0">
                <a:solidFill>
                  <a:schemeClr val="tx1"/>
                </a:solidFill>
                <a:cs typeface="Arial" pitchFamily="34" charset="0"/>
              </a:rPr>
              <a:t>Л</a:t>
            </a:r>
            <a:r>
              <a:rPr lang="ru-RU" sz="2200" dirty="0" smtClean="0">
                <a:solidFill>
                  <a:schemeClr val="tx1"/>
                </a:solidFill>
                <a:cs typeface="Arial" pitchFamily="34" charset="0"/>
              </a:rPr>
              <a:t>екция 2. Модели 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8596" y="1500167"/>
            <a:ext cx="8429684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600" dirty="0"/>
              <a:t>В 2000-х годах начали замечать, что реляционные БД плохо работают для чрезвычайно масштабных </a:t>
            </a:r>
            <a:r>
              <a:rPr lang="ru-RU" sz="2600" dirty="0" smtClean="0"/>
              <a:t>приложений (по количеству пользователей и объему данных) </a:t>
            </a:r>
            <a:r>
              <a:rPr lang="ru-RU" sz="2600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ru-RU" sz="2600" dirty="0">
              <a:latin typeface="Courier New" pitchFamily="49" charset="0"/>
              <a:cs typeface="Courier New" pitchFamily="49" charset="0"/>
            </a:endParaRPr>
          </a:p>
          <a:p>
            <a:pPr marL="898525" indent="-358775" algn="just" fontAlgn="base">
              <a:spcBef>
                <a:spcPts val="600"/>
              </a:spcBef>
              <a:buFont typeface="Arial" pitchFamily="34" charset="0"/>
              <a:buChar char="•"/>
            </a:pPr>
            <a:r>
              <a:rPr lang="ru-RU" sz="2600" dirty="0"/>
              <a:t>поисковая система </a:t>
            </a:r>
            <a:r>
              <a:rPr lang="ru-RU" sz="2600" dirty="0" err="1"/>
              <a:t>Google</a:t>
            </a:r>
            <a:endParaRPr lang="ru-RU" sz="2600" dirty="0"/>
          </a:p>
          <a:p>
            <a:pPr marL="898525" indent="-358775" algn="just" fontAlgn="base">
              <a:spcBef>
                <a:spcPts val="600"/>
              </a:spcBef>
              <a:buFont typeface="Arial" pitchFamily="34" charset="0"/>
              <a:buChar char="•"/>
            </a:pPr>
            <a:r>
              <a:rPr lang="ru-RU" sz="2600" dirty="0"/>
              <a:t>крупные социальные сети</a:t>
            </a:r>
          </a:p>
          <a:p>
            <a:pPr marL="342900" indent="-342900" algn="just" fontAlgn="base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600" dirty="0"/>
              <a:t>Начали разрабатываться новые архитектурные проекты для баз данных</a:t>
            </a:r>
            <a:r>
              <a:rPr lang="en-US" sz="2600" dirty="0"/>
              <a:t>.</a:t>
            </a:r>
          </a:p>
          <a:p>
            <a:pPr marL="360363" algn="just" fontAlgn="base">
              <a:spcBef>
                <a:spcPts val="600"/>
              </a:spcBef>
            </a:pPr>
            <a:r>
              <a:rPr lang="ru-RU" sz="2600" dirty="0"/>
              <a:t>Некоторые из проектов получили название </a:t>
            </a:r>
            <a:r>
              <a:rPr lang="en-US" sz="2600" dirty="0" err="1"/>
              <a:t>NoSQL</a:t>
            </a:r>
            <a:endParaRPr lang="ru-RU" sz="2600" dirty="0"/>
          </a:p>
          <a:p>
            <a:pPr marL="342900" indent="-342900" algn="just" fontAlgn="base">
              <a:spcBef>
                <a:spcPts val="600"/>
              </a:spcBef>
            </a:pP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354838556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>
                <a:latin typeface="Arial" pitchFamily="34" charset="0"/>
                <a:cs typeface="Arial" pitchFamily="34" charset="0"/>
              </a:rPr>
              <a:t>Базы данных </a:t>
            </a:r>
            <a:r>
              <a:rPr lang="en-US" sz="4000" b="1">
                <a:latin typeface="Arial" pitchFamily="34" charset="0"/>
                <a:cs typeface="Arial" pitchFamily="34" charset="0"/>
              </a:rPr>
              <a:t>NoSQL</a:t>
            </a:r>
            <a:endParaRPr lang="ru-RU" sz="40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</a:t>
            </a:r>
            <a:r>
              <a:rPr lang="ru-RU" sz="2200" dirty="0" smtClean="0">
                <a:solidFill>
                  <a:srgbClr val="0070C0"/>
                </a:solidFill>
                <a:cs typeface="Arial" pitchFamily="34" charset="0"/>
              </a:rPr>
              <a:t> </a:t>
            </a:r>
            <a:r>
              <a:rPr lang="ru-RU" sz="2200" dirty="0">
                <a:solidFill>
                  <a:schemeClr val="tx1"/>
                </a:solidFill>
                <a:cs typeface="Arial" pitchFamily="34" charset="0"/>
              </a:rPr>
              <a:t>Лекция 2. Модели 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0034" y="1586403"/>
            <a:ext cx="839244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ts val="600"/>
              </a:spcBef>
            </a:pPr>
            <a:r>
              <a:rPr lang="ru-RU" sz="2600" b="1" dirty="0" err="1"/>
              <a:t>NoSQL</a:t>
            </a:r>
            <a:r>
              <a:rPr lang="ru-RU" sz="2600" b="1" dirty="0"/>
              <a:t> (</a:t>
            </a:r>
            <a:r>
              <a:rPr lang="ru-RU" sz="2600" dirty="0"/>
              <a:t>«</a:t>
            </a:r>
            <a:r>
              <a:rPr lang="en-US" sz="2600" b="1" dirty="0">
                <a:solidFill>
                  <a:srgbClr val="7030A0"/>
                </a:solidFill>
              </a:rPr>
              <a:t>N</a:t>
            </a:r>
            <a:r>
              <a:rPr lang="en-US" sz="2600" dirty="0"/>
              <a:t>ot </a:t>
            </a:r>
            <a:r>
              <a:rPr lang="en-US" sz="2600" b="1" dirty="0">
                <a:solidFill>
                  <a:srgbClr val="7030A0"/>
                </a:solidFill>
              </a:rPr>
              <a:t>o</a:t>
            </a:r>
            <a:r>
              <a:rPr lang="en-US" sz="2600" dirty="0"/>
              <a:t>nly</a:t>
            </a:r>
            <a:r>
              <a:rPr lang="en-US" sz="2600" b="1" dirty="0"/>
              <a:t> </a:t>
            </a:r>
            <a:r>
              <a:rPr lang="ru-RU" sz="2600" b="1" dirty="0">
                <a:solidFill>
                  <a:srgbClr val="7030A0"/>
                </a:solidFill>
              </a:rPr>
              <a:t>SQL</a:t>
            </a:r>
            <a:r>
              <a:rPr lang="ru-RU" sz="2600" dirty="0"/>
              <a:t>»  переводится </a:t>
            </a:r>
            <a:r>
              <a:rPr lang="en-US" sz="2600" dirty="0"/>
              <a:t>-</a:t>
            </a:r>
            <a:r>
              <a:rPr lang="ru-RU" sz="2600" dirty="0"/>
              <a:t>  </a:t>
            </a:r>
            <a:endParaRPr lang="en-US" sz="2600" dirty="0"/>
          </a:p>
          <a:p>
            <a:pPr algn="just" fontAlgn="base">
              <a:spcBef>
                <a:spcPts val="600"/>
              </a:spcBef>
            </a:pPr>
            <a:r>
              <a:rPr lang="en-US" sz="2600" dirty="0"/>
              <a:t>          </a:t>
            </a:r>
            <a:r>
              <a:rPr lang="ru-RU" sz="2600" dirty="0"/>
              <a:t>«Не только реляционные» базы данных).</a:t>
            </a:r>
            <a:endParaRPr lang="en-US" sz="2600" dirty="0"/>
          </a:p>
          <a:p>
            <a:pPr algn="just" fontAlgn="base">
              <a:spcBef>
                <a:spcPts val="1200"/>
              </a:spcBef>
            </a:pPr>
            <a:r>
              <a:rPr lang="ru-RU" sz="2600" dirty="0"/>
              <a:t>Особенности БД </a:t>
            </a:r>
            <a:r>
              <a:rPr lang="ru-RU" sz="2600" dirty="0" err="1"/>
              <a:t>NoSQL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457200" lvl="0" indent="-45720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dirty="0" smtClean="0"/>
              <a:t> </a:t>
            </a:r>
            <a:r>
              <a:rPr lang="ru-RU" sz="2600" b="1" dirty="0" smtClean="0">
                <a:solidFill>
                  <a:schemeClr val="accent6">
                    <a:lumMod val="75000"/>
                  </a:schemeClr>
                </a:solidFill>
              </a:rPr>
              <a:t>отказ </a:t>
            </a:r>
            <a:r>
              <a:rPr lang="ru-RU" sz="2600" b="1" dirty="0">
                <a:solidFill>
                  <a:schemeClr val="accent6">
                    <a:lumMod val="75000"/>
                  </a:schemeClr>
                </a:solidFill>
              </a:rPr>
              <a:t>от жесткой структуры</a:t>
            </a:r>
            <a:r>
              <a:rPr lang="ru-RU" sz="2600" dirty="0"/>
              <a:t> данных</a:t>
            </a:r>
          </a:p>
          <a:p>
            <a:pPr marL="457200" lvl="0" indent="-45720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dirty="0" smtClean="0"/>
              <a:t> возможность </a:t>
            </a:r>
            <a:r>
              <a:rPr lang="ru-RU" sz="2600" b="1" dirty="0">
                <a:solidFill>
                  <a:schemeClr val="accent6">
                    <a:lumMod val="75000"/>
                  </a:schemeClr>
                </a:solidFill>
              </a:rPr>
              <a:t>управлять разнообразными</a:t>
            </a:r>
            <a:r>
              <a:rPr lang="ru-RU" sz="2600" dirty="0"/>
              <a:t> и </a:t>
            </a:r>
            <a:r>
              <a:rPr lang="ru-RU" sz="2600" b="1" dirty="0">
                <a:solidFill>
                  <a:schemeClr val="accent6">
                    <a:lumMod val="75000"/>
                  </a:schemeClr>
                </a:solidFill>
              </a:rPr>
              <a:t>большими</a:t>
            </a:r>
            <a:r>
              <a:rPr lang="ru-RU" sz="2600" dirty="0"/>
              <a:t> объемами данных</a:t>
            </a:r>
          </a:p>
          <a:p>
            <a:pPr marL="457200" lvl="0" indent="-45720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dirty="0" smtClean="0"/>
              <a:t> </a:t>
            </a:r>
            <a:r>
              <a:rPr lang="ru-RU" sz="2600" b="1" dirty="0" smtClean="0">
                <a:solidFill>
                  <a:schemeClr val="accent6">
                    <a:lumMod val="75000"/>
                  </a:schemeClr>
                </a:solidFill>
              </a:rPr>
              <a:t>высокая </a:t>
            </a:r>
            <a:r>
              <a:rPr lang="ru-RU" sz="2600" b="1" dirty="0">
                <a:solidFill>
                  <a:schemeClr val="accent6">
                    <a:lumMod val="75000"/>
                  </a:schemeClr>
                </a:solidFill>
              </a:rPr>
              <a:t>скорость</a:t>
            </a:r>
            <a:r>
              <a:rPr lang="ru-RU" sz="2600" dirty="0"/>
              <a:t> в  крупномасштабных прикладных системах</a:t>
            </a:r>
          </a:p>
          <a:p>
            <a:pPr marL="457200" lvl="0" indent="-457200" algn="just" fontAlgn="base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dirty="0"/>
              <a:t>могут </a:t>
            </a:r>
            <a:r>
              <a:rPr lang="ru-RU" sz="2600" b="1" dirty="0">
                <a:solidFill>
                  <a:schemeClr val="accent6">
                    <a:lumMod val="75000"/>
                  </a:schemeClr>
                </a:solidFill>
              </a:rPr>
              <a:t>использовать язык 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</a:rPr>
              <a:t>SQL</a:t>
            </a:r>
            <a:r>
              <a:rPr lang="en-US" sz="2600" dirty="0"/>
              <a:t> </a:t>
            </a:r>
            <a:r>
              <a:rPr lang="ru-RU" sz="2600" dirty="0"/>
              <a:t> для некоторых запросов</a:t>
            </a:r>
          </a:p>
          <a:p>
            <a:pPr algn="just" fontAlgn="base">
              <a:spcBef>
                <a:spcPts val="600"/>
              </a:spcBef>
            </a:pP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27823131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>
                <a:latin typeface="Arial" pitchFamily="34" charset="0"/>
                <a:cs typeface="Arial" pitchFamily="34" charset="0"/>
              </a:rPr>
              <a:t>Модели БД </a:t>
            </a:r>
            <a:r>
              <a:rPr lang="en-US" sz="4000" b="1">
                <a:latin typeface="Arial" pitchFamily="34" charset="0"/>
                <a:cs typeface="Arial" pitchFamily="34" charset="0"/>
              </a:rPr>
              <a:t>NoSQL</a:t>
            </a:r>
            <a:endParaRPr lang="ru-RU" sz="40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9141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</a:t>
            </a:r>
            <a:r>
              <a:rPr lang="ru-RU" sz="2200" dirty="0" smtClean="0">
                <a:solidFill>
                  <a:schemeClr val="tx1"/>
                </a:solidFill>
                <a:cs typeface="Arial" pitchFamily="34" charset="0"/>
              </a:rPr>
              <a:t>Лекция </a:t>
            </a:r>
            <a:r>
              <a:rPr lang="ru-RU" sz="2200" dirty="0">
                <a:solidFill>
                  <a:schemeClr val="tx1"/>
                </a:solidFill>
                <a:cs typeface="Arial" pitchFamily="34" charset="0"/>
              </a:rPr>
              <a:t>2. Модели 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528" y="1586403"/>
            <a:ext cx="8568952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09613" lvl="0" indent="-709613" fontAlgn="base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/>
              <a:t>хранилища типа «ключ-значение»</a:t>
            </a:r>
          </a:p>
          <a:p>
            <a:pPr marL="709613" lvl="0" indent="-709613" fontAlgn="base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/>
              <a:t>хранилище с широкими столбцами или хранилища расширяемых записей</a:t>
            </a:r>
          </a:p>
          <a:p>
            <a:pPr marL="709613" lvl="0" indent="-709613" fontAlgn="base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/>
              <a:t>документные БД</a:t>
            </a:r>
          </a:p>
          <a:p>
            <a:pPr marL="709613" lvl="0" indent="-709613" fontAlgn="base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800" dirty="0" err="1"/>
              <a:t>графовые</a:t>
            </a:r>
            <a:r>
              <a:rPr lang="ru-RU" sz="2800" dirty="0"/>
              <a:t> БД</a:t>
            </a:r>
          </a:p>
          <a:p>
            <a:pPr marL="457200" indent="-457200" algn="just" fontAlgn="base">
              <a:spcBef>
                <a:spcPts val="1200"/>
              </a:spcBef>
              <a:buFont typeface="Wingdings" panose="05000000000000000000" pitchFamily="2" charset="2"/>
              <a:buChar char="q"/>
            </a:pP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195805330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 dirty="0"/>
              <a:t>Модель </a:t>
            </a:r>
            <a:r>
              <a:rPr lang="ru-RU" sz="4000" b="1" dirty="0" smtClean="0"/>
              <a:t>Ключ-значение (</a:t>
            </a:r>
            <a:r>
              <a:rPr lang="en-US" sz="4000" b="1" dirty="0" smtClean="0"/>
              <a:t>key-value)</a:t>
            </a:r>
            <a:endParaRPr lang="ru-RU" sz="4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</a:t>
            </a:r>
            <a:r>
              <a:rPr lang="ru-RU" sz="2200" dirty="0" smtClean="0">
                <a:solidFill>
                  <a:schemeClr val="tx1"/>
                </a:solidFill>
                <a:cs typeface="Arial" pitchFamily="34" charset="0"/>
              </a:rPr>
              <a:t>Лекция </a:t>
            </a:r>
            <a:r>
              <a:rPr lang="ru-RU" sz="2200" dirty="0">
                <a:solidFill>
                  <a:schemeClr val="tx1"/>
                </a:solidFill>
                <a:cs typeface="Arial" pitchFamily="34" charset="0"/>
              </a:rPr>
              <a:t>2. Модели 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196752"/>
            <a:ext cx="864096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200" dirty="0"/>
              <a:t>И</a:t>
            </a:r>
            <a:r>
              <a:rPr lang="ru-RU" sz="2200" dirty="0" smtClean="0"/>
              <a:t>спользует </a:t>
            </a:r>
            <a:r>
              <a:rPr lang="ru-RU" sz="2200" dirty="0"/>
              <a:t>для доступа к данным </a:t>
            </a:r>
            <a:r>
              <a:rPr lang="ru-RU" sz="2200" b="1" dirty="0">
                <a:solidFill>
                  <a:srgbClr val="0070C0"/>
                </a:solidFill>
              </a:rPr>
              <a:t>уникальное ключевое </a:t>
            </a:r>
            <a:r>
              <a:rPr lang="ru-RU" sz="2200" b="1" dirty="0" smtClean="0">
                <a:solidFill>
                  <a:srgbClr val="0070C0"/>
                </a:solidFill>
              </a:rPr>
              <a:t>значение</a:t>
            </a:r>
            <a:r>
              <a:rPr lang="ru-RU" sz="2200" dirty="0" smtClean="0"/>
              <a:t> (</a:t>
            </a:r>
            <a:r>
              <a:rPr lang="en-US" sz="2200" dirty="0" smtClean="0"/>
              <a:t>key)</a:t>
            </a:r>
            <a:r>
              <a:rPr lang="ru-RU" sz="2200" dirty="0" smtClean="0"/>
              <a:t>, </a:t>
            </a:r>
            <a:r>
              <a:rPr lang="ru-RU" sz="2200" dirty="0"/>
              <a:t>которое  является указателем на конкретный элемент </a:t>
            </a:r>
            <a:r>
              <a:rPr lang="ru-RU" sz="2200" dirty="0" smtClean="0"/>
              <a:t>данных</a:t>
            </a:r>
            <a:r>
              <a:rPr lang="en-US" sz="2200" dirty="0" smtClean="0"/>
              <a:t> (value)</a:t>
            </a:r>
            <a:r>
              <a:rPr lang="ru-RU" sz="2200" dirty="0" smtClean="0"/>
              <a:t> </a:t>
            </a:r>
            <a:endParaRPr lang="ru-RU" sz="2200" dirty="0"/>
          </a:p>
          <a:p>
            <a:pPr marL="342900" indent="-342900" algn="just" fontAlgn="base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200" dirty="0"/>
              <a:t>Такая структура данных похожа на телефонный справочник </a:t>
            </a:r>
            <a:r>
              <a:rPr lang="ru-RU" sz="2200" dirty="0" smtClean="0"/>
              <a:t>(Абонент </a:t>
            </a:r>
            <a:r>
              <a:rPr lang="ru-RU" sz="2200" dirty="0"/>
              <a:t>– номер телефона</a:t>
            </a:r>
            <a:r>
              <a:rPr lang="ru-RU" sz="2200" dirty="0" smtClean="0"/>
              <a:t>)</a:t>
            </a:r>
            <a:endParaRPr lang="ru-RU" sz="2200" dirty="0"/>
          </a:p>
          <a:p>
            <a:pPr marL="342900" indent="-342900" algn="just" fontAlgn="base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200" dirty="0"/>
              <a:t>Область использования</a:t>
            </a:r>
            <a:r>
              <a:rPr lang="ru-RU" sz="2200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200" dirty="0"/>
              <a:t> системы, используемые в социальных сетях для хранения комментариев, списков пользователей, </a:t>
            </a:r>
            <a:r>
              <a:rPr lang="ru-RU" sz="2200" dirty="0" smtClean="0"/>
              <a:t>подписчиков </a:t>
            </a:r>
            <a:endParaRPr lang="ru-RU" sz="2200" dirty="0"/>
          </a:p>
          <a:p>
            <a:pPr marL="342900" indent="-342900" algn="just" fontAlgn="base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200" dirty="0"/>
              <a:t>Данную модель поддерживают </a:t>
            </a:r>
            <a:r>
              <a:rPr lang="ru-RU" sz="2200" dirty="0" smtClean="0"/>
              <a:t>БД</a:t>
            </a:r>
          </a:p>
          <a:p>
            <a:pPr marL="354013" algn="just" fontAlgn="base">
              <a:spcBef>
                <a:spcPts val="1200"/>
              </a:spcBef>
            </a:pPr>
            <a:r>
              <a:rPr lang="ru-RU" sz="2200" dirty="0" smtClean="0"/>
              <a:t>   </a:t>
            </a:r>
            <a:r>
              <a:rPr lang="ru-RU" sz="2200" dirty="0" err="1"/>
              <a:t>Riak</a:t>
            </a:r>
            <a:r>
              <a:rPr lang="ru-RU" sz="2200" dirty="0"/>
              <a:t>, </a:t>
            </a:r>
            <a:r>
              <a:rPr lang="ru-RU" sz="2200" dirty="0" err="1" smtClean="0"/>
              <a:t>Redis</a:t>
            </a:r>
            <a:endParaRPr lang="ru-RU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744" y="4365104"/>
            <a:ext cx="3363760" cy="242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072886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2800" b="1" dirty="0"/>
              <a:t>Модель расширяемых </a:t>
            </a:r>
            <a:r>
              <a:rPr lang="ru-RU" sz="2800" b="1" dirty="0" smtClean="0"/>
              <a:t>записей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 smtClean="0"/>
              <a:t>(w</a:t>
            </a:r>
            <a:r>
              <a:rPr lang="ru-RU" sz="2800" b="1" dirty="0" err="1"/>
              <a:t>ide</a:t>
            </a:r>
            <a:r>
              <a:rPr lang="ru-RU" sz="2800" b="1" dirty="0"/>
              <a:t> </a:t>
            </a:r>
            <a:r>
              <a:rPr lang="ru-RU" sz="2800" b="1" dirty="0" err="1" smtClean="0"/>
              <a:t>column</a:t>
            </a:r>
            <a:r>
              <a:rPr lang="en-US" sz="2800" b="1" dirty="0" smtClean="0"/>
              <a:t>)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</a:t>
            </a:r>
            <a:r>
              <a:rPr lang="ru-RU" sz="2200" dirty="0" smtClean="0">
                <a:solidFill>
                  <a:schemeClr val="tx1"/>
                </a:solidFill>
                <a:cs typeface="Arial" pitchFamily="34" charset="0"/>
              </a:rPr>
              <a:t>Лекция </a:t>
            </a:r>
            <a:r>
              <a:rPr lang="ru-RU" sz="2200" dirty="0">
                <a:solidFill>
                  <a:schemeClr val="tx1"/>
                </a:solidFill>
                <a:cs typeface="Arial" pitchFamily="34" charset="0"/>
              </a:rPr>
              <a:t>2. Модели 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124744"/>
            <a:ext cx="8568952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buFont typeface="Wingdings" panose="05000000000000000000" pitchFamily="2" charset="2"/>
              <a:buChar char="q"/>
            </a:pPr>
            <a:r>
              <a:rPr lang="ru-RU" sz="2200" dirty="0"/>
              <a:t>Модель </a:t>
            </a:r>
            <a:r>
              <a:rPr lang="ru-RU" sz="2200" dirty="0" smtClean="0"/>
              <a:t>является </a:t>
            </a:r>
            <a:r>
              <a:rPr lang="ru-RU" sz="2200" dirty="0"/>
              <a:t>хранилищем </a:t>
            </a:r>
            <a:r>
              <a:rPr lang="ru-RU" sz="2200" dirty="0" smtClean="0"/>
              <a:t>столбцов</a:t>
            </a:r>
            <a:endParaRPr lang="ru-RU" sz="2200" dirty="0"/>
          </a:p>
          <a:p>
            <a:pPr marL="342900" indent="-342900" algn="just" fontAlgn="base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200" dirty="0"/>
              <a:t>Отдельные строки  имеют </a:t>
            </a:r>
            <a:r>
              <a:rPr lang="ru-RU" sz="2200" b="1" dirty="0">
                <a:solidFill>
                  <a:schemeClr val="accent2">
                    <a:lumMod val="75000"/>
                  </a:schemeClr>
                </a:solidFill>
              </a:rPr>
              <a:t>различное количество </a:t>
            </a:r>
            <a:r>
              <a:rPr lang="ru-RU" sz="2200" b="1" dirty="0" smtClean="0">
                <a:solidFill>
                  <a:schemeClr val="accent2">
                    <a:lumMod val="75000"/>
                  </a:schemeClr>
                </a:solidFill>
              </a:rPr>
              <a:t>столбцов</a:t>
            </a:r>
            <a:endParaRPr lang="ru-RU" sz="2200" dirty="0"/>
          </a:p>
          <a:p>
            <a:pPr marL="342900" indent="-342900" algn="just" fontAlgn="base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200" dirty="0"/>
              <a:t>Столбцы могут быть добавлены в любую строку без необходимости добавлять ее в другие </a:t>
            </a:r>
            <a:r>
              <a:rPr lang="ru-RU" sz="2200" dirty="0" smtClean="0"/>
              <a:t>строки </a:t>
            </a:r>
            <a:endParaRPr lang="ru-RU" sz="2200" dirty="0"/>
          </a:p>
          <a:p>
            <a:pPr marL="342900" indent="-342900" algn="just" fontAlgn="base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200" dirty="0"/>
              <a:t>Область использования</a:t>
            </a:r>
            <a:r>
              <a:rPr lang="ru-RU" sz="2200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200" dirty="0"/>
              <a:t> системы для хранения атрибутов профиля пользователя и </a:t>
            </a:r>
            <a:r>
              <a:rPr lang="ru-RU" sz="2200" dirty="0" smtClean="0"/>
              <a:t>метаданных</a:t>
            </a:r>
            <a:endParaRPr lang="ru-RU" sz="2200" dirty="0"/>
          </a:p>
        </p:txBody>
      </p:sp>
      <p:pic>
        <p:nvPicPr>
          <p:cNvPr id="8" name="Рисунок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4293096"/>
            <a:ext cx="5112568" cy="2708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51520" y="3833172"/>
            <a:ext cx="85689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buFont typeface="Wingdings" panose="05000000000000000000" pitchFamily="2" charset="2"/>
              <a:buChar char="q"/>
            </a:pPr>
            <a:r>
              <a:rPr lang="ru-RU" sz="2200" dirty="0"/>
              <a:t>Данная модель реализована</a:t>
            </a:r>
            <a:r>
              <a:rPr lang="en-US" sz="2200" dirty="0"/>
              <a:t>  </a:t>
            </a:r>
            <a:r>
              <a:rPr lang="ru-RU" sz="2200" dirty="0"/>
              <a:t>в </a:t>
            </a:r>
            <a:r>
              <a:rPr lang="ru-RU" sz="2200" dirty="0" smtClean="0"/>
              <a:t>БД  </a:t>
            </a:r>
            <a:r>
              <a:rPr lang="ru-RU" sz="2200" dirty="0" err="1" smtClean="0"/>
              <a:t>Cassandra</a:t>
            </a:r>
            <a:endParaRPr lang="ru-RU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48344400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2800" b="1" dirty="0" smtClean="0"/>
              <a:t>Документная модель данных</a:t>
            </a:r>
            <a:endParaRPr lang="ru-RU" sz="4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</a:t>
            </a:r>
            <a:r>
              <a:rPr lang="ru-RU" sz="2200" dirty="0" smtClean="0">
                <a:solidFill>
                  <a:schemeClr val="tx1"/>
                </a:solidFill>
                <a:cs typeface="Arial" pitchFamily="34" charset="0"/>
              </a:rPr>
              <a:t>Лекция </a:t>
            </a:r>
            <a:r>
              <a:rPr lang="ru-RU" sz="2200" dirty="0">
                <a:solidFill>
                  <a:schemeClr val="tx1"/>
                </a:solidFill>
                <a:cs typeface="Arial" pitchFamily="34" charset="0"/>
              </a:rPr>
              <a:t>2. Модели 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985078"/>
            <a:ext cx="8568952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buFont typeface="Wingdings" panose="05000000000000000000" pitchFamily="2" charset="2"/>
              <a:buChar char="q"/>
            </a:pPr>
            <a:r>
              <a:rPr lang="ru-RU" sz="2000" dirty="0" smtClean="0"/>
              <a:t>Используется для хранения </a:t>
            </a:r>
            <a:r>
              <a:rPr lang="ru-RU" sz="2000" dirty="0"/>
              <a:t>структурированных документов в формате JSON, XML или </a:t>
            </a:r>
            <a:r>
              <a:rPr lang="ru-RU" sz="2000" dirty="0" smtClean="0"/>
              <a:t>BSON</a:t>
            </a:r>
            <a:endParaRPr lang="ru-RU" sz="2000" dirty="0"/>
          </a:p>
          <a:p>
            <a:pPr marL="342900" indent="-342900" algn="just" fontAlgn="base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 smtClean="0"/>
              <a:t>Позволяют </a:t>
            </a:r>
            <a:r>
              <a:rPr lang="ru-RU" sz="2000" dirty="0"/>
              <a:t>хранить разнородные структуры внутри одной коллекции без жесткой схемы</a:t>
            </a:r>
          </a:p>
          <a:p>
            <a:pPr marL="342900" indent="-342900" algn="just" fontAlgn="base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/>
              <a:t>Х</a:t>
            </a:r>
            <a:r>
              <a:rPr lang="ru-RU" sz="2000" dirty="0" smtClean="0"/>
              <a:t>орошо масштабируются </a:t>
            </a:r>
            <a:r>
              <a:rPr lang="ru-RU" sz="2000" dirty="0"/>
              <a:t>благодаря встроенной поддержке репликации </a:t>
            </a:r>
            <a:r>
              <a:rPr lang="ru-RU" sz="2000" dirty="0" smtClean="0"/>
              <a:t>(</a:t>
            </a:r>
            <a:r>
              <a:rPr lang="ru-RU" sz="2000" dirty="0"/>
              <a:t>синхронизации содержимого нескольких копий </a:t>
            </a:r>
            <a:r>
              <a:rPr lang="ru-RU" sz="2000" dirty="0" smtClean="0"/>
              <a:t>объекта) и </a:t>
            </a:r>
            <a:r>
              <a:rPr lang="ru-RU" sz="2000" dirty="0" err="1" smtClean="0"/>
              <a:t>шардинга</a:t>
            </a:r>
            <a:r>
              <a:rPr lang="ru-RU" sz="2000" dirty="0" smtClean="0"/>
              <a:t> (сегментирования: данные разбиваются </a:t>
            </a:r>
            <a:r>
              <a:rPr lang="ru-RU" sz="2000" dirty="0"/>
              <a:t>на части и размещаются </a:t>
            </a:r>
            <a:r>
              <a:rPr lang="ru-RU" sz="2000" dirty="0" smtClean="0"/>
              <a:t>в разных местах) </a:t>
            </a:r>
            <a:endParaRPr lang="ru-RU" sz="2000" dirty="0"/>
          </a:p>
          <a:p>
            <a:pPr marL="342900" indent="-342900" algn="just" fontAlgn="base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000" dirty="0"/>
              <a:t>Область использования</a:t>
            </a:r>
            <a:r>
              <a:rPr lang="ru-RU" sz="2000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000" dirty="0"/>
              <a:t> </a:t>
            </a:r>
            <a:r>
              <a:rPr lang="ru-RU" sz="2000" dirty="0" smtClean="0"/>
              <a:t>социальные сети, мобильные приложения </a:t>
            </a:r>
            <a:r>
              <a:rPr lang="ru-RU" sz="2000" dirty="0"/>
              <a:t>и </a:t>
            </a:r>
            <a:r>
              <a:rPr lang="ru-RU" sz="2000" dirty="0" smtClean="0"/>
              <a:t>системы </a:t>
            </a:r>
            <a:r>
              <a:rPr lang="ru-RU" sz="2000" dirty="0"/>
              <a:t>аналитики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4387751"/>
            <a:ext cx="85689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buFont typeface="Wingdings" panose="05000000000000000000" pitchFamily="2" charset="2"/>
              <a:buChar char="q"/>
            </a:pPr>
            <a:r>
              <a:rPr lang="ru-RU" sz="2200" dirty="0" smtClean="0"/>
              <a:t> Реализована</a:t>
            </a:r>
            <a:r>
              <a:rPr lang="en-US" sz="2200" dirty="0" smtClean="0"/>
              <a:t> </a:t>
            </a:r>
            <a:r>
              <a:rPr lang="ru-RU" sz="2200" dirty="0" smtClean="0"/>
              <a:t>в БД</a:t>
            </a:r>
          </a:p>
          <a:p>
            <a:pPr algn="just" fontAlgn="base"/>
            <a:r>
              <a:rPr lang="ru-RU" sz="2200" dirty="0" smtClean="0"/>
              <a:t>      </a:t>
            </a:r>
            <a:r>
              <a:rPr lang="en-US" sz="2200" dirty="0" smtClean="0"/>
              <a:t>MongoDB</a:t>
            </a:r>
            <a:endParaRPr lang="ru-RU" sz="2200" dirty="0" smtClean="0"/>
          </a:p>
          <a:p>
            <a:pPr algn="just" fontAlgn="base"/>
            <a:r>
              <a:rPr lang="en-US" sz="2200" dirty="0" smtClean="0"/>
              <a:t> </a:t>
            </a:r>
            <a:r>
              <a:rPr lang="ru-RU" sz="2200" dirty="0" smtClean="0"/>
              <a:t>     C</a:t>
            </a:r>
            <a:r>
              <a:rPr lang="en-US" sz="2200" dirty="0" err="1" smtClean="0"/>
              <a:t>ouchDB</a:t>
            </a:r>
            <a:endParaRPr lang="ru-RU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474288"/>
            <a:ext cx="5760640" cy="2348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325489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2800" b="1" dirty="0" err="1" smtClean="0"/>
              <a:t>Графовая</a:t>
            </a:r>
            <a:r>
              <a:rPr lang="ru-RU" sz="2800" b="1" dirty="0" smtClean="0"/>
              <a:t> модель данных</a:t>
            </a:r>
            <a:endParaRPr lang="ru-RU" sz="4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</a:t>
            </a:r>
            <a:r>
              <a:rPr lang="ru-RU" sz="2200" dirty="0" smtClean="0">
                <a:solidFill>
                  <a:schemeClr val="tx1"/>
                </a:solidFill>
                <a:cs typeface="Arial" pitchFamily="34" charset="0"/>
              </a:rPr>
              <a:t>Лекция </a:t>
            </a:r>
            <a:r>
              <a:rPr lang="ru-RU" sz="2200" dirty="0">
                <a:solidFill>
                  <a:schemeClr val="tx1"/>
                </a:solidFill>
                <a:cs typeface="Arial" pitchFamily="34" charset="0"/>
              </a:rPr>
              <a:t>2. Модели 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985078"/>
            <a:ext cx="8568952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ru-RU" sz="2000" dirty="0" smtClean="0"/>
              <a:t>Данные организованы в виде узлов и ребер (связей)</a:t>
            </a:r>
          </a:p>
          <a:p>
            <a:pPr marL="342900" indent="-342900" algn="just" fontAlgn="base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ru-RU" sz="2000" dirty="0"/>
              <a:t>Каждый узел имеет </a:t>
            </a:r>
            <a:r>
              <a:rPr lang="ru-RU" sz="2000" dirty="0" smtClean="0"/>
              <a:t>набор свойств. Например, данные пользователей</a:t>
            </a:r>
          </a:p>
          <a:p>
            <a:pPr marL="342900" indent="-342900" algn="just" fontAlgn="base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ru-RU" sz="2000" dirty="0" smtClean="0"/>
              <a:t>Ребра (связи) выражают </a:t>
            </a:r>
            <a:r>
              <a:rPr lang="ru-RU" sz="2000" dirty="0"/>
              <a:t>отношения между </a:t>
            </a:r>
            <a:r>
              <a:rPr lang="ru-RU" sz="2000" dirty="0" smtClean="0"/>
              <a:t>объектами. Например, "</a:t>
            </a:r>
            <a:r>
              <a:rPr lang="ru-RU" sz="2000" dirty="0"/>
              <a:t>друг", "работал вместе", "продано </a:t>
            </a:r>
            <a:r>
              <a:rPr lang="ru-RU" sz="2000" dirty="0" smtClean="0"/>
              <a:t>покупателю"</a:t>
            </a:r>
          </a:p>
          <a:p>
            <a:pPr marL="342900" indent="-342900" algn="just" fontAlgn="base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ru-RU" sz="2000" dirty="0"/>
              <a:t>При работе с </a:t>
            </a:r>
            <a:r>
              <a:rPr lang="ru-RU" sz="2000" dirty="0" err="1"/>
              <a:t>графовыми</a:t>
            </a:r>
            <a:r>
              <a:rPr lang="ru-RU" sz="2000" dirty="0"/>
              <a:t> моделями легко вычислять кратчайшие пути, кластеры друзей, выявлять сообщества и решать задачи оптимизации </a:t>
            </a:r>
            <a:r>
              <a:rPr lang="ru-RU" sz="2000" dirty="0" smtClean="0"/>
              <a:t>маршрутов </a:t>
            </a:r>
            <a:endParaRPr lang="ru-RU" sz="2000" dirty="0"/>
          </a:p>
          <a:p>
            <a:pPr marL="342900" indent="-342900" algn="just" fontAlgn="base"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ru-RU" sz="2000" dirty="0" smtClean="0"/>
              <a:t>Области использования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000" dirty="0" smtClean="0"/>
              <a:t> отслеживание взаимоотношений </a:t>
            </a:r>
            <a:r>
              <a:rPr lang="ru-RU" sz="2000" dirty="0"/>
              <a:t>элементов друг с </a:t>
            </a:r>
            <a:r>
              <a:rPr lang="ru-RU" sz="2000" dirty="0" smtClean="0"/>
              <a:t>другом (рекомендации продуктов, цепочки поставок)</a:t>
            </a:r>
          </a:p>
          <a:p>
            <a:pPr marL="342900" indent="-342900" algn="just" fontAlgn="base"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ru-RU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5057308"/>
            <a:ext cx="85689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buFont typeface="Wingdings" panose="05000000000000000000" pitchFamily="2" charset="2"/>
              <a:buChar char="q"/>
            </a:pPr>
            <a:r>
              <a:rPr lang="ru-RU" sz="2200" dirty="0" smtClean="0"/>
              <a:t> Реализована</a:t>
            </a:r>
            <a:r>
              <a:rPr lang="en-US" sz="2200" dirty="0" smtClean="0"/>
              <a:t> </a:t>
            </a:r>
            <a:r>
              <a:rPr lang="ru-RU" sz="2200" dirty="0" smtClean="0"/>
              <a:t>в БД</a:t>
            </a:r>
          </a:p>
          <a:p>
            <a:pPr algn="just" fontAlgn="base"/>
            <a:r>
              <a:rPr lang="ru-RU" sz="2200" dirty="0" smtClean="0"/>
              <a:t>      </a:t>
            </a:r>
            <a:r>
              <a:rPr lang="en-US" sz="2200" dirty="0" smtClean="0"/>
              <a:t>Neo4j</a:t>
            </a:r>
            <a:endParaRPr lang="ru-RU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305716"/>
            <a:ext cx="4524958" cy="2544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902161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4000"/>
              <a:t>Важный вывод</a:t>
            </a:r>
            <a:endParaRPr lang="ru-RU" sz="40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</a:t>
            </a:r>
            <a:r>
              <a:rPr lang="ru-RU" sz="2200" dirty="0" smtClean="0">
                <a:solidFill>
                  <a:schemeClr val="tx1"/>
                </a:solidFill>
                <a:cs typeface="Arial" pitchFamily="34" charset="0"/>
              </a:rPr>
              <a:t>Лекция </a:t>
            </a:r>
            <a:r>
              <a:rPr lang="ru-RU" sz="2200" dirty="0">
                <a:solidFill>
                  <a:schemeClr val="tx1"/>
                </a:solidFill>
                <a:cs typeface="Arial" pitchFamily="34" charset="0"/>
              </a:rPr>
              <a:t>2. Модели 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755973"/>
            <a:ext cx="856895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fontAlgn="base">
              <a:buFont typeface="Wingdings" panose="05000000000000000000" pitchFamily="2" charset="2"/>
              <a:buChar char="q"/>
            </a:pPr>
            <a:r>
              <a:rPr lang="ru-RU" sz="2800" dirty="0" smtClean="0"/>
              <a:t>Данные, </a:t>
            </a:r>
            <a:r>
              <a:rPr lang="ru-RU" sz="2800" dirty="0"/>
              <a:t>которые будут использоваться в той или иной задаче, определяет выбираемую модель хранения и обработки данных</a:t>
            </a:r>
          </a:p>
          <a:p>
            <a:pPr marL="457200" indent="-457200" algn="just" fontAlgn="base">
              <a:buFont typeface="Wingdings" panose="05000000000000000000" pitchFamily="2" charset="2"/>
              <a:buChar char="q"/>
            </a:pPr>
            <a:endParaRPr lang="ru-RU" sz="2800" i="1" dirty="0"/>
          </a:p>
          <a:p>
            <a:pPr marL="457200" indent="-457200" algn="just" fontAlgn="base">
              <a:buFont typeface="Wingdings" panose="05000000000000000000" pitchFamily="2" charset="2"/>
              <a:buChar char="q"/>
            </a:pPr>
            <a:r>
              <a:rPr lang="ru-RU" sz="2800" dirty="0"/>
              <a:t>Многие современные базы данных являются реляционными, которые поддерживают  язык SQL</a:t>
            </a:r>
            <a:endParaRPr lang="ru-RU" sz="2800" i="1" dirty="0"/>
          </a:p>
        </p:txBody>
      </p:sp>
    </p:spTree>
    <p:extLst>
      <p:ext uri="{BB962C8B-B14F-4D97-AF65-F5344CB8AC3E}">
        <p14:creationId xmlns:p14="http://schemas.microsoft.com/office/powerpoint/2010/main" val="241588325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260648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ВОПРОСЫ К ЛЕКЦИИ</a:t>
            </a:r>
            <a:endParaRPr lang="ru-RU" sz="3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51520" y="1085830"/>
            <a:ext cx="871296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 smtClean="0"/>
              <a:t>Что представляет собой модель данных ?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/>
              <a:t>Перечислите ранние модели данных </a:t>
            </a:r>
            <a:r>
              <a:rPr lang="ru-RU" sz="2400" dirty="0" smtClean="0"/>
              <a:t>...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 smtClean="0"/>
              <a:t>Укажите отличие иерархической и сетевой моделей</a:t>
            </a:r>
            <a:endParaRPr lang="en-US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 smtClean="0"/>
              <a:t>Укажите особенности </a:t>
            </a:r>
            <a:r>
              <a:rPr lang="ru-RU" sz="2400" smtClean="0"/>
              <a:t>реляционной модели</a:t>
            </a:r>
            <a:endParaRPr lang="ru-RU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 smtClean="0"/>
              <a:t>Укажите достоинства ранних моделей данных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 smtClean="0"/>
              <a:t>Укажите недостатки ранних моделей данных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 smtClean="0"/>
              <a:t>Укажите особенности моделей </a:t>
            </a:r>
            <a:r>
              <a:rPr lang="en-US" sz="2400" dirty="0" smtClean="0"/>
              <a:t>NoSQL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ru-RU" sz="2400" dirty="0" smtClean="0"/>
              <a:t>Перечислите основные модели </a:t>
            </a:r>
            <a:r>
              <a:rPr lang="en-US" sz="2400" dirty="0" smtClean="0"/>
              <a:t>NoSQL</a:t>
            </a:r>
            <a:endParaRPr lang="ru-RU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ru-RU" sz="2400" dirty="0" smtClean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ru-RU" sz="2400" dirty="0"/>
          </a:p>
        </p:txBody>
      </p:sp>
      <p:sp>
        <p:nvSpPr>
          <p:cNvPr id="20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6064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 2. </a:t>
            </a:r>
            <a:r>
              <a:rPr lang="ru-RU" sz="1800" smtClean="0">
                <a:solidFill>
                  <a:schemeClr val="tx1"/>
                </a:solidFill>
              </a:rPr>
              <a:t>Модели данных</a:t>
            </a:r>
            <a:r>
              <a:rPr lang="ru-RU" sz="1800" dirty="0" smtClean="0">
                <a:solidFill>
                  <a:schemeClr val="tx1"/>
                </a:solidFill>
              </a:rPr>
              <a:t/>
            </a:r>
            <a:br>
              <a:rPr lang="ru-RU" sz="18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 smtClean="0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2434</TotalTime>
  <Words>1434</Words>
  <Application>Microsoft Office PowerPoint</Application>
  <PresentationFormat>Экран (4:3)</PresentationFormat>
  <Paragraphs>259</Paragraphs>
  <Slides>32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3" baseType="lpstr">
      <vt:lpstr>Открытая</vt:lpstr>
      <vt:lpstr>Лекция 2</vt:lpstr>
      <vt:lpstr>  Лекция 2. Модели данных  </vt:lpstr>
      <vt:lpstr>  Лекция 2. Модели данных  </vt:lpstr>
      <vt:lpstr>  Лекция 2. Модели данных  </vt:lpstr>
      <vt:lpstr>  Лекция 2. Модели данных  </vt:lpstr>
      <vt:lpstr>  Лекция 2. Модели данных  </vt:lpstr>
      <vt:lpstr>  Лекция 2. Модели данных  </vt:lpstr>
      <vt:lpstr>  Лекция 2. Модели данных  </vt:lpstr>
      <vt:lpstr>  Лекция 2. Модели данных  </vt:lpstr>
      <vt:lpstr>  Лекция 2. Модели данных  </vt:lpstr>
      <vt:lpstr>  Лекция 2. Модели данных  </vt:lpstr>
      <vt:lpstr>  Лекция 2. Модели данных  </vt:lpstr>
      <vt:lpstr> Лекция 2. Модели данных </vt:lpstr>
      <vt:lpstr>  Лекция 2. Модели данных  </vt:lpstr>
      <vt:lpstr> Лекция 2. Модели данных </vt:lpstr>
      <vt:lpstr>Лекция 2. Модели данных</vt:lpstr>
      <vt:lpstr>Лекция 2. Модели данных</vt:lpstr>
      <vt:lpstr>Лекция 2. Модели данных</vt:lpstr>
      <vt:lpstr>Лекция 2. Модели данных</vt:lpstr>
      <vt:lpstr>Лекция 2. Модели данных</vt:lpstr>
      <vt:lpstr>Лекция 2. Модели данных</vt:lpstr>
      <vt:lpstr>                                        Лекция 2. Модели данных  </vt:lpstr>
      <vt:lpstr>                            Лекция 2. Модели данных  </vt:lpstr>
      <vt:lpstr>                             Лекция 2. Модели данных  </vt:lpstr>
      <vt:lpstr>                            Лекция 2. Модели данных   </vt:lpstr>
      <vt:lpstr>                            Лекция 2. Модели данных  </vt:lpstr>
      <vt:lpstr>                            Лекция 2. Модели данных  </vt:lpstr>
      <vt:lpstr>                            Лекция 2. Модели данных  </vt:lpstr>
      <vt:lpstr>                            Лекция 2. Модели данных  </vt:lpstr>
      <vt:lpstr>                            Лекция 2. Модели данных  </vt:lpstr>
      <vt:lpstr>       Лекция  2. Модели данных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226</cp:revision>
  <dcterms:created xsi:type="dcterms:W3CDTF">2020-10-04T20:01:59Z</dcterms:created>
  <dcterms:modified xsi:type="dcterms:W3CDTF">2025-09-12T08:22:32Z</dcterms:modified>
</cp:coreProperties>
</file>