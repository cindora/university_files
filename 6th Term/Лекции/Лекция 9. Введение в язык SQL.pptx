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0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1" r:id="rId25"/>
    <p:sldId id="282" r:id="rId2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20" y="-5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9C8C5C0-DE41-47C3-A3CF-2CD73C7A1060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6019745-EC1D-40BB-846F-B48728FB6E5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9C8C5C0-DE41-47C3-A3CF-2CD73C7A1060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6019745-EC1D-40BB-846F-B48728FB6E54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9C8C5C0-DE41-47C3-A3CF-2CD73C7A1060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6019745-EC1D-40BB-846F-B48728FB6E54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9C8C5C0-DE41-47C3-A3CF-2CD73C7A1060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6019745-EC1D-40BB-846F-B48728FB6E54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9C8C5C0-DE41-47C3-A3CF-2CD73C7A1060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6019745-EC1D-40BB-846F-B48728FB6E54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9C8C5C0-DE41-47C3-A3CF-2CD73C7A1060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6019745-EC1D-40BB-846F-B48728FB6E54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9C8C5C0-DE41-47C3-A3CF-2CD73C7A1060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6019745-EC1D-40BB-846F-B48728FB6E5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19C8C5C0-DE41-47C3-A3CF-2CD73C7A1060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6019745-EC1D-40BB-846F-B48728FB6E54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9C8C5C0-DE41-47C3-A3CF-2CD73C7A1060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6019745-EC1D-40BB-846F-B48728FB6E54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9C8C5C0-DE41-47C3-A3CF-2CD73C7A1060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6019745-EC1D-40BB-846F-B48728FB6E5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9C8C5C0-DE41-47C3-A3CF-2CD73C7A1060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6019745-EC1D-40BB-846F-B48728FB6E5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9C8C5C0-DE41-47C3-A3CF-2CD73C7A1060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16019745-EC1D-40BB-846F-B48728FB6E54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фон ИМ-2.jpg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7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80975" y="0"/>
            <a:ext cx="9224976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71600" y="836712"/>
            <a:ext cx="7772400" cy="1008110"/>
          </a:xfrm>
        </p:spPr>
        <p:txBody>
          <a:bodyPr>
            <a:normAutofit fontScale="90000"/>
          </a:bodyPr>
          <a:lstStyle/>
          <a:p>
            <a:pPr algn="ctr"/>
            <a:r>
              <a:rPr lang="ru-RU">
                <a:solidFill>
                  <a:schemeClr val="bg1"/>
                </a:solidFill>
              </a:rPr>
              <a:t/>
            </a:r>
            <a:br>
              <a:rPr lang="ru-RU">
                <a:solidFill>
                  <a:schemeClr val="bg1"/>
                </a:solidFill>
              </a:rPr>
            </a:br>
            <a:endParaRPr lang="ru-RU">
              <a:solidFill>
                <a:srgbClr val="FFFF00"/>
              </a:solidFill>
            </a:endParaRPr>
          </a:p>
        </p:txBody>
      </p:sp>
      <p:pic>
        <p:nvPicPr>
          <p:cNvPr id="6" name="Рисунок 5" descr="Логотип АСОИиУ-2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2002038" cy="1758614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7216869" y="6488668"/>
            <a:ext cx="19271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ru-RU" b="1" dirty="0">
                <a:solidFill>
                  <a:srgbClr val="FFC000"/>
                </a:solidFill>
              </a:rPr>
              <a:t>©Монахов В.И</a:t>
            </a:r>
            <a:r>
              <a:rPr lang="ru-RU" b="1" dirty="0">
                <a:solidFill>
                  <a:srgbClr val="7030A0"/>
                </a:solidFill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520" y="2204864"/>
            <a:ext cx="87849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64008" algn="ctr">
              <a:spcBef>
                <a:spcPts val="400"/>
              </a:spcBef>
              <a:buClr>
                <a:schemeClr val="accent1"/>
              </a:buClr>
              <a:buSzPct val="68000"/>
            </a:pPr>
            <a:r>
              <a:rPr lang="ru-RU" sz="5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Введение в язык </a:t>
            </a:r>
            <a:r>
              <a:rPr lang="en-US" sz="5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SQL</a:t>
            </a:r>
            <a:endParaRPr lang="ru-RU" sz="5400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03848" y="1196752"/>
            <a:ext cx="46085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ru-RU" sz="5400" b="1" dirty="0">
                <a:solidFill>
                  <a:schemeClr val="bg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Лекция </a:t>
            </a:r>
            <a:r>
              <a:rPr lang="ru-RU" sz="5400" b="1" dirty="0" smtClean="0">
                <a:solidFill>
                  <a:schemeClr val="bg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 9</a:t>
            </a:r>
            <a:endParaRPr lang="ru-RU" sz="5400" b="1" dirty="0">
              <a:solidFill>
                <a:schemeClr val="bg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17761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Стандарты </a:t>
            </a:r>
            <a:r>
              <a:rPr lang="en-US" sz="3600" b="1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SQL</a:t>
            </a:r>
            <a:endParaRPr lang="ru-RU" sz="3600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Введение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в </a:t>
            </a:r>
            <a:r>
              <a:rPr lang="en-US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SQL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340768"/>
            <a:ext cx="86409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SQL (Structured Query Language) – </a:t>
            </a:r>
            <a:r>
              <a:rPr lang="ru-RU" sz="24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стандартный язык доступа к реляционным базам данных </a:t>
            </a:r>
          </a:p>
          <a:p>
            <a:pPr algn="just"/>
            <a:endParaRPr lang="ru-RU" sz="2400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algn="just"/>
            <a:r>
              <a:rPr lang="ru-RU" sz="24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Все реляционные СУБД используют определенный диалект </a:t>
            </a:r>
            <a:r>
              <a:rPr lang="en-US" sz="24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SQL</a:t>
            </a:r>
            <a:endParaRPr lang="ru-RU" sz="2400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1520" y="3645024"/>
            <a:ext cx="8640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Существует стандарт языка </a:t>
            </a:r>
            <a:r>
              <a:rPr lang="en-US" sz="24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SQL</a:t>
            </a:r>
            <a:r>
              <a:rPr lang="ru-RU" sz="24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520" y="4437112"/>
            <a:ext cx="85689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Цель стандартизации </a:t>
            </a:r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ru-RU" sz="2400" b="1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</a:p>
          <a:p>
            <a:pPr marL="1077913" indent="-355600">
              <a:buFont typeface="Wingdings" pitchFamily="2" charset="2"/>
              <a:buChar char="§"/>
            </a:pPr>
            <a:r>
              <a:rPr lang="ru-RU" sz="24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унификация языка</a:t>
            </a:r>
          </a:p>
          <a:p>
            <a:pPr marL="1077913" indent="-355600">
              <a:buFont typeface="Wingdings" pitchFamily="2" charset="2"/>
              <a:buChar char="§"/>
            </a:pPr>
            <a:r>
              <a:rPr lang="ru-RU" sz="24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обеспечение переносимости приложений между различными СУБД</a:t>
            </a:r>
          </a:p>
        </p:txBody>
      </p:sp>
    </p:spTree>
    <p:extLst>
      <p:ext uri="{BB962C8B-B14F-4D97-AF65-F5344CB8AC3E}">
        <p14:creationId xmlns:p14="http://schemas.microsoft.com/office/powerpoint/2010/main" val="869988740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548680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t>История  языка </a:t>
            </a:r>
            <a:r>
              <a:rPr lang="en-US" sz="3600" b="1" dirty="0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t>SQL</a:t>
            </a:r>
            <a:endParaRPr lang="ru-RU" sz="3600" dirty="0" smtClean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 smtClean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 smtClean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Введение в </a:t>
            </a:r>
            <a:r>
              <a:rPr lang="en-US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SQL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340768"/>
            <a:ext cx="88924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dirty="0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t>1974 г. – </a:t>
            </a:r>
            <a:r>
              <a:rPr lang="ru-RU" sz="2400" dirty="0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t>разработка языка для экспериментальной </a:t>
            </a:r>
          </a:p>
          <a:p>
            <a:pPr algn="just"/>
            <a:r>
              <a:rPr lang="ru-RU" sz="24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ru-RU" sz="2400" dirty="0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             реляционной СУБД </a:t>
            </a:r>
            <a:r>
              <a:rPr lang="en-US" sz="2400" dirty="0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t>System R</a:t>
            </a:r>
            <a:endParaRPr lang="ru-RU" sz="2400" dirty="0" smtClean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algn="just"/>
            <a:r>
              <a:rPr lang="en-US" sz="2400" dirty="0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              </a:t>
            </a:r>
            <a:r>
              <a:rPr lang="en-US" sz="2400" dirty="0" smtClean="0">
                <a:solidFill>
                  <a:srgbClr val="7030A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SEQUEL</a:t>
            </a:r>
            <a:r>
              <a:rPr lang="en-US" sz="2400" dirty="0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– </a:t>
            </a:r>
            <a:r>
              <a:rPr lang="en-US" sz="2400" b="1" dirty="0" smtClean="0">
                <a:solidFill>
                  <a:srgbClr val="7030A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</a:t>
            </a:r>
            <a:r>
              <a:rPr lang="en-US" sz="2400" dirty="0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t>tructured </a:t>
            </a:r>
            <a:r>
              <a:rPr lang="en-US" sz="2400" b="1" dirty="0" smtClean="0">
                <a:solidFill>
                  <a:srgbClr val="7030A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</a:t>
            </a:r>
            <a:r>
              <a:rPr lang="en-US" sz="2400" dirty="0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t>nglish </a:t>
            </a:r>
            <a:r>
              <a:rPr lang="en-US" sz="2400" b="1" dirty="0" err="1" smtClean="0">
                <a:solidFill>
                  <a:srgbClr val="7030A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QUE</a:t>
            </a:r>
            <a:r>
              <a:rPr lang="en-US" sz="2400" dirty="0" err="1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t>ry</a:t>
            </a:r>
            <a:r>
              <a:rPr lang="en-US" sz="2400" dirty="0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L</a:t>
            </a:r>
            <a:r>
              <a:rPr lang="en-US" sz="2400" dirty="0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t>anguage</a:t>
            </a:r>
            <a:endParaRPr lang="ru-RU" sz="2400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1520" y="5118283"/>
            <a:ext cx="86409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t>Официальное название стандарта:</a:t>
            </a:r>
          </a:p>
          <a:p>
            <a:r>
              <a:rPr lang="ru-RU" sz="2400" dirty="0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     </a:t>
            </a:r>
            <a:r>
              <a:rPr lang="ru-RU" sz="2400" b="1" dirty="0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t>Международный стандарт языка баз данных SQL </a:t>
            </a:r>
            <a:endParaRPr lang="ru-RU" sz="2400" b="1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3528" y="4110171"/>
            <a:ext cx="85689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aseline="30000" dirty="0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t>*   </a:t>
            </a:r>
            <a:r>
              <a:rPr lang="en-US" sz="2400" baseline="30000" dirty="0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sz="2000" b="1" dirty="0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t>ISO - </a:t>
            </a:r>
            <a:r>
              <a:rPr lang="en-US" sz="2000" dirty="0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t>International Organization for </a:t>
            </a:r>
            <a:r>
              <a:rPr lang="en-US" sz="2000" dirty="0" err="1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t>Standatrization</a:t>
            </a:r>
            <a:endParaRPr lang="en-US" sz="2000" dirty="0" smtClean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r>
              <a:rPr lang="ru-RU" sz="2400" baseline="30000" dirty="0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t>* *</a:t>
            </a:r>
            <a:r>
              <a:rPr lang="en-US" sz="2400" baseline="30000" dirty="0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sz="2000" b="1" dirty="0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t>ANSI</a:t>
            </a:r>
            <a:r>
              <a:rPr lang="en-US" sz="2000" dirty="0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- American National Standards Institute</a:t>
            </a:r>
            <a:endParaRPr lang="ru-RU" sz="2000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1520" y="2588711"/>
            <a:ext cx="8640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55713" indent="-1255713" algn="just"/>
            <a:r>
              <a:rPr lang="ru-RU" sz="2400" b="1" dirty="0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t>19</a:t>
            </a:r>
            <a:r>
              <a:rPr lang="en-US" sz="2400" b="1" dirty="0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t>8</a:t>
            </a:r>
            <a:r>
              <a:rPr lang="ru-RU" sz="2400" b="1" dirty="0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t>0-е – </a:t>
            </a:r>
            <a:r>
              <a:rPr lang="en-US" sz="2400" b="1" dirty="0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sz="2400" dirty="0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t>ISO</a:t>
            </a:r>
            <a:r>
              <a:rPr lang="ru-RU" sz="2800" baseline="30000" dirty="0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t>*</a:t>
            </a:r>
            <a:r>
              <a:rPr lang="en-US" sz="2400" dirty="0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ru-RU" sz="2400" dirty="0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t>и </a:t>
            </a:r>
            <a:r>
              <a:rPr lang="en-US" sz="2400" dirty="0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t>ANSI</a:t>
            </a:r>
            <a:r>
              <a:rPr lang="ru-RU" sz="2400" baseline="30000" dirty="0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t>**</a:t>
            </a:r>
            <a:r>
              <a:rPr lang="en-US" sz="2400" dirty="0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ru-RU" sz="2400" dirty="0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t>на основе версий языков реляционных СУБД начали разрабатывать стандарт такого языка для унификации</a:t>
            </a:r>
            <a:endParaRPr lang="ru-RU" sz="2400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64065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8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548680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+mj-lt"/>
                <a:cs typeface="Arial" pitchFamily="34" charset="0"/>
              </a:rPr>
              <a:t>Основные стандарты </a:t>
            </a:r>
            <a:r>
              <a:rPr lang="en-US" sz="3600" b="1" dirty="0" smtClean="0">
                <a:latin typeface="+mj-lt"/>
                <a:cs typeface="Arial" pitchFamily="34" charset="0"/>
              </a:rPr>
              <a:t>SQL</a:t>
            </a:r>
            <a:endParaRPr lang="ru-RU" sz="3600" dirty="0" smtClean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 smtClean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 smtClean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 smtClean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Введение в </a:t>
            </a:r>
            <a:r>
              <a:rPr lang="en-US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SQL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340768"/>
            <a:ext cx="889248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0113" indent="-900113" algn="just"/>
            <a:r>
              <a:rPr lang="en-US" sz="2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SQL</a:t>
            </a:r>
            <a:r>
              <a:rPr lang="ru-RU" sz="2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  <a:r>
              <a:rPr lang="ru-RU" sz="2400" dirty="0" smtClean="0">
                <a:latin typeface="+mj-lt"/>
              </a:rPr>
              <a:t> - стандартизировал синтаксис основных операторов</a:t>
            </a:r>
            <a:endParaRPr lang="ru-RU" sz="2400" dirty="0">
              <a:latin typeface="+mj-lt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1520" y="2276872"/>
            <a:ext cx="864096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55713" indent="-1255713" algn="just"/>
            <a:r>
              <a:rPr lang="en-US" sz="2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SQL</a:t>
            </a:r>
            <a:r>
              <a:rPr lang="ru-RU" sz="2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89</a:t>
            </a:r>
            <a:r>
              <a:rPr lang="ru-RU" sz="2400" b="1" dirty="0" smtClean="0">
                <a:latin typeface="+mj-lt"/>
              </a:rPr>
              <a:t> (</a:t>
            </a:r>
            <a:r>
              <a:rPr lang="en-US" sz="2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SQL1</a:t>
            </a:r>
            <a:r>
              <a:rPr lang="en-US" sz="2400" b="1" dirty="0" smtClean="0">
                <a:latin typeface="+mj-lt"/>
              </a:rPr>
              <a:t>)</a:t>
            </a:r>
            <a:r>
              <a:rPr lang="ru-RU" sz="2400" dirty="0" smtClean="0">
                <a:latin typeface="+mj-lt"/>
              </a:rPr>
              <a:t> - первый </a:t>
            </a:r>
            <a:r>
              <a:rPr lang="ru-RU" sz="2400" dirty="0">
                <a:latin typeface="+mj-lt"/>
              </a:rPr>
              <a:t>всемирно </a:t>
            </a:r>
            <a:r>
              <a:rPr lang="ru-RU" sz="2400" dirty="0" smtClean="0">
                <a:latin typeface="+mj-lt"/>
              </a:rPr>
              <a:t>принятый стандарт </a:t>
            </a:r>
            <a:r>
              <a:rPr lang="ru-RU" sz="2400" dirty="0">
                <a:latin typeface="+mj-lt"/>
              </a:rPr>
              <a:t>языка </a:t>
            </a:r>
            <a:r>
              <a:rPr lang="ru-RU" sz="2400" dirty="0" smtClean="0">
                <a:latin typeface="+mj-lt"/>
              </a:rPr>
              <a:t>SQ</a:t>
            </a:r>
            <a:r>
              <a:rPr lang="en-US" sz="2400" dirty="0" smtClean="0">
                <a:latin typeface="+mj-lt"/>
              </a:rPr>
              <a:t>L</a:t>
            </a:r>
            <a:r>
              <a:rPr lang="en-US" sz="2400" dirty="0" smtClean="0">
                <a:latin typeface="+mj-lt"/>
                <a:cs typeface="Courier New" panose="02070309020205020404" pitchFamily="49" charset="0"/>
              </a:rPr>
              <a:t>:</a:t>
            </a:r>
            <a:r>
              <a:rPr lang="en-US" sz="2400" dirty="0" smtClean="0">
                <a:latin typeface="+mj-lt"/>
              </a:rPr>
              <a:t> </a:t>
            </a:r>
            <a:r>
              <a:rPr lang="ru-RU" sz="2400" dirty="0" smtClean="0">
                <a:latin typeface="+mj-lt"/>
              </a:rPr>
              <a:t>ввел средства поддержки ссылочной целостности </a:t>
            </a:r>
            <a:r>
              <a:rPr lang="en-US" sz="2400" dirty="0" smtClean="0">
                <a:latin typeface="+mj-lt"/>
              </a:rPr>
              <a:t>Foreign Key</a:t>
            </a:r>
            <a:endParaRPr lang="ru-RU" sz="2400" dirty="0">
              <a:latin typeface="+mj-lt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1520" y="3606115"/>
            <a:ext cx="8640960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55713" indent="-1255713" algn="just"/>
            <a:r>
              <a:rPr lang="en-US" sz="2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SQL</a:t>
            </a:r>
            <a:r>
              <a:rPr lang="ru-RU" sz="2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r>
              <a:rPr lang="en-US" sz="2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2400" b="1" dirty="0" smtClean="0">
                <a:latin typeface="+mj-lt"/>
              </a:rPr>
              <a:t> (</a:t>
            </a:r>
            <a:r>
              <a:rPr lang="en-US" sz="2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SQL2</a:t>
            </a:r>
            <a:r>
              <a:rPr lang="en-US" sz="2400" b="1" dirty="0" smtClean="0">
                <a:latin typeface="+mj-lt"/>
              </a:rPr>
              <a:t>)</a:t>
            </a:r>
            <a:r>
              <a:rPr lang="ru-RU" sz="2400" dirty="0" smtClean="0">
                <a:latin typeface="+mj-lt"/>
              </a:rPr>
              <a:t> – серьезное обновление стандарта.</a:t>
            </a:r>
          </a:p>
          <a:p>
            <a:pPr marL="1255713" algn="just"/>
            <a:r>
              <a:rPr lang="ru-RU" sz="2400" dirty="0" smtClean="0">
                <a:latin typeface="+mj-lt"/>
              </a:rPr>
              <a:t>определил 3 уровня соответствия языка </a:t>
            </a:r>
            <a:r>
              <a:rPr lang="en-US" sz="2400" dirty="0" smtClean="0">
                <a:latin typeface="+mj-lt"/>
              </a:rPr>
              <a:t>SQL</a:t>
            </a:r>
            <a:r>
              <a:rPr lang="ru-RU" sz="2400" dirty="0" smtClean="0">
                <a:latin typeface="+mj-lt"/>
              </a:rPr>
              <a:t> стандарту: </a:t>
            </a:r>
          </a:p>
          <a:p>
            <a:pPr marL="1882775" indent="-273050" algn="just">
              <a:buFont typeface="Wingdings" pitchFamily="2" charset="2"/>
              <a:buChar char="§"/>
            </a:pPr>
            <a:r>
              <a:rPr lang="ru-RU" sz="2400" b="1" dirty="0" smtClean="0">
                <a:latin typeface="+mj-lt"/>
              </a:rPr>
              <a:t>начальный</a:t>
            </a:r>
            <a:r>
              <a:rPr lang="ru-RU" sz="2400" dirty="0" smtClean="0">
                <a:latin typeface="+mj-lt"/>
              </a:rPr>
              <a:t> (</a:t>
            </a:r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Entry</a:t>
            </a:r>
            <a:r>
              <a:rPr lang="ru-RU" sz="2400" dirty="0" smtClean="0">
                <a:latin typeface="+mj-lt"/>
              </a:rPr>
              <a:t>) – ему соответствует большинство </a:t>
            </a:r>
            <a:r>
              <a:rPr lang="en-US" sz="2400" dirty="0" smtClean="0">
                <a:latin typeface="+mj-lt"/>
              </a:rPr>
              <a:t>SQL</a:t>
            </a:r>
            <a:r>
              <a:rPr lang="ru-RU" sz="2400" dirty="0" smtClean="0">
                <a:latin typeface="+mj-lt"/>
              </a:rPr>
              <a:t> коммерческих СУБД</a:t>
            </a:r>
          </a:p>
          <a:p>
            <a:pPr marL="1882775" indent="-273050" algn="just">
              <a:buFont typeface="Wingdings" pitchFamily="2" charset="2"/>
              <a:buChar char="§"/>
            </a:pPr>
            <a:r>
              <a:rPr lang="ru-RU" sz="2400" b="1" dirty="0" smtClean="0">
                <a:latin typeface="+mj-lt"/>
              </a:rPr>
              <a:t>промежуточный</a:t>
            </a:r>
            <a:r>
              <a:rPr lang="ru-RU" sz="2400" dirty="0" smtClean="0">
                <a:latin typeface="+mj-lt"/>
              </a:rPr>
              <a:t> (</a:t>
            </a:r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Intermediate</a:t>
            </a:r>
            <a:r>
              <a:rPr lang="ru-RU" sz="2400" dirty="0" smtClean="0">
                <a:latin typeface="+mj-lt"/>
              </a:rPr>
              <a:t>) </a:t>
            </a:r>
          </a:p>
          <a:p>
            <a:pPr marL="1882775" indent="-273050" algn="just">
              <a:buFont typeface="Wingdings" pitchFamily="2" charset="2"/>
              <a:buChar char="§"/>
            </a:pPr>
            <a:r>
              <a:rPr lang="ru-RU" sz="2400" b="1" dirty="0" smtClean="0">
                <a:latin typeface="+mj-lt"/>
              </a:rPr>
              <a:t>полный</a:t>
            </a:r>
            <a:r>
              <a:rPr lang="en-US" sz="2400" b="1" dirty="0" smtClean="0">
                <a:latin typeface="+mj-lt"/>
              </a:rPr>
              <a:t> </a:t>
            </a:r>
            <a:r>
              <a:rPr lang="ru-RU" sz="2400" dirty="0" smtClean="0">
                <a:latin typeface="+mj-lt"/>
              </a:rPr>
              <a:t>(</a:t>
            </a:r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Full</a:t>
            </a:r>
            <a:r>
              <a:rPr lang="ru-RU" sz="2400" dirty="0" smtClean="0">
                <a:latin typeface="+mj-lt"/>
              </a:rPr>
              <a:t>)</a:t>
            </a:r>
            <a:endParaRPr lang="ru-RU" sz="2400" dirty="0">
              <a:latin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672560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>
                <a:latin typeface="+mj-lt"/>
              </a:rPr>
              <a:t>Операции JOIN </a:t>
            </a:r>
            <a:r>
              <a:rPr lang="ru-RU" sz="3600" b="1" dirty="0">
                <a:latin typeface="+mj-lt"/>
              </a:rPr>
              <a:t>в разных стандартах</a:t>
            </a:r>
            <a:endParaRPr lang="ru-RU" sz="3600" b="1" dirty="0" smtClean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b="1" dirty="0" smtClean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b="1" dirty="0" smtClean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b="1" dirty="0" smtClean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Введение в </a:t>
            </a:r>
            <a:r>
              <a:rPr lang="en-US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SQL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9" name="Рисунок 8" descr="https://habrastorage.org/r/w1560/files/3c4/52c/3a7/3c452c3a7def4ef6a7f2e7e250fa2ef5.png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64" b="64624"/>
          <a:stretch/>
        </p:blipFill>
        <p:spPr bwMode="auto">
          <a:xfrm>
            <a:off x="1619672" y="1268760"/>
            <a:ext cx="6706583" cy="1579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Рисунок 13" descr="https://habrastorage.org/r/w1560/files/3c4/52c/3a7/3c452c3a7def4ef6a7f2e7e250fa2ef5.png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64" t="36037"/>
          <a:stretch/>
        </p:blipFill>
        <p:spPr bwMode="auto">
          <a:xfrm>
            <a:off x="1619671" y="3356992"/>
            <a:ext cx="6706583" cy="28556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80487829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Основные </a:t>
            </a:r>
            <a:r>
              <a:rPr lang="ru-RU" sz="3600" b="1" dirty="0" smtClean="0">
                <a:latin typeface="+mj-lt"/>
                <a:cs typeface="Arial" pitchFamily="34" charset="0"/>
              </a:rPr>
              <a:t>стандарты</a:t>
            </a: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600" b="1" dirty="0" smtClean="0">
                <a:latin typeface="Arial" pitchFamily="34" charset="0"/>
                <a:cs typeface="Arial" pitchFamily="34" charset="0"/>
              </a:rPr>
              <a:t>SQL</a:t>
            </a: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Введение в </a:t>
            </a:r>
            <a:r>
              <a:rPr lang="en-US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SQL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355284"/>
            <a:ext cx="8640960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0113" indent="-900113" algn="just"/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SQL99</a:t>
            </a:r>
            <a:r>
              <a:rPr lang="en-US" sz="2600" b="1" dirty="0" smtClean="0"/>
              <a:t> (</a:t>
            </a:r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SQL3</a:t>
            </a:r>
            <a:r>
              <a:rPr lang="en-US" sz="2600" b="1" dirty="0" smtClean="0"/>
              <a:t>)</a:t>
            </a:r>
            <a:r>
              <a:rPr lang="ru-RU" sz="2600" dirty="0" smtClean="0"/>
              <a:t> </a:t>
            </a:r>
            <a:r>
              <a:rPr lang="ru-RU" sz="2400" dirty="0" smtClean="0"/>
              <a:t> - добавлены</a:t>
            </a:r>
            <a:r>
              <a:rPr lang="ru-RU" sz="2400" dirty="0" smtClean="0">
                <a:cs typeface="Courier New" panose="02070309020205020404" pitchFamily="49" charset="0"/>
              </a:rPr>
              <a:t>:</a:t>
            </a:r>
          </a:p>
          <a:p>
            <a:pPr marL="990600" indent="-461963" algn="just">
              <a:buFont typeface="Wingdings" panose="05000000000000000000" pitchFamily="2" charset="2"/>
              <a:buChar char="§"/>
            </a:pPr>
            <a:r>
              <a:rPr lang="ru-RU" sz="2400" dirty="0" smtClean="0"/>
              <a:t>расширение </a:t>
            </a:r>
            <a:r>
              <a:rPr lang="en-US" sz="2400" dirty="0" smtClean="0"/>
              <a:t>SQL </a:t>
            </a:r>
            <a:r>
              <a:rPr lang="ru-RU" sz="2400" dirty="0" smtClean="0"/>
              <a:t>средствами языков программирования </a:t>
            </a:r>
            <a:r>
              <a:rPr lang="en-US" sz="2400" dirty="0" smtClean="0"/>
              <a:t>(</a:t>
            </a:r>
            <a:r>
              <a:rPr lang="ru-RU" sz="2400" dirty="0" smtClean="0"/>
              <a:t>триггеры, </a:t>
            </a:r>
            <a:r>
              <a:rPr lang="ru-RU" sz="2400" dirty="0" err="1" smtClean="0"/>
              <a:t>нескалярные</a:t>
            </a:r>
            <a:r>
              <a:rPr lang="ru-RU" sz="2400" dirty="0" smtClean="0"/>
              <a:t> типы данных, регулярные выражения)</a:t>
            </a:r>
          </a:p>
          <a:p>
            <a:pPr marL="990600" indent="-461963" algn="just">
              <a:buFont typeface="Wingdings" panose="05000000000000000000" pitchFamily="2" charset="2"/>
              <a:buChar char="§"/>
            </a:pPr>
            <a:r>
              <a:rPr lang="ru-RU" sz="2400" dirty="0" smtClean="0"/>
              <a:t>связь с языками  ООП (</a:t>
            </a:r>
            <a:r>
              <a:rPr lang="en-US" sz="2400" dirty="0" smtClean="0"/>
              <a:t>SQL/OLB)</a:t>
            </a:r>
            <a:endParaRPr lang="ru-RU" sz="2400" dirty="0"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1520" y="3434224"/>
            <a:ext cx="8640960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55713" indent="-1255713" algn="just"/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SQL</a:t>
            </a:r>
            <a:r>
              <a:rPr lang="ru-RU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-2003</a:t>
            </a:r>
            <a:r>
              <a:rPr lang="ru-RU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 smtClean="0"/>
              <a:t>–  добавлены</a:t>
            </a:r>
            <a:r>
              <a:rPr lang="ru-RU" sz="2400" dirty="0" smtClean="0">
                <a:cs typeface="Courier New" panose="02070309020205020404" pitchFamily="49" charset="0"/>
              </a:rPr>
              <a:t>:</a:t>
            </a:r>
            <a:r>
              <a:rPr lang="ru-RU" sz="2400" dirty="0" smtClean="0"/>
              <a:t> </a:t>
            </a:r>
          </a:p>
          <a:p>
            <a:pPr marL="1082675" indent="-452438" algn="just">
              <a:buFont typeface="Wingdings" panose="05000000000000000000" pitchFamily="2" charset="2"/>
              <a:buChar char="§"/>
            </a:pPr>
            <a:r>
              <a:rPr lang="ru-RU" sz="2400" dirty="0" smtClean="0"/>
              <a:t>новые типы данных</a:t>
            </a:r>
          </a:p>
          <a:p>
            <a:pPr marL="1082675" indent="-452438" algn="just">
              <a:buFont typeface="Wingdings" panose="05000000000000000000" pitchFamily="2" charset="2"/>
              <a:buChar char="§"/>
            </a:pPr>
            <a:r>
              <a:rPr lang="ru-RU" sz="2400" dirty="0" smtClean="0"/>
              <a:t>средства для работы с форматом данных </a:t>
            </a:r>
            <a:r>
              <a:rPr lang="en-US" sz="2400" dirty="0" smtClean="0"/>
              <a:t>XML</a:t>
            </a:r>
            <a:endParaRPr lang="ru-RU" sz="2400" dirty="0" smtClean="0"/>
          </a:p>
          <a:p>
            <a:pPr marL="1082675" indent="-452438" algn="just">
              <a:buFont typeface="Wingdings" panose="05000000000000000000" pitchFamily="2" charset="2"/>
              <a:buChar char="§"/>
            </a:pPr>
            <a:r>
              <a:rPr lang="ru-RU" sz="2400" dirty="0" smtClean="0"/>
              <a:t>оконные функции</a:t>
            </a:r>
            <a:endParaRPr lang="en-US" sz="2400" dirty="0"/>
          </a:p>
          <a:p>
            <a:pPr marL="1082675" indent="-452438" algn="just">
              <a:buFont typeface="Wingdings" panose="05000000000000000000" pitchFamily="2" charset="2"/>
              <a:buChar char="§"/>
            </a:pPr>
            <a:r>
              <a:rPr lang="ru-RU" sz="2400" dirty="0"/>
              <a:t>г</a:t>
            </a:r>
            <a:r>
              <a:rPr lang="ru-RU" sz="2400" dirty="0" smtClean="0"/>
              <a:t>енераторы последовательностей</a:t>
            </a:r>
            <a:endParaRPr lang="ru-RU" sz="2400" dirty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6462371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Основные </a:t>
            </a:r>
            <a:r>
              <a:rPr lang="ru-RU" sz="3600" b="1" dirty="0" smtClean="0">
                <a:latin typeface="+mj-lt"/>
                <a:cs typeface="Arial" pitchFamily="34" charset="0"/>
              </a:rPr>
              <a:t>стандарты</a:t>
            </a: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600" b="1" dirty="0" smtClean="0">
                <a:latin typeface="Arial" pitchFamily="34" charset="0"/>
                <a:cs typeface="Arial" pitchFamily="34" charset="0"/>
              </a:rPr>
              <a:t>SQL</a:t>
            </a: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Введение в </a:t>
            </a:r>
            <a:r>
              <a:rPr lang="en-US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SQL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3792" y="4588098"/>
            <a:ext cx="864096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55713" indent="-1255713" algn="just"/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SQL</a:t>
            </a:r>
            <a:r>
              <a:rPr lang="ru-RU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2023</a:t>
            </a:r>
            <a:r>
              <a:rPr lang="ru-RU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 smtClean="0"/>
              <a:t>– добавлено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ru-RU" sz="2400" dirty="0" smtClean="0"/>
              <a:t> </a:t>
            </a:r>
          </a:p>
          <a:p>
            <a:pPr marL="1255713" indent="-536575" algn="just">
              <a:buFont typeface="Wingdings" panose="05000000000000000000" pitchFamily="2" charset="2"/>
              <a:buChar char="§"/>
            </a:pPr>
            <a:r>
              <a:rPr lang="ru-RU" sz="2400" dirty="0"/>
              <a:t> </a:t>
            </a:r>
            <a:r>
              <a:rPr lang="ru-RU" sz="2400" dirty="0" smtClean="0"/>
              <a:t>операции </a:t>
            </a:r>
            <a:r>
              <a:rPr lang="ru-RU" sz="2400" dirty="0"/>
              <a:t>над </a:t>
            </a:r>
            <a:r>
              <a:rPr lang="ru-RU" sz="2400" dirty="0" smtClean="0"/>
              <a:t>графами </a:t>
            </a:r>
          </a:p>
          <a:p>
            <a:pPr marL="1255713" indent="-536575" algn="just">
              <a:buFont typeface="Wingdings" panose="05000000000000000000" pitchFamily="2" charset="2"/>
              <a:buChar char="§"/>
            </a:pPr>
            <a:r>
              <a:rPr lang="ru-RU" sz="2400" dirty="0"/>
              <a:t> </a:t>
            </a:r>
            <a:r>
              <a:rPr lang="ru-RU" sz="2400" dirty="0" smtClean="0"/>
              <a:t>агрегатная </a:t>
            </a:r>
            <a:r>
              <a:rPr lang="ru-RU" sz="2400" dirty="0"/>
              <a:t>функция </a:t>
            </a:r>
            <a:r>
              <a:rPr lang="ru-RU" sz="2400" b="1" dirty="0" smtClean="0">
                <a:cs typeface="Courier New" panose="02070309020205020404" pitchFamily="49" charset="0"/>
              </a:rPr>
              <a:t>ANY_VALUE</a:t>
            </a:r>
            <a:r>
              <a:rPr lang="ru-RU" sz="2400" dirty="0" smtClean="0"/>
              <a:t> </a:t>
            </a:r>
          </a:p>
          <a:p>
            <a:pPr marL="1255713" indent="-536575" algn="just">
              <a:buFont typeface="Wingdings" panose="05000000000000000000" pitchFamily="2" charset="2"/>
              <a:buChar char="§"/>
            </a:pPr>
            <a:r>
              <a:rPr lang="ru-RU" sz="2400" dirty="0"/>
              <a:t> </a:t>
            </a:r>
            <a:r>
              <a:rPr lang="ru-RU" sz="2400" dirty="0" smtClean="0"/>
              <a:t>поддержка 16,8,2–</a:t>
            </a:r>
            <a:r>
              <a:rPr lang="ru-RU" sz="2400" dirty="0" err="1" smtClean="0"/>
              <a:t>чных</a:t>
            </a:r>
            <a:r>
              <a:rPr lang="ru-RU" sz="2400" dirty="0" smtClean="0"/>
              <a:t> литералов</a:t>
            </a:r>
            <a:endParaRPr lang="ru-RU" sz="2400" dirty="0"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1520" y="1124744"/>
            <a:ext cx="864096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55713" indent="-1255713" algn="just"/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SQL</a:t>
            </a:r>
            <a:r>
              <a:rPr lang="ru-RU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-2006, </a:t>
            </a:r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SQL</a:t>
            </a:r>
            <a:r>
              <a:rPr lang="ru-RU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-2008</a:t>
            </a:r>
            <a:r>
              <a:rPr lang="ru-RU" sz="2400" b="1" dirty="0" smtClean="0"/>
              <a:t> </a:t>
            </a:r>
            <a:r>
              <a:rPr lang="ru-RU" sz="2400" dirty="0" smtClean="0"/>
              <a:t>– совершенствование ранее введенной функциональности</a:t>
            </a:r>
            <a:endParaRPr lang="ru-RU" sz="2400" dirty="0">
              <a:cs typeface="Arial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51520" y="2060848"/>
            <a:ext cx="864096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55713" indent="-1255713" algn="just"/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SQL</a:t>
            </a:r>
            <a:r>
              <a:rPr lang="ru-RU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-2011 </a:t>
            </a:r>
            <a:r>
              <a:rPr lang="ru-RU" sz="2400" dirty="0" smtClean="0"/>
              <a:t>– добавлено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1255713" indent="-536575" algn="just">
              <a:buFont typeface="Wingdings" panose="05000000000000000000" pitchFamily="2" charset="2"/>
              <a:buChar char="§"/>
            </a:pPr>
            <a:r>
              <a:rPr lang="ru-RU" sz="2400" dirty="0" smtClean="0"/>
              <a:t>поддержка</a:t>
            </a:r>
            <a:r>
              <a:rPr lang="ru-RU" sz="2400" dirty="0"/>
              <a:t> хронологических </a:t>
            </a:r>
            <a:r>
              <a:rPr lang="ru-RU" sz="2400" dirty="0" smtClean="0"/>
              <a:t>БД</a:t>
            </a:r>
            <a:r>
              <a:rPr lang="ru-RU" sz="2400" dirty="0"/>
              <a:t> (PERIOD FOR</a:t>
            </a:r>
            <a:r>
              <a:rPr lang="ru-RU" sz="2400" dirty="0" smtClean="0"/>
              <a:t>) </a:t>
            </a:r>
          </a:p>
          <a:p>
            <a:pPr marL="1255713" indent="-536575" algn="just">
              <a:buFont typeface="Wingdings" panose="05000000000000000000" pitchFamily="2" charset="2"/>
              <a:buChar char="§"/>
            </a:pPr>
            <a:r>
              <a:rPr lang="ru-RU" sz="2400" dirty="0" smtClean="0"/>
              <a:t>поддержка раздела FETCH</a:t>
            </a:r>
            <a:r>
              <a:rPr lang="en-US" sz="2400" dirty="0" smtClean="0"/>
              <a:t> </a:t>
            </a:r>
            <a:r>
              <a:rPr lang="ru-RU" sz="2400" dirty="0" smtClean="0"/>
              <a:t>в операторе </a:t>
            </a:r>
            <a:r>
              <a:rPr lang="en-US" sz="2400" dirty="0" smtClean="0"/>
              <a:t>SELECT</a:t>
            </a:r>
            <a:endParaRPr lang="ru-RU" sz="2400" dirty="0">
              <a:cs typeface="Arial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51520" y="3356992"/>
            <a:ext cx="864096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55713" indent="-1255713" algn="just"/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SQL</a:t>
            </a:r>
            <a:r>
              <a:rPr lang="ru-RU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2016</a:t>
            </a:r>
            <a:r>
              <a:rPr lang="ru-RU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 smtClean="0"/>
              <a:t>– добавлено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1255713" indent="-536575" algn="just">
              <a:buFont typeface="Wingdings" panose="05000000000000000000" pitchFamily="2" charset="2"/>
              <a:buChar char="§"/>
            </a:pPr>
            <a:r>
              <a:rPr lang="ru-RU" sz="2400" dirty="0" smtClean="0"/>
              <a:t>защита данных на </a:t>
            </a:r>
            <a:r>
              <a:rPr lang="ru-RU" sz="2400" dirty="0"/>
              <a:t>уровне </a:t>
            </a:r>
            <a:r>
              <a:rPr lang="ru-RU" sz="2400" dirty="0" smtClean="0"/>
              <a:t>строк </a:t>
            </a:r>
          </a:p>
          <a:p>
            <a:pPr marL="1255713" indent="-536575" algn="just">
              <a:buFont typeface="Wingdings" panose="05000000000000000000" pitchFamily="2" charset="2"/>
              <a:buChar char="§"/>
            </a:pPr>
            <a:r>
              <a:rPr lang="ru-RU" sz="2400" dirty="0" smtClean="0"/>
              <a:t>поддержка формата данных</a:t>
            </a:r>
            <a:r>
              <a:rPr lang="ru-RU" sz="2400" dirty="0"/>
              <a:t> JSON</a:t>
            </a:r>
            <a:endParaRPr lang="ru-RU" sz="2400" dirty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2608505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>
                <a:latin typeface="+mj-lt"/>
                <a:cs typeface="Arial" pitchFamily="34" charset="0"/>
              </a:rPr>
              <a:t>Стандарт и </a:t>
            </a:r>
            <a:r>
              <a:rPr lang="en-US" sz="3600" b="1" dirty="0">
                <a:latin typeface="+mj-lt"/>
                <a:cs typeface="Arial" pitchFamily="34" charset="0"/>
              </a:rPr>
              <a:t>SQL </a:t>
            </a:r>
            <a:r>
              <a:rPr lang="ru-RU" sz="3600" b="1" dirty="0">
                <a:latin typeface="+mj-lt"/>
                <a:cs typeface="Arial" pitchFamily="34" charset="0"/>
              </a:rPr>
              <a:t>коммерческих СУБД</a:t>
            </a: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8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Введение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в </a:t>
            </a:r>
            <a:r>
              <a:rPr lang="en-US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SQL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124744"/>
            <a:ext cx="86409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6575" indent="-536575" algn="just">
              <a:buFont typeface="Wingdings" pitchFamily="2" charset="2"/>
              <a:buChar char="q"/>
            </a:pPr>
            <a:r>
              <a:rPr lang="ru-RU" sz="2400" dirty="0"/>
              <a:t>Ни одна из коммерческих СУБД не поддерживает стандарт SQL в полном объеме </a:t>
            </a:r>
          </a:p>
          <a:p>
            <a:pPr marL="536575" indent="-536575" algn="just">
              <a:buFont typeface="Wingdings" pitchFamily="2" charset="2"/>
              <a:buChar char="q"/>
            </a:pPr>
            <a:r>
              <a:rPr lang="ru-RU" sz="2400" dirty="0"/>
              <a:t>Во всех диалектах языка различных СУБД имеются возможности, не являющиеся </a:t>
            </a:r>
            <a:r>
              <a:rPr lang="ru-RU" sz="2400" dirty="0" smtClean="0"/>
              <a:t>стандартными</a:t>
            </a:r>
            <a:endParaRPr lang="ru-RU" sz="2400" dirty="0"/>
          </a:p>
        </p:txBody>
      </p:sp>
      <p:sp>
        <p:nvSpPr>
          <p:cNvPr id="11" name="Стрелка вниз 10"/>
          <p:cNvSpPr/>
          <p:nvPr/>
        </p:nvSpPr>
        <p:spPr>
          <a:xfrm>
            <a:off x="4211960" y="2636912"/>
            <a:ext cx="720080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/>
          <p:cNvSpPr/>
          <p:nvPr/>
        </p:nvSpPr>
        <p:spPr>
          <a:xfrm>
            <a:off x="1979712" y="3140968"/>
            <a:ext cx="2376264" cy="1152128"/>
          </a:xfrm>
          <a:prstGeom prst="ellipse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solidFill>
                  <a:schemeClr val="tx1"/>
                </a:solidFill>
              </a:rPr>
              <a:t>Стандарт</a:t>
            </a:r>
          </a:p>
        </p:txBody>
      </p:sp>
      <p:sp>
        <p:nvSpPr>
          <p:cNvPr id="15" name="Овал 14"/>
          <p:cNvSpPr/>
          <p:nvPr/>
        </p:nvSpPr>
        <p:spPr>
          <a:xfrm>
            <a:off x="3347864" y="3284984"/>
            <a:ext cx="3096344" cy="864096"/>
          </a:xfrm>
          <a:prstGeom prst="ellipse">
            <a:avLst/>
          </a:prstGeom>
          <a:solidFill>
            <a:srgbClr val="00B050">
              <a:alpha val="4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/>
              <a:t>      SQL</a:t>
            </a:r>
            <a:endParaRPr lang="ru-RU" sz="2800"/>
          </a:p>
        </p:txBody>
      </p:sp>
      <p:sp>
        <p:nvSpPr>
          <p:cNvPr id="2" name="TextBox 1"/>
          <p:cNvSpPr txBox="1"/>
          <p:nvPr/>
        </p:nvSpPr>
        <p:spPr>
          <a:xfrm>
            <a:off x="539552" y="4658360"/>
            <a:ext cx="846043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0113" indent="-900113" algn="just"/>
            <a:r>
              <a:rPr lang="ru-RU" sz="2400" dirty="0" err="1"/>
              <a:t>Т.о</a:t>
            </a:r>
            <a:r>
              <a:rPr lang="ru-RU" sz="2400" dirty="0"/>
              <a:t>. каждый диалект - это надмножество некоторого подмножества стандарта SQL </a:t>
            </a:r>
          </a:p>
          <a:p>
            <a:pPr marL="808038" indent="-808038"/>
            <a:r>
              <a:rPr lang="ru-RU" sz="2400" dirty="0" smtClean="0"/>
              <a:t>Это </a:t>
            </a:r>
            <a:r>
              <a:rPr lang="ru-RU" sz="2400" dirty="0"/>
              <a:t>затрудняет переносимость приложений, разработанных для одних СУБД, в другие СУБД</a:t>
            </a:r>
            <a:endParaRPr lang="ru-RU" sz="2400" dirty="0">
              <a:cs typeface="Arial" pitchFamily="34" charset="0"/>
            </a:endParaRP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675635869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+mj-lt"/>
                <a:cs typeface="Arial" pitchFamily="34" charset="0"/>
              </a:rPr>
              <a:t>Теоретическая</a:t>
            </a: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 основа </a:t>
            </a:r>
            <a:r>
              <a:rPr lang="en-US" sz="3600" b="1" dirty="0" smtClean="0">
                <a:latin typeface="Arial" pitchFamily="34" charset="0"/>
                <a:cs typeface="Arial" pitchFamily="34" charset="0"/>
              </a:rPr>
              <a:t>SQL</a:t>
            </a: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9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Введение в </a:t>
            </a:r>
            <a:r>
              <a:rPr lang="en-US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SQL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268760"/>
            <a:ext cx="8640960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0113" indent="-900113" algn="just">
              <a:buFont typeface="Wingdings" pitchFamily="2" charset="2"/>
              <a:buChar char="q"/>
            </a:pPr>
            <a:r>
              <a:rPr lang="ru-RU" sz="2800" dirty="0" smtClean="0"/>
              <a:t>реляционная алгебра (РА)</a:t>
            </a:r>
          </a:p>
          <a:p>
            <a:pPr marL="900113" indent="-900113" algn="just">
              <a:spcBef>
                <a:spcPts val="1800"/>
              </a:spcBef>
              <a:buFont typeface="Wingdings" pitchFamily="2" charset="2"/>
              <a:buChar char="q"/>
            </a:pPr>
            <a:r>
              <a:rPr lang="ru-RU" sz="2800" dirty="0" smtClean="0"/>
              <a:t>реляционное исчисление (РИ)</a:t>
            </a:r>
            <a:endParaRPr lang="ru-RU" sz="2400" dirty="0" smtClean="0"/>
          </a:p>
        </p:txBody>
      </p:sp>
      <p:sp>
        <p:nvSpPr>
          <p:cNvPr id="12" name="TextBox 11"/>
          <p:cNvSpPr txBox="1"/>
          <p:nvPr/>
        </p:nvSpPr>
        <p:spPr>
          <a:xfrm>
            <a:off x="323528" y="2653755"/>
            <a:ext cx="849694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SQL  -  это комбинация </a:t>
            </a:r>
          </a:p>
          <a:p>
            <a:r>
              <a:rPr lang="ru-RU" sz="2800" dirty="0" smtClean="0"/>
              <a:t>   формул Реляционного исчисления кортежей </a:t>
            </a:r>
          </a:p>
          <a:p>
            <a:r>
              <a:rPr lang="ru-RU" sz="2800" dirty="0" smtClean="0"/>
              <a:t>   и </a:t>
            </a:r>
          </a:p>
          <a:p>
            <a:r>
              <a:rPr lang="ru-RU" sz="2800" dirty="0"/>
              <a:t> </a:t>
            </a:r>
            <a:r>
              <a:rPr lang="ru-RU" sz="2800" dirty="0" smtClean="0"/>
              <a:t>  выражений Реляционной алгебры</a:t>
            </a:r>
            <a:endParaRPr lang="ru-RU" sz="2800" dirty="0"/>
          </a:p>
        </p:txBody>
      </p:sp>
      <p:sp>
        <p:nvSpPr>
          <p:cNvPr id="16" name="TextBox 15"/>
          <p:cNvSpPr txBox="1"/>
          <p:nvPr/>
        </p:nvSpPr>
        <p:spPr>
          <a:xfrm>
            <a:off x="251520" y="4509120"/>
            <a:ext cx="849694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SQL  -  </a:t>
            </a:r>
            <a:r>
              <a:rPr lang="ru-RU" sz="2800" dirty="0" err="1" smtClean="0"/>
              <a:t>реляционно</a:t>
            </a:r>
            <a:r>
              <a:rPr lang="ru-RU" sz="2800" dirty="0" smtClean="0"/>
              <a:t> полный язык, т.е.</a:t>
            </a:r>
          </a:p>
          <a:p>
            <a:pPr marL="1350963">
              <a:tabLst>
                <a:tab pos="1255713" algn="l"/>
              </a:tabLst>
            </a:pPr>
            <a:r>
              <a:rPr lang="ru-RU" sz="2800" dirty="0" smtClean="0"/>
              <a:t>любое выражение РА или формула РИ могут быть записаны на </a:t>
            </a:r>
            <a:r>
              <a:rPr lang="en-US" sz="2800" dirty="0" smtClean="0"/>
              <a:t>SQL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221401353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Отличия  языка  </a:t>
            </a:r>
            <a:r>
              <a:rPr lang="en-US" sz="3600" b="1" dirty="0" smtClean="0">
                <a:latin typeface="Arial" pitchFamily="34" charset="0"/>
                <a:cs typeface="Arial" pitchFamily="34" charset="0"/>
              </a:rPr>
              <a:t>SQL</a:t>
            </a: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 от теории РБД</a:t>
            </a: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10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Введение в </a:t>
            </a:r>
            <a:r>
              <a:rPr lang="en-US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SQL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7504" y="1268760"/>
            <a:ext cx="8928992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0113" indent="-900113" algn="just">
              <a:buFont typeface="+mj-lt"/>
              <a:buAutoNum type="arabicParenR"/>
            </a:pPr>
            <a:r>
              <a:rPr lang="ru-RU" sz="2800" b="1" spc="-100" dirty="0" smtClean="0"/>
              <a:t>Отличия </a:t>
            </a:r>
            <a:r>
              <a:rPr lang="ru-RU" sz="2800" b="1" spc="-100" dirty="0">
                <a:solidFill>
                  <a:schemeClr val="accent2">
                    <a:lumMod val="75000"/>
                  </a:schemeClr>
                </a:solidFill>
              </a:rPr>
              <a:t>в</a:t>
            </a:r>
            <a:r>
              <a:rPr lang="ru-RU" sz="2800" b="1" spc="-100" dirty="0" smtClean="0">
                <a:solidFill>
                  <a:schemeClr val="accent2">
                    <a:lumMod val="75000"/>
                  </a:schemeClr>
                </a:solidFill>
              </a:rPr>
              <a:t> терминах</a:t>
            </a:r>
            <a:r>
              <a:rPr lang="ru-RU" sz="2800" b="1" spc="-100" dirty="0" smtClean="0"/>
              <a:t> </a:t>
            </a:r>
            <a:r>
              <a:rPr lang="ru-RU" sz="2800" spc="-100" dirty="0" smtClean="0"/>
              <a:t>(названиях объектов БД) </a:t>
            </a:r>
            <a:r>
              <a:rPr lang="ru-RU" sz="2800" dirty="0" smtClean="0"/>
              <a:t>:</a:t>
            </a:r>
          </a:p>
          <a:p>
            <a:pPr marL="900113" indent="-900113" algn="just"/>
            <a:r>
              <a:rPr lang="ru-RU" sz="2800" dirty="0" smtClean="0"/>
              <a:t>   </a:t>
            </a:r>
            <a:r>
              <a:rPr lang="ru-RU" sz="2800" dirty="0" smtClean="0"/>
              <a:t>  </a:t>
            </a:r>
            <a:r>
              <a:rPr lang="ru-RU" sz="2800" b="1" dirty="0" smtClean="0"/>
              <a:t>РБД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800" dirty="0" smtClean="0"/>
              <a:t> </a:t>
            </a:r>
            <a:r>
              <a:rPr lang="ru-RU" sz="2800" dirty="0" smtClean="0"/>
              <a:t> </a:t>
            </a:r>
            <a:r>
              <a:rPr lang="en-US" sz="2800" dirty="0" smtClean="0"/>
              <a:t> </a:t>
            </a:r>
            <a:r>
              <a:rPr lang="ru-RU" sz="2800" b="1" dirty="0" smtClean="0">
                <a:solidFill>
                  <a:srgbClr val="7030A0"/>
                </a:solidFill>
              </a:rPr>
              <a:t>отношение </a:t>
            </a:r>
            <a:r>
              <a:rPr lang="en-US" sz="2800" b="1" dirty="0" smtClean="0">
                <a:solidFill>
                  <a:srgbClr val="7030A0"/>
                </a:solidFill>
              </a:rPr>
              <a:t>  </a:t>
            </a:r>
            <a:r>
              <a:rPr lang="ru-RU" sz="2800" b="1" dirty="0" smtClean="0">
                <a:solidFill>
                  <a:srgbClr val="7030A0"/>
                </a:solidFill>
              </a:rPr>
              <a:t> </a:t>
            </a:r>
            <a:r>
              <a:rPr lang="ru-RU" sz="2800" b="1" dirty="0" smtClean="0">
                <a:solidFill>
                  <a:srgbClr val="7030A0"/>
                </a:solidFill>
              </a:rPr>
              <a:t>кортеж  </a:t>
            </a:r>
            <a:r>
              <a:rPr lang="en-US" sz="2800" b="1" dirty="0" smtClean="0">
                <a:solidFill>
                  <a:srgbClr val="7030A0"/>
                </a:solidFill>
              </a:rPr>
              <a:t>   </a:t>
            </a:r>
            <a:r>
              <a:rPr lang="ru-RU" sz="2800" b="1" dirty="0" smtClean="0">
                <a:solidFill>
                  <a:srgbClr val="7030A0"/>
                </a:solidFill>
              </a:rPr>
              <a:t>атрибут </a:t>
            </a:r>
          </a:p>
          <a:p>
            <a:pPr marL="900113" indent="-900113" algn="just"/>
            <a:r>
              <a:rPr lang="ru-RU" sz="2800" dirty="0" smtClean="0"/>
              <a:t> </a:t>
            </a:r>
            <a:r>
              <a:rPr lang="en-US" sz="2800" dirty="0" smtClean="0"/>
              <a:t> </a:t>
            </a:r>
            <a:endParaRPr lang="ru-RU" sz="2800" dirty="0" smtClean="0"/>
          </a:p>
          <a:p>
            <a:pPr marL="900113" indent="-900113" algn="just"/>
            <a:r>
              <a:rPr lang="ru-RU" sz="2800" dirty="0" smtClean="0"/>
              <a:t>     </a:t>
            </a:r>
            <a:r>
              <a:rPr lang="en-US" sz="2800" b="1" dirty="0" smtClean="0"/>
              <a:t>SQL</a:t>
            </a:r>
            <a:r>
              <a:rPr lang="en-US" sz="2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ru-RU" sz="2800" dirty="0" smtClean="0"/>
              <a:t> </a:t>
            </a:r>
            <a:r>
              <a:rPr lang="en-US" sz="2800" dirty="0" smtClean="0"/>
              <a:t>   </a:t>
            </a:r>
            <a:r>
              <a:rPr lang="ru-RU" sz="2800" b="1" dirty="0" smtClean="0">
                <a:solidFill>
                  <a:srgbClr val="0070C0"/>
                </a:solidFill>
              </a:rPr>
              <a:t>таблица   </a:t>
            </a:r>
            <a:r>
              <a:rPr lang="en-US" sz="2800" b="1" dirty="0" smtClean="0">
                <a:solidFill>
                  <a:srgbClr val="0070C0"/>
                </a:solidFill>
              </a:rPr>
              <a:t>     </a:t>
            </a:r>
            <a:r>
              <a:rPr lang="ru-RU" sz="2800" b="1" dirty="0" smtClean="0">
                <a:solidFill>
                  <a:srgbClr val="0070C0"/>
                </a:solidFill>
              </a:rPr>
              <a:t>строка   </a:t>
            </a:r>
            <a:r>
              <a:rPr lang="en-US" sz="2800" b="1" dirty="0" smtClean="0">
                <a:solidFill>
                  <a:srgbClr val="0070C0"/>
                </a:solidFill>
              </a:rPr>
              <a:t>   </a:t>
            </a:r>
            <a:r>
              <a:rPr lang="ru-RU" sz="2800" b="1" dirty="0" smtClean="0">
                <a:solidFill>
                  <a:srgbClr val="0070C0"/>
                </a:solidFill>
              </a:rPr>
              <a:t>колонка</a:t>
            </a:r>
          </a:p>
          <a:p>
            <a:pPr marL="900113" indent="-900113" algn="just">
              <a:spcBef>
                <a:spcPts val="1200"/>
              </a:spcBef>
              <a:buFont typeface="+mj-lt"/>
              <a:buAutoNum type="arabicParenR" startAt="2"/>
            </a:pPr>
            <a:r>
              <a:rPr lang="ru-RU" sz="2800" b="1" dirty="0" smtClean="0"/>
              <a:t> Отличия </a:t>
            </a:r>
            <a:r>
              <a:rPr lang="ru-RU" sz="2800" b="1" dirty="0" smtClean="0">
                <a:solidFill>
                  <a:schemeClr val="accent2">
                    <a:lumMod val="75000"/>
                  </a:schemeClr>
                </a:solidFill>
              </a:rPr>
              <a:t>в самих объектах</a:t>
            </a:r>
          </a:p>
          <a:p>
            <a:pPr marL="900113" algn="just"/>
            <a:r>
              <a:rPr lang="ru-RU" sz="2400" dirty="0" smtClean="0"/>
              <a:t>Например, </a:t>
            </a:r>
            <a:r>
              <a:rPr lang="ru-RU" sz="2400" b="1" dirty="0" smtClean="0"/>
              <a:t>отношение</a:t>
            </a:r>
            <a:r>
              <a:rPr lang="ru-RU" sz="2400" dirty="0" smtClean="0"/>
              <a:t> в реляционной модели данных </a:t>
            </a:r>
            <a:r>
              <a:rPr lang="ru-RU" sz="2400" b="1" dirty="0" smtClean="0"/>
              <a:t>не допускает</a:t>
            </a:r>
            <a:r>
              <a:rPr lang="ru-RU" sz="2400" dirty="0" smtClean="0"/>
              <a:t> наличия одинаковых кортежей, а </a:t>
            </a:r>
            <a:r>
              <a:rPr lang="ru-RU" sz="2400" b="1" dirty="0" smtClean="0"/>
              <a:t>таблицы</a:t>
            </a:r>
            <a:r>
              <a:rPr lang="ru-RU" sz="2400" dirty="0" smtClean="0"/>
              <a:t> в терминологии SQL </a:t>
            </a:r>
            <a:r>
              <a:rPr lang="ru-RU" sz="2400" b="1" dirty="0" smtClean="0"/>
              <a:t>могут</a:t>
            </a:r>
            <a:r>
              <a:rPr lang="ru-RU" sz="2400" dirty="0" smtClean="0"/>
              <a:t> иметь одинаковые строки</a:t>
            </a:r>
          </a:p>
          <a:p>
            <a:pPr marL="989013" indent="-989013" algn="just">
              <a:buFont typeface="+mj-lt"/>
              <a:buAutoNum type="arabicParenR" startAt="3"/>
            </a:pPr>
            <a:endParaRPr lang="ru-RU" sz="800" dirty="0" smtClean="0"/>
          </a:p>
          <a:p>
            <a:pPr marL="989013" indent="-989013" algn="just">
              <a:buFont typeface="+mj-lt"/>
              <a:buAutoNum type="arabicParenR" startAt="3"/>
            </a:pPr>
            <a:r>
              <a:rPr lang="ru-RU" sz="2800" b="1" dirty="0" smtClean="0"/>
              <a:t> </a:t>
            </a:r>
            <a:r>
              <a:rPr lang="ru-RU" sz="2800" b="1" dirty="0" smtClean="0">
                <a:solidFill>
                  <a:schemeClr val="accent2">
                    <a:lumMod val="75000"/>
                  </a:schemeClr>
                </a:solidFill>
              </a:rPr>
              <a:t>Возможности </a:t>
            </a:r>
            <a:r>
              <a:rPr lang="en-US" sz="2800" b="1" dirty="0" smtClean="0">
                <a:solidFill>
                  <a:schemeClr val="accent2">
                    <a:lumMod val="75000"/>
                  </a:schemeClr>
                </a:solidFill>
              </a:rPr>
              <a:t>SQL </a:t>
            </a:r>
            <a:r>
              <a:rPr lang="ru-RU" sz="2800" b="1" dirty="0" smtClean="0">
                <a:solidFill>
                  <a:schemeClr val="accent2">
                    <a:lumMod val="75000"/>
                  </a:schemeClr>
                </a:solidFill>
              </a:rPr>
              <a:t>шире</a:t>
            </a:r>
            <a:r>
              <a:rPr lang="ru-RU" sz="2800" b="1" dirty="0" smtClean="0"/>
              <a:t> </a:t>
            </a:r>
          </a:p>
          <a:p>
            <a:pPr marL="989013" indent="-6350" algn="just"/>
            <a:r>
              <a:rPr lang="ru-RU" sz="2400" dirty="0" smtClean="0"/>
              <a:t>В </a:t>
            </a:r>
            <a:r>
              <a:rPr lang="en-US" sz="2400" dirty="0" smtClean="0"/>
              <a:t>SQL </a:t>
            </a:r>
            <a:r>
              <a:rPr lang="ru-RU" sz="2400" dirty="0" smtClean="0"/>
              <a:t>добавлено</a:t>
            </a:r>
            <a:r>
              <a:rPr lang="ru-RU" sz="2400" dirty="0" smtClean="0">
                <a:cs typeface="Courier New" panose="02070309020205020404" pitchFamily="49" charset="0"/>
              </a:rPr>
              <a:t>:</a:t>
            </a:r>
          </a:p>
          <a:p>
            <a:pPr marL="3317875" indent="-342900" algn="just">
              <a:buFont typeface="Arial" panose="020B0604020202020204" pitchFamily="34" charset="0"/>
              <a:buChar char="•"/>
            </a:pPr>
            <a:r>
              <a:rPr lang="ru-RU" sz="2400" dirty="0"/>
              <a:t> </a:t>
            </a:r>
            <a:r>
              <a:rPr lang="ru-RU" sz="2400" b="1" dirty="0" smtClean="0"/>
              <a:t>группировка</a:t>
            </a:r>
            <a:r>
              <a:rPr lang="ru-RU" sz="2400" dirty="0" smtClean="0"/>
              <a:t>  </a:t>
            </a:r>
            <a:r>
              <a:rPr lang="ru-RU" sz="2400" b="1" dirty="0" smtClean="0"/>
              <a:t>строк</a:t>
            </a:r>
            <a:r>
              <a:rPr lang="ru-RU" sz="2400" dirty="0" smtClean="0"/>
              <a:t> запроса</a:t>
            </a:r>
          </a:p>
          <a:p>
            <a:pPr marL="3317875" indent="-342900" algn="just">
              <a:buFont typeface="Arial" panose="020B0604020202020204" pitchFamily="34" charset="0"/>
              <a:buChar char="•"/>
            </a:pPr>
            <a:r>
              <a:rPr lang="ru-RU" sz="2400" dirty="0" smtClean="0"/>
              <a:t>  </a:t>
            </a:r>
            <a:r>
              <a:rPr lang="ru-RU" sz="2400" b="1" dirty="0" smtClean="0"/>
              <a:t>агрегатные</a:t>
            </a:r>
            <a:r>
              <a:rPr lang="ru-RU" sz="2400" dirty="0" smtClean="0"/>
              <a:t> </a:t>
            </a:r>
            <a:r>
              <a:rPr lang="ru-RU" sz="2400" b="1" dirty="0" smtClean="0"/>
              <a:t>функции</a:t>
            </a:r>
          </a:p>
        </p:txBody>
      </p:sp>
      <p:sp>
        <p:nvSpPr>
          <p:cNvPr id="9" name="Стрелка вниз 8"/>
          <p:cNvSpPr/>
          <p:nvPr/>
        </p:nvSpPr>
        <p:spPr>
          <a:xfrm>
            <a:off x="2699792" y="2169256"/>
            <a:ext cx="72008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трелка вниз 10"/>
          <p:cNvSpPr/>
          <p:nvPr/>
        </p:nvSpPr>
        <p:spPr>
          <a:xfrm>
            <a:off x="5004048" y="2144232"/>
            <a:ext cx="72008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трелка вниз 13"/>
          <p:cNvSpPr/>
          <p:nvPr/>
        </p:nvSpPr>
        <p:spPr>
          <a:xfrm>
            <a:off x="6732240" y="2132856"/>
            <a:ext cx="72008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147163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>
                <a:latin typeface="+mj-lt"/>
                <a:cs typeface="Arial" pitchFamily="34" charset="0"/>
              </a:rPr>
              <a:t>Формы  </a:t>
            </a:r>
            <a:r>
              <a:rPr lang="en-US" sz="3600" b="1" dirty="0">
                <a:latin typeface="+mj-lt"/>
                <a:cs typeface="Arial" pitchFamily="34" charset="0"/>
              </a:rPr>
              <a:t>SQL</a:t>
            </a: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11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Введение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в </a:t>
            </a:r>
            <a:r>
              <a:rPr lang="en-US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SQL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268760"/>
            <a:ext cx="8640960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6575" indent="-536575" algn="just">
              <a:buFont typeface="+mj-lt"/>
              <a:buAutoNum type="arabicParenR"/>
            </a:pPr>
            <a:r>
              <a:rPr lang="ru-RU" sz="2800" b="1" dirty="0"/>
              <a:t>Интерактивный </a:t>
            </a:r>
            <a:r>
              <a:rPr lang="en-US" sz="2800" b="1" dirty="0"/>
              <a:t>SQL</a:t>
            </a:r>
            <a:endParaRPr lang="ru-RU" sz="2800" dirty="0"/>
          </a:p>
          <a:p>
            <a:pPr marL="900113" indent="-900113" algn="just"/>
            <a:r>
              <a:rPr lang="ru-RU" sz="2400" dirty="0"/>
              <a:t>        Применяется для непосредственной работы с БД через специальные утилиты (клиенты) СУБД </a:t>
            </a:r>
          </a:p>
          <a:p>
            <a:pPr marL="900113" indent="-900113" algn="just"/>
            <a:r>
              <a:rPr lang="ru-RU" sz="2400" dirty="0"/>
              <a:t>         Вводится оператор и сразу же выполняется</a:t>
            </a:r>
          </a:p>
          <a:p>
            <a:pPr marL="900113" indent="-900113" algn="just"/>
            <a:endParaRPr lang="ru-RU" sz="2400" dirty="0"/>
          </a:p>
          <a:p>
            <a:pPr marL="536575" indent="-536575" algn="just">
              <a:buFont typeface="+mj-lt"/>
              <a:buAutoNum type="arabicParenR" startAt="2"/>
            </a:pPr>
            <a:r>
              <a:rPr lang="ru-RU" sz="2800" b="1" dirty="0"/>
              <a:t>Расширенный </a:t>
            </a:r>
            <a:r>
              <a:rPr lang="en-US" sz="2800" b="1" dirty="0"/>
              <a:t>SQL</a:t>
            </a:r>
            <a:endParaRPr lang="ru-RU" sz="2800" b="1" dirty="0"/>
          </a:p>
          <a:p>
            <a:pPr marL="533400" algn="just" defTabSz="536575"/>
            <a:r>
              <a:rPr lang="ru-RU" sz="2400" dirty="0"/>
              <a:t>Добавление возможностей языков программирования: </a:t>
            </a:r>
          </a:p>
          <a:p>
            <a:pPr marL="1255713" indent="-355600" algn="just">
              <a:buFont typeface="Wingdings" pitchFamily="2" charset="2"/>
              <a:buChar char="§"/>
            </a:pPr>
            <a:r>
              <a:rPr lang="ru-RU" sz="2400" dirty="0"/>
              <a:t>операторы управления вычислительным процессом </a:t>
            </a:r>
          </a:p>
          <a:p>
            <a:pPr marL="1255713" indent="-355600" algn="just">
              <a:buFont typeface="Wingdings" pitchFamily="2" charset="2"/>
              <a:buChar char="§"/>
            </a:pPr>
            <a:r>
              <a:rPr lang="ru-RU" sz="2400" dirty="0"/>
              <a:t>программные модули</a:t>
            </a:r>
          </a:p>
          <a:p>
            <a:pPr marL="989013" indent="-989013" algn="just">
              <a:buFont typeface="+mj-lt"/>
              <a:buAutoNum type="arabicParenR" startAt="3"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506678635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>
                <a:latin typeface="+mj-lt"/>
              </a:rPr>
              <a:t>Интерактивный</a:t>
            </a:r>
            <a:r>
              <a:rPr lang="ru-RU" sz="3600" b="1" dirty="0">
                <a:latin typeface="+mj-lt"/>
                <a:cs typeface="Arial" pitchFamily="34" charset="0"/>
              </a:rPr>
              <a:t>  </a:t>
            </a:r>
            <a:r>
              <a:rPr lang="en-US" sz="3600" b="1" dirty="0">
                <a:latin typeface="+mj-lt"/>
                <a:cs typeface="Arial" pitchFamily="34" charset="0"/>
              </a:rPr>
              <a:t>SQL</a:t>
            </a: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Введение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в </a:t>
            </a:r>
            <a:r>
              <a:rPr lang="en-US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SQL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0528" y="1232168"/>
            <a:ext cx="8783960" cy="4755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ru-RU" sz="2700" spc="-100" dirty="0"/>
              <a:t>Применяется для непосредственной работы с БД</a:t>
            </a:r>
          </a:p>
          <a:p>
            <a:pPr algn="just"/>
            <a:endParaRPr lang="ru-RU" sz="1400" dirty="0"/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ru-RU" sz="2700" dirty="0"/>
              <a:t>Используются специальные клиентские приложения (утилиты), которые обеспечивают </a:t>
            </a:r>
            <a:r>
              <a:rPr lang="ru-RU" sz="2700" dirty="0" smtClean="0"/>
              <a:t>интерфейс между </a:t>
            </a:r>
            <a:r>
              <a:rPr lang="ru-RU" sz="2700" dirty="0"/>
              <a:t>пользователем и СУБД (сервером БД)</a:t>
            </a:r>
          </a:p>
          <a:p>
            <a:pPr algn="just"/>
            <a:endParaRPr lang="ru-RU" sz="1400" dirty="0"/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ru-RU" sz="2700" dirty="0"/>
              <a:t>В окне запросов</a:t>
            </a:r>
            <a:r>
              <a:rPr lang="ru-RU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ru-RU" sz="2700" dirty="0"/>
              <a:t> </a:t>
            </a:r>
          </a:p>
          <a:p>
            <a:pPr marL="1763713" indent="-514350" algn="just">
              <a:buFont typeface="+mj-lt"/>
              <a:buAutoNum type="arabicParenR"/>
              <a:tabLst>
                <a:tab pos="1611313" algn="l"/>
              </a:tabLst>
            </a:pPr>
            <a:r>
              <a:rPr lang="ru-RU" sz="2700" dirty="0"/>
              <a:t>вводится оператор </a:t>
            </a:r>
          </a:p>
          <a:p>
            <a:pPr marL="1763713" indent="-514350" algn="just">
              <a:buFont typeface="+mj-lt"/>
              <a:buAutoNum type="arabicParenR"/>
              <a:tabLst>
                <a:tab pos="1611313" algn="l"/>
              </a:tabLst>
            </a:pPr>
            <a:r>
              <a:rPr lang="ru-RU" sz="2700" dirty="0"/>
              <a:t>выполняется оператор</a:t>
            </a:r>
          </a:p>
          <a:p>
            <a:pPr marL="1763713" indent="-514350" algn="just">
              <a:buFont typeface="+mj-lt"/>
              <a:buAutoNum type="arabicParenR"/>
              <a:tabLst>
                <a:tab pos="1611313" algn="l"/>
              </a:tabLst>
            </a:pPr>
            <a:r>
              <a:rPr lang="ru-RU" sz="2700" dirty="0"/>
              <a:t>отображается результат</a:t>
            </a:r>
            <a:endParaRPr lang="en-US" sz="2700" dirty="0"/>
          </a:p>
          <a:p>
            <a:pPr marL="4763" algn="just">
              <a:spcBef>
                <a:spcPts val="600"/>
              </a:spcBef>
            </a:pPr>
            <a:r>
              <a:rPr lang="ru-RU" sz="2700" dirty="0" smtClean="0"/>
              <a:t>В  дисциплине</a:t>
            </a:r>
            <a:r>
              <a:rPr lang="en-US" sz="2700" dirty="0" smtClean="0"/>
              <a:t> </a:t>
            </a:r>
            <a:r>
              <a:rPr lang="ru-RU" sz="2700" dirty="0" smtClean="0"/>
              <a:t> будет использоваться </a:t>
            </a:r>
            <a:r>
              <a:rPr lang="en-US" sz="2700" dirty="0" err="1" smtClean="0"/>
              <a:t>PgAdmin</a:t>
            </a:r>
            <a:endParaRPr lang="ru-RU" sz="2700" dirty="0"/>
          </a:p>
        </p:txBody>
      </p:sp>
    </p:spTree>
    <p:extLst>
      <p:ext uri="{BB962C8B-B14F-4D97-AF65-F5344CB8AC3E}">
        <p14:creationId xmlns:p14="http://schemas.microsoft.com/office/powerpoint/2010/main" val="1200421254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/>
              <a:t>Выполнение  запросов</a:t>
            </a:r>
            <a:r>
              <a:rPr lang="en-US" sz="3600" b="1" dirty="0"/>
              <a:t> 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Введение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в </a:t>
            </a:r>
            <a:r>
              <a:rPr lang="en-US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SQL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68167" y="1037927"/>
            <a:ext cx="8640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Используется окно запросов в </a:t>
            </a:r>
            <a:r>
              <a:rPr lang="en-US" sz="2400" dirty="0" err="1"/>
              <a:t>pgAdmin</a:t>
            </a:r>
            <a:endParaRPr lang="ru-RU" sz="2400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556792"/>
            <a:ext cx="8898679" cy="4718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55519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200" b="1" spc="-100" dirty="0">
                <a:latin typeface="+mj-lt"/>
                <a:cs typeface="Arial" pitchFamily="34" charset="0"/>
              </a:rPr>
              <a:t>Функциональные группы интерактивного </a:t>
            </a:r>
            <a:r>
              <a:rPr lang="en-US" sz="3200" b="1" spc="-100" dirty="0">
                <a:latin typeface="+mj-lt"/>
                <a:cs typeface="Arial" pitchFamily="34" charset="0"/>
              </a:rPr>
              <a:t>SQL</a:t>
            </a:r>
            <a:endParaRPr lang="ru-RU" sz="3200" spc="-1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200" spc="-1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200" spc="-100" dirty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200" spc="-1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Введение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в </a:t>
            </a:r>
            <a:r>
              <a:rPr lang="en-US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SQL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268760"/>
            <a:ext cx="864096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600"/>
              </a:spcBef>
            </a:pPr>
            <a:r>
              <a:rPr lang="ru-RU" sz="2800" dirty="0"/>
              <a:t>По функциональному признаку (выполняемым функциям) выделяют группы</a:t>
            </a:r>
            <a:r>
              <a:rPr lang="en-US" sz="2800" dirty="0"/>
              <a:t> </a:t>
            </a:r>
            <a:r>
              <a:rPr lang="ru-RU" sz="2800" dirty="0"/>
              <a:t>операторов:</a:t>
            </a:r>
            <a:endParaRPr lang="en-US" sz="2800" dirty="0"/>
          </a:p>
          <a:p>
            <a:pPr marL="457200" indent="-457200" algn="just">
              <a:spcBef>
                <a:spcPts val="600"/>
              </a:spcBef>
              <a:buFont typeface="+mj-lt"/>
              <a:buAutoNum type="arabicParenR"/>
            </a:pPr>
            <a:r>
              <a:rPr lang="en-US" sz="2800" dirty="0" smtClean="0"/>
              <a:t> </a:t>
            </a:r>
            <a:r>
              <a:rPr lang="en-US" sz="28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DDL</a:t>
            </a:r>
            <a:r>
              <a:rPr lang="en-US" sz="2800" dirty="0" smtClean="0"/>
              <a:t> </a:t>
            </a:r>
            <a:r>
              <a:rPr lang="en-US" sz="2800" dirty="0"/>
              <a:t>(</a:t>
            </a:r>
            <a:r>
              <a:rPr lang="en-US" sz="2800" b="1" dirty="0">
                <a:solidFill>
                  <a:srgbClr val="7030A0"/>
                </a:solidFill>
              </a:rPr>
              <a:t>D</a:t>
            </a:r>
            <a:r>
              <a:rPr lang="en-US" sz="2800" dirty="0"/>
              <a:t>ata  </a:t>
            </a:r>
            <a:r>
              <a:rPr lang="en-US" sz="2800" b="1" dirty="0">
                <a:solidFill>
                  <a:srgbClr val="7030A0"/>
                </a:solidFill>
              </a:rPr>
              <a:t>D</a:t>
            </a:r>
            <a:r>
              <a:rPr lang="en-US" sz="2800" dirty="0"/>
              <a:t>efinition  </a:t>
            </a:r>
            <a:r>
              <a:rPr lang="en-US" sz="2800" dirty="0">
                <a:solidFill>
                  <a:srgbClr val="7030A0"/>
                </a:solidFill>
              </a:rPr>
              <a:t>L</a:t>
            </a:r>
            <a:r>
              <a:rPr lang="en-US" sz="2800" dirty="0"/>
              <a:t>anguage</a:t>
            </a:r>
            <a:r>
              <a:rPr lang="ru-RU" sz="2800" dirty="0"/>
              <a:t>) – </a:t>
            </a:r>
          </a:p>
          <a:p>
            <a:pPr marL="457200" indent="-457200" algn="just">
              <a:spcBef>
                <a:spcPts val="600"/>
              </a:spcBef>
            </a:pPr>
            <a:r>
              <a:rPr lang="ru-RU" sz="2800" dirty="0"/>
              <a:t>                      язык определения данных </a:t>
            </a:r>
            <a:endParaRPr lang="en-US" sz="2800" dirty="0"/>
          </a:p>
          <a:p>
            <a:pPr marL="514350" indent="-514350" algn="just">
              <a:spcBef>
                <a:spcPts val="600"/>
              </a:spcBef>
              <a:buFont typeface="+mj-lt"/>
              <a:buAutoNum type="arabicParenR" startAt="2"/>
            </a:pPr>
            <a:r>
              <a:rPr lang="en-US" sz="2800" dirty="0" smtClean="0"/>
              <a:t> </a:t>
            </a:r>
            <a:r>
              <a:rPr lang="en-US" sz="28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DML</a:t>
            </a:r>
            <a:r>
              <a:rPr lang="ru-RU" sz="2800" dirty="0" smtClean="0"/>
              <a:t> </a:t>
            </a:r>
            <a:r>
              <a:rPr lang="ru-RU" sz="2800" dirty="0"/>
              <a:t>(</a:t>
            </a:r>
            <a:r>
              <a:rPr lang="en-US" sz="2800" b="1" dirty="0">
                <a:solidFill>
                  <a:srgbClr val="7030A0"/>
                </a:solidFill>
              </a:rPr>
              <a:t>D</a:t>
            </a:r>
            <a:r>
              <a:rPr lang="en-US" sz="2800" dirty="0"/>
              <a:t>ata  </a:t>
            </a:r>
            <a:r>
              <a:rPr lang="en-US" sz="2800" dirty="0">
                <a:solidFill>
                  <a:srgbClr val="7030A0"/>
                </a:solidFill>
              </a:rPr>
              <a:t>M</a:t>
            </a:r>
            <a:r>
              <a:rPr lang="en-US" sz="2800" dirty="0"/>
              <a:t>anipulation  </a:t>
            </a:r>
            <a:r>
              <a:rPr lang="en-US" sz="2800" b="1" dirty="0">
                <a:solidFill>
                  <a:srgbClr val="7030A0"/>
                </a:solidFill>
              </a:rPr>
              <a:t>L</a:t>
            </a:r>
            <a:r>
              <a:rPr lang="en-US" sz="2800" dirty="0"/>
              <a:t>anguage</a:t>
            </a:r>
            <a:r>
              <a:rPr lang="ru-RU" sz="2800" dirty="0"/>
              <a:t>) – </a:t>
            </a:r>
          </a:p>
          <a:p>
            <a:pPr marL="457200" indent="-457200" algn="just">
              <a:spcBef>
                <a:spcPts val="600"/>
              </a:spcBef>
            </a:pPr>
            <a:r>
              <a:rPr lang="ru-RU" sz="2800" dirty="0"/>
              <a:t>                      язык манипулирования данными </a:t>
            </a:r>
            <a:endParaRPr lang="en-US" sz="2800" dirty="0"/>
          </a:p>
          <a:p>
            <a:pPr marL="514350" indent="-514350" algn="just">
              <a:spcBef>
                <a:spcPts val="600"/>
              </a:spcBef>
              <a:buFont typeface="+mj-lt"/>
              <a:buAutoNum type="arabicParenR" startAt="3"/>
            </a:pPr>
            <a:r>
              <a:rPr lang="en-US" sz="2800" dirty="0" smtClean="0"/>
              <a:t> </a:t>
            </a:r>
            <a:r>
              <a:rPr lang="en-US" sz="28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DCL</a:t>
            </a:r>
            <a:r>
              <a:rPr lang="ru-RU" sz="2800" dirty="0" smtClean="0"/>
              <a:t> </a:t>
            </a:r>
            <a:r>
              <a:rPr lang="ru-RU" sz="2800" dirty="0"/>
              <a:t>(</a:t>
            </a:r>
            <a:r>
              <a:rPr lang="en-US" sz="2800" b="1" dirty="0">
                <a:solidFill>
                  <a:srgbClr val="7030A0"/>
                </a:solidFill>
              </a:rPr>
              <a:t>D</a:t>
            </a:r>
            <a:r>
              <a:rPr lang="en-US" sz="2800" dirty="0"/>
              <a:t>ata  </a:t>
            </a:r>
            <a:r>
              <a:rPr lang="en-US" sz="2800" b="1" dirty="0">
                <a:solidFill>
                  <a:srgbClr val="7030A0"/>
                </a:solidFill>
              </a:rPr>
              <a:t>C</a:t>
            </a:r>
            <a:r>
              <a:rPr lang="en-US" sz="2800" dirty="0"/>
              <a:t>ontrol   </a:t>
            </a:r>
            <a:r>
              <a:rPr lang="en-US" sz="2800" dirty="0">
                <a:solidFill>
                  <a:srgbClr val="7030A0"/>
                </a:solidFill>
              </a:rPr>
              <a:t>L</a:t>
            </a:r>
            <a:r>
              <a:rPr lang="en-US" sz="2800" dirty="0"/>
              <a:t>anguage</a:t>
            </a:r>
            <a:r>
              <a:rPr lang="ru-RU" sz="2800" dirty="0"/>
              <a:t>) – </a:t>
            </a:r>
          </a:p>
          <a:p>
            <a:pPr marL="2409825" indent="-6350" algn="just">
              <a:spcBef>
                <a:spcPts val="600"/>
              </a:spcBef>
            </a:pPr>
            <a:r>
              <a:rPr lang="ru-RU" sz="2800" dirty="0"/>
              <a:t>язык управления данными</a:t>
            </a:r>
            <a:endParaRPr lang="en-US" sz="2800" dirty="0"/>
          </a:p>
          <a:p>
            <a:pPr marL="514350" indent="-514350" algn="just">
              <a:spcBef>
                <a:spcPts val="600"/>
              </a:spcBef>
              <a:buFont typeface="+mj-lt"/>
              <a:buAutoNum type="arabicParenR" startAt="4"/>
            </a:pPr>
            <a:r>
              <a:rPr lang="en-US" sz="2800" dirty="0" smtClean="0"/>
              <a:t> </a:t>
            </a:r>
            <a:r>
              <a:rPr lang="en-US" sz="28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TCL</a:t>
            </a:r>
            <a:r>
              <a:rPr lang="en-US" sz="2800" dirty="0" smtClean="0"/>
              <a:t> </a:t>
            </a:r>
            <a:r>
              <a:rPr lang="en-US" sz="2800" dirty="0"/>
              <a:t>(</a:t>
            </a:r>
            <a:r>
              <a:rPr lang="en-US" sz="2800" b="1" dirty="0">
                <a:solidFill>
                  <a:srgbClr val="7030A0"/>
                </a:solidFill>
              </a:rPr>
              <a:t>T</a:t>
            </a:r>
            <a:r>
              <a:rPr lang="en-US" sz="2800" dirty="0"/>
              <a:t>ransaction  </a:t>
            </a:r>
            <a:r>
              <a:rPr lang="en-US" sz="2800" b="1" dirty="0">
                <a:solidFill>
                  <a:srgbClr val="7030A0"/>
                </a:solidFill>
              </a:rPr>
              <a:t>C</a:t>
            </a:r>
            <a:r>
              <a:rPr lang="en-US" sz="2800" dirty="0"/>
              <a:t>ontrol  </a:t>
            </a:r>
            <a:r>
              <a:rPr lang="en-US" sz="2800" b="1" dirty="0">
                <a:solidFill>
                  <a:srgbClr val="7030A0"/>
                </a:solidFill>
              </a:rPr>
              <a:t>L</a:t>
            </a:r>
            <a:r>
              <a:rPr lang="en-US" sz="2800" dirty="0"/>
              <a:t>anguage) </a:t>
            </a:r>
            <a:r>
              <a:rPr lang="ru-RU" sz="2800" dirty="0"/>
              <a:t>– </a:t>
            </a:r>
          </a:p>
          <a:p>
            <a:pPr marL="2411413" indent="17463" algn="just">
              <a:spcBef>
                <a:spcPts val="600"/>
              </a:spcBef>
            </a:pPr>
            <a:r>
              <a:rPr lang="ru-RU" sz="2800" dirty="0"/>
              <a:t> язык управления </a:t>
            </a:r>
            <a:r>
              <a:rPr lang="ru-RU" sz="2800" dirty="0" smtClean="0"/>
              <a:t>транзакциями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8903637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en-US" sz="4000" b="1" dirty="0">
                <a:latin typeface="+mj-lt"/>
                <a:cs typeface="Arial" pitchFamily="34" charset="0"/>
              </a:rPr>
              <a:t>DDL</a:t>
            </a:r>
            <a:r>
              <a:rPr lang="en-US" sz="4000" b="1" dirty="0">
                <a:latin typeface="+mj-lt"/>
              </a:rPr>
              <a:t> </a:t>
            </a:r>
            <a:r>
              <a:rPr lang="ru-RU" sz="4000" b="1" dirty="0">
                <a:latin typeface="+mj-lt"/>
              </a:rPr>
              <a:t>(</a:t>
            </a:r>
            <a:r>
              <a:rPr lang="en-US" sz="4000" b="1" dirty="0">
                <a:latin typeface="+mj-lt"/>
              </a:rPr>
              <a:t>Data Definition Language</a:t>
            </a:r>
            <a:r>
              <a:rPr lang="ru-RU" sz="4000" b="1" dirty="0">
                <a:latin typeface="+mj-lt"/>
              </a:rPr>
              <a:t>)</a:t>
            </a:r>
            <a:endParaRPr lang="ru-RU" sz="4000" b="1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b="1" dirty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Введение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в </a:t>
            </a:r>
            <a:r>
              <a:rPr lang="en-US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SQL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187742"/>
            <a:ext cx="8640960" cy="6201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algn="just" defTabSz="355600">
              <a:spcBef>
                <a:spcPts val="600"/>
              </a:spcBef>
            </a:pPr>
            <a:r>
              <a:rPr lang="ru-RU" sz="2800" dirty="0"/>
              <a:t>Включает команды, которые создают объекты данных (таблицы, индексы, представления  и т.д.) </a:t>
            </a:r>
          </a:p>
          <a:p>
            <a:pPr marL="617538" algn="just" defTabSz="355600">
              <a:spcBef>
                <a:spcPts val="600"/>
              </a:spcBef>
            </a:pPr>
            <a:r>
              <a:rPr lang="en-US" sz="28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</a:t>
            </a:r>
            <a:r>
              <a:rPr lang="en-US" sz="2800" dirty="0"/>
              <a:t> </a:t>
            </a:r>
            <a:r>
              <a:rPr lang="ru-RU" sz="2800" dirty="0"/>
              <a:t>– создать новый объект</a:t>
            </a:r>
          </a:p>
          <a:p>
            <a:pPr marL="617538" algn="just" defTabSz="355600">
              <a:spcBef>
                <a:spcPts val="600"/>
              </a:spcBef>
            </a:pPr>
            <a:r>
              <a:rPr lang="ru-RU" sz="2800" dirty="0"/>
              <a:t>     Например, </a:t>
            </a:r>
            <a:r>
              <a:rPr lang="en-US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</a:t>
            </a:r>
            <a:r>
              <a:rPr lang="ru-RU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</a:t>
            </a:r>
            <a:r>
              <a:rPr lang="ru-RU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SPROD</a:t>
            </a:r>
          </a:p>
          <a:p>
            <a:pPr marL="617538" algn="just" defTabSz="355600">
              <a:spcBef>
                <a:spcPts val="600"/>
              </a:spcBef>
            </a:pPr>
            <a:r>
              <a:rPr lang="en-US" sz="28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ALTER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dirty="0"/>
              <a:t>– </a:t>
            </a:r>
            <a:r>
              <a:rPr lang="ru-RU" sz="2800" dirty="0"/>
              <a:t>изменить существующий объект</a:t>
            </a:r>
          </a:p>
          <a:p>
            <a:pPr marL="617538" algn="just" defTabSz="355600">
              <a:spcBef>
                <a:spcPts val="600"/>
              </a:spcBef>
            </a:pPr>
            <a:r>
              <a:rPr lang="en-US" sz="28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DROP</a:t>
            </a:r>
            <a:r>
              <a:rPr lang="en-US" sz="2800" b="1" dirty="0">
                <a:solidFill>
                  <a:srgbClr val="7030A0"/>
                </a:solidFill>
              </a:rPr>
              <a:t> </a:t>
            </a:r>
            <a:r>
              <a:rPr lang="en-US" sz="2800" dirty="0"/>
              <a:t> - </a:t>
            </a:r>
            <a:r>
              <a:rPr lang="ru-RU" sz="2800" dirty="0"/>
              <a:t>удалить существующий </a:t>
            </a:r>
            <a:r>
              <a:rPr lang="ru-RU" sz="2800" dirty="0" smtClean="0"/>
              <a:t>объект</a:t>
            </a:r>
            <a:endParaRPr lang="en-US" sz="2800" dirty="0" smtClean="0"/>
          </a:p>
          <a:p>
            <a:pPr marL="617538" algn="just" defTabSz="355600">
              <a:spcBef>
                <a:spcPts val="600"/>
              </a:spcBef>
            </a:pPr>
            <a:r>
              <a:rPr lang="en-US" sz="28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TRUNCATE </a:t>
            </a:r>
            <a:r>
              <a:rPr lang="en-US" sz="2800" dirty="0" smtClean="0"/>
              <a:t>– </a:t>
            </a:r>
            <a:r>
              <a:rPr lang="ru-RU" sz="2800" dirty="0" smtClean="0"/>
              <a:t>очистить таблицу</a:t>
            </a:r>
            <a:endParaRPr lang="ru-RU" sz="2800" dirty="0"/>
          </a:p>
          <a:p>
            <a:pPr marL="355600" algn="just" defTabSz="355600">
              <a:spcBef>
                <a:spcPts val="600"/>
              </a:spcBef>
            </a:pPr>
            <a:endParaRPr lang="ru-RU" sz="1600" dirty="0"/>
          </a:p>
          <a:p>
            <a:pPr marL="1431925" indent="-1076325" algn="just" defTabSz="355600">
              <a:spcBef>
                <a:spcPts val="600"/>
              </a:spcBef>
            </a:pPr>
            <a:r>
              <a:rPr lang="en-US" sz="2800" dirty="0" smtClean="0"/>
              <a:t>DDL-</a:t>
            </a:r>
            <a:r>
              <a:rPr lang="ru-RU" sz="2800" dirty="0" smtClean="0"/>
              <a:t>команды вызывают фиксацию  транзакции (</a:t>
            </a:r>
            <a:r>
              <a:rPr lang="en-US" sz="2800" dirty="0" smtClean="0"/>
              <a:t>COMMIT)</a:t>
            </a:r>
            <a:endParaRPr lang="ru-RU" sz="2800" dirty="0" smtClean="0"/>
          </a:p>
          <a:p>
            <a:pPr marL="900113" algn="just">
              <a:spcBef>
                <a:spcPts val="600"/>
              </a:spcBef>
            </a:pPr>
            <a:endParaRPr lang="ru-RU" sz="2800" dirty="0"/>
          </a:p>
          <a:p>
            <a:pPr marL="989013" indent="-989013" algn="just">
              <a:spcBef>
                <a:spcPts val="600"/>
              </a:spcBef>
              <a:buFont typeface="+mj-lt"/>
              <a:buAutoNum type="arabicParenR" startAt="3"/>
            </a:pP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4278727232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en-US" sz="4000" b="1" dirty="0">
                <a:latin typeface="+mj-lt"/>
                <a:cs typeface="Arial" pitchFamily="34" charset="0"/>
              </a:rPr>
              <a:t>DML</a:t>
            </a:r>
            <a:r>
              <a:rPr lang="ru-RU" sz="4000" b="1" dirty="0">
                <a:latin typeface="+mj-lt"/>
                <a:cs typeface="Arial" pitchFamily="34" charset="0"/>
              </a:rPr>
              <a:t> </a:t>
            </a:r>
            <a:r>
              <a:rPr lang="ru-RU" sz="4000" b="1" dirty="0">
                <a:latin typeface="+mj-lt"/>
              </a:rPr>
              <a:t>(</a:t>
            </a:r>
            <a:r>
              <a:rPr lang="en-US" sz="4000" b="1" dirty="0">
                <a:latin typeface="+mj-lt"/>
              </a:rPr>
              <a:t>Data Manipulation Language</a:t>
            </a:r>
            <a:r>
              <a:rPr lang="ru-RU" sz="4000" b="1" dirty="0">
                <a:latin typeface="+mj-lt"/>
              </a:rPr>
              <a:t>)</a:t>
            </a:r>
            <a:endParaRPr lang="ru-RU" sz="4000" b="1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b="1" dirty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Введение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в </a:t>
            </a:r>
            <a:r>
              <a:rPr lang="en-US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SQL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124744"/>
            <a:ext cx="8892480" cy="558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4150" algn="just" defTabSz="355600">
              <a:spcBef>
                <a:spcPts val="600"/>
              </a:spcBef>
            </a:pPr>
            <a:r>
              <a:rPr lang="ru-RU" sz="2600" dirty="0"/>
              <a:t>Включает команды, которые формируют запросы к БД</a:t>
            </a:r>
            <a:r>
              <a:rPr lang="en-US" sz="2600" dirty="0"/>
              <a:t> </a:t>
            </a:r>
            <a:r>
              <a:rPr lang="ru-RU" sz="2600" dirty="0"/>
              <a:t>и изменяют данные</a:t>
            </a:r>
          </a:p>
          <a:p>
            <a:pPr marL="357188" algn="just" defTabSz="355600">
              <a:spcBef>
                <a:spcPts val="1200"/>
              </a:spcBef>
            </a:pPr>
            <a:r>
              <a:rPr lang="en-US" sz="2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2600" dirty="0"/>
              <a:t> </a:t>
            </a:r>
            <a:r>
              <a:rPr lang="ru-RU" sz="2600" dirty="0"/>
              <a:t>– извлечь данные</a:t>
            </a:r>
          </a:p>
          <a:p>
            <a:pPr marL="357188" algn="just" defTabSz="355600">
              <a:spcBef>
                <a:spcPts val="600"/>
              </a:spcBef>
            </a:pPr>
            <a:r>
              <a:rPr lang="ru-RU" sz="2600" dirty="0"/>
              <a:t>     Например, </a:t>
            </a:r>
            <a:r>
              <a:rPr lang="en-US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* FROM SPROD</a:t>
            </a:r>
          </a:p>
          <a:p>
            <a:pPr marL="357188" algn="just" defTabSz="355600">
              <a:spcBef>
                <a:spcPts val="600"/>
              </a:spcBef>
            </a:pPr>
            <a:r>
              <a:rPr lang="en-US" sz="2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  <a:r>
              <a:rPr lang="en-US" sz="2600" dirty="0"/>
              <a:t> – </a:t>
            </a:r>
            <a:r>
              <a:rPr lang="ru-RU" sz="2600" dirty="0"/>
              <a:t>добавить новую строку в таблицу БД</a:t>
            </a:r>
          </a:p>
          <a:p>
            <a:pPr marL="357188" algn="just" defTabSz="355600">
              <a:spcBef>
                <a:spcPts val="600"/>
              </a:spcBef>
            </a:pPr>
            <a:r>
              <a:rPr lang="en-US" sz="2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en-US" sz="2600" dirty="0"/>
              <a:t> - </a:t>
            </a:r>
            <a:r>
              <a:rPr lang="ru-RU" sz="2600" dirty="0"/>
              <a:t>удалить строку из таблицы БД</a:t>
            </a:r>
          </a:p>
          <a:p>
            <a:pPr marL="357188" algn="just" defTabSz="355600">
              <a:spcBef>
                <a:spcPts val="600"/>
              </a:spcBef>
            </a:pPr>
            <a:r>
              <a:rPr lang="en-US" sz="2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  <a:r>
              <a:rPr lang="en-US" sz="2600" dirty="0"/>
              <a:t> - </a:t>
            </a:r>
            <a:r>
              <a:rPr lang="ru-RU" sz="2600" dirty="0"/>
              <a:t>изменить строку в таблице </a:t>
            </a:r>
            <a:r>
              <a:rPr lang="ru-RU" sz="2600" dirty="0" smtClean="0"/>
              <a:t>БД</a:t>
            </a:r>
            <a:endParaRPr lang="en-US" sz="2600" dirty="0" smtClean="0"/>
          </a:p>
          <a:p>
            <a:pPr marL="719138" indent="-361950" algn="just" defTabSz="355600">
              <a:spcBef>
                <a:spcPts val="600"/>
              </a:spcBef>
            </a:pPr>
            <a:r>
              <a:rPr lang="en-US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MERGE</a:t>
            </a:r>
            <a:r>
              <a:rPr lang="ru-RU" sz="2600" dirty="0" smtClean="0"/>
              <a:t> </a:t>
            </a:r>
            <a:r>
              <a:rPr lang="ru-RU" sz="2600" dirty="0"/>
              <a:t>– слияние строк (при добавлении </a:t>
            </a:r>
            <a:r>
              <a:rPr lang="ru-RU" sz="2600" dirty="0" smtClean="0"/>
              <a:t>проводится </a:t>
            </a:r>
            <a:r>
              <a:rPr lang="ru-RU" sz="2600" dirty="0"/>
              <a:t>анализ и если строка есть, она изменяется</a:t>
            </a:r>
            <a:r>
              <a:rPr lang="ru-RU" sz="2600" dirty="0" smtClean="0"/>
              <a:t>)</a:t>
            </a:r>
          </a:p>
          <a:p>
            <a:pPr marL="719138" indent="-361950" algn="just" defTabSz="355600">
              <a:spcBef>
                <a:spcPts val="600"/>
              </a:spcBef>
            </a:pPr>
            <a:r>
              <a:rPr lang="ru-RU" sz="2600" dirty="0"/>
              <a:t>Иногда </a:t>
            </a:r>
            <a:r>
              <a:rPr lang="en-US" sz="2600" dirty="0" smtClean="0"/>
              <a:t>SELECT </a:t>
            </a:r>
            <a:r>
              <a:rPr lang="ru-RU" sz="2600" dirty="0" smtClean="0"/>
              <a:t>выделяют </a:t>
            </a:r>
            <a:r>
              <a:rPr lang="en-US" sz="2600" dirty="0" smtClean="0"/>
              <a:t> </a:t>
            </a:r>
            <a:r>
              <a:rPr lang="ru-RU" sz="2600" dirty="0" smtClean="0"/>
              <a:t>в </a:t>
            </a:r>
            <a:r>
              <a:rPr lang="en-US" sz="2600" dirty="0" smtClean="0"/>
              <a:t>DQL </a:t>
            </a:r>
            <a:endParaRPr lang="ru-RU" sz="2600" dirty="0" smtClean="0"/>
          </a:p>
          <a:p>
            <a:pPr marL="719138" indent="-361950" algn="just" defTabSz="355600">
              <a:spcBef>
                <a:spcPts val="600"/>
              </a:spcBef>
            </a:pPr>
            <a:r>
              <a:rPr lang="ru-RU" sz="2600" dirty="0"/>
              <a:t> </a:t>
            </a:r>
            <a:r>
              <a:rPr lang="ru-RU" sz="2600" dirty="0" smtClean="0"/>
              <a:t>                                </a:t>
            </a:r>
            <a:r>
              <a:rPr lang="en-US" sz="2600" dirty="0" smtClean="0"/>
              <a:t>(</a:t>
            </a:r>
            <a:r>
              <a:rPr lang="en-US" sz="2600" dirty="0"/>
              <a:t>Data Query Language</a:t>
            </a:r>
            <a:r>
              <a:rPr lang="en-US" sz="2600" dirty="0" smtClean="0"/>
              <a:t>)</a:t>
            </a:r>
            <a:endParaRPr lang="ru-RU" sz="2600" dirty="0"/>
          </a:p>
        </p:txBody>
      </p:sp>
    </p:spTree>
    <p:extLst>
      <p:ext uri="{BB962C8B-B14F-4D97-AF65-F5344CB8AC3E}">
        <p14:creationId xmlns:p14="http://schemas.microsoft.com/office/powerpoint/2010/main" val="3320670588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en-US" sz="4000" b="1" dirty="0">
                <a:latin typeface="+mj-lt"/>
                <a:cs typeface="Arial" pitchFamily="34" charset="0"/>
              </a:rPr>
              <a:t>DCL</a:t>
            </a:r>
            <a:r>
              <a:rPr lang="ru-RU" sz="4000" b="1" dirty="0">
                <a:latin typeface="+mj-lt"/>
                <a:cs typeface="Arial" pitchFamily="34" charset="0"/>
              </a:rPr>
              <a:t> </a:t>
            </a:r>
            <a:r>
              <a:rPr lang="ru-RU" sz="4000" b="1" dirty="0">
                <a:latin typeface="+mj-lt"/>
              </a:rPr>
              <a:t>(</a:t>
            </a:r>
            <a:r>
              <a:rPr lang="en-US" sz="4000" b="1" dirty="0">
                <a:latin typeface="+mj-lt"/>
              </a:rPr>
              <a:t>Data Control Language</a:t>
            </a:r>
            <a:r>
              <a:rPr lang="ru-RU" sz="4000" b="1" dirty="0">
                <a:latin typeface="+mj-lt"/>
              </a:rPr>
              <a:t>)</a:t>
            </a:r>
            <a:endParaRPr lang="ru-RU" sz="4000" b="1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b="1" dirty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Введение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в </a:t>
            </a:r>
            <a:r>
              <a:rPr lang="en-US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SQL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484784"/>
            <a:ext cx="8640960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075" algn="just" defTabSz="355600">
              <a:spcBef>
                <a:spcPts val="600"/>
              </a:spcBef>
            </a:pPr>
            <a:r>
              <a:rPr lang="ru-RU" sz="2800" dirty="0"/>
              <a:t>Включает команды</a:t>
            </a:r>
            <a:r>
              <a:rPr lang="en-US" sz="2800" dirty="0"/>
              <a:t> </a:t>
            </a:r>
            <a:r>
              <a:rPr lang="ru-RU" sz="2800" dirty="0"/>
              <a:t>для организации доступа к БД, т.е. средства определения прав пользователей на выполнение определенных действий над данными</a:t>
            </a:r>
          </a:p>
          <a:p>
            <a:pPr marL="363538" algn="just" defTabSz="355600">
              <a:spcBef>
                <a:spcPts val="1800"/>
              </a:spcBef>
            </a:pPr>
            <a:r>
              <a:rPr lang="en-US" sz="28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GRANT</a:t>
            </a:r>
            <a:r>
              <a:rPr lang="ru-RU" sz="2800" dirty="0"/>
              <a:t> – предоставить право</a:t>
            </a:r>
          </a:p>
          <a:p>
            <a:r>
              <a:rPr lang="en-US" sz="2800" dirty="0"/>
              <a:t>      </a:t>
            </a:r>
            <a:r>
              <a:rPr lang="ru-RU" sz="2800" dirty="0"/>
              <a:t>Например, </a:t>
            </a:r>
            <a:r>
              <a:rPr lang="en-US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GRANT SELECT,INSERT,UPDATE</a:t>
            </a:r>
            <a:endParaRPr lang="ru-RU" sz="28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ON SPROD</a:t>
            </a:r>
            <a:endParaRPr lang="ru-RU" sz="28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TO User</a:t>
            </a:r>
            <a:r>
              <a:rPr lang="ru-RU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1, </a:t>
            </a:r>
            <a:r>
              <a:rPr lang="en-US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ru-RU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 marL="366713" algn="just" defTabSz="355600">
              <a:spcBef>
                <a:spcPts val="1800"/>
              </a:spcBef>
            </a:pPr>
            <a:r>
              <a:rPr lang="en-US" sz="28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REVOKE</a:t>
            </a:r>
            <a:r>
              <a:rPr lang="ru-RU" sz="2800" dirty="0"/>
              <a:t> – отозвать право</a:t>
            </a:r>
            <a:endParaRPr lang="ru-RU" sz="1600" dirty="0"/>
          </a:p>
          <a:p>
            <a:pPr marL="900113" algn="just">
              <a:spcBef>
                <a:spcPts val="600"/>
              </a:spcBef>
            </a:pPr>
            <a:endParaRPr lang="ru-RU" sz="2800" dirty="0"/>
          </a:p>
          <a:p>
            <a:pPr marL="989013" indent="-989013" algn="just">
              <a:spcBef>
                <a:spcPts val="600"/>
              </a:spcBef>
              <a:buFont typeface="+mj-lt"/>
              <a:buAutoNum type="arabicParenR" startAt="3"/>
            </a:pP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610467555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en-US" sz="4000" b="1" dirty="0">
                <a:latin typeface="+mj-lt"/>
                <a:cs typeface="Arial" pitchFamily="34" charset="0"/>
              </a:rPr>
              <a:t>TCL</a:t>
            </a:r>
            <a:r>
              <a:rPr lang="ru-RU" sz="4000" b="1" dirty="0">
                <a:latin typeface="+mj-lt"/>
                <a:cs typeface="Arial" pitchFamily="34" charset="0"/>
              </a:rPr>
              <a:t> </a:t>
            </a:r>
            <a:r>
              <a:rPr lang="en-US" sz="4000" b="1" dirty="0">
                <a:latin typeface="+mj-lt"/>
              </a:rPr>
              <a:t>(Transaction Control Language)</a:t>
            </a:r>
            <a:endParaRPr lang="ru-RU" sz="4000" b="1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b="1" dirty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18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Введение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в </a:t>
            </a:r>
            <a:r>
              <a:rPr lang="en-US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SQL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556792"/>
            <a:ext cx="8640960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algn="just" defTabSz="355600">
              <a:spcBef>
                <a:spcPts val="600"/>
              </a:spcBef>
            </a:pPr>
            <a:r>
              <a:rPr lang="ru-RU" sz="2800" dirty="0"/>
              <a:t>Включает команды</a:t>
            </a:r>
            <a:r>
              <a:rPr lang="en-US" sz="2800" dirty="0"/>
              <a:t> </a:t>
            </a:r>
            <a:r>
              <a:rPr lang="ru-RU" sz="2800" dirty="0"/>
              <a:t>для управления транзакциями</a:t>
            </a:r>
          </a:p>
          <a:p>
            <a:pPr marL="3233738" indent="-2606675" defTabSz="355600">
              <a:spcBef>
                <a:spcPts val="1800"/>
              </a:spcBef>
            </a:pPr>
            <a:r>
              <a:rPr lang="en-US" sz="28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COMMIT</a:t>
            </a:r>
            <a:r>
              <a:rPr lang="ru-RU" sz="2800" dirty="0"/>
              <a:t> </a:t>
            </a:r>
            <a:r>
              <a:rPr lang="en-US" sz="2800" dirty="0"/>
              <a:t>  </a:t>
            </a:r>
            <a:r>
              <a:rPr lang="ru-RU" sz="2800" dirty="0"/>
              <a:t>– </a:t>
            </a:r>
            <a:r>
              <a:rPr lang="en-US" sz="2800" dirty="0"/>
              <a:t> </a:t>
            </a:r>
            <a:r>
              <a:rPr lang="ru-RU" sz="2800" dirty="0"/>
              <a:t>зафиксировать изменения, выполненные в транзакции</a:t>
            </a:r>
          </a:p>
          <a:p>
            <a:pPr marL="3233738" indent="-2606675" algn="just" defTabSz="355600">
              <a:spcBef>
                <a:spcPts val="600"/>
              </a:spcBef>
            </a:pPr>
            <a:r>
              <a:rPr lang="en-US" sz="28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ROLLBACK</a:t>
            </a:r>
            <a:r>
              <a:rPr lang="ru-RU" sz="2800" dirty="0"/>
              <a:t> – отменить все выполненные  операции транзакции</a:t>
            </a:r>
            <a:endParaRPr lang="ru-RU" sz="1600" dirty="0"/>
          </a:p>
          <a:p>
            <a:pPr marL="900113" algn="just">
              <a:spcBef>
                <a:spcPts val="600"/>
              </a:spcBef>
            </a:pPr>
            <a:endParaRPr lang="ru-RU" sz="2800" dirty="0"/>
          </a:p>
          <a:p>
            <a:pPr marL="989013" indent="-989013" algn="just">
              <a:spcBef>
                <a:spcPts val="600"/>
              </a:spcBef>
              <a:buFont typeface="+mj-lt"/>
              <a:buAutoNum type="arabicParenR" startAt="3"/>
            </a:pP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643087170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>
                <a:latin typeface="+mj-lt"/>
                <a:cs typeface="Arial" pitchFamily="34" charset="0"/>
              </a:rPr>
              <a:t>Терминология  </a:t>
            </a:r>
            <a:r>
              <a:rPr lang="en-US" sz="3600" b="1" dirty="0">
                <a:latin typeface="+mj-lt"/>
                <a:cs typeface="Arial" pitchFamily="34" charset="0"/>
              </a:rPr>
              <a:t>SQL</a:t>
            </a:r>
            <a:endParaRPr lang="ru-RU" sz="3600" dirty="0">
              <a:latin typeface="+mj-lt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19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Введение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в </a:t>
            </a:r>
            <a:r>
              <a:rPr lang="en-US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SQL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124744"/>
            <a:ext cx="889248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3900" lvl="0" indent="-723900">
              <a:spcBef>
                <a:spcPts val="600"/>
              </a:spcBef>
            </a:pPr>
            <a:r>
              <a:rPr lang="ru-RU" sz="2300" b="1" dirty="0"/>
              <a:t>Ключевые слова</a:t>
            </a:r>
            <a:r>
              <a:rPr lang="ru-RU" sz="2300" dirty="0"/>
              <a:t> (</a:t>
            </a:r>
            <a:r>
              <a:rPr lang="en-US" sz="2300" dirty="0"/>
              <a:t>Keywords</a:t>
            </a:r>
            <a:r>
              <a:rPr lang="ru-RU" sz="2300" dirty="0"/>
              <a:t>)– слова, имеющие специальное значение; выделяются, как правило, заглавными буквами. Например</a:t>
            </a:r>
            <a:r>
              <a:rPr lang="en-US" sz="2300" dirty="0"/>
              <a:t>: </a:t>
            </a:r>
            <a:r>
              <a:rPr lang="en-US" sz="2300" b="1" dirty="0">
                <a:solidFill>
                  <a:srgbClr val="7030A0"/>
                </a:solidFill>
              </a:rPr>
              <a:t>TABLE</a:t>
            </a:r>
            <a:r>
              <a:rPr lang="en-US" sz="2300" dirty="0"/>
              <a:t>,  </a:t>
            </a:r>
            <a:r>
              <a:rPr lang="en-US" sz="2300" b="1" dirty="0">
                <a:solidFill>
                  <a:srgbClr val="7030A0"/>
                </a:solidFill>
              </a:rPr>
              <a:t>VIEW</a:t>
            </a:r>
            <a:r>
              <a:rPr lang="en-US" sz="2300" dirty="0"/>
              <a:t> </a:t>
            </a:r>
            <a:endParaRPr lang="ru-RU" sz="2300" b="1" dirty="0"/>
          </a:p>
          <a:p>
            <a:pPr marL="723900" lvl="0" indent="-723900">
              <a:spcBef>
                <a:spcPts val="600"/>
              </a:spcBef>
            </a:pPr>
            <a:r>
              <a:rPr lang="ru-RU" sz="2300" b="1" dirty="0"/>
              <a:t>Операторы</a:t>
            </a:r>
            <a:r>
              <a:rPr lang="ru-RU" sz="2300" dirty="0"/>
              <a:t> (</a:t>
            </a:r>
            <a:r>
              <a:rPr lang="en-US" sz="2300" dirty="0"/>
              <a:t>Statements</a:t>
            </a:r>
            <a:r>
              <a:rPr lang="ru-RU" sz="2300" dirty="0"/>
              <a:t>) или команды</a:t>
            </a:r>
            <a:r>
              <a:rPr lang="en-US" sz="2300" dirty="0"/>
              <a:t> </a:t>
            </a:r>
            <a:r>
              <a:rPr lang="ru-RU" sz="2300" dirty="0"/>
              <a:t>–</a:t>
            </a:r>
            <a:r>
              <a:rPr lang="en-US" sz="2300" dirty="0"/>
              <a:t> </a:t>
            </a:r>
            <a:r>
              <a:rPr lang="ru-RU" sz="2300" dirty="0"/>
              <a:t>инструкции для СУБД </a:t>
            </a:r>
            <a:endParaRPr lang="en-US" sz="2300" dirty="0"/>
          </a:p>
          <a:p>
            <a:pPr marL="371475" lvl="0" indent="-7938">
              <a:buFont typeface="Wingdings" panose="05000000000000000000" pitchFamily="2" charset="2"/>
              <a:buChar char="§"/>
            </a:pPr>
            <a:r>
              <a:rPr lang="en-US" sz="2300" dirty="0"/>
              <a:t>    </a:t>
            </a:r>
            <a:r>
              <a:rPr lang="ru-RU" sz="2300" dirty="0" smtClean="0"/>
              <a:t>Операторы </a:t>
            </a:r>
            <a:r>
              <a:rPr lang="ru-RU" sz="2300" dirty="0"/>
              <a:t>состоят из одной или нескольких частей</a:t>
            </a:r>
            <a:r>
              <a:rPr lang="ru-RU" sz="2300" dirty="0" smtClean="0"/>
              <a:t>,</a:t>
            </a:r>
          </a:p>
          <a:p>
            <a:pPr marL="363537" lvl="0"/>
            <a:r>
              <a:rPr lang="ru-RU" sz="2300" dirty="0"/>
              <a:t> </a:t>
            </a:r>
            <a:r>
              <a:rPr lang="ru-RU" sz="2300" dirty="0" smtClean="0"/>
              <a:t>           </a:t>
            </a:r>
            <a:r>
              <a:rPr lang="ru-RU" sz="2300" dirty="0"/>
              <a:t>называемых </a:t>
            </a:r>
            <a:r>
              <a:rPr lang="ru-RU" sz="2300" b="1" dirty="0"/>
              <a:t>предложениями</a:t>
            </a:r>
            <a:r>
              <a:rPr lang="ru-RU" sz="2300" dirty="0"/>
              <a:t> (</a:t>
            </a:r>
            <a:r>
              <a:rPr lang="en-US" sz="2300" dirty="0"/>
              <a:t>clauses</a:t>
            </a:r>
            <a:r>
              <a:rPr lang="ru-RU" sz="2300" dirty="0"/>
              <a:t>) </a:t>
            </a:r>
            <a:endParaRPr lang="en-US" sz="2300" dirty="0"/>
          </a:p>
          <a:p>
            <a:pPr marL="371475" lvl="0" indent="-7938">
              <a:buFont typeface="Wingdings" panose="05000000000000000000" pitchFamily="2" charset="2"/>
              <a:buChar char="§"/>
            </a:pPr>
            <a:r>
              <a:rPr lang="en-US" sz="2300" dirty="0"/>
              <a:t>    </a:t>
            </a:r>
            <a:r>
              <a:rPr lang="ru-RU" sz="2300" dirty="0" smtClean="0"/>
              <a:t>Предложения </a:t>
            </a:r>
            <a:r>
              <a:rPr lang="ru-RU" sz="2300" dirty="0"/>
              <a:t>содержат ключевые слова и аргументы </a:t>
            </a:r>
            <a:endParaRPr lang="en-US" sz="2300" dirty="0"/>
          </a:p>
          <a:p>
            <a:pPr marL="441325" lvl="0" indent="-441325">
              <a:spcBef>
                <a:spcPts val="600"/>
              </a:spcBef>
            </a:pPr>
            <a:r>
              <a:rPr lang="en-US" sz="2300" dirty="0"/>
              <a:t>  </a:t>
            </a:r>
            <a:r>
              <a:rPr lang="ru-RU" sz="2300" dirty="0" smtClean="0"/>
              <a:t>Например</a:t>
            </a:r>
            <a:r>
              <a:rPr lang="ru-RU" sz="2300" dirty="0"/>
              <a:t>,</a:t>
            </a:r>
            <a:r>
              <a:rPr lang="en-US" sz="2300" dirty="0"/>
              <a:t>  </a:t>
            </a:r>
            <a:r>
              <a:rPr lang="en-US" sz="2300" b="1" dirty="0">
                <a:solidFill>
                  <a:srgbClr val="7030A0"/>
                </a:solidFill>
              </a:rPr>
              <a:t>WHERE   </a:t>
            </a:r>
            <a:r>
              <a:rPr lang="en-US" sz="2300" b="1" dirty="0" err="1">
                <a:solidFill>
                  <a:srgbClr val="7030A0"/>
                </a:solidFill>
              </a:rPr>
              <a:t>dat</a:t>
            </a:r>
            <a:r>
              <a:rPr lang="ru-RU" sz="2300" b="1" dirty="0">
                <a:solidFill>
                  <a:srgbClr val="7030A0"/>
                </a:solidFill>
              </a:rPr>
              <a:t>='01-01-2022' </a:t>
            </a:r>
            <a:endParaRPr lang="en-US" sz="2300" b="1" dirty="0">
              <a:solidFill>
                <a:srgbClr val="7030A0"/>
              </a:solidFill>
            </a:endParaRPr>
          </a:p>
          <a:p>
            <a:pPr marL="723900" lvl="0" indent="-723900">
              <a:spcBef>
                <a:spcPts val="600"/>
              </a:spcBef>
            </a:pPr>
            <a:r>
              <a:rPr lang="en-US" sz="2300" dirty="0"/>
              <a:t>            </a:t>
            </a:r>
            <a:r>
              <a:rPr lang="en-US" sz="2300" dirty="0">
                <a:solidFill>
                  <a:srgbClr val="7030A0"/>
                </a:solidFill>
              </a:rPr>
              <a:t>WHERE</a:t>
            </a:r>
            <a:r>
              <a:rPr lang="ru-RU" sz="2300" dirty="0"/>
              <a:t> – ключевое слово; </a:t>
            </a:r>
            <a:endParaRPr lang="en-US" sz="2300" dirty="0"/>
          </a:p>
          <a:p>
            <a:pPr marL="723900" lvl="0" indent="-723900">
              <a:spcBef>
                <a:spcPts val="600"/>
              </a:spcBef>
            </a:pPr>
            <a:r>
              <a:rPr lang="en-US" sz="2300" dirty="0"/>
              <a:t>            </a:t>
            </a:r>
            <a:r>
              <a:rPr lang="en-US" sz="2300" dirty="0" err="1">
                <a:solidFill>
                  <a:srgbClr val="7030A0"/>
                </a:solidFill>
              </a:rPr>
              <a:t>dat</a:t>
            </a:r>
            <a:r>
              <a:rPr lang="ru-RU" sz="2300" dirty="0">
                <a:solidFill>
                  <a:srgbClr val="7030A0"/>
                </a:solidFill>
              </a:rPr>
              <a:t>='01-01-2002'</a:t>
            </a:r>
            <a:r>
              <a:rPr lang="ru-RU" sz="2300" dirty="0"/>
              <a:t> – аргумент</a:t>
            </a:r>
            <a:endParaRPr lang="ru-RU" sz="2300" b="1" dirty="0"/>
          </a:p>
          <a:p>
            <a:pPr marL="723900" lvl="0" indent="-723900">
              <a:spcBef>
                <a:spcPts val="600"/>
              </a:spcBef>
            </a:pPr>
            <a:r>
              <a:rPr lang="ru-RU" sz="2300" b="1" dirty="0"/>
              <a:t>Объекты </a:t>
            </a:r>
            <a:r>
              <a:rPr lang="ru-RU" sz="2300" dirty="0"/>
              <a:t>(</a:t>
            </a:r>
            <a:r>
              <a:rPr lang="en-US" sz="2300" dirty="0"/>
              <a:t>Objects</a:t>
            </a:r>
            <a:r>
              <a:rPr lang="ru-RU" sz="2300" dirty="0"/>
              <a:t>)</a:t>
            </a:r>
            <a:r>
              <a:rPr lang="ru-RU" sz="2300" b="1" dirty="0"/>
              <a:t> </a:t>
            </a:r>
            <a:r>
              <a:rPr lang="ru-RU" sz="2300" dirty="0"/>
              <a:t>– элементы БД, которые имеют имя и хранятся в БД</a:t>
            </a:r>
            <a:r>
              <a:rPr lang="en-US" sz="2300" dirty="0"/>
              <a:t>:</a:t>
            </a:r>
            <a:r>
              <a:rPr lang="ru-RU" sz="2300" dirty="0"/>
              <a:t>  таблицы, представления, индексы </a:t>
            </a:r>
          </a:p>
          <a:p>
            <a:pPr marL="900113" algn="just">
              <a:spcBef>
                <a:spcPts val="600"/>
              </a:spcBef>
            </a:pPr>
            <a:endParaRPr lang="ru-RU" sz="2300" dirty="0"/>
          </a:p>
          <a:p>
            <a:pPr marL="989013" indent="-989013" algn="just">
              <a:spcBef>
                <a:spcPts val="600"/>
              </a:spcBef>
              <a:buFont typeface="+mj-lt"/>
              <a:buAutoNum type="arabicParenR" startAt="3"/>
            </a:pPr>
            <a:endParaRPr lang="ru-RU" sz="2300" dirty="0"/>
          </a:p>
        </p:txBody>
      </p:sp>
    </p:spTree>
    <p:extLst>
      <p:ext uri="{BB962C8B-B14F-4D97-AF65-F5344CB8AC3E}">
        <p14:creationId xmlns:p14="http://schemas.microsoft.com/office/powerpoint/2010/main" val="1820724438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>
                <a:latin typeface="+mj-lt"/>
                <a:cs typeface="Arial" pitchFamily="34" charset="0"/>
              </a:rPr>
              <a:t>Правила именования объектов</a:t>
            </a:r>
            <a:endParaRPr lang="ru-RU" sz="3600" dirty="0">
              <a:latin typeface="+mj-lt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20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Введение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в </a:t>
            </a:r>
            <a:r>
              <a:rPr lang="en-US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SQL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268760"/>
            <a:ext cx="889248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6575" lvl="0" indent="-536575">
              <a:spcBef>
                <a:spcPts val="1200"/>
              </a:spcBef>
              <a:buFont typeface="Wingdings" pitchFamily="2" charset="2"/>
              <a:buChar char="q"/>
            </a:pPr>
            <a:r>
              <a:rPr lang="ru-RU" sz="2400" dirty="0"/>
              <a:t>Имя может содержать латинские буквы, цифры, знак подчеркивания</a:t>
            </a:r>
          </a:p>
          <a:p>
            <a:pPr marL="536575" lvl="0" indent="-536575">
              <a:spcBef>
                <a:spcPts val="1200"/>
              </a:spcBef>
              <a:buFont typeface="Wingdings" pitchFamily="2" charset="2"/>
              <a:buChar char="q"/>
            </a:pPr>
            <a:r>
              <a:rPr lang="ru-RU" sz="2400" dirty="0"/>
              <a:t>Имя не может содержать пробелов (в </a:t>
            </a:r>
            <a:r>
              <a:rPr lang="en-US" sz="2400" dirty="0"/>
              <a:t>SQL</a:t>
            </a:r>
            <a:r>
              <a:rPr lang="ru-RU" sz="2400" dirty="0"/>
              <a:t> пробелы отделяют части операторов) </a:t>
            </a:r>
          </a:p>
          <a:p>
            <a:pPr marL="536575" lvl="0" indent="-536575">
              <a:spcBef>
                <a:spcPts val="1200"/>
              </a:spcBef>
              <a:buFont typeface="Wingdings" pitchFamily="2" charset="2"/>
              <a:buChar char="q"/>
            </a:pPr>
            <a:r>
              <a:rPr lang="ru-RU" sz="2400" dirty="0"/>
              <a:t>Для выделения слов в именах используется знак подчеркивания или регистр символов</a:t>
            </a:r>
          </a:p>
          <a:p>
            <a:pPr marL="536575" lvl="0" indent="-536575">
              <a:spcBef>
                <a:spcPts val="1200"/>
              </a:spcBef>
              <a:buFont typeface="Wingdings" pitchFamily="2" charset="2"/>
              <a:buChar char="q"/>
            </a:pPr>
            <a:r>
              <a:rPr lang="ru-RU" sz="2400" dirty="0"/>
              <a:t>Нельзя использовать в качестве имен ключевые слова</a:t>
            </a:r>
            <a:endParaRPr lang="ru-RU" sz="2400" b="1" dirty="0"/>
          </a:p>
          <a:p>
            <a:endParaRPr lang="ru-RU" sz="2400" dirty="0"/>
          </a:p>
          <a:p>
            <a:r>
              <a:rPr lang="ru-RU" sz="2400" dirty="0"/>
              <a:t>Примеры:  </a:t>
            </a:r>
          </a:p>
          <a:p>
            <a:pPr marL="1431925"/>
            <a:r>
              <a:rPr lang="ru-RU" sz="2400" dirty="0"/>
              <a:t> </a:t>
            </a:r>
            <a:r>
              <a:rPr lang="en-US" sz="2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BookProd</a:t>
            </a:r>
            <a:r>
              <a:rPr lang="ru-RU" sz="2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sz="2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Book_Prod</a:t>
            </a:r>
            <a:r>
              <a:rPr lang="ru-RU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sz="2400" dirty="0"/>
              <a:t>- правильные  </a:t>
            </a:r>
          </a:p>
          <a:p>
            <a:pPr marL="1431925"/>
            <a:r>
              <a:rPr lang="ru-RU" sz="2400" dirty="0"/>
              <a:t> </a:t>
            </a:r>
            <a:r>
              <a:rPr lang="en-US" sz="2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 Prod, Select</a:t>
            </a:r>
            <a:r>
              <a:rPr lang="ru-RU" sz="2400" dirty="0"/>
              <a:t>        - неправильные </a:t>
            </a:r>
          </a:p>
          <a:p>
            <a:pPr marL="900113" algn="just">
              <a:spcBef>
                <a:spcPts val="600"/>
              </a:spcBef>
            </a:pPr>
            <a:endParaRPr lang="ru-RU" sz="2300" dirty="0"/>
          </a:p>
          <a:p>
            <a:pPr marL="989013" indent="-989013" algn="just">
              <a:spcBef>
                <a:spcPts val="600"/>
              </a:spcBef>
              <a:buFont typeface="+mj-lt"/>
              <a:buAutoNum type="arabicParenR" startAt="3"/>
            </a:pPr>
            <a:endParaRPr lang="ru-RU" sz="2300" dirty="0"/>
          </a:p>
        </p:txBody>
      </p:sp>
    </p:spTree>
    <p:extLst>
      <p:ext uri="{BB962C8B-B14F-4D97-AF65-F5344CB8AC3E}">
        <p14:creationId xmlns:p14="http://schemas.microsoft.com/office/powerpoint/2010/main" val="46103400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cs typeface="Arial" pitchFamily="34" charset="0"/>
              </a:rPr>
              <a:t>Регистр символов в именах</a:t>
            </a:r>
            <a:endParaRPr lang="ru-RU" sz="3600" dirty="0"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21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Введение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в </a:t>
            </a:r>
            <a:r>
              <a:rPr lang="en-US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SQL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124744"/>
            <a:ext cx="9073008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5738" indent="-185738"/>
            <a:r>
              <a:rPr lang="ru-RU" sz="2400" dirty="0"/>
              <a:t>В </a:t>
            </a:r>
            <a:r>
              <a:rPr lang="ru-RU" sz="2400" dirty="0" err="1"/>
              <a:t>PostgreSQL</a:t>
            </a:r>
            <a:r>
              <a:rPr lang="ru-RU" sz="2400" dirty="0"/>
              <a:t> </a:t>
            </a:r>
            <a:r>
              <a:rPr lang="ru-RU" sz="2400" b="1" dirty="0">
                <a:solidFill>
                  <a:srgbClr val="0070C0"/>
                </a:solidFill>
              </a:rPr>
              <a:t>все имена </a:t>
            </a:r>
            <a:r>
              <a:rPr lang="ru-RU" sz="2400" dirty="0" smtClean="0"/>
              <a:t>(таблиц</a:t>
            </a:r>
            <a:r>
              <a:rPr lang="ru-RU" sz="2400" dirty="0"/>
              <a:t>, столбцов, функций и </a:t>
            </a:r>
            <a:r>
              <a:rPr lang="ru-RU" sz="2400" dirty="0" err="1" smtClean="0"/>
              <a:t>др.объектов</a:t>
            </a:r>
            <a:r>
              <a:rPr lang="ru-RU" sz="2400" dirty="0" smtClean="0"/>
              <a:t>) </a:t>
            </a:r>
            <a:r>
              <a:rPr lang="ru-RU" sz="2400" b="1" dirty="0">
                <a:solidFill>
                  <a:srgbClr val="0070C0"/>
                </a:solidFill>
              </a:rPr>
              <a:t>преобразуются в нижний регистр</a:t>
            </a:r>
            <a:r>
              <a:rPr lang="ru-RU" sz="2400" dirty="0"/>
              <a:t>, </a:t>
            </a:r>
            <a:endParaRPr lang="ru-RU" sz="2400" dirty="0" smtClean="0"/>
          </a:p>
          <a:p>
            <a:pPr marL="185738" indent="-185738" algn="just"/>
            <a:r>
              <a:rPr lang="ru-RU" sz="2400" dirty="0"/>
              <a:t> </a:t>
            </a:r>
            <a:r>
              <a:rPr lang="ru-RU" sz="2400" dirty="0" smtClean="0"/>
              <a:t> </a:t>
            </a:r>
            <a:r>
              <a:rPr lang="ru-RU" sz="2400" b="1" dirty="0" smtClean="0"/>
              <a:t>если </a:t>
            </a:r>
            <a:r>
              <a:rPr lang="ru-RU" sz="2400" b="1" dirty="0"/>
              <a:t>они не заключены в двойные </a:t>
            </a:r>
            <a:r>
              <a:rPr lang="ru-RU" sz="2400" b="1" dirty="0" smtClean="0"/>
              <a:t>кавычки</a:t>
            </a:r>
            <a:endParaRPr lang="ru-RU" sz="2400" dirty="0"/>
          </a:p>
          <a:p>
            <a:endParaRPr lang="ru-RU" sz="1200" dirty="0" smtClean="0"/>
          </a:p>
          <a:p>
            <a:r>
              <a:rPr lang="ru-RU" sz="2400" b="1" i="1" dirty="0" smtClean="0"/>
              <a:t>Например</a:t>
            </a:r>
          </a:p>
          <a:p>
            <a:r>
              <a:rPr lang="ru-RU" sz="2400" dirty="0"/>
              <a:t> </a:t>
            </a:r>
            <a:r>
              <a:rPr lang="ru-RU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</a:t>
            </a:r>
            <a:r>
              <a:rPr lang="ru-RU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</a:t>
            </a:r>
            <a:r>
              <a:rPr lang="ru-RU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</a:t>
            </a:r>
            <a:r>
              <a:rPr lang="ru-RU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ru-RU" sz="2400" dirty="0"/>
              <a:t> </a:t>
            </a:r>
            <a:r>
              <a:rPr lang="ru-RU" sz="2400" dirty="0" smtClean="0"/>
              <a:t>    создаст </a:t>
            </a:r>
            <a:r>
              <a:rPr lang="ru-RU" sz="2400" dirty="0"/>
              <a:t>таблицу с именем </a:t>
            </a:r>
            <a:r>
              <a:rPr lang="ru-RU" sz="2400" dirty="0" err="1" smtClean="0"/>
              <a:t>foo</a:t>
            </a:r>
            <a:r>
              <a:rPr lang="ru-RU" sz="2400" dirty="0" smtClean="0"/>
              <a:t> </a:t>
            </a:r>
          </a:p>
          <a:p>
            <a:r>
              <a:rPr lang="ru-RU" sz="2400" dirty="0"/>
              <a:t> </a:t>
            </a:r>
            <a:r>
              <a:rPr lang="ru-RU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</a:t>
            </a:r>
            <a:r>
              <a:rPr lang="ru-RU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</a:t>
            </a:r>
            <a:r>
              <a:rPr lang="ru-RU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«</a:t>
            </a:r>
            <a:r>
              <a:rPr lang="ru-RU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Bar</a:t>
            </a:r>
            <a:r>
              <a:rPr lang="ru-RU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»()</a:t>
            </a:r>
            <a:r>
              <a:rPr lang="ru-RU" sz="2400" dirty="0"/>
              <a:t> создаст таблицу с именем </a:t>
            </a:r>
            <a:r>
              <a:rPr lang="ru-RU" sz="2400" dirty="0" err="1" smtClean="0"/>
              <a:t>Bar</a:t>
            </a:r>
            <a:endParaRPr lang="ru-RU" sz="2400" dirty="0"/>
          </a:p>
          <a:p>
            <a:endParaRPr lang="ru-RU" sz="2400" dirty="0" smtClean="0"/>
          </a:p>
          <a:p>
            <a:r>
              <a:rPr lang="ru-RU" sz="2400" dirty="0" smtClean="0">
                <a:solidFill>
                  <a:srgbClr val="00B050"/>
                </a:solidFill>
              </a:rPr>
              <a:t>Будут работать без ошибок</a:t>
            </a:r>
            <a:r>
              <a:rPr lang="ru-RU" sz="2400" dirty="0" smtClean="0"/>
              <a:t> команды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endParaRPr lang="ru-RU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dirty="0" smtClean="0"/>
              <a:t>                      </a:t>
            </a:r>
            <a:r>
              <a:rPr lang="en-US" sz="2400" dirty="0"/>
              <a:t> select * from </a:t>
            </a:r>
            <a:r>
              <a:rPr lang="en-US" sz="2400" dirty="0" smtClean="0"/>
              <a:t>Foo</a:t>
            </a:r>
            <a:r>
              <a:rPr lang="en-US" sz="2400" dirty="0"/>
              <a:t> </a:t>
            </a:r>
            <a:endParaRPr lang="ru-RU" sz="2400" dirty="0" smtClean="0"/>
          </a:p>
          <a:p>
            <a:r>
              <a:rPr lang="ru-RU" sz="2400" dirty="0" smtClean="0"/>
              <a:t>                       </a:t>
            </a:r>
            <a:r>
              <a:rPr lang="en-US" sz="2400" dirty="0" smtClean="0"/>
              <a:t>select </a:t>
            </a:r>
            <a:r>
              <a:rPr lang="en-US" sz="2400" dirty="0"/>
              <a:t>* from </a:t>
            </a:r>
            <a:r>
              <a:rPr lang="en-US" sz="2400" dirty="0" smtClean="0"/>
              <a:t>foo</a:t>
            </a:r>
            <a:r>
              <a:rPr lang="en-US" sz="2400" dirty="0"/>
              <a:t> </a:t>
            </a:r>
            <a:endParaRPr lang="ru-RU" sz="2400" dirty="0" smtClean="0"/>
          </a:p>
          <a:p>
            <a:r>
              <a:rPr lang="ru-RU" sz="2400" dirty="0" smtClean="0"/>
              <a:t>                       </a:t>
            </a:r>
            <a:r>
              <a:rPr lang="en-US" sz="2400" dirty="0" smtClean="0"/>
              <a:t>select </a:t>
            </a:r>
            <a:r>
              <a:rPr lang="en-US" sz="2400" dirty="0"/>
              <a:t>* from «Bar</a:t>
            </a:r>
            <a:r>
              <a:rPr lang="en-US" sz="2400" dirty="0" smtClean="0"/>
              <a:t>»</a:t>
            </a:r>
            <a:endParaRPr lang="ru-RU" sz="2400" dirty="0"/>
          </a:p>
          <a:p>
            <a:r>
              <a:rPr lang="ru-RU" sz="2400" dirty="0" smtClean="0">
                <a:solidFill>
                  <a:srgbClr val="C00000"/>
                </a:solidFill>
              </a:rPr>
              <a:t>Будет ошибка </a:t>
            </a:r>
            <a:r>
              <a:rPr lang="ru-RU" sz="2400" dirty="0" smtClean="0"/>
              <a:t>«нет такой таблицы</a:t>
            </a:r>
            <a:r>
              <a:rPr lang="en-US" sz="2400" dirty="0" smtClean="0"/>
              <a:t>»</a:t>
            </a:r>
            <a:r>
              <a:rPr lang="ru-RU" sz="2400" dirty="0" smtClean="0"/>
              <a:t> в командах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400" dirty="0"/>
              <a:t> </a:t>
            </a:r>
            <a:endParaRPr lang="ru-RU" sz="2400" dirty="0" smtClean="0"/>
          </a:p>
          <a:p>
            <a:r>
              <a:rPr lang="ru-RU" sz="2400" dirty="0"/>
              <a:t> </a:t>
            </a:r>
            <a:r>
              <a:rPr lang="ru-RU" sz="2400" dirty="0" smtClean="0"/>
              <a:t>                                      </a:t>
            </a:r>
            <a:r>
              <a:rPr lang="en-US" sz="2400" dirty="0" smtClean="0"/>
              <a:t>select </a:t>
            </a:r>
            <a:r>
              <a:rPr lang="en-US" sz="2400" dirty="0"/>
              <a:t>* from «Foo</a:t>
            </a:r>
            <a:r>
              <a:rPr lang="en-US" sz="2400" dirty="0" smtClean="0"/>
              <a:t>»</a:t>
            </a:r>
            <a:r>
              <a:rPr lang="en-US" sz="2400" dirty="0"/>
              <a:t> </a:t>
            </a:r>
            <a:endParaRPr lang="ru-RU" sz="2400" dirty="0" smtClean="0"/>
          </a:p>
          <a:p>
            <a:r>
              <a:rPr lang="ru-RU" sz="2400" dirty="0" smtClean="0"/>
              <a:t>                                       </a:t>
            </a:r>
            <a:r>
              <a:rPr lang="en-US" sz="2400" dirty="0" smtClean="0"/>
              <a:t>select </a:t>
            </a:r>
            <a:r>
              <a:rPr lang="en-US" sz="2400" dirty="0"/>
              <a:t>* from </a:t>
            </a:r>
            <a:r>
              <a:rPr lang="en-US" sz="2400" dirty="0" smtClean="0"/>
              <a:t>Bar</a:t>
            </a:r>
            <a:r>
              <a:rPr lang="en-US" sz="2400" dirty="0"/>
              <a:t> </a:t>
            </a:r>
            <a:endParaRPr lang="ru-RU" sz="2400" dirty="0" smtClean="0"/>
          </a:p>
          <a:p>
            <a:r>
              <a:rPr lang="ru-RU" sz="2400" dirty="0"/>
              <a:t> </a:t>
            </a:r>
            <a:r>
              <a:rPr lang="ru-RU" sz="2400" dirty="0" smtClean="0"/>
              <a:t>                                      </a:t>
            </a:r>
            <a:r>
              <a:rPr lang="en-US" sz="2400" dirty="0" smtClean="0"/>
              <a:t>select </a:t>
            </a:r>
            <a:r>
              <a:rPr lang="en-US" sz="2400" dirty="0"/>
              <a:t>* from </a:t>
            </a:r>
            <a:r>
              <a:rPr lang="en-US" sz="2400" dirty="0" smtClean="0"/>
              <a:t>bar</a:t>
            </a:r>
            <a:endParaRPr lang="ru-RU" sz="2400" dirty="0"/>
          </a:p>
          <a:p>
            <a:pPr marL="357188" algn="just">
              <a:spcBef>
                <a:spcPts val="600"/>
              </a:spcBef>
            </a:pPr>
            <a:endParaRPr lang="ru-RU" sz="2300" dirty="0"/>
          </a:p>
          <a:p>
            <a:pPr marL="989013" indent="-989013" algn="just">
              <a:spcBef>
                <a:spcPts val="600"/>
              </a:spcBef>
              <a:buFont typeface="+mj-lt"/>
              <a:buAutoNum type="arabicParenR" startAt="3"/>
            </a:pPr>
            <a:endParaRPr lang="ru-RU" sz="2300" dirty="0"/>
          </a:p>
        </p:txBody>
      </p:sp>
    </p:spTree>
    <p:extLst>
      <p:ext uri="{BB962C8B-B14F-4D97-AF65-F5344CB8AC3E}">
        <p14:creationId xmlns:p14="http://schemas.microsoft.com/office/powerpoint/2010/main" val="979375670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500"/>
                            </p:stCondLst>
                            <p:childTnLst>
                              <p:par>
                                <p:cTn id="55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+mj-lt"/>
                <a:cs typeface="Arial" pitchFamily="34" charset="0"/>
              </a:rPr>
              <a:t>Формы (нотации) Бэкуса-Наура</a:t>
            </a: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Введение в </a:t>
            </a:r>
            <a:r>
              <a:rPr lang="en-US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SQL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052736"/>
            <a:ext cx="889248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lvl="0" indent="-355600"/>
            <a:r>
              <a:rPr lang="ru-RU" sz="2300" dirty="0" smtClean="0"/>
              <a:t>Это формы описания синтаксиса (правила записи) языка </a:t>
            </a:r>
          </a:p>
          <a:p>
            <a:pPr marL="355600" lvl="0" indent="-355600">
              <a:buFont typeface="Wingdings" pitchFamily="2" charset="2"/>
              <a:buChar char="q"/>
            </a:pPr>
            <a:r>
              <a:rPr lang="ru-RU" sz="2300" dirty="0" smtClean="0"/>
              <a:t>Символ "</a:t>
            </a:r>
            <a:r>
              <a:rPr lang="ru-RU" sz="2800" b="1" dirty="0" smtClean="0">
                <a:latin typeface="Arial" pitchFamily="34" charset="0"/>
                <a:cs typeface="Arial" pitchFamily="34" charset="0"/>
              </a:rPr>
              <a:t>::=</a:t>
            </a:r>
            <a:r>
              <a:rPr lang="ru-RU" sz="2300" dirty="0" smtClean="0"/>
              <a:t>" вводит определение</a:t>
            </a:r>
          </a:p>
          <a:p>
            <a:pPr marL="355600" lvl="0" indent="-355600"/>
            <a:r>
              <a:rPr lang="ru-RU" sz="2300" dirty="0" smtClean="0"/>
              <a:t>          </a:t>
            </a:r>
            <a:r>
              <a:rPr lang="ru-RU" sz="23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&lt;понятие&gt;::= определение понятия</a:t>
            </a:r>
          </a:p>
          <a:p>
            <a:pPr marL="355600" lvl="0" indent="-355600">
              <a:buFont typeface="Wingdings" pitchFamily="2" charset="2"/>
              <a:buChar char="q"/>
            </a:pPr>
            <a:r>
              <a:rPr lang="ru-RU" sz="2300" dirty="0" smtClean="0"/>
              <a:t>Ключевые слова записываются прописными буквами. Они зарезервированы и составляют часть оператора</a:t>
            </a:r>
          </a:p>
          <a:p>
            <a:pPr marL="355600" lvl="0" indent="-355600">
              <a:buFont typeface="Wingdings" pitchFamily="2" charset="2"/>
              <a:buChar char="q"/>
            </a:pPr>
            <a:r>
              <a:rPr lang="ru-RU" sz="2300" dirty="0" smtClean="0"/>
              <a:t>Необязательные элементы оператора заключаются в квадратные скобки </a:t>
            </a:r>
            <a:r>
              <a:rPr lang="ru-RU" sz="2300" b="1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[ ]</a:t>
            </a:r>
          </a:p>
          <a:p>
            <a:pPr marL="355600" indent="-355600">
              <a:buFont typeface="Wingdings" pitchFamily="2" charset="2"/>
              <a:buChar char="q"/>
            </a:pPr>
            <a:r>
              <a:rPr lang="ru-RU" sz="2300" dirty="0" smtClean="0"/>
              <a:t>Вертикальная черта </a:t>
            </a:r>
            <a:r>
              <a:rPr lang="ru-RU" sz="2300" b="1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|</a:t>
            </a:r>
            <a:r>
              <a:rPr lang="ru-RU" sz="2300" dirty="0" smtClean="0"/>
              <a:t> разделяет альтернативные варианты (в операторе может быть использован только один из перечисленных вариантов)</a:t>
            </a:r>
          </a:p>
          <a:p>
            <a:pPr marL="355600" indent="-355600">
              <a:buFont typeface="Wingdings" pitchFamily="2" charset="2"/>
              <a:buChar char="q"/>
            </a:pPr>
            <a:r>
              <a:rPr lang="ru-RU" sz="2300" dirty="0" smtClean="0"/>
              <a:t>Фигурные скобки </a:t>
            </a:r>
            <a:r>
              <a:rPr lang="ru-RU" sz="2300" b="1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{ }</a:t>
            </a:r>
            <a:r>
              <a:rPr lang="ru-RU" sz="2300" dirty="0" smtClean="0"/>
              <a:t> указывают на то, что все находящееся внутри них является единым целым</a:t>
            </a:r>
          </a:p>
          <a:p>
            <a:pPr marL="355600" lvl="0" indent="-355600">
              <a:buFont typeface="Wingdings" pitchFamily="2" charset="2"/>
              <a:buChar char="q"/>
            </a:pPr>
            <a:r>
              <a:rPr lang="ru-RU" sz="2300" dirty="0" smtClean="0"/>
              <a:t>Троеточие "</a:t>
            </a:r>
            <a:r>
              <a:rPr lang="ru-RU" sz="2300" b="1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…</a:t>
            </a:r>
            <a:r>
              <a:rPr lang="ru-RU" sz="2300" dirty="0" smtClean="0"/>
              <a:t>" означает, что предшествующая часть оператора может быть повторена любое количество раз </a:t>
            </a:r>
          </a:p>
          <a:p>
            <a:pPr marL="355600" indent="-355600">
              <a:buFont typeface="Wingdings" pitchFamily="2" charset="2"/>
              <a:buChar char="q"/>
            </a:pPr>
            <a:endParaRPr lang="ru-RU" sz="2300" dirty="0" smtClean="0"/>
          </a:p>
          <a:p>
            <a:pPr marL="989013" indent="-989013" algn="just">
              <a:spcBef>
                <a:spcPts val="600"/>
              </a:spcBef>
              <a:buFont typeface="+mj-lt"/>
              <a:buAutoNum type="arabicParenR" startAt="3"/>
            </a:pPr>
            <a:endParaRPr lang="ru-RU" sz="2300" dirty="0" smtClean="0"/>
          </a:p>
        </p:txBody>
      </p:sp>
    </p:spTree>
    <p:extLst>
      <p:ext uri="{BB962C8B-B14F-4D97-AF65-F5344CB8AC3E}">
        <p14:creationId xmlns:p14="http://schemas.microsoft.com/office/powerpoint/2010/main" val="2632790183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+mj-lt"/>
                <a:cs typeface="Arial" pitchFamily="34" charset="0"/>
              </a:rPr>
              <a:t>Пример описания правила</a:t>
            </a: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Введение в </a:t>
            </a:r>
            <a:r>
              <a:rPr lang="en-US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SQL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79512" y="1556792"/>
            <a:ext cx="885698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пределение домена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::= </a:t>
            </a:r>
            <a:r>
              <a:rPr lang="en-US" sz="24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DOMAIN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имя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баз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тип</a:t>
            </a:r>
            <a:endParaRPr lang="ru-RU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[</a:t>
            </a:r>
            <a:r>
              <a:rPr lang="ru-RU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значение_по_умолчанию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ru-RU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  [</a:t>
            </a:r>
            <a:r>
              <a:rPr lang="ru-RU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ограничение_целостности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ru-RU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sz="24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значение_по_умолчанию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::= </a:t>
            </a:r>
            <a:endParaRPr lang="ru-RU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DEFAULT</a:t>
            </a:r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{литерал | 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               </a:t>
            </a:r>
          </a:p>
          <a:p>
            <a:r>
              <a:rPr lang="ru-RU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ограничение_целостности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::=</a:t>
            </a:r>
          </a:p>
          <a:p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CONSTRAINT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имя 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CHECK</a:t>
            </a:r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ru-RU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логическое_выражение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ru-RU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83533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+mj-lt"/>
                <a:cs typeface="Arial" pitchFamily="34" charset="0"/>
              </a:rPr>
              <a:t>Вопросы</a:t>
            </a:r>
            <a:endParaRPr lang="ru-RU" sz="3600" dirty="0">
              <a:latin typeface="+mj-lt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Введение в язык </a:t>
            </a:r>
            <a:r>
              <a:rPr lang="en-US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SQL</a:t>
            </a:r>
            <a:r>
              <a:rPr lang="ru-RU" sz="2000" dirty="0" smtClean="0">
                <a:solidFill>
                  <a:srgbClr val="0070C0"/>
                </a:solidFill>
              </a:rPr>
              <a:t/>
            </a:r>
            <a:br>
              <a:rPr lang="ru-RU" sz="2000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23528" y="1124744"/>
            <a:ext cx="8568952" cy="4975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800"/>
              </a:spcBef>
              <a:buFont typeface="+mj-lt"/>
              <a:buAutoNum type="arabicPeriod"/>
            </a:pPr>
            <a:r>
              <a:rPr lang="ru-RU" sz="2400" dirty="0" smtClean="0"/>
              <a:t>Перечислите основные группы операций стандартного языка </a:t>
            </a:r>
            <a:r>
              <a:rPr lang="en-US" sz="2400" dirty="0" smtClean="0"/>
              <a:t>SQL</a:t>
            </a:r>
            <a:r>
              <a:rPr lang="ru-RU" sz="2400" dirty="0" smtClean="0"/>
              <a:t> </a:t>
            </a:r>
            <a:endParaRPr lang="en-US" sz="2400" dirty="0" smtClean="0"/>
          </a:p>
          <a:p>
            <a:pPr marL="342900" indent="-342900">
              <a:spcBef>
                <a:spcPts val="800"/>
              </a:spcBef>
              <a:buFont typeface="+mj-lt"/>
              <a:buAutoNum type="arabicPeriod"/>
            </a:pPr>
            <a:r>
              <a:rPr lang="ru-RU" sz="2400" dirty="0" smtClean="0"/>
              <a:t>Какие команды входят в группу </a:t>
            </a:r>
            <a:r>
              <a:rPr lang="en-US" sz="2400" dirty="0" smtClean="0"/>
              <a:t>DDL</a:t>
            </a:r>
            <a:r>
              <a:rPr lang="ru-RU" sz="2400" dirty="0" smtClean="0"/>
              <a:t> </a:t>
            </a:r>
            <a:r>
              <a:rPr lang="en-US" sz="2400" dirty="0" smtClean="0"/>
              <a:t>?</a:t>
            </a:r>
          </a:p>
          <a:p>
            <a:pPr marL="342900" indent="-342900">
              <a:spcBef>
                <a:spcPts val="800"/>
              </a:spcBef>
              <a:buFont typeface="+mj-lt"/>
              <a:buAutoNum type="arabicPeriod"/>
            </a:pPr>
            <a:r>
              <a:rPr lang="ru-RU" sz="2400" dirty="0" smtClean="0"/>
              <a:t>В чем разница команд </a:t>
            </a:r>
            <a:r>
              <a:rPr lang="en-US" sz="2400" dirty="0" smtClean="0"/>
              <a:t>DROP </a:t>
            </a:r>
            <a:r>
              <a:rPr lang="ru-RU" sz="2400" dirty="0" smtClean="0"/>
              <a:t>и  </a:t>
            </a:r>
            <a:r>
              <a:rPr lang="en-US" sz="2400" dirty="0" smtClean="0"/>
              <a:t>TRUNCATE ?</a:t>
            </a:r>
          </a:p>
          <a:p>
            <a:pPr marL="342900" indent="-342900">
              <a:spcBef>
                <a:spcPts val="800"/>
              </a:spcBef>
              <a:buFont typeface="+mj-lt"/>
              <a:buAutoNum type="arabicPeriod"/>
            </a:pPr>
            <a:r>
              <a:rPr lang="ru-RU" sz="2400" dirty="0" smtClean="0"/>
              <a:t>Какие команды входят в группу </a:t>
            </a:r>
            <a:r>
              <a:rPr lang="en-US" sz="2400" dirty="0" smtClean="0"/>
              <a:t>DML ?</a:t>
            </a:r>
          </a:p>
          <a:p>
            <a:pPr marL="342900" indent="-342900">
              <a:spcBef>
                <a:spcPts val="800"/>
              </a:spcBef>
              <a:buFont typeface="+mj-lt"/>
              <a:buAutoNum type="arabicPeriod"/>
            </a:pPr>
            <a:r>
              <a:rPr lang="ru-RU" sz="2400" dirty="0" smtClean="0"/>
              <a:t>Для изменения данных в таблицах используют команду . . . </a:t>
            </a:r>
            <a:endParaRPr lang="en-US" sz="2400" dirty="0" smtClean="0"/>
          </a:p>
          <a:p>
            <a:pPr marL="342900" indent="-342900">
              <a:spcBef>
                <a:spcPts val="800"/>
              </a:spcBef>
              <a:buFont typeface="+mj-lt"/>
              <a:buAutoNum type="arabicPeriod"/>
            </a:pPr>
            <a:r>
              <a:rPr lang="ru-RU" sz="2400" dirty="0" smtClean="0"/>
              <a:t>Какие действия выполняет команда </a:t>
            </a:r>
            <a:r>
              <a:rPr lang="en-US" sz="2400" dirty="0" smtClean="0"/>
              <a:t>COMMIT ?</a:t>
            </a:r>
            <a:endParaRPr lang="ru-RU" sz="2400" dirty="0" smtClean="0"/>
          </a:p>
          <a:p>
            <a:pPr marL="342900" indent="-342900">
              <a:spcBef>
                <a:spcPts val="800"/>
              </a:spcBef>
              <a:buFont typeface="+mj-lt"/>
              <a:buAutoNum type="arabicPeriod"/>
            </a:pPr>
            <a:r>
              <a:rPr lang="ru-RU" sz="2400" dirty="0"/>
              <a:t>Какие команды входят в </a:t>
            </a:r>
            <a:r>
              <a:rPr lang="ru-RU" sz="2400" dirty="0" smtClean="0"/>
              <a:t>группу </a:t>
            </a:r>
            <a:r>
              <a:rPr lang="en-US" sz="2400" dirty="0" smtClean="0"/>
              <a:t>DCL ?</a:t>
            </a:r>
            <a:endParaRPr lang="ru-RU" sz="2400" dirty="0"/>
          </a:p>
          <a:p>
            <a:pPr marL="342900" indent="-342900">
              <a:spcBef>
                <a:spcPts val="800"/>
              </a:spcBef>
              <a:buFont typeface="+mj-lt"/>
              <a:buAutoNum type="arabicPeriod"/>
            </a:pPr>
            <a:r>
              <a:rPr lang="ru-RU" sz="2400" dirty="0"/>
              <a:t>Какие команды входят в </a:t>
            </a:r>
            <a:r>
              <a:rPr lang="ru-RU" sz="2400" dirty="0" smtClean="0"/>
              <a:t>группу</a:t>
            </a:r>
            <a:r>
              <a:rPr lang="en-US" sz="2400" dirty="0" smtClean="0"/>
              <a:t> TCL ?</a:t>
            </a:r>
            <a:endParaRPr lang="ru-RU" sz="2400" dirty="0"/>
          </a:p>
          <a:p>
            <a:pPr marL="342900" indent="-342900">
              <a:spcBef>
                <a:spcPts val="800"/>
              </a:spcBef>
              <a:buFont typeface="+mj-lt"/>
              <a:buAutoNum type="arabicPeriod"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908494965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79512" y="692696"/>
            <a:ext cx="8712968" cy="5688632"/>
          </a:xfrm>
        </p:spPr>
        <p:txBody>
          <a:bodyPr rtlCol="0">
            <a:noAutofit/>
          </a:bodyPr>
          <a:lstStyle/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400" smtClean="0"/>
          </a:p>
          <a:p>
            <a:pPr marL="6350" indent="-6350" algn="ctr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ru-RU" sz="3600" b="1" smtClean="0">
              <a:solidFill>
                <a:srgbClr val="002060"/>
              </a:solidFill>
            </a:endParaRPr>
          </a:p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000" b="1" smtClean="0">
              <a:latin typeface="Arial" pitchFamily="34" charset="0"/>
              <a:cs typeface="Arial" pitchFamily="34" charset="0"/>
            </a:endParaRPr>
          </a:p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40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ru-RU" sz="2400" b="1" smtClean="0">
                <a:latin typeface="Arial" pitchFamily="34" charset="0"/>
                <a:cs typeface="Arial" pitchFamily="34" charset="0"/>
              </a:rPr>
              <a:t> </a:t>
            </a:r>
            <a:endParaRPr lang="ru-RU" sz="2400" smtClean="0">
              <a:latin typeface="Arial" pitchFamily="34" charset="0"/>
              <a:cs typeface="Arial" pitchFamily="34" charset="0"/>
            </a:endParaRPr>
          </a:p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400" smtClean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Рисунок 5" descr="kartinka-spasibo-za-vnimanie-dlya-prezentatsij-6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941" y="1"/>
            <a:ext cx="9134059" cy="6865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579804"/>
      </p:ext>
    </p:extLst>
  </p:cSld>
  <p:clrMapOvr>
    <a:masterClrMapping/>
  </p:clrMapOvr>
  <p:transition spd="slow">
    <p:dissolv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ткрытая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159</TotalTime>
  <Words>1237</Words>
  <Application>Microsoft Office PowerPoint</Application>
  <PresentationFormat>Экран (4:3)</PresentationFormat>
  <Paragraphs>294</Paragraphs>
  <Slides>25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26" baseType="lpstr">
      <vt:lpstr>Открытая</vt:lpstr>
      <vt:lpstr> </vt:lpstr>
      <vt:lpstr>  Введение в SQL  </vt:lpstr>
      <vt:lpstr>  Введение в SQL  </vt:lpstr>
      <vt:lpstr>  Введение в SQL  </vt:lpstr>
      <vt:lpstr>  Введение в SQL  </vt:lpstr>
      <vt:lpstr>  Введение в SQL  </vt:lpstr>
      <vt:lpstr>  Введение в SQL  </vt:lpstr>
      <vt:lpstr>  Введение в SQL  </vt:lpstr>
      <vt:lpstr>  Введение в SQL  </vt:lpstr>
      <vt:lpstr>  Введение в SQL  </vt:lpstr>
      <vt:lpstr>  Введение в SQL  </vt:lpstr>
      <vt:lpstr>  Введение в SQL  </vt:lpstr>
      <vt:lpstr>  Введение в SQL  </vt:lpstr>
      <vt:lpstr>  Введение в SQL  </vt:lpstr>
      <vt:lpstr>  Введение в SQL  </vt:lpstr>
      <vt:lpstr>  Введение в SQL  </vt:lpstr>
      <vt:lpstr>  Введение в SQL  </vt:lpstr>
      <vt:lpstr>  Введение в SQL  </vt:lpstr>
      <vt:lpstr>  Введение в SQL  </vt:lpstr>
      <vt:lpstr>  Введение в SQL  </vt:lpstr>
      <vt:lpstr>  Введение в SQL  </vt:lpstr>
      <vt:lpstr>  Введение в SQL  </vt:lpstr>
      <vt:lpstr>  Введение в SQL  </vt:lpstr>
      <vt:lpstr>       Введение в язык SQL  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*</dc:creator>
  <cp:lastModifiedBy>*</cp:lastModifiedBy>
  <cp:revision>21</cp:revision>
  <dcterms:created xsi:type="dcterms:W3CDTF">2025-07-02T23:25:11Z</dcterms:created>
  <dcterms:modified xsi:type="dcterms:W3CDTF">2025-10-30T21:45:31Z</dcterms:modified>
</cp:coreProperties>
</file>