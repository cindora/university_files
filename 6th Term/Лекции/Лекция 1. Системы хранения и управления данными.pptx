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8" r:id="rId1"/>
  </p:sldMasterIdLst>
  <p:notesMasterIdLst>
    <p:notesMasterId r:id="rId45"/>
  </p:notesMasterIdLst>
  <p:handoutMasterIdLst>
    <p:handoutMasterId r:id="rId46"/>
  </p:handoutMasterIdLst>
  <p:sldIdLst>
    <p:sldId id="256" r:id="rId2"/>
    <p:sldId id="257" r:id="rId3"/>
    <p:sldId id="293" r:id="rId4"/>
    <p:sldId id="331" r:id="rId5"/>
    <p:sldId id="294" r:id="rId6"/>
    <p:sldId id="295" r:id="rId7"/>
    <p:sldId id="296" r:id="rId8"/>
    <p:sldId id="316" r:id="rId9"/>
    <p:sldId id="317" r:id="rId10"/>
    <p:sldId id="318" r:id="rId11"/>
    <p:sldId id="332" r:id="rId12"/>
    <p:sldId id="333" r:id="rId13"/>
    <p:sldId id="299" r:id="rId14"/>
    <p:sldId id="300" r:id="rId15"/>
    <p:sldId id="302" r:id="rId16"/>
    <p:sldId id="305" r:id="rId17"/>
    <p:sldId id="304" r:id="rId18"/>
    <p:sldId id="303" r:id="rId19"/>
    <p:sldId id="315" r:id="rId20"/>
    <p:sldId id="306" r:id="rId21"/>
    <p:sldId id="307" r:id="rId22"/>
    <p:sldId id="301" r:id="rId23"/>
    <p:sldId id="308" r:id="rId24"/>
    <p:sldId id="309" r:id="rId25"/>
    <p:sldId id="310" r:id="rId26"/>
    <p:sldId id="311" r:id="rId27"/>
    <p:sldId id="312" r:id="rId28"/>
    <p:sldId id="313" r:id="rId29"/>
    <p:sldId id="314" r:id="rId30"/>
    <p:sldId id="319" r:id="rId31"/>
    <p:sldId id="321" r:id="rId32"/>
    <p:sldId id="322" r:id="rId33"/>
    <p:sldId id="320" r:id="rId34"/>
    <p:sldId id="323" r:id="rId35"/>
    <p:sldId id="330" r:id="rId36"/>
    <p:sldId id="324" r:id="rId37"/>
    <p:sldId id="325" r:id="rId38"/>
    <p:sldId id="326" r:id="rId39"/>
    <p:sldId id="327" r:id="rId40"/>
    <p:sldId id="328" r:id="rId41"/>
    <p:sldId id="329" r:id="rId42"/>
    <p:sldId id="291" r:id="rId43"/>
    <p:sldId id="292" r:id="rId4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9" d="100"/>
          <a:sy n="89" d="100"/>
        </p:scale>
        <p:origin x="-486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420FB-3134-4AFB-8A7B-878DBFF2DCBE}" type="datetimeFigureOut">
              <a:rPr lang="ru-RU" smtClean="0"/>
              <a:pPr/>
              <a:t>29.06.2025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ED46D9-5F95-4A4A-80A2-82906EEBF43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37027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79EBB6-9F3F-428A-8ADC-59A3E7EA496F}" type="datetimeFigureOut">
              <a:rPr lang="ru-RU" smtClean="0"/>
              <a:pPr/>
              <a:t>29.06.2025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33CF62-B1CD-4979-B168-490C6FC125C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604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ый треугольник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685800" y="1752603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grpSp>
        <p:nvGrpSpPr>
          <p:cNvPr id="2" name="Группа 1"/>
          <p:cNvGrpSpPr/>
          <p:nvPr/>
        </p:nvGrpSpPr>
        <p:grpSpPr>
          <a:xfrm>
            <a:off x="-3764" y="4953000"/>
            <a:ext cx="9147765" cy="1912088"/>
            <a:chOff x="-3765" y="4832896"/>
            <a:chExt cx="9147765" cy="2032192"/>
          </a:xfrm>
        </p:grpSpPr>
        <p:sp>
          <p:nvSpPr>
            <p:cNvPr id="7" name="Полилиния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Полилиния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Полилиния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Прямая соединительная линия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4E9F66B7-0ED7-4FE7-BE05-D223491A50A1}" type="datetime1">
              <a:rPr lang="ru-RU" smtClean="0"/>
              <a:pPr/>
              <a:t>29.06.2025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96BF5D9-4AA4-4C09-9DDB-303A09193B8E}" type="datetime1">
              <a:rPr lang="ru-RU" smtClean="0"/>
              <a:pPr/>
              <a:t>29.06.2025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97F000A-7D59-434E-AC61-119968F2B181}" type="datetime1">
              <a:rPr lang="ru-RU" smtClean="0"/>
              <a:pPr/>
              <a:t>29.06.2025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Нашивка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Нашивка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48133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48133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3064F22-7D92-426D-8147-B259567C005D}" type="datetime1">
              <a:rPr lang="ru-RU" smtClean="0"/>
              <a:pPr/>
              <a:t>29.06.2025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7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1444296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444296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107006A-42FB-4BC3-8D0B-713D278FD97D}" type="datetime1">
              <a:rPr lang="ru-RU" smtClean="0"/>
              <a:pPr/>
              <a:t>29.06.2025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CEFC4BB-C5DC-4A55-BF0D-F172948F6FC2}" type="datetime1">
              <a:rPr lang="ru-RU" smtClean="0"/>
              <a:pPr/>
              <a:t>29.06.2025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A4858C2-66E3-4491-95E8-5725A7BF1DCF}" type="datetime1">
              <a:rPr lang="ru-RU" smtClean="0"/>
              <a:pPr/>
              <a:t>29.06.2025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9F5AACCE-C039-4A73-A245-28F9A6C03767}" type="datetime1">
              <a:rPr lang="ru-RU" smtClean="0"/>
              <a:pPr/>
              <a:t>29.06.2025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8ECB7764-95B9-4A00-A493-B2AD17D5CC58}" type="datetime1">
              <a:rPr lang="ru-RU" smtClean="0"/>
              <a:pPr/>
              <a:t>29.06.2025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380073" y="6407946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1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Полилиния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Прямоугольный треугольник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-9237" y="5787740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Нашивка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Нашивка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481331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9B76A5B-76D6-43F4-92BC-16DA687A9C7B}" type="datetime1">
              <a:rPr lang="ru-RU" smtClean="0"/>
              <a:pPr/>
              <a:t>29.06.2025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44013" y="274642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0B88BDA-C263-49AF-85CF-10CFC68679A3}" type="datetime1">
              <a:rPr lang="ru-RU" smtClean="0"/>
              <a:pPr/>
              <a:t>29.06.2025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Полилиния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Прямоугольный треугольник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-9237" y="5787740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481330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F7CC6EA0-FA36-4025-95B0-95641559ED04}" type="datetime1">
              <a:rPr lang="ru-RU" smtClean="0"/>
              <a:pPr/>
              <a:t>29.06.2025</a:t>
            </a:fld>
            <a:endParaRPr lang="ru-RU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4380073" y="6407946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8647272" y="6407946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477C6408-58B5-49CB-97DF-A65222F75CBE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hf hd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 descr="фон ИМ-2.jpg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7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80975" y="0"/>
            <a:ext cx="9224976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55576" y="332659"/>
            <a:ext cx="7772400" cy="1008110"/>
          </a:xfrm>
        </p:spPr>
        <p:txBody>
          <a:bodyPr>
            <a:normAutofit/>
          </a:bodyPr>
          <a:lstStyle/>
          <a:p>
            <a:pPr algn="ctr"/>
            <a:r>
              <a:rPr lang="ru-RU" sz="5400" smtClean="0">
                <a:solidFill>
                  <a:schemeClr val="bg2"/>
                </a:solidFill>
              </a:rPr>
              <a:t>Лекция 1</a:t>
            </a:r>
            <a:endParaRPr lang="ru-RU" sz="5400" dirty="0">
              <a:solidFill>
                <a:schemeClr val="bg2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31639" y="1700808"/>
            <a:ext cx="6811925" cy="4320480"/>
          </a:xfrm>
        </p:spPr>
        <p:txBody>
          <a:bodyPr>
            <a:normAutofit/>
          </a:bodyPr>
          <a:lstStyle/>
          <a:p>
            <a:pPr algn="ctr"/>
            <a:r>
              <a:rPr lang="ru-RU" sz="5400" b="1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Системы хранения и  </a:t>
            </a:r>
            <a:r>
              <a:rPr lang="ru-RU" sz="5400" b="1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управления данными</a:t>
            </a:r>
            <a:endParaRPr lang="ru-RU" sz="5400" b="1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7143131" y="6488668"/>
            <a:ext cx="20008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ru-RU" b="1" dirty="0" smtClean="0">
                <a:solidFill>
                  <a:srgbClr val="FFC000"/>
                </a:solidFill>
              </a:rPr>
              <a:t>©Монахов В.И.</a:t>
            </a:r>
            <a:endParaRPr lang="ru-RU" dirty="0">
              <a:solidFill>
                <a:srgbClr val="FFC000"/>
              </a:solidFill>
            </a:endParaRPr>
          </a:p>
        </p:txBody>
      </p:sp>
      <p:pic>
        <p:nvPicPr>
          <p:cNvPr id="7" name="Рисунок 6" descr="Каф АСОИиУ логотип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-108520" y="0"/>
            <a:ext cx="1525124" cy="13407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251520" y="1340196"/>
            <a:ext cx="8640960" cy="3528964"/>
          </a:xfrm>
        </p:spPr>
        <p:txBody>
          <a:bodyPr rtlCol="0">
            <a:noAutofit/>
          </a:bodyPr>
          <a:lstStyle/>
          <a:p>
            <a:pPr marL="182563" indent="-6350" algn="just">
              <a:buNone/>
              <a:defRPr/>
            </a:pPr>
            <a:r>
              <a:rPr lang="ru-RU" sz="2800"/>
              <a:t>С самого начала развития ВТ образовались </a:t>
            </a:r>
            <a:r>
              <a:rPr lang="ru-RU" sz="2800" smtClean="0"/>
              <a:t>2 </a:t>
            </a:r>
            <a:r>
              <a:rPr lang="ru-RU" sz="2800"/>
              <a:t>основных направления ее использования</a:t>
            </a:r>
            <a:r>
              <a:rPr lang="ru-RU" sz="2800" smtClean="0"/>
              <a:t>:</a:t>
            </a:r>
          </a:p>
          <a:p>
            <a:pPr marL="536575" lvl="0" indent="-427038" algn="just">
              <a:spcBef>
                <a:spcPts val="1200"/>
              </a:spcBef>
              <a:buClrTx/>
              <a:buSzPct val="100000"/>
              <a:buFont typeface="Wingdings" panose="05000000000000000000" pitchFamily="2" charset="2"/>
              <a:buChar char="q"/>
            </a:pPr>
            <a:r>
              <a:rPr lang="ru-RU" sz="2800" smtClean="0"/>
              <a:t>выполнение </a:t>
            </a:r>
            <a:r>
              <a:rPr lang="ru-RU" sz="2800" b="1" u="sng"/>
              <a:t>численных расчетов</a:t>
            </a:r>
            <a:r>
              <a:rPr lang="ru-RU" sz="2800"/>
              <a:t>, которые слишком долго или вообще невозможно производить </a:t>
            </a:r>
            <a:r>
              <a:rPr lang="ru-RU" sz="2800" smtClean="0"/>
              <a:t>вручную </a:t>
            </a:r>
            <a:endParaRPr lang="ru-RU" sz="2800"/>
          </a:p>
          <a:p>
            <a:pPr marL="536575" indent="-427038" algn="just">
              <a:spcBef>
                <a:spcPts val="1200"/>
              </a:spcBef>
              <a:buClrTx/>
              <a:buSzPct val="100000"/>
              <a:buFont typeface="Wingdings" panose="05000000000000000000" pitchFamily="2" charset="2"/>
              <a:buChar char="q"/>
            </a:pPr>
            <a:r>
              <a:rPr lang="ru-RU" sz="2800"/>
              <a:t>использование </a:t>
            </a:r>
            <a:r>
              <a:rPr lang="ru-RU" sz="2800" smtClean="0"/>
              <a:t>ВТ </a:t>
            </a:r>
            <a:r>
              <a:rPr lang="ru-RU" sz="2800"/>
              <a:t>в автоматизированных </a:t>
            </a:r>
            <a:r>
              <a:rPr lang="ru-RU" sz="2800" b="1" u="sng"/>
              <a:t>информационных системах</a:t>
            </a:r>
            <a:r>
              <a:rPr lang="ru-RU" sz="2800" b="1"/>
              <a:t>.</a:t>
            </a:r>
            <a:r>
              <a:rPr lang="ru-RU" sz="2800"/>
              <a:t> Это системы обработки данных </a:t>
            </a:r>
            <a:r>
              <a:rPr lang="ru-RU" sz="2800" smtClean="0"/>
              <a:t> и управления (АСОИиУ</a:t>
            </a:r>
            <a:r>
              <a:rPr lang="ru-RU" sz="2800"/>
              <a:t>)</a:t>
            </a:r>
            <a:endParaRPr lang="ru-RU" sz="2800" smtClean="0"/>
          </a:p>
          <a:p>
            <a:pPr marL="365125" indent="-6350" algn="just">
              <a:spcBef>
                <a:spcPts val="1200"/>
              </a:spcBef>
              <a:buNone/>
              <a:defRPr/>
            </a:pPr>
            <a:endParaRPr lang="ru-RU" sz="28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83458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Лекция </a:t>
            </a: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1. С</a:t>
            </a:r>
            <a:r>
              <a:rPr lang="ru-RU" sz="2000" dirty="0" smtClean="0">
                <a:solidFill>
                  <a:schemeClr val="tx1"/>
                </a:solidFill>
              </a:rPr>
              <a:t>истемы хранения и управления данными</a:t>
            </a:r>
            <a:r>
              <a:rPr lang="ru-RU" sz="2000" dirty="0" smtClean="0">
                <a:solidFill>
                  <a:schemeClr val="tx1"/>
                </a:solidFill>
              </a:rPr>
              <a:t/>
            </a:r>
            <a:br>
              <a:rPr lang="ru-RU" sz="2000" dirty="0" smtClean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251520" y="6309320"/>
            <a:ext cx="365760" cy="365125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0" y="406405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2 направления использования ВТ</a:t>
            </a:r>
            <a:endParaRPr lang="ru-RU" sz="360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251520" y="1340196"/>
            <a:ext cx="8640960" cy="3528964"/>
          </a:xfrm>
        </p:spPr>
        <p:txBody>
          <a:bodyPr rtlCol="0">
            <a:noAutofit/>
          </a:bodyPr>
          <a:lstStyle/>
          <a:p>
            <a:pPr marL="109728" indent="0" algn="just">
              <a:buNone/>
            </a:pPr>
            <a:r>
              <a:rPr lang="ru-RU" sz="2800" dirty="0"/>
              <a:t>В </a:t>
            </a:r>
            <a:r>
              <a:rPr lang="ru-RU" sz="2800" dirty="0" smtClean="0"/>
              <a:t>широком </a:t>
            </a:r>
            <a:r>
              <a:rPr lang="ru-RU" sz="2800" dirty="0"/>
              <a:t>смысле информационная </a:t>
            </a:r>
            <a:r>
              <a:rPr lang="ru-RU" sz="2800" dirty="0" smtClean="0"/>
              <a:t>система (ИС) </a:t>
            </a:r>
            <a:r>
              <a:rPr lang="ru-RU" sz="2800" b="1" dirty="0"/>
              <a:t>представляет собой программный комплекс, функции которого </a:t>
            </a:r>
            <a:r>
              <a:rPr lang="ru-RU" sz="2800" dirty="0"/>
              <a:t>состоят в:</a:t>
            </a:r>
          </a:p>
          <a:p>
            <a:pPr marL="624078" lvl="0" indent="-514350" algn="just">
              <a:buClrTx/>
              <a:buSzPct val="100000"/>
              <a:buFont typeface="+mj-lt"/>
              <a:buAutoNum type="arabicParenR"/>
            </a:pPr>
            <a:r>
              <a:rPr lang="ru-RU" sz="2800" dirty="0"/>
              <a:t>поддержке надежного </a:t>
            </a:r>
            <a:r>
              <a:rPr lang="ru-RU" sz="2800" b="1" dirty="0"/>
              <a:t>хранения</a:t>
            </a:r>
            <a:r>
              <a:rPr lang="ru-RU" sz="2800" dirty="0"/>
              <a:t> </a:t>
            </a:r>
            <a:r>
              <a:rPr lang="ru-RU" sz="2800" b="1" dirty="0"/>
              <a:t>информации</a:t>
            </a:r>
            <a:r>
              <a:rPr lang="ru-RU" sz="2800" dirty="0"/>
              <a:t> в памяти </a:t>
            </a:r>
            <a:r>
              <a:rPr lang="ru-RU" sz="2800" dirty="0" smtClean="0"/>
              <a:t>компьютера </a:t>
            </a:r>
            <a:endParaRPr lang="ru-RU" sz="2800" dirty="0"/>
          </a:p>
          <a:p>
            <a:pPr marL="624078" lvl="0" indent="-514350" algn="just">
              <a:buClrTx/>
              <a:buSzPct val="100000"/>
              <a:buFont typeface="+mj-lt"/>
              <a:buAutoNum type="arabicParenR"/>
            </a:pPr>
            <a:r>
              <a:rPr lang="ru-RU" sz="2800" dirty="0"/>
              <a:t>выполнении </a:t>
            </a:r>
            <a:r>
              <a:rPr lang="ru-RU" sz="2800" b="1" dirty="0" smtClean="0"/>
              <a:t>преобразований </a:t>
            </a:r>
            <a:r>
              <a:rPr lang="ru-RU" sz="2800" b="1" dirty="0"/>
              <a:t>информации</a:t>
            </a:r>
            <a:r>
              <a:rPr lang="ru-RU" sz="2800" dirty="0"/>
              <a:t> </a:t>
            </a:r>
            <a:r>
              <a:rPr lang="ru-RU" sz="2800" dirty="0" smtClean="0"/>
              <a:t>(вычислений), </a:t>
            </a:r>
            <a:r>
              <a:rPr lang="ru-RU" sz="2800" dirty="0"/>
              <a:t>специфических для </a:t>
            </a:r>
            <a:r>
              <a:rPr lang="ru-RU" sz="2800" dirty="0" smtClean="0"/>
              <a:t>конкретной </a:t>
            </a:r>
            <a:r>
              <a:rPr lang="ru-RU" sz="2800" dirty="0"/>
              <a:t>предметной </a:t>
            </a:r>
            <a:r>
              <a:rPr lang="ru-RU" sz="2800" dirty="0" smtClean="0"/>
              <a:t>области</a:t>
            </a:r>
            <a:endParaRPr lang="ru-RU" sz="2800" dirty="0"/>
          </a:p>
          <a:p>
            <a:pPr marL="624078" indent="-514350" algn="just">
              <a:buClrTx/>
              <a:buSzPct val="100000"/>
              <a:buFont typeface="+mj-lt"/>
              <a:buAutoNum type="arabicParenR"/>
            </a:pPr>
            <a:r>
              <a:rPr lang="ru-RU" sz="2800" dirty="0"/>
              <a:t>предоставлении пользователям удобного и легкого в освоении </a:t>
            </a:r>
            <a:r>
              <a:rPr lang="ru-RU" sz="2800" b="1" dirty="0"/>
              <a:t>интерфейса</a:t>
            </a:r>
            <a:endParaRPr lang="ru-RU" sz="28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83458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Лекция </a:t>
            </a: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1.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С</a:t>
            </a:r>
            <a:r>
              <a:rPr lang="ru-RU" sz="2000" dirty="0">
                <a:solidFill>
                  <a:schemeClr val="tx1"/>
                </a:solidFill>
              </a:rPr>
              <a:t>истемы хранения и управления данными</a:t>
            </a:r>
            <a:r>
              <a:rPr lang="ru-RU" sz="2000" dirty="0" smtClean="0">
                <a:solidFill>
                  <a:schemeClr val="tx1"/>
                </a:solidFill>
              </a:rPr>
              <a:t/>
            </a:r>
            <a:br>
              <a:rPr lang="ru-RU" sz="2000" dirty="0" smtClean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251520" y="6309320"/>
            <a:ext cx="365760" cy="365125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0" y="406405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Понятие информационной системы</a:t>
            </a:r>
            <a:endParaRPr lang="ru-RU" sz="360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72407916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4000" b="1">
                <a:latin typeface="Arial" pitchFamily="34" charset="0"/>
                <a:cs typeface="Arial" pitchFamily="34" charset="0"/>
              </a:rPr>
              <a:t>Рост объемов данных</a:t>
            </a:r>
            <a:endParaRPr lang="ru-RU" sz="400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400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400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4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Лекция </a:t>
            </a: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1.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С</a:t>
            </a:r>
            <a:r>
              <a:rPr lang="ru-RU" sz="2000" dirty="0">
                <a:solidFill>
                  <a:schemeClr val="tx1"/>
                </a:solidFill>
              </a:rPr>
              <a:t>истемы хранения и управления данными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339752" y="6093296"/>
            <a:ext cx="6804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ru-RU" sz="2400" dirty="0"/>
              <a:t>1 </a:t>
            </a:r>
            <a:r>
              <a:rPr lang="ru-RU" sz="2400" dirty="0" err="1"/>
              <a:t>зетабайт</a:t>
            </a:r>
            <a:r>
              <a:rPr lang="ru-RU" sz="2400" dirty="0"/>
              <a:t> = 2</a:t>
            </a:r>
            <a:r>
              <a:rPr lang="ru-RU" sz="2400" baseline="30000" dirty="0"/>
              <a:t>70</a:t>
            </a:r>
            <a:r>
              <a:rPr lang="ru-RU" sz="2400" dirty="0"/>
              <a:t> байт </a:t>
            </a:r>
            <a:r>
              <a:rPr lang="ru-RU" sz="2400" dirty="0">
                <a:sym typeface="Symbol"/>
              </a:rPr>
              <a:t></a:t>
            </a:r>
            <a:r>
              <a:rPr lang="ru-RU" sz="2400" dirty="0"/>
              <a:t> 10</a:t>
            </a:r>
            <a:r>
              <a:rPr lang="ru-RU" sz="2400" baseline="30000" dirty="0"/>
              <a:t>21</a:t>
            </a:r>
            <a:r>
              <a:rPr lang="ru-RU" sz="2400" dirty="0"/>
              <a:t> байт</a:t>
            </a:r>
            <a:r>
              <a:rPr lang="ru-RU" sz="2400" dirty="0">
                <a:sym typeface="Symbol"/>
              </a:rPr>
              <a:t> </a:t>
            </a:r>
            <a:r>
              <a:rPr lang="ru-RU" sz="2400" dirty="0"/>
              <a:t> 10</a:t>
            </a:r>
            <a:r>
              <a:rPr lang="ru-RU" sz="2400" baseline="30000" dirty="0"/>
              <a:t>12</a:t>
            </a:r>
            <a:r>
              <a:rPr lang="ru-RU" sz="2400" dirty="0"/>
              <a:t> Гб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354" y="1124744"/>
            <a:ext cx="7979102" cy="44573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47179" y="5582126"/>
            <a:ext cx="31887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/>
              <a:t>Источник  </a:t>
            </a:r>
            <a:r>
              <a:rPr lang="en-US" sz="1600" b="1">
                <a:solidFill>
                  <a:srgbClr val="0070C0"/>
                </a:solidFill>
              </a:rPr>
              <a:t>Statista</a:t>
            </a:r>
            <a:endParaRPr lang="ru-RU" sz="1600" b="1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1923975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251520" y="1052164"/>
            <a:ext cx="8712968" cy="3528964"/>
          </a:xfrm>
        </p:spPr>
        <p:txBody>
          <a:bodyPr rtlCol="0">
            <a:noAutofit/>
          </a:bodyPr>
          <a:lstStyle/>
          <a:p>
            <a:pPr marL="536575" indent="-427038" algn="just">
              <a:buClrTx/>
              <a:buSzPct val="100000"/>
              <a:buFont typeface="Wingdings" panose="05000000000000000000" pitchFamily="2" charset="2"/>
              <a:buChar char="q"/>
            </a:pPr>
            <a:r>
              <a:rPr lang="ru-RU" sz="2600" b="1" dirty="0" smtClean="0"/>
              <a:t>Объемы </a:t>
            </a:r>
            <a:r>
              <a:rPr lang="ru-RU" sz="2600" b="1" dirty="0"/>
              <a:t>информации</a:t>
            </a:r>
            <a:r>
              <a:rPr lang="ru-RU" sz="2600" dirty="0"/>
              <a:t>, с которыми приходится иметь дело </a:t>
            </a:r>
            <a:r>
              <a:rPr lang="ru-RU" sz="2600" dirty="0" smtClean="0"/>
              <a:t>в ИС, </a:t>
            </a:r>
            <a:r>
              <a:rPr lang="ru-RU" sz="2600" dirty="0"/>
              <a:t>достаточно </a:t>
            </a:r>
            <a:r>
              <a:rPr lang="ru-RU" sz="2600" dirty="0">
                <a:solidFill>
                  <a:srgbClr val="0070C0"/>
                </a:solidFill>
              </a:rPr>
              <a:t>велики</a:t>
            </a:r>
            <a:r>
              <a:rPr lang="ru-RU" sz="2600" dirty="0"/>
              <a:t>, </a:t>
            </a:r>
            <a:r>
              <a:rPr lang="ru-RU" sz="2600" dirty="0" smtClean="0"/>
              <a:t>и </a:t>
            </a:r>
            <a:r>
              <a:rPr lang="ru-RU" sz="2600" b="1" dirty="0"/>
              <a:t>информация</a:t>
            </a:r>
            <a:r>
              <a:rPr lang="ru-RU" sz="2600" dirty="0"/>
              <a:t> имеет </a:t>
            </a:r>
            <a:r>
              <a:rPr lang="ru-RU" sz="2600" dirty="0" smtClean="0">
                <a:solidFill>
                  <a:srgbClr val="0070C0"/>
                </a:solidFill>
              </a:rPr>
              <a:t>сложную структуру </a:t>
            </a:r>
          </a:p>
          <a:p>
            <a:pPr marL="536575" indent="-427038" algn="just">
              <a:buClrTx/>
              <a:buSzPct val="100000"/>
              <a:buFont typeface="Wingdings" panose="05000000000000000000" pitchFamily="2" charset="2"/>
              <a:buChar char="q"/>
            </a:pPr>
            <a:r>
              <a:rPr lang="ru-RU" sz="2600" b="1" dirty="0"/>
              <a:t>Надежное</a:t>
            </a:r>
            <a:r>
              <a:rPr lang="ru-RU" sz="2600" dirty="0"/>
              <a:t> и </a:t>
            </a:r>
            <a:r>
              <a:rPr lang="ru-RU" sz="2600" b="1" dirty="0"/>
              <a:t>долговременное</a:t>
            </a:r>
            <a:r>
              <a:rPr lang="ru-RU" sz="2600" dirty="0"/>
              <a:t> хранение информации возможно только при наличии запоминающих устройств:</a:t>
            </a:r>
          </a:p>
          <a:p>
            <a:pPr marL="806450" indent="-363538">
              <a:spcBef>
                <a:spcPts val="200"/>
              </a:spcBef>
              <a:buNone/>
            </a:pPr>
            <a:r>
              <a:rPr lang="ru-RU" sz="2600" dirty="0" smtClean="0"/>
              <a:t>1</a:t>
            </a:r>
            <a:r>
              <a:rPr lang="ru-RU" sz="2600" dirty="0"/>
              <a:t>) </a:t>
            </a:r>
            <a:r>
              <a:rPr lang="ru-RU" sz="2500" b="1" i="1" dirty="0"/>
              <a:t>сохраняющих информацию</a:t>
            </a:r>
            <a:r>
              <a:rPr lang="ru-RU" sz="2500" dirty="0"/>
              <a:t> </a:t>
            </a:r>
            <a:r>
              <a:rPr lang="ru-RU" sz="2500" dirty="0" smtClean="0"/>
              <a:t> после </a:t>
            </a:r>
            <a:r>
              <a:rPr lang="ru-RU" sz="2500" dirty="0"/>
              <a:t>выключения электрического питания </a:t>
            </a:r>
            <a:r>
              <a:rPr lang="ru-RU" sz="2500" dirty="0" smtClean="0"/>
              <a:t> </a:t>
            </a:r>
          </a:p>
          <a:p>
            <a:pPr marL="806450" indent="-363538">
              <a:spcBef>
                <a:spcPts val="200"/>
              </a:spcBef>
              <a:buNone/>
            </a:pPr>
            <a:r>
              <a:rPr lang="ru-RU" sz="2500" dirty="0" smtClean="0"/>
              <a:t>2</a:t>
            </a:r>
            <a:r>
              <a:rPr lang="ru-RU" sz="2500" dirty="0"/>
              <a:t>) имеющих </a:t>
            </a:r>
            <a:r>
              <a:rPr lang="ru-RU" sz="2500" dirty="0" smtClean="0"/>
              <a:t>высокую </a:t>
            </a:r>
            <a:r>
              <a:rPr lang="ru-RU" sz="2500" b="1" i="1" dirty="0"/>
              <a:t>скорость выполнения</a:t>
            </a:r>
            <a:r>
              <a:rPr lang="ru-RU" sz="2500" dirty="0"/>
              <a:t> </a:t>
            </a:r>
            <a:r>
              <a:rPr lang="ru-RU" sz="2500" b="1" i="1" dirty="0" smtClean="0"/>
              <a:t>операций</a:t>
            </a:r>
            <a:r>
              <a:rPr lang="ru-RU" sz="2500" dirty="0" smtClean="0"/>
              <a:t> чтения/записи</a:t>
            </a:r>
          </a:p>
          <a:p>
            <a:pPr marL="806450" indent="-363538">
              <a:spcBef>
                <a:spcPts val="200"/>
              </a:spcBef>
              <a:buNone/>
            </a:pPr>
            <a:r>
              <a:rPr lang="ru-RU" sz="2500" dirty="0" smtClean="0"/>
              <a:t>3) позволяющих </a:t>
            </a:r>
            <a:r>
              <a:rPr lang="ru-RU" sz="2500" b="1" i="1" dirty="0" smtClean="0"/>
              <a:t>хранить</a:t>
            </a:r>
            <a:r>
              <a:rPr lang="ru-RU" sz="2500" dirty="0" smtClean="0"/>
              <a:t> </a:t>
            </a:r>
            <a:r>
              <a:rPr lang="ru-RU" sz="2500" b="1" i="1" dirty="0" smtClean="0"/>
              <a:t>большие объемы</a:t>
            </a:r>
            <a:r>
              <a:rPr lang="ru-RU" sz="2500" dirty="0" smtClean="0"/>
              <a:t>  данных</a:t>
            </a: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83458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Лекция </a:t>
            </a: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1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С</a:t>
            </a:r>
            <a:r>
              <a:rPr lang="ru-RU" sz="2000" dirty="0">
                <a:solidFill>
                  <a:schemeClr val="tx1"/>
                </a:solidFill>
              </a:rPr>
              <a:t>истемы хранения и управления данными</a:t>
            </a:r>
            <a:r>
              <a:rPr lang="ru-RU" sz="2000" dirty="0" smtClean="0">
                <a:solidFill>
                  <a:schemeClr val="tx1"/>
                </a:solidFill>
              </a:rPr>
              <a:t/>
            </a:r>
            <a:br>
              <a:rPr lang="ru-RU" sz="2000" dirty="0" smtClean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251520" y="6309320"/>
            <a:ext cx="365760" cy="365125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5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0" y="406405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Функция хранения данных</a:t>
            </a:r>
            <a:endParaRPr lang="ru-RU" sz="360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84380982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251520" y="1052736"/>
            <a:ext cx="8640960" cy="3528964"/>
          </a:xfrm>
        </p:spPr>
        <p:txBody>
          <a:bodyPr rtlCol="0">
            <a:noAutofit/>
          </a:bodyPr>
          <a:lstStyle/>
          <a:p>
            <a:pPr marL="109728" indent="0" algn="just">
              <a:buNone/>
            </a:pPr>
            <a:r>
              <a:rPr lang="ru-RU" sz="2800" dirty="0"/>
              <a:t>С появлением </a:t>
            </a:r>
            <a:r>
              <a:rPr lang="ru-RU" sz="2800" b="1" dirty="0"/>
              <a:t>магнитных дисков</a:t>
            </a:r>
            <a:r>
              <a:rPr lang="ru-RU" sz="2800" dirty="0"/>
              <a:t> началась история систем управления данными во внешней памяти. </a:t>
            </a:r>
            <a:endParaRPr lang="ru-RU" sz="2800" dirty="0" smtClean="0"/>
          </a:p>
          <a:p>
            <a:pPr marL="109728" indent="0" algn="just">
              <a:buNone/>
            </a:pPr>
            <a:r>
              <a:rPr lang="ru-RU" sz="2800" dirty="0" smtClean="0"/>
              <a:t>Эти </a:t>
            </a:r>
            <a:r>
              <a:rPr lang="ru-RU" sz="2800" dirty="0"/>
              <a:t>устройства внешней </a:t>
            </a:r>
            <a:r>
              <a:rPr lang="ru-RU" sz="2800" dirty="0" smtClean="0"/>
              <a:t>памяти: </a:t>
            </a:r>
          </a:p>
          <a:p>
            <a:pPr marL="536575" indent="-255588" algn="just">
              <a:buClrTx/>
              <a:buSzPct val="100000"/>
              <a:buFont typeface="Wingdings" panose="05000000000000000000" pitchFamily="2" charset="2"/>
              <a:buChar char="§"/>
            </a:pPr>
            <a:r>
              <a:rPr lang="ru-RU" sz="2800" dirty="0" smtClean="0"/>
              <a:t>обладают </a:t>
            </a:r>
            <a:r>
              <a:rPr lang="ru-RU" sz="2800" dirty="0"/>
              <a:t>большой </a:t>
            </a:r>
            <a:r>
              <a:rPr lang="ru-RU" sz="2800" b="1" dirty="0"/>
              <a:t>емкостью</a:t>
            </a:r>
            <a:r>
              <a:rPr lang="ru-RU" sz="2800" dirty="0"/>
              <a:t> </a:t>
            </a:r>
            <a:endParaRPr lang="ru-RU" sz="2800" dirty="0" smtClean="0"/>
          </a:p>
          <a:p>
            <a:pPr marL="536575" indent="-255588" algn="just">
              <a:buClrTx/>
              <a:buSzPct val="100000"/>
              <a:buFont typeface="Wingdings" panose="05000000000000000000" pitchFamily="2" charset="2"/>
              <a:buChar char="§"/>
            </a:pPr>
            <a:r>
              <a:rPr lang="ru-RU" sz="2800" dirty="0" smtClean="0"/>
              <a:t>обеспечивают необходимую </a:t>
            </a:r>
            <a:r>
              <a:rPr lang="ru-RU" sz="2800" b="1" dirty="0"/>
              <a:t>скорость доступа</a:t>
            </a:r>
            <a:r>
              <a:rPr lang="ru-RU" sz="2800" dirty="0"/>
              <a:t> к данным в режиме произвольной </a:t>
            </a:r>
            <a:r>
              <a:rPr lang="ru-RU" sz="2800" dirty="0" smtClean="0"/>
              <a:t>выборки</a:t>
            </a:r>
          </a:p>
          <a:p>
            <a:pPr marL="536575" indent="-255588" algn="just">
              <a:buClrTx/>
              <a:buSzPct val="100000"/>
              <a:buFont typeface="Wingdings" panose="05000000000000000000" pitchFamily="2" charset="2"/>
              <a:buChar char="§"/>
            </a:pPr>
            <a:r>
              <a:rPr lang="ru-RU" sz="2800" dirty="0" smtClean="0"/>
              <a:t>допускают возможность наращивания объема памяти для ведения больших архивов данных</a:t>
            </a: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83458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Лекция </a:t>
            </a: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1.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С</a:t>
            </a:r>
            <a:r>
              <a:rPr lang="ru-RU" sz="2000" dirty="0">
                <a:solidFill>
                  <a:schemeClr val="tx1"/>
                </a:solidFill>
              </a:rPr>
              <a:t>истемы хранения и управления данными</a:t>
            </a:r>
            <a:r>
              <a:rPr lang="ru-RU" sz="2000" dirty="0" smtClean="0">
                <a:solidFill>
                  <a:schemeClr val="tx1"/>
                </a:solidFill>
              </a:rPr>
              <a:t/>
            </a:r>
            <a:br>
              <a:rPr lang="ru-RU" sz="2000" dirty="0" smtClean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251520" y="6309320"/>
            <a:ext cx="365760" cy="365125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6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0" y="406405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Внешняя память</a:t>
            </a:r>
            <a:endParaRPr lang="ru-RU" sz="360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63391352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251520" y="1052736"/>
            <a:ext cx="8640960" cy="3528964"/>
          </a:xfrm>
        </p:spPr>
        <p:txBody>
          <a:bodyPr rtlCol="0">
            <a:noAutofit/>
          </a:bodyPr>
          <a:lstStyle/>
          <a:p>
            <a:pPr marL="109728" indent="0">
              <a:buNone/>
            </a:pPr>
            <a:r>
              <a:rPr lang="ru-RU" sz="2800"/>
              <a:t>Автоматизацию некоторого объекта можно представить в виде следующей схемы</a:t>
            </a:r>
            <a:endParaRPr lang="ru-RU" sz="2800" smtClean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83458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Лекция </a:t>
            </a: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1.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С</a:t>
            </a:r>
            <a:r>
              <a:rPr lang="ru-RU" sz="2000" dirty="0">
                <a:solidFill>
                  <a:schemeClr val="tx1"/>
                </a:solidFill>
              </a:rPr>
              <a:t>истемы хранения и управления данными</a:t>
            </a:r>
            <a:r>
              <a:rPr lang="ru-RU" sz="2000" dirty="0" smtClean="0">
                <a:solidFill>
                  <a:schemeClr val="tx1"/>
                </a:solidFill>
              </a:rPr>
              <a:t/>
            </a:r>
            <a:br>
              <a:rPr lang="ru-RU" sz="2000" dirty="0" smtClean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251520" y="6309320"/>
            <a:ext cx="365760" cy="365125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7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0" y="406405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Процесс автоматизации</a:t>
            </a:r>
            <a:endParaRPr lang="ru-RU" sz="3600">
              <a:latin typeface="+mj-lt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276872"/>
            <a:ext cx="744855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51520" y="3789040"/>
            <a:ext cx="8784976" cy="1431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86050" indent="-2686050">
              <a:spcBef>
                <a:spcPts val="1800"/>
              </a:spcBef>
            </a:pPr>
            <a:r>
              <a:rPr lang="ru-RU" sz="2400" dirty="0" smtClean="0"/>
              <a:t>Информация - </a:t>
            </a:r>
            <a:r>
              <a:rPr lang="ru-RU" sz="2400" dirty="0"/>
              <a:t>представления людей </a:t>
            </a:r>
            <a:r>
              <a:rPr lang="ru-RU" sz="2400" dirty="0" smtClean="0"/>
              <a:t>о </a:t>
            </a:r>
            <a:r>
              <a:rPr lang="ru-RU" sz="2400" dirty="0"/>
              <a:t>реальном мире</a:t>
            </a:r>
            <a:r>
              <a:rPr lang="ru-RU" sz="2400" dirty="0" smtClean="0"/>
              <a:t> </a:t>
            </a:r>
          </a:p>
          <a:p>
            <a:pPr marL="2686050" indent="-2686050">
              <a:spcBef>
                <a:spcPts val="1800"/>
              </a:spcBef>
            </a:pPr>
            <a:r>
              <a:rPr lang="ru-RU" sz="2400" dirty="0" smtClean="0"/>
              <a:t>Информационные системы – используют информацию в целях управления 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694200526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2808312" y="1556220"/>
            <a:ext cx="6084168" cy="3528964"/>
          </a:xfrm>
        </p:spPr>
        <p:txBody>
          <a:bodyPr rtlCol="0">
            <a:noAutofit/>
          </a:bodyPr>
          <a:lstStyle/>
          <a:p>
            <a:pPr marL="450850" indent="-450850" algn="just">
              <a:buClrTx/>
              <a:buSzPct val="100000"/>
              <a:buFont typeface="Wingdings" panose="05000000000000000000" pitchFamily="2" charset="2"/>
              <a:buChar char="q"/>
            </a:pPr>
            <a:r>
              <a:rPr lang="ru-RU" sz="2400" dirty="0"/>
              <a:t>Элементы реального мира, информацию о которых мы получаем, называют </a:t>
            </a:r>
            <a:r>
              <a:rPr lang="ru-RU" sz="2400" b="1" dirty="0" smtClean="0"/>
              <a:t>объектами</a:t>
            </a:r>
            <a:r>
              <a:rPr lang="ru-RU" sz="2400" dirty="0" smtClean="0"/>
              <a:t> </a:t>
            </a:r>
            <a:endParaRPr lang="ru-RU" sz="2400" dirty="0"/>
          </a:p>
          <a:p>
            <a:pPr marL="450850" indent="-450850" algn="just">
              <a:buClrTx/>
              <a:buSzPct val="100000"/>
              <a:buFont typeface="Wingdings" panose="05000000000000000000" pitchFamily="2" charset="2"/>
              <a:buChar char="q"/>
            </a:pPr>
            <a:r>
              <a:rPr lang="ru-RU" sz="2400" dirty="0"/>
              <a:t>Объекты могут быть: </a:t>
            </a:r>
          </a:p>
          <a:p>
            <a:pPr marL="715963" indent="-342900" algn="just">
              <a:buClrTx/>
              <a:buSzPct val="100000"/>
              <a:buFont typeface="Arial" panose="020B0604020202020204" pitchFamily="34" charset="0"/>
              <a:buChar char="•"/>
            </a:pPr>
            <a:r>
              <a:rPr lang="ru-RU" sz="2400" b="1" dirty="0"/>
              <a:t>материальными</a:t>
            </a:r>
            <a:r>
              <a:rPr lang="ru-RU" sz="2400" dirty="0"/>
              <a:t> (учащийся, продукт, город) </a:t>
            </a:r>
          </a:p>
          <a:p>
            <a:pPr marL="715963" indent="-342900" algn="just">
              <a:buClrTx/>
              <a:buSzPct val="100000"/>
              <a:buFont typeface="Arial" panose="020B0604020202020204" pitchFamily="34" charset="0"/>
              <a:buChar char="•"/>
            </a:pPr>
            <a:r>
              <a:rPr lang="ru-RU" sz="2400" b="1" dirty="0"/>
              <a:t>нематериальными</a:t>
            </a:r>
            <a:r>
              <a:rPr lang="ru-RU" sz="2400" dirty="0"/>
              <a:t> (заказ, налог)</a:t>
            </a:r>
          </a:p>
          <a:p>
            <a:pPr marL="450850" indent="-450850" algn="just">
              <a:buClrTx/>
              <a:buSzPct val="100000"/>
              <a:buFont typeface="Wingdings" panose="05000000000000000000" pitchFamily="2" charset="2"/>
              <a:buChar char="q"/>
            </a:pPr>
            <a:r>
              <a:rPr lang="ru-RU" sz="2400" dirty="0"/>
              <a:t>Объекты имеют различные </a:t>
            </a:r>
            <a:r>
              <a:rPr lang="ru-RU" sz="2400" b="1" dirty="0"/>
              <a:t>свойства</a:t>
            </a:r>
            <a:r>
              <a:rPr lang="ru-RU" sz="2400" dirty="0"/>
              <a:t> (фамилия, цвет, наименование, стоимость) </a:t>
            </a: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83458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Лекция </a:t>
            </a: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1.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С</a:t>
            </a:r>
            <a:r>
              <a:rPr lang="ru-RU" sz="2000" dirty="0">
                <a:solidFill>
                  <a:schemeClr val="tx1"/>
                </a:solidFill>
              </a:rPr>
              <a:t>истемы хранения и управления данными</a:t>
            </a:r>
            <a:r>
              <a:rPr lang="ru-RU" sz="2000" dirty="0" smtClean="0">
                <a:solidFill>
                  <a:schemeClr val="tx1"/>
                </a:solidFill>
              </a:rPr>
              <a:t/>
            </a:r>
            <a:br>
              <a:rPr lang="ru-RU" sz="2000" dirty="0" smtClean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251520" y="6309320"/>
            <a:ext cx="365760" cy="365125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8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0" y="406405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Этапы автоматизации</a:t>
            </a:r>
            <a:endParaRPr lang="ru-RU" sz="3600">
              <a:latin typeface="+mj-lt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523"/>
          <a:stretch/>
        </p:blipFill>
        <p:spPr bwMode="auto">
          <a:xfrm>
            <a:off x="251520" y="1196752"/>
            <a:ext cx="2102168" cy="3895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07479490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4932040" y="1806267"/>
            <a:ext cx="4211960" cy="1190685"/>
          </a:xfrm>
        </p:spPr>
        <p:txBody>
          <a:bodyPr rtlCol="0">
            <a:noAutofit/>
          </a:bodyPr>
          <a:lstStyle/>
          <a:p>
            <a:pPr marL="109728" indent="0">
              <a:buNone/>
            </a:pPr>
            <a:r>
              <a:rPr lang="ru-RU" sz="2400" dirty="0" smtClean="0"/>
              <a:t>Изучение и анализ предметной области позволяет выделить информационные объекты (</a:t>
            </a:r>
            <a:r>
              <a:rPr lang="ru-RU" sz="2400" b="1" dirty="0" smtClean="0"/>
              <a:t>сущности</a:t>
            </a:r>
            <a:r>
              <a:rPr lang="ru-RU" sz="2400" dirty="0" smtClean="0"/>
              <a:t>)        и их важные свойства (</a:t>
            </a:r>
            <a:r>
              <a:rPr lang="ru-RU" sz="2400" b="1" dirty="0" smtClean="0"/>
              <a:t>атрибуты</a:t>
            </a:r>
            <a:r>
              <a:rPr lang="ru-RU" sz="2400" dirty="0" smtClean="0"/>
              <a:t>)</a:t>
            </a: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83458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Лекция </a:t>
            </a: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1.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С</a:t>
            </a:r>
            <a:r>
              <a:rPr lang="ru-RU" sz="2000" dirty="0">
                <a:solidFill>
                  <a:schemeClr val="tx1"/>
                </a:solidFill>
              </a:rPr>
              <a:t>истемы хранения и управления данными</a:t>
            </a:r>
            <a:r>
              <a:rPr lang="ru-RU" sz="2000" dirty="0" smtClean="0">
                <a:solidFill>
                  <a:schemeClr val="tx1"/>
                </a:solidFill>
              </a:rPr>
              <a:t/>
            </a:r>
            <a:br>
              <a:rPr lang="ru-RU" sz="2000" dirty="0" smtClean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251520" y="6309320"/>
            <a:ext cx="365760" cy="365125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9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0" y="406405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Этапы автоматизации</a:t>
            </a:r>
            <a:endParaRPr lang="ru-RU" sz="3600">
              <a:latin typeface="+mj-lt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969"/>
          <a:stretch/>
        </p:blipFill>
        <p:spPr bwMode="auto">
          <a:xfrm>
            <a:off x="179513" y="1268760"/>
            <a:ext cx="1946468" cy="3664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11" r="34194"/>
          <a:stretch/>
        </p:blipFill>
        <p:spPr bwMode="auto">
          <a:xfrm>
            <a:off x="2732916" y="1196752"/>
            <a:ext cx="2055108" cy="3664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Стрелка вправо 1"/>
          <p:cNvSpPr/>
          <p:nvPr/>
        </p:nvSpPr>
        <p:spPr>
          <a:xfrm>
            <a:off x="2197989" y="3029118"/>
            <a:ext cx="501803" cy="3278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3756338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323528" y="4869160"/>
            <a:ext cx="8640960" cy="1296716"/>
          </a:xfrm>
        </p:spPr>
        <p:txBody>
          <a:bodyPr rtlCol="0">
            <a:noAutofit/>
          </a:bodyPr>
          <a:lstStyle/>
          <a:p>
            <a:pPr marL="109728" indent="0" algn="just">
              <a:spcBef>
                <a:spcPts val="600"/>
              </a:spcBef>
              <a:buNone/>
            </a:pPr>
            <a:r>
              <a:rPr lang="ru-RU" sz="2400"/>
              <a:t>При обработке данных в </a:t>
            </a:r>
            <a:r>
              <a:rPr lang="ru-RU" sz="2400" smtClean="0"/>
              <a:t>информационных </a:t>
            </a:r>
            <a:r>
              <a:rPr lang="ru-RU" sz="2400"/>
              <a:t>системах имеют дело с совокупностью однородных </a:t>
            </a:r>
            <a:r>
              <a:rPr lang="ru-RU" sz="2400" smtClean="0"/>
              <a:t>объектов (наборов данных).</a:t>
            </a:r>
            <a:endParaRPr lang="ru-RU" sz="2400"/>
          </a:p>
          <a:p>
            <a:pPr marL="109728" indent="0" algn="just">
              <a:spcBef>
                <a:spcPts val="600"/>
              </a:spcBef>
              <a:buNone/>
            </a:pPr>
            <a:r>
              <a:rPr lang="ru-RU" sz="2400" i="1"/>
              <a:t>      </a:t>
            </a:r>
            <a:r>
              <a:rPr lang="ru-RU" sz="2400" i="1" smtClean="0"/>
              <a:t>            Пример</a:t>
            </a:r>
            <a:r>
              <a:rPr lang="ru-RU" sz="2400"/>
              <a:t>.  Сотрудники одной  организации</a:t>
            </a:r>
            <a:endParaRPr lang="ru-RU" sz="2400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83458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Лекция </a:t>
            </a: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1.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С</a:t>
            </a:r>
            <a:r>
              <a:rPr lang="ru-RU" sz="2000" dirty="0">
                <a:solidFill>
                  <a:schemeClr val="tx1"/>
                </a:solidFill>
              </a:rPr>
              <a:t>истемы хранения и управления данными</a:t>
            </a:r>
            <a:r>
              <a:rPr lang="ru-RU" sz="2000" dirty="0" smtClean="0">
                <a:solidFill>
                  <a:schemeClr val="tx1"/>
                </a:solidFill>
              </a:rPr>
              <a:t/>
            </a:r>
            <a:br>
              <a:rPr lang="ru-RU" sz="2000" dirty="0" smtClean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251520" y="6309320"/>
            <a:ext cx="365760" cy="365125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10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0" y="406405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Этапы автоматизации</a:t>
            </a:r>
            <a:endParaRPr lang="ru-RU" sz="3600">
              <a:latin typeface="+mj-lt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006202"/>
            <a:ext cx="4743450" cy="379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20" y="987152"/>
            <a:ext cx="219075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Стрелка вправо 1"/>
          <p:cNvSpPr/>
          <p:nvPr/>
        </p:nvSpPr>
        <p:spPr>
          <a:xfrm>
            <a:off x="5076056" y="2964160"/>
            <a:ext cx="792088" cy="392832"/>
          </a:xfrm>
          <a:prstGeom prst="rightArrow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6437697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4000" b="1">
                <a:latin typeface="Arial" pitchFamily="34" charset="0"/>
                <a:cs typeface="Arial" pitchFamily="34" charset="0"/>
              </a:rPr>
              <a:t>Представление данных</a:t>
            </a:r>
            <a:endParaRPr lang="ru-RU" sz="400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400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400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11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Лекция 1. С</a:t>
            </a:r>
            <a:r>
              <a:rPr lang="ru-RU" sz="2000" dirty="0">
                <a:solidFill>
                  <a:schemeClr val="tx1"/>
                </a:solidFill>
              </a:rPr>
              <a:t>истемы хранения и управления данными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9512" y="1440353"/>
            <a:ext cx="8784976" cy="4385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ru-RU" sz="2400" dirty="0"/>
              <a:t>Прежде чем начинать анализ данных необходимо определить, как их </a:t>
            </a:r>
            <a:r>
              <a:rPr lang="ru-RU" sz="2400" b="1" dirty="0">
                <a:solidFill>
                  <a:srgbClr val="0070C0"/>
                </a:solidFill>
              </a:rPr>
              <a:t>накапливать</a:t>
            </a:r>
            <a:r>
              <a:rPr lang="ru-RU" sz="2400" dirty="0"/>
              <a:t> и </a:t>
            </a:r>
            <a:r>
              <a:rPr lang="ru-RU" sz="2400" b="1" dirty="0">
                <a:solidFill>
                  <a:srgbClr val="0070C0"/>
                </a:solidFill>
              </a:rPr>
              <a:t>хранить</a:t>
            </a:r>
            <a:r>
              <a:rPr lang="ru-RU" sz="2400" dirty="0"/>
              <a:t>, а также в каком виде выводить и </a:t>
            </a:r>
            <a:r>
              <a:rPr lang="ru-RU" sz="2400" b="1" dirty="0">
                <a:solidFill>
                  <a:srgbClr val="0070C0"/>
                </a:solidFill>
              </a:rPr>
              <a:t>представлять</a:t>
            </a:r>
            <a:r>
              <a:rPr lang="ru-RU" sz="2400" dirty="0"/>
              <a:t> данные.</a:t>
            </a:r>
          </a:p>
          <a:p>
            <a:pPr algn="just">
              <a:spcBef>
                <a:spcPts val="1200"/>
              </a:spcBef>
            </a:pPr>
            <a:r>
              <a:rPr lang="ru-RU" sz="2400" dirty="0"/>
              <a:t>Одним из первых инструментов представления и обработки данных стали </a:t>
            </a:r>
            <a:r>
              <a:rPr lang="ru-RU" sz="2400" b="1" dirty="0">
                <a:solidFill>
                  <a:srgbClr val="7030A0"/>
                </a:solidFill>
              </a:rPr>
              <a:t>таблицы</a:t>
            </a:r>
            <a:r>
              <a:rPr lang="ru-RU" sz="2400" dirty="0"/>
              <a:t> - гибкий и удобный инструмент, который используется повсеместно. </a:t>
            </a:r>
          </a:p>
          <a:p>
            <a:pPr algn="just">
              <a:spcBef>
                <a:spcPts val="1200"/>
              </a:spcBef>
            </a:pPr>
            <a:r>
              <a:rPr lang="ru-RU" sz="2400" b="1" i="1" dirty="0"/>
              <a:t>Примеры </a:t>
            </a:r>
            <a:r>
              <a:rPr lang="ru-RU" sz="2400" b="1" i="1" dirty="0" smtClean="0"/>
              <a:t>таблиц </a:t>
            </a:r>
            <a:r>
              <a:rPr lang="ru-RU" sz="2400" i="1" dirty="0" smtClean="0">
                <a:latin typeface="Courier New" pitchFamily="49" charset="0"/>
                <a:cs typeface="Courier New" pitchFamily="49" charset="0"/>
              </a:rPr>
              <a:t>:</a:t>
            </a:r>
            <a:r>
              <a:rPr lang="ru-RU" sz="2400" dirty="0" smtClean="0"/>
              <a:t> </a:t>
            </a:r>
            <a:r>
              <a:rPr lang="ru-RU" sz="2400" dirty="0"/>
              <a:t>меню, счет, заказ.</a:t>
            </a:r>
          </a:p>
          <a:p>
            <a:pPr algn="just">
              <a:spcBef>
                <a:spcPts val="1200"/>
              </a:spcBef>
            </a:pPr>
            <a:r>
              <a:rPr lang="ru-RU" sz="2400" dirty="0"/>
              <a:t>Удобным средством хранения и обработки табличных данных является табличный процессор </a:t>
            </a:r>
            <a:r>
              <a:rPr lang="en-US" sz="2400" b="1" dirty="0">
                <a:solidFill>
                  <a:schemeClr val="accent6"/>
                </a:solidFill>
              </a:rPr>
              <a:t>MS Excel</a:t>
            </a:r>
            <a:r>
              <a:rPr lang="ru-RU" sz="2400" dirty="0"/>
              <a:t>.</a:t>
            </a:r>
          </a:p>
          <a:p>
            <a:pPr lvl="0" algn="just">
              <a:spcBef>
                <a:spcPts val="1200"/>
              </a:spcBef>
            </a:pPr>
            <a:endParaRPr lang="ru-RU" sz="2300" b="1" dirty="0"/>
          </a:p>
        </p:txBody>
      </p:sp>
    </p:spTree>
    <p:extLst>
      <p:ext uri="{BB962C8B-B14F-4D97-AF65-F5344CB8AC3E}">
        <p14:creationId xmlns:p14="http://schemas.microsoft.com/office/powerpoint/2010/main" val="411985520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4000" b="1" dirty="0">
                <a:latin typeface="Arial" pitchFamily="34" charset="0"/>
                <a:cs typeface="Arial" pitchFamily="34" charset="0"/>
              </a:rPr>
              <a:t>Пример таблицы</a:t>
            </a:r>
            <a:endParaRPr lang="ru-RU" sz="40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4000" dirty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4000" dirty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12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          </a:t>
            </a: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Лекция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1. С</a:t>
            </a:r>
            <a:r>
              <a:rPr lang="ru-RU" sz="2000" dirty="0">
                <a:solidFill>
                  <a:schemeClr val="tx1"/>
                </a:solidFill>
              </a:rPr>
              <a:t>истемы хранения и управления данными</a:t>
            </a:r>
            <a:r>
              <a:rPr lang="ru-RU" dirty="0">
                <a:solidFill>
                  <a:srgbClr val="0070C0"/>
                </a:solidFill>
              </a:rPr>
              <a:t/>
            </a:r>
            <a:br>
              <a:rPr lang="ru-RU" dirty="0">
                <a:solidFill>
                  <a:srgbClr val="0070C0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9512" y="1124744"/>
            <a:ext cx="87849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spcBef>
                <a:spcPts val="600"/>
              </a:spcBef>
            </a:pPr>
            <a:r>
              <a:rPr lang="ru-RU" sz="2400" dirty="0"/>
              <a:t>Вычислить средний балл оценок по дисциплине </a:t>
            </a:r>
            <a:r>
              <a:rPr lang="ru-RU" sz="2400" b="1" i="1" dirty="0"/>
              <a:t>Математика</a:t>
            </a:r>
            <a:r>
              <a:rPr lang="ru-RU" sz="2400" dirty="0"/>
              <a:t> </a:t>
            </a:r>
            <a:r>
              <a:rPr lang="ru-RU" sz="2400" dirty="0" smtClean="0"/>
              <a:t> в </a:t>
            </a:r>
            <a:r>
              <a:rPr lang="ru-RU" sz="2400" dirty="0"/>
              <a:t>группе:</a:t>
            </a:r>
            <a:endParaRPr lang="ru-RU" sz="2300" b="1" dirty="0"/>
          </a:p>
        </p:txBody>
      </p:sp>
      <p:pic>
        <p:nvPicPr>
          <p:cNvPr id="6" name="Рисунок 5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48" y="1954870"/>
            <a:ext cx="4635386" cy="483171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179512" y="2348880"/>
            <a:ext cx="3933566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dirty="0"/>
              <a:t>В данном случае обработкой данных </a:t>
            </a:r>
            <a:r>
              <a:rPr lang="ru-RU" sz="2200" b="1" dirty="0">
                <a:solidFill>
                  <a:srgbClr val="002060"/>
                </a:solidFill>
              </a:rPr>
              <a:t>управляет человек</a:t>
            </a:r>
            <a:r>
              <a:rPr lang="ru-RU" sz="2200" dirty="0"/>
              <a:t> </a:t>
            </a:r>
          </a:p>
          <a:p>
            <a:endParaRPr lang="ru-RU" sz="2200" dirty="0"/>
          </a:p>
          <a:p>
            <a:r>
              <a:rPr lang="ru-RU" sz="2200" dirty="0"/>
              <a:t>Для ускорения обработки необходимо использовать </a:t>
            </a:r>
            <a:r>
              <a:rPr lang="ru-RU" sz="2200" b="1" dirty="0">
                <a:solidFill>
                  <a:srgbClr val="7030A0"/>
                </a:solidFill>
              </a:rPr>
              <a:t>специальные  программные  средства</a:t>
            </a:r>
          </a:p>
        </p:txBody>
      </p:sp>
    </p:spTree>
    <p:extLst>
      <p:ext uri="{BB962C8B-B14F-4D97-AF65-F5344CB8AC3E}">
        <p14:creationId xmlns:p14="http://schemas.microsoft.com/office/powerpoint/2010/main" val="1545450186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260648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4000" b="1" dirty="0" smtClean="0">
                <a:latin typeface="Arial" pitchFamily="34" charset="0"/>
                <a:cs typeface="Arial" pitchFamily="34" charset="0"/>
              </a:rPr>
              <a:t>Структуры описания данных</a:t>
            </a:r>
            <a:endParaRPr lang="ru-RU" sz="4000" dirty="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4000" dirty="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40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13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7504" y="908720"/>
            <a:ext cx="8894222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400" dirty="0"/>
              <a:t>Для программной обработки информации важно иметь удобные структуры </a:t>
            </a:r>
            <a:r>
              <a:rPr lang="ru-RU" sz="2400" dirty="0" smtClean="0"/>
              <a:t>представления (описания) данных </a:t>
            </a:r>
          </a:p>
          <a:p>
            <a:pPr marL="342900" indent="-34290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400" dirty="0" smtClean="0"/>
              <a:t>Самый </a:t>
            </a:r>
            <a:r>
              <a:rPr lang="ru-RU" sz="2400" dirty="0"/>
              <a:t>простой способ </a:t>
            </a:r>
            <a:r>
              <a:rPr lang="ru-RU" sz="2400" dirty="0" smtClean="0"/>
              <a:t>связывания свойств </a:t>
            </a:r>
            <a:r>
              <a:rPr lang="ru-RU" sz="2400" dirty="0"/>
              <a:t>конкретных объектов с элементами данных (атрибутами) – записать данные в виде фиксированной </a:t>
            </a:r>
            <a:r>
              <a:rPr lang="ru-RU" sz="2400" dirty="0" smtClean="0"/>
              <a:t>последовательности, называемой плоским </a:t>
            </a:r>
            <a:r>
              <a:rPr lang="ru-RU" sz="2400" dirty="0" smtClean="0"/>
              <a:t>файлом</a:t>
            </a:r>
          </a:p>
          <a:p>
            <a:pPr marL="342900" indent="-34290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endParaRPr lang="ru-RU" sz="2400" dirty="0" smtClean="0"/>
          </a:p>
        </p:txBody>
      </p:sp>
      <p:sp>
        <p:nvSpPr>
          <p:cNvPr id="9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83458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Лекция </a:t>
            </a: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1.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С</a:t>
            </a:r>
            <a:r>
              <a:rPr lang="ru-RU" sz="2000" dirty="0">
                <a:solidFill>
                  <a:schemeClr val="tx1"/>
                </a:solidFill>
              </a:rPr>
              <a:t>истемы хранения и управления данными</a:t>
            </a:r>
            <a:r>
              <a:rPr lang="ru-RU" sz="2000" dirty="0" smtClean="0">
                <a:solidFill>
                  <a:schemeClr val="tx1"/>
                </a:solidFill>
              </a:rPr>
              <a:t/>
            </a:r>
            <a:br>
              <a:rPr lang="ru-RU" sz="2000" dirty="0" smtClean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7504" y="4080554"/>
            <a:ext cx="8568952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0850" indent="-450850" algn="just">
              <a:spcBef>
                <a:spcPts val="200"/>
              </a:spcBef>
              <a:buFont typeface="Wingdings" panose="05000000000000000000" pitchFamily="2" charset="2"/>
              <a:buChar char="q"/>
            </a:pPr>
            <a:r>
              <a:rPr lang="ru-RU" sz="2600" dirty="0" smtClean="0"/>
              <a:t>Исторически </a:t>
            </a:r>
            <a:r>
              <a:rPr lang="ru-RU" sz="2600" dirty="0"/>
              <a:t>первыми системами хранения данных были </a:t>
            </a:r>
            <a:r>
              <a:rPr lang="ru-RU" sz="2600" b="1" dirty="0" smtClean="0"/>
              <a:t>файловые </a:t>
            </a:r>
            <a:r>
              <a:rPr lang="ru-RU" sz="2600" b="1" dirty="0"/>
              <a:t>системы</a:t>
            </a:r>
            <a:r>
              <a:rPr lang="ru-RU" sz="2600" dirty="0"/>
              <a:t>, в которых вся информация сохранялась в </a:t>
            </a:r>
            <a:r>
              <a:rPr lang="ru-RU" sz="2600" dirty="0" smtClean="0"/>
              <a:t>файлах</a:t>
            </a:r>
            <a:endParaRPr lang="ru-RU" sz="2600" dirty="0"/>
          </a:p>
        </p:txBody>
      </p:sp>
    </p:spTree>
    <p:extLst>
      <p:ext uri="{BB962C8B-B14F-4D97-AF65-F5344CB8AC3E}">
        <p14:creationId xmlns:p14="http://schemas.microsoft.com/office/powerpoint/2010/main" val="555948694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4000" b="1" dirty="0" smtClean="0">
                <a:latin typeface="Arial" pitchFamily="34" charset="0"/>
                <a:cs typeface="Arial" pitchFamily="34" charset="0"/>
              </a:rPr>
              <a:t>Файлы</a:t>
            </a:r>
            <a:endParaRPr lang="ru-RU" sz="4000" dirty="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40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14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1520" y="1154936"/>
            <a:ext cx="8460276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0850" indent="-450850" algn="just">
              <a:buFont typeface="Wingdings" panose="05000000000000000000" pitchFamily="2" charset="2"/>
              <a:buChar char="q"/>
            </a:pPr>
            <a:r>
              <a:rPr lang="ru-RU" sz="2600" b="1" dirty="0"/>
              <a:t>Ф</a:t>
            </a:r>
            <a:r>
              <a:rPr lang="ru-RU" sz="2600" b="1" dirty="0" smtClean="0"/>
              <a:t>айл</a:t>
            </a:r>
            <a:r>
              <a:rPr lang="ru-RU" sz="2600" dirty="0" smtClean="0"/>
              <a:t> </a:t>
            </a:r>
            <a:r>
              <a:rPr lang="ru-RU" sz="2600" dirty="0"/>
              <a:t>- это именованная область внешней памяти, в которую можно записывать и из которой можно считывать </a:t>
            </a:r>
            <a:r>
              <a:rPr lang="ru-RU" sz="2600" dirty="0" smtClean="0"/>
              <a:t>данные </a:t>
            </a:r>
            <a:endParaRPr lang="ru-RU" sz="2600" dirty="0" smtClean="0"/>
          </a:p>
          <a:p>
            <a:pPr marL="342900" indent="-34290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800" dirty="0"/>
              <a:t>Файл логически состоит из </a:t>
            </a:r>
            <a:r>
              <a:rPr lang="ru-RU" sz="2800" b="1" dirty="0"/>
              <a:t>записей</a:t>
            </a:r>
            <a:r>
              <a:rPr lang="ru-RU" sz="2800" dirty="0"/>
              <a:t>, а записи делятся на отдельные </a:t>
            </a:r>
            <a:r>
              <a:rPr lang="ru-RU" sz="2800" b="1" dirty="0"/>
              <a:t>поля</a:t>
            </a:r>
            <a:r>
              <a:rPr lang="ru-RU" sz="2800" dirty="0"/>
              <a:t>  -элементарные единицы данных.</a:t>
            </a:r>
          </a:p>
          <a:p>
            <a:pPr marL="342900" indent="-34290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800" dirty="0"/>
              <a:t>Файл можно представить в виде таблицы</a:t>
            </a:r>
          </a:p>
          <a:p>
            <a:pPr marL="450850" indent="-450850" algn="just">
              <a:buFont typeface="Wingdings" panose="05000000000000000000" pitchFamily="2" charset="2"/>
              <a:buChar char="q"/>
            </a:pPr>
            <a:endParaRPr lang="ru-RU" sz="2600" dirty="0" smtClean="0"/>
          </a:p>
        </p:txBody>
      </p:sp>
      <p:sp>
        <p:nvSpPr>
          <p:cNvPr id="8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83458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Лекция </a:t>
            </a: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1.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С</a:t>
            </a:r>
            <a:r>
              <a:rPr lang="ru-RU" sz="2000" dirty="0">
                <a:solidFill>
                  <a:schemeClr val="tx1"/>
                </a:solidFill>
              </a:rPr>
              <a:t>истемы хранения и управления данными</a:t>
            </a:r>
            <a:r>
              <a:rPr lang="ru-RU" sz="2000" dirty="0" smtClean="0">
                <a:solidFill>
                  <a:schemeClr val="tx1"/>
                </a:solidFill>
              </a:rPr>
              <a:t/>
            </a:r>
            <a:br>
              <a:rPr lang="ru-RU" sz="2000" dirty="0" smtClean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3528" y="4653136"/>
            <a:ext cx="8424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Пример.     Информация </a:t>
            </a:r>
            <a:r>
              <a:rPr lang="ru-RU" sz="2400" dirty="0"/>
              <a:t>о </a:t>
            </a:r>
            <a:r>
              <a:rPr lang="ru-RU" sz="2400" dirty="0" smtClean="0"/>
              <a:t>сотрудниках</a:t>
            </a:r>
            <a:endParaRPr lang="ru-RU" sz="2400" dirty="0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7426" y="5000402"/>
            <a:ext cx="7351078" cy="11225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58823096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4000" b="1" smtClean="0">
                <a:latin typeface="Arial" pitchFamily="34" charset="0"/>
                <a:cs typeface="Arial" pitchFamily="34" charset="0"/>
              </a:rPr>
              <a:t>Системы управления файлами</a:t>
            </a:r>
            <a:endParaRPr lang="ru-RU" sz="4000" dirty="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40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15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51520" y="1545367"/>
            <a:ext cx="8640960" cy="33958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Система управления файлами </a:t>
            </a:r>
            <a:r>
              <a:rPr lang="ru-RU" sz="2800" dirty="0" smtClean="0"/>
              <a:t>выполняет:</a:t>
            </a:r>
            <a:endParaRPr lang="ru-RU" sz="2800" dirty="0"/>
          </a:p>
          <a:p>
            <a:pPr marL="536575" lvl="0" indent="-34290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ru-RU" sz="2800" dirty="0"/>
              <a:t>распределение внешней </a:t>
            </a:r>
            <a:r>
              <a:rPr lang="ru-RU" sz="2800" dirty="0" smtClean="0"/>
              <a:t>памяти </a:t>
            </a:r>
            <a:endParaRPr lang="ru-RU" sz="2800" dirty="0"/>
          </a:p>
          <a:p>
            <a:pPr marL="536575" lvl="0" indent="-342900" algn="just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ru-RU" sz="2800" dirty="0"/>
              <a:t>отображение имен файлов в </a:t>
            </a:r>
            <a:r>
              <a:rPr lang="ru-RU" sz="2800" dirty="0" smtClean="0"/>
              <a:t>адреса </a:t>
            </a:r>
            <a:r>
              <a:rPr lang="ru-RU" sz="2800" dirty="0"/>
              <a:t>во внешней памяти</a:t>
            </a:r>
          </a:p>
          <a:p>
            <a:pPr marL="536575" lvl="0" indent="-342900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ru-RU" sz="2800" dirty="0" smtClean="0"/>
              <a:t>обеспечение </a:t>
            </a:r>
            <a:r>
              <a:rPr lang="ru-RU" sz="2800" dirty="0"/>
              <a:t>доступа к </a:t>
            </a:r>
            <a:r>
              <a:rPr lang="ru-RU" sz="2800" dirty="0" smtClean="0"/>
              <a:t>данным </a:t>
            </a:r>
            <a:endParaRPr lang="ru-RU" sz="2800" dirty="0"/>
          </a:p>
          <a:p>
            <a:pPr algn="just">
              <a:spcBef>
                <a:spcPts val="200"/>
              </a:spcBef>
            </a:pPr>
            <a:endParaRPr lang="ru-RU" sz="2800" dirty="0"/>
          </a:p>
        </p:txBody>
      </p:sp>
      <p:sp>
        <p:nvSpPr>
          <p:cNvPr id="8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83458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Лекция </a:t>
            </a: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1.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С</a:t>
            </a:r>
            <a:r>
              <a:rPr lang="ru-RU" sz="2000" dirty="0">
                <a:solidFill>
                  <a:schemeClr val="tx1"/>
                </a:solidFill>
              </a:rPr>
              <a:t>истемы хранения и управления данными</a:t>
            </a:r>
            <a:r>
              <a:rPr lang="ru-RU" sz="2000" dirty="0" smtClean="0">
                <a:solidFill>
                  <a:schemeClr val="tx1"/>
                </a:solidFill>
              </a:rPr>
              <a:t/>
            </a:r>
            <a:br>
              <a:rPr lang="ru-RU" sz="2000" dirty="0" smtClean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689291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4000" b="1" smtClean="0">
                <a:latin typeface="Arial" pitchFamily="34" charset="0"/>
                <a:cs typeface="Arial" pitchFamily="34" charset="0"/>
              </a:rPr>
              <a:t>Уровни доступа к данным</a:t>
            </a:r>
            <a:endParaRPr lang="ru-RU" sz="4000" dirty="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40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16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51520" y="1604407"/>
            <a:ext cx="8640960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800"/>
              </a:spcBef>
            </a:pPr>
            <a:r>
              <a:rPr lang="ru-RU" sz="2800" b="1"/>
              <a:t>Доступ к данным</a:t>
            </a:r>
            <a:r>
              <a:rPr lang="ru-RU" sz="2800"/>
              <a:t> в </a:t>
            </a:r>
            <a:r>
              <a:rPr lang="ru-RU" sz="2800" smtClean="0"/>
              <a:t>файловых </a:t>
            </a:r>
            <a:r>
              <a:rPr lang="ru-RU" sz="2800"/>
              <a:t>системах возможен:</a:t>
            </a:r>
          </a:p>
          <a:p>
            <a:pPr marL="536575" lvl="0" indent="-536575" algn="just">
              <a:spcBef>
                <a:spcPts val="1800"/>
              </a:spcBef>
              <a:buFont typeface="Wingdings" panose="05000000000000000000" pitchFamily="2" charset="2"/>
              <a:buChar char="q"/>
            </a:pPr>
            <a:r>
              <a:rPr lang="ru-RU" sz="2800" b="1" smtClean="0"/>
              <a:t>на </a:t>
            </a:r>
            <a:r>
              <a:rPr lang="ru-RU" sz="2800" b="1"/>
              <a:t>низком</a:t>
            </a:r>
            <a:r>
              <a:rPr lang="ru-RU" sz="2800"/>
              <a:t> </a:t>
            </a:r>
            <a:r>
              <a:rPr lang="ru-RU" sz="2800" smtClean="0"/>
              <a:t>уровне – обращение к данным по физическому адресу</a:t>
            </a:r>
          </a:p>
          <a:p>
            <a:pPr marL="536575" lvl="0" indent="-536575" algn="just">
              <a:spcBef>
                <a:spcPts val="1800"/>
              </a:spcBef>
              <a:buFont typeface="Wingdings" panose="05000000000000000000" pitchFamily="2" charset="2"/>
              <a:buChar char="q"/>
            </a:pPr>
            <a:r>
              <a:rPr lang="ru-RU" sz="2800" b="1" smtClean="0"/>
              <a:t>на </a:t>
            </a:r>
            <a:r>
              <a:rPr lang="ru-RU" sz="2800" b="1"/>
              <a:t>высоком</a:t>
            </a:r>
            <a:r>
              <a:rPr lang="ru-RU" sz="2800"/>
              <a:t> </a:t>
            </a:r>
            <a:r>
              <a:rPr lang="ru-RU" sz="2800" smtClean="0"/>
              <a:t>уровне – обращение к последовательности </a:t>
            </a:r>
            <a:r>
              <a:rPr lang="ru-RU" sz="2800"/>
              <a:t>записей определенной структуры, состоящих из </a:t>
            </a:r>
            <a:r>
              <a:rPr lang="ru-RU" sz="2800" smtClean="0"/>
              <a:t>полей </a:t>
            </a:r>
            <a:endParaRPr lang="ru-RU" sz="2800" dirty="0"/>
          </a:p>
        </p:txBody>
      </p:sp>
      <p:sp>
        <p:nvSpPr>
          <p:cNvPr id="8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83458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Лекция </a:t>
            </a: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1.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С</a:t>
            </a:r>
            <a:r>
              <a:rPr lang="ru-RU" sz="2000" dirty="0">
                <a:solidFill>
                  <a:schemeClr val="tx1"/>
                </a:solidFill>
              </a:rPr>
              <a:t>истемы хранения и управления данными</a:t>
            </a:r>
            <a:r>
              <a:rPr lang="ru-RU" sz="2000" dirty="0" smtClean="0">
                <a:solidFill>
                  <a:schemeClr val="tx1"/>
                </a:solidFill>
              </a:rPr>
              <a:t/>
            </a:r>
            <a:br>
              <a:rPr lang="ru-RU" sz="2000" dirty="0" smtClean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6244046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4000" b="1" smtClean="0">
                <a:latin typeface="Arial" pitchFamily="34" charset="0"/>
                <a:cs typeface="Arial" pitchFamily="34" charset="0"/>
              </a:rPr>
              <a:t>Низкий уровень доступа</a:t>
            </a:r>
            <a:endParaRPr lang="ru-RU" sz="4000" dirty="0" smtClean="0">
              <a:latin typeface="Arial" pitchFamily="34" charset="0"/>
              <a:cs typeface="Arial" pitchFamily="34" charset="0"/>
            </a:endParaRP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17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51520" y="1268759"/>
            <a:ext cx="87496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ru-RU" sz="2400" dirty="0" smtClean="0"/>
              <a:t>Необходимо </a:t>
            </a:r>
            <a:r>
              <a:rPr lang="ru-RU" sz="2400" dirty="0"/>
              <a:t>указать физический адрес 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354013" algn="just"/>
            <a:r>
              <a:rPr lang="ru-RU" sz="2400" dirty="0" smtClean="0"/>
              <a:t>номер дорожки,  </a:t>
            </a:r>
            <a:r>
              <a:rPr lang="ru-RU" sz="2400" dirty="0"/>
              <a:t>номер </a:t>
            </a:r>
            <a:r>
              <a:rPr lang="ru-RU" sz="2400" dirty="0" smtClean="0"/>
              <a:t>сектора, </a:t>
            </a:r>
            <a:r>
              <a:rPr lang="ru-RU" sz="2400" dirty="0"/>
              <a:t>число </a:t>
            </a:r>
            <a:r>
              <a:rPr lang="ru-RU" sz="2400" dirty="0" smtClean="0"/>
              <a:t>байтов</a:t>
            </a:r>
            <a:endParaRPr lang="ru-RU" sz="2400" dirty="0"/>
          </a:p>
        </p:txBody>
      </p:sp>
      <p:sp>
        <p:nvSpPr>
          <p:cNvPr id="8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83458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Лекция </a:t>
            </a: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1.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С</a:t>
            </a:r>
            <a:r>
              <a:rPr lang="ru-RU" sz="2000" dirty="0">
                <a:solidFill>
                  <a:schemeClr val="tx1"/>
                </a:solidFill>
              </a:rPr>
              <a:t>истемы хранения и управления данными</a:t>
            </a:r>
            <a:r>
              <a:rPr lang="ru-RU" sz="2000" dirty="0" smtClean="0">
                <a:solidFill>
                  <a:schemeClr val="tx1"/>
                </a:solidFill>
              </a:rPr>
              <a:t/>
            </a:r>
            <a:br>
              <a:rPr lang="ru-RU" sz="2000" dirty="0" smtClean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95536" y="5027692"/>
            <a:ext cx="842493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0850" indent="-450850" algn="just">
              <a:buFont typeface="Wingdings" panose="05000000000000000000" pitchFamily="2" charset="2"/>
              <a:buChar char="q"/>
            </a:pPr>
            <a:r>
              <a:rPr lang="ru-RU" sz="2400" dirty="0" smtClean="0"/>
              <a:t>При </a:t>
            </a:r>
            <a:r>
              <a:rPr lang="ru-RU" sz="2400" dirty="0"/>
              <a:t>изменениях в </a:t>
            </a:r>
            <a:r>
              <a:rPr lang="ru-RU" sz="2400" dirty="0" smtClean="0"/>
              <a:t>структуре </a:t>
            </a:r>
            <a:r>
              <a:rPr lang="ru-RU" sz="2400" dirty="0"/>
              <a:t>данных или в </a:t>
            </a:r>
            <a:r>
              <a:rPr lang="ru-RU" sz="2400" dirty="0" smtClean="0"/>
              <a:t>параметрах запоминающего устройства </a:t>
            </a:r>
            <a:r>
              <a:rPr lang="ru-RU" sz="2400" dirty="0"/>
              <a:t>необходимо изменять </a:t>
            </a:r>
            <a:r>
              <a:rPr lang="ru-RU" sz="2400" dirty="0" smtClean="0"/>
              <a:t>программу их обработки</a:t>
            </a:r>
            <a:endParaRPr lang="ru-RU" sz="2400" dirty="0"/>
          </a:p>
          <a:p>
            <a:pPr algn="just"/>
            <a:endParaRPr lang="ru-RU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5990" y="2060848"/>
            <a:ext cx="4286250" cy="284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77218962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260648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4000" b="1" dirty="0" smtClean="0">
                <a:latin typeface="Arial" pitchFamily="34" charset="0"/>
                <a:cs typeface="Arial" pitchFamily="34" charset="0"/>
              </a:rPr>
              <a:t>Высокий уровень доступа</a:t>
            </a:r>
            <a:endParaRPr lang="ru-RU" sz="4000" dirty="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40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18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7504" y="1052736"/>
            <a:ext cx="8893652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200" dirty="0"/>
              <a:t>П</a:t>
            </a:r>
            <a:r>
              <a:rPr lang="ru-RU" sz="2200" dirty="0" smtClean="0"/>
              <a:t>рикладные </a:t>
            </a:r>
            <a:r>
              <a:rPr lang="ru-RU" sz="2200" dirty="0"/>
              <a:t>программы </a:t>
            </a:r>
            <a:r>
              <a:rPr lang="ru-RU" sz="2200" b="1" dirty="0"/>
              <a:t>отделены</a:t>
            </a:r>
            <a:r>
              <a:rPr lang="ru-RU" sz="2200" dirty="0"/>
              <a:t> от физических способов хранения </a:t>
            </a:r>
            <a:r>
              <a:rPr lang="ru-RU" sz="2200" dirty="0" smtClean="0"/>
              <a:t>данных</a:t>
            </a:r>
          </a:p>
          <a:p>
            <a:pPr marL="342900" lvl="0" indent="-34290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200" dirty="0" smtClean="0"/>
              <a:t>В программах файл представляется как </a:t>
            </a:r>
            <a:r>
              <a:rPr lang="ru-RU" sz="2200" b="1" dirty="0" smtClean="0"/>
              <a:t>логическая</a:t>
            </a:r>
            <a:r>
              <a:rPr lang="ru-RU" sz="2200" dirty="0" smtClean="0"/>
              <a:t> </a:t>
            </a:r>
            <a:r>
              <a:rPr lang="ru-RU" sz="2200" b="1" dirty="0" smtClean="0"/>
              <a:t>последовательность записей</a:t>
            </a:r>
            <a:r>
              <a:rPr lang="ru-RU" sz="2200" dirty="0" smtClean="0"/>
              <a:t>, </a:t>
            </a:r>
            <a:r>
              <a:rPr lang="ru-RU" sz="2200" dirty="0"/>
              <a:t>состоящих из </a:t>
            </a:r>
            <a:r>
              <a:rPr lang="ru-RU" sz="2200" dirty="0" smtClean="0"/>
              <a:t>полей </a:t>
            </a:r>
          </a:p>
          <a:p>
            <a:pPr marL="342900" lvl="0" indent="-34290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200" dirty="0" smtClean="0"/>
              <a:t>Записи </a:t>
            </a:r>
            <a:r>
              <a:rPr lang="ru-RU" sz="2200" dirty="0"/>
              <a:t>можно </a:t>
            </a:r>
            <a:r>
              <a:rPr lang="ru-RU" sz="2200" b="1" dirty="0"/>
              <a:t>читать</a:t>
            </a:r>
            <a:r>
              <a:rPr lang="ru-RU" sz="2200" dirty="0"/>
              <a:t> и </a:t>
            </a:r>
            <a:r>
              <a:rPr lang="ru-RU" sz="2200" b="1" dirty="0"/>
              <a:t>записывать</a:t>
            </a:r>
            <a:r>
              <a:rPr lang="ru-RU" sz="2200" dirty="0"/>
              <a:t> </a:t>
            </a:r>
            <a:r>
              <a:rPr lang="ru-RU" sz="2200" b="1" i="1" dirty="0"/>
              <a:t>последовательно</a:t>
            </a:r>
            <a:r>
              <a:rPr lang="ru-RU" sz="2200" dirty="0"/>
              <a:t> или </a:t>
            </a:r>
            <a:r>
              <a:rPr lang="ru-RU" sz="2200" b="1" i="1" dirty="0"/>
              <a:t>устанавливать указатель</a:t>
            </a:r>
            <a:r>
              <a:rPr lang="ru-RU" sz="2200" dirty="0"/>
              <a:t> файла на запись с указанным </a:t>
            </a:r>
            <a:r>
              <a:rPr lang="ru-RU" sz="2200" dirty="0" smtClean="0"/>
              <a:t>номером</a:t>
            </a:r>
          </a:p>
          <a:p>
            <a:pPr marL="342900" lvl="0" indent="-34290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200" dirty="0" smtClean="0"/>
              <a:t>Можно </a:t>
            </a:r>
            <a:r>
              <a:rPr lang="ru-RU" sz="2200" dirty="0"/>
              <a:t>производить </a:t>
            </a:r>
            <a:r>
              <a:rPr lang="ru-RU" sz="2200" b="1" dirty="0"/>
              <a:t>поиск</a:t>
            </a:r>
            <a:r>
              <a:rPr lang="ru-RU" sz="2200" dirty="0"/>
              <a:t> записи </a:t>
            </a:r>
            <a:r>
              <a:rPr lang="ru-RU" sz="2200" b="1" dirty="0"/>
              <a:t>по</a:t>
            </a:r>
            <a:r>
              <a:rPr lang="ru-RU" sz="2200" dirty="0"/>
              <a:t> заданному </a:t>
            </a:r>
            <a:r>
              <a:rPr lang="ru-RU" sz="2200" b="1" dirty="0"/>
              <a:t>ключу</a:t>
            </a:r>
            <a:r>
              <a:rPr lang="ru-RU" sz="2200" dirty="0"/>
              <a:t> (значению поискового поля)</a:t>
            </a:r>
          </a:p>
          <a:p>
            <a:pPr algn="just"/>
            <a:endParaRPr lang="ru-RU" sz="2200" dirty="0"/>
          </a:p>
        </p:txBody>
      </p:sp>
      <p:sp>
        <p:nvSpPr>
          <p:cNvPr id="8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83458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Лекция </a:t>
            </a: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1.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С</a:t>
            </a:r>
            <a:r>
              <a:rPr lang="ru-RU" sz="2000" dirty="0">
                <a:solidFill>
                  <a:schemeClr val="tx1"/>
                </a:solidFill>
              </a:rPr>
              <a:t>истемы хранения и управления данными</a:t>
            </a:r>
            <a:r>
              <a:rPr lang="ru-RU" sz="2000" dirty="0" smtClean="0">
                <a:solidFill>
                  <a:schemeClr val="tx1"/>
                </a:solidFill>
              </a:rPr>
              <a:t/>
            </a:r>
            <a:br>
              <a:rPr lang="ru-RU" sz="2000" dirty="0" smtClean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4439663"/>
            <a:ext cx="4392488" cy="933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5206" y="5768677"/>
            <a:ext cx="5695950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Прямая со стрелкой 3"/>
          <p:cNvCxnSpPr/>
          <p:nvPr/>
        </p:nvCxnSpPr>
        <p:spPr>
          <a:xfrm>
            <a:off x="3455876" y="5157192"/>
            <a:ext cx="2484276" cy="611485"/>
          </a:xfrm>
          <a:prstGeom prst="straightConnector1">
            <a:avLst/>
          </a:prstGeom>
          <a:ln w="38100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9525622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4000" b="1" smtClean="0">
                <a:latin typeface="Arial" pitchFamily="34" charset="0"/>
                <a:cs typeface="Arial" pitchFamily="34" charset="0"/>
              </a:rPr>
              <a:t>Проблемы файловых систем доступа к данным</a:t>
            </a:r>
            <a:endParaRPr lang="ru-RU" sz="4000" dirty="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40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19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83458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Лекция </a:t>
            </a: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1.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С</a:t>
            </a:r>
            <a:r>
              <a:rPr lang="ru-RU" sz="2000" dirty="0">
                <a:solidFill>
                  <a:schemeClr val="tx1"/>
                </a:solidFill>
              </a:rPr>
              <a:t>истемы хранения и управления данными</a:t>
            </a:r>
            <a:r>
              <a:rPr lang="ru-RU" sz="2000" dirty="0" smtClean="0">
                <a:solidFill>
                  <a:schemeClr val="tx1"/>
                </a:solidFill>
              </a:rPr>
              <a:t/>
            </a:r>
            <a:br>
              <a:rPr lang="ru-RU" sz="2000" dirty="0" smtClean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55576" y="2276872"/>
            <a:ext cx="7632848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725" indent="-720725">
              <a:spcBef>
                <a:spcPts val="2400"/>
              </a:spcBef>
              <a:buFont typeface="Wingdings" panose="05000000000000000000" pitchFamily="2" charset="2"/>
              <a:buChar char="q"/>
            </a:pPr>
            <a:r>
              <a:rPr lang="ru-RU" sz="2800" smtClean="0"/>
              <a:t>Интерпретация данных</a:t>
            </a:r>
          </a:p>
          <a:p>
            <a:pPr marL="720725" indent="-720725">
              <a:spcBef>
                <a:spcPts val="2400"/>
              </a:spcBef>
              <a:buFont typeface="Wingdings" panose="05000000000000000000" pitchFamily="2" charset="2"/>
              <a:buChar char="q"/>
            </a:pPr>
            <a:r>
              <a:rPr lang="ru-RU" sz="2800" smtClean="0"/>
              <a:t>Дублирование данных</a:t>
            </a:r>
            <a:endParaRPr lang="ru-RU" sz="2800"/>
          </a:p>
        </p:txBody>
      </p:sp>
    </p:spTree>
    <p:extLst>
      <p:ext uri="{BB962C8B-B14F-4D97-AF65-F5344CB8AC3E}">
        <p14:creationId xmlns:p14="http://schemas.microsoft.com/office/powerpoint/2010/main" val="453472314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260648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4000" b="1" dirty="0" smtClean="0">
                <a:latin typeface="Arial" pitchFamily="34" charset="0"/>
                <a:cs typeface="Arial" pitchFamily="34" charset="0"/>
              </a:rPr>
              <a:t>Интерпретация данных</a:t>
            </a:r>
            <a:endParaRPr lang="ru-RU" sz="4000" dirty="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40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20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51520" y="2396202"/>
            <a:ext cx="8749636" cy="4201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buFont typeface="Wingdings" panose="05000000000000000000" pitchFamily="2" charset="2"/>
              <a:buChar char="q"/>
            </a:pPr>
            <a:r>
              <a:rPr lang="ru-RU" sz="2400" dirty="0" smtClean="0"/>
              <a:t>Поэтому </a:t>
            </a:r>
            <a:r>
              <a:rPr lang="ru-RU" sz="2400" b="1" dirty="0"/>
              <a:t>и</a:t>
            </a:r>
            <a:r>
              <a:rPr lang="ru-RU" sz="2400" b="1" dirty="0" smtClean="0"/>
              <a:t>нтерпретация </a:t>
            </a:r>
            <a:r>
              <a:rPr lang="ru-RU" sz="2400" b="1" dirty="0"/>
              <a:t>данных</a:t>
            </a:r>
            <a:r>
              <a:rPr lang="ru-RU" sz="2400" dirty="0"/>
              <a:t> (сопоставление значений и элементов данных или атрибутов) </a:t>
            </a:r>
            <a:r>
              <a:rPr lang="ru-RU" sz="2400" b="1" i="1" dirty="0" smtClean="0"/>
              <a:t>закладывается </a:t>
            </a:r>
            <a:r>
              <a:rPr lang="ru-RU" sz="2400" b="1" i="1" dirty="0"/>
              <a:t>в программу</a:t>
            </a:r>
            <a:r>
              <a:rPr lang="ru-RU" sz="2400" dirty="0"/>
              <a:t>. </a:t>
            </a:r>
            <a:endParaRPr lang="ru-RU" sz="2400" dirty="0" smtClean="0"/>
          </a:p>
          <a:p>
            <a:pPr lvl="0" algn="just">
              <a:spcBef>
                <a:spcPts val="1800"/>
              </a:spcBef>
            </a:pPr>
            <a:r>
              <a:rPr lang="ru-RU" sz="2400" b="1" i="1" dirty="0" smtClean="0"/>
              <a:t>Пример.</a:t>
            </a:r>
            <a:r>
              <a:rPr lang="ru-RU" sz="2400" dirty="0" smtClean="0"/>
              <a:t>  Набор данных Сотрудники</a:t>
            </a:r>
          </a:p>
          <a:p>
            <a:pPr lvl="0" algn="just"/>
            <a:endParaRPr lang="ru-RU" sz="2400" dirty="0"/>
          </a:p>
          <a:p>
            <a:pPr lvl="0" algn="just"/>
            <a:endParaRPr lang="ru-RU" sz="2400" dirty="0" smtClean="0"/>
          </a:p>
          <a:p>
            <a:pPr lvl="0" algn="just">
              <a:spcBef>
                <a:spcPts val="1200"/>
              </a:spcBef>
            </a:pPr>
            <a:r>
              <a:rPr lang="ru-RU" sz="2200" dirty="0" smtClean="0"/>
              <a:t>В программу закладывается информация о том, </a:t>
            </a:r>
            <a:r>
              <a:rPr lang="ru-RU" sz="2200" dirty="0"/>
              <a:t>что в прочитанной </a:t>
            </a:r>
            <a:r>
              <a:rPr lang="ru-RU" sz="2200" dirty="0" smtClean="0"/>
              <a:t>записи: </a:t>
            </a:r>
          </a:p>
          <a:p>
            <a:pPr lvl="0" algn="just"/>
            <a:r>
              <a:rPr lang="ru-RU" sz="2200" dirty="0"/>
              <a:t> </a:t>
            </a:r>
            <a:r>
              <a:rPr lang="ru-RU" sz="2200" dirty="0" smtClean="0"/>
              <a:t>                           2-е </a:t>
            </a:r>
            <a:r>
              <a:rPr lang="ru-RU" sz="2200" dirty="0"/>
              <a:t>поле </a:t>
            </a:r>
            <a:r>
              <a:rPr lang="ru-RU" sz="2200" dirty="0" smtClean="0"/>
              <a:t>–  </a:t>
            </a:r>
            <a:r>
              <a:rPr lang="ru-RU" sz="2200" dirty="0"/>
              <a:t>фамилия </a:t>
            </a:r>
            <a:r>
              <a:rPr lang="ru-RU" sz="2200" dirty="0" smtClean="0"/>
              <a:t>сотрудника </a:t>
            </a:r>
          </a:p>
          <a:p>
            <a:pPr marL="1349375" lvl="0" indent="-1349375" algn="just"/>
            <a:r>
              <a:rPr lang="ru-RU" sz="2200" dirty="0" smtClean="0"/>
              <a:t>                            5-е поле –  дата рождения сотрудника</a:t>
            </a:r>
          </a:p>
        </p:txBody>
      </p:sp>
      <p:sp>
        <p:nvSpPr>
          <p:cNvPr id="8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83458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Лекция </a:t>
            </a: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1.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С</a:t>
            </a:r>
            <a:r>
              <a:rPr lang="ru-RU" sz="2000" dirty="0">
                <a:solidFill>
                  <a:schemeClr val="tx1"/>
                </a:solidFill>
              </a:rPr>
              <a:t>истемы хранения и управления данными</a:t>
            </a:r>
            <a:r>
              <a:rPr lang="ru-RU" sz="2000" dirty="0" smtClean="0">
                <a:solidFill>
                  <a:schemeClr val="tx1"/>
                </a:solidFill>
              </a:rPr>
              <a:t/>
            </a:r>
            <a:br>
              <a:rPr lang="ru-RU" sz="2000" dirty="0" smtClean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4149080"/>
            <a:ext cx="5695950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51520" y="1052736"/>
            <a:ext cx="88924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ru-RU" sz="2400" dirty="0"/>
              <a:t>Ф</a:t>
            </a:r>
            <a:r>
              <a:rPr lang="ru-RU" sz="2400" dirty="0" smtClean="0"/>
              <a:t>айловая система: </a:t>
            </a:r>
          </a:p>
          <a:p>
            <a:pPr marL="538163" indent="-342900">
              <a:buFont typeface="Wingdings" panose="05000000000000000000" pitchFamily="2" charset="2"/>
              <a:buChar char="§"/>
            </a:pPr>
            <a:r>
              <a:rPr lang="ru-RU" sz="2400" dirty="0" smtClean="0"/>
              <a:t>не </a:t>
            </a:r>
            <a:r>
              <a:rPr lang="ru-RU" sz="2400" dirty="0"/>
              <a:t>имеет информации о структуре данных </a:t>
            </a:r>
            <a:r>
              <a:rPr lang="ru-RU" sz="2400" dirty="0" smtClean="0"/>
              <a:t>в файле</a:t>
            </a:r>
          </a:p>
          <a:p>
            <a:pPr marL="538163" indent="-342900">
              <a:buFont typeface="Wingdings" panose="05000000000000000000" pitchFamily="2" charset="2"/>
              <a:buChar char="§"/>
            </a:pPr>
            <a:r>
              <a:rPr lang="ru-RU" sz="2400" dirty="0" smtClean="0"/>
              <a:t>представляет </a:t>
            </a:r>
            <a:r>
              <a:rPr lang="ru-RU" sz="2400" dirty="0"/>
              <a:t>файлы как последовательности </a:t>
            </a:r>
            <a:r>
              <a:rPr lang="ru-RU" sz="2400" dirty="0" smtClean="0"/>
              <a:t>байтов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98783939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5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3" presetClass="entr" presetSubtype="1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500"/>
                            </p:stCondLst>
                            <p:childTnLst>
                              <p:par>
                                <p:cTn id="42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260648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4000" b="1" dirty="0" smtClean="0">
                <a:latin typeface="Arial" pitchFamily="34" charset="0"/>
                <a:cs typeface="Arial" pitchFamily="34" charset="0"/>
              </a:rPr>
              <a:t>Дублирование  данных</a:t>
            </a:r>
            <a:endParaRPr lang="ru-RU" sz="4000" dirty="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40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21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51520" y="980728"/>
            <a:ext cx="874963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buFont typeface="Wingdings" panose="05000000000000000000" pitchFamily="2" charset="2"/>
              <a:buChar char="q"/>
            </a:pPr>
            <a:r>
              <a:rPr lang="ru-RU" sz="2400" dirty="0"/>
              <a:t>П</a:t>
            </a:r>
            <a:r>
              <a:rPr lang="ru-RU" sz="2400" dirty="0" smtClean="0"/>
              <a:t>рограммы</a:t>
            </a:r>
            <a:r>
              <a:rPr lang="ru-RU" sz="2400" dirty="0"/>
              <a:t>, написанные </a:t>
            </a:r>
            <a:r>
              <a:rPr lang="ru-RU" sz="2400" dirty="0" smtClean="0"/>
              <a:t>для </a:t>
            </a:r>
            <a:r>
              <a:rPr lang="ru-RU" sz="2400" dirty="0"/>
              <a:t>решения разных задач, используют разные наборы данных, содержащие </a:t>
            </a:r>
            <a:r>
              <a:rPr lang="ru-RU" sz="2400" b="1" dirty="0" smtClean="0"/>
              <a:t>повторяющуюся информацию.</a:t>
            </a:r>
            <a:r>
              <a:rPr lang="ru-RU" sz="2400" dirty="0" smtClean="0"/>
              <a:t> </a:t>
            </a:r>
          </a:p>
          <a:p>
            <a:pPr marL="354013" lvl="0" algn="just"/>
            <a:r>
              <a:rPr lang="ru-RU" sz="2400" dirty="0" smtClean="0"/>
              <a:t>Пример. Информация </a:t>
            </a:r>
            <a:r>
              <a:rPr lang="ru-RU" sz="2400" dirty="0"/>
              <a:t>о сотрудниках в </a:t>
            </a:r>
            <a:r>
              <a:rPr lang="ru-RU" sz="2400" dirty="0" smtClean="0"/>
              <a:t>задачах:</a:t>
            </a:r>
          </a:p>
          <a:p>
            <a:pPr marL="1073150" lvl="0" indent="-268288" algn="just">
              <a:buFont typeface="Arial" panose="020B0604020202020204" pitchFamily="34" charset="0"/>
              <a:buChar char="•"/>
            </a:pPr>
            <a:r>
              <a:rPr lang="ru-RU" sz="2400" dirty="0" smtClean="0"/>
              <a:t>учета </a:t>
            </a:r>
            <a:r>
              <a:rPr lang="ru-RU" sz="2400" dirty="0"/>
              <a:t>кадров </a:t>
            </a:r>
            <a:endParaRPr lang="ru-RU" sz="2400" dirty="0" smtClean="0"/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ru-RU" sz="2400" dirty="0" smtClean="0"/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ru-RU" sz="2400" dirty="0"/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ru-RU" sz="2400" dirty="0" smtClean="0"/>
          </a:p>
          <a:p>
            <a:pPr marL="1073150" lvl="0" indent="-244475" algn="just">
              <a:buFont typeface="Arial" panose="020B0604020202020204" pitchFamily="34" charset="0"/>
              <a:buChar char="•"/>
            </a:pPr>
            <a:r>
              <a:rPr lang="ru-RU" sz="2400" dirty="0" smtClean="0"/>
              <a:t>расчета з/платы </a:t>
            </a:r>
          </a:p>
        </p:txBody>
      </p:sp>
      <p:sp>
        <p:nvSpPr>
          <p:cNvPr id="8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83458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Лекция </a:t>
            </a: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1.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С</a:t>
            </a:r>
            <a:r>
              <a:rPr lang="ru-RU" sz="2000" dirty="0">
                <a:solidFill>
                  <a:schemeClr val="tx1"/>
                </a:solidFill>
              </a:rPr>
              <a:t>истемы хранения и управления данными</a:t>
            </a:r>
            <a:r>
              <a:rPr lang="ru-RU" sz="2000" dirty="0" smtClean="0">
                <a:solidFill>
                  <a:schemeClr val="tx1"/>
                </a:solidFill>
              </a:rPr>
              <a:t/>
            </a:r>
            <a:br>
              <a:rPr lang="ru-RU" sz="2000" dirty="0" smtClean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2878843"/>
            <a:ext cx="5695950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4721" y="4285084"/>
            <a:ext cx="6581775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156176" y="2636912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Кадровый учет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6135101" y="4022650"/>
            <a:ext cx="2469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Бухгалтерский учет</a:t>
            </a:r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251520" y="5229200"/>
            <a:ext cx="864096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buFont typeface="Wingdings" panose="05000000000000000000" pitchFamily="2" charset="2"/>
              <a:buChar char="q"/>
            </a:pPr>
            <a:r>
              <a:rPr lang="ru-RU" sz="2200" dirty="0" smtClean="0"/>
              <a:t>Изменение структуры и небольшие изменения  в данных представляет </a:t>
            </a:r>
            <a:r>
              <a:rPr lang="ru-RU" sz="2200" dirty="0"/>
              <a:t>большую </a:t>
            </a:r>
            <a:r>
              <a:rPr lang="ru-RU" sz="2200" dirty="0" smtClean="0"/>
              <a:t>проблему - необходимо </a:t>
            </a:r>
            <a:r>
              <a:rPr lang="ru-RU" sz="2200" dirty="0"/>
              <a:t>вносить </a:t>
            </a:r>
            <a:endParaRPr lang="ru-RU" sz="2200" dirty="0" smtClean="0"/>
          </a:p>
          <a:p>
            <a:pPr lvl="0" algn="just"/>
            <a:r>
              <a:rPr lang="ru-RU" sz="2200" dirty="0" smtClean="0"/>
              <a:t>                                  изменения </a:t>
            </a:r>
            <a:r>
              <a:rPr lang="ru-RU" sz="2200" dirty="0"/>
              <a:t>в </a:t>
            </a:r>
            <a:r>
              <a:rPr lang="ru-RU" sz="2200" dirty="0" smtClean="0"/>
              <a:t> множество программ</a:t>
            </a:r>
            <a:endParaRPr lang="ru-RU" sz="2200" dirty="0"/>
          </a:p>
          <a:p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841229267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3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4000" b="1" dirty="0" smtClean="0">
                <a:latin typeface="Arial" pitchFamily="34" charset="0"/>
                <a:cs typeface="Arial" pitchFamily="34" charset="0"/>
              </a:rPr>
              <a:t>Недостатки файловых систем управления данными</a:t>
            </a:r>
            <a:endParaRPr lang="ru-RU" sz="4000" dirty="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4000" dirty="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40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22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1520" y="1772816"/>
            <a:ext cx="864096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ru-RU" sz="2800" b="1" dirty="0" smtClean="0"/>
              <a:t>управление </a:t>
            </a:r>
            <a:r>
              <a:rPr lang="ru-RU" sz="2800" b="1" dirty="0"/>
              <a:t>данными </a:t>
            </a:r>
            <a:r>
              <a:rPr lang="ru-RU" sz="2800" b="1" dirty="0" smtClean="0"/>
              <a:t>выполняет прикладная программа</a:t>
            </a:r>
            <a:r>
              <a:rPr lang="ru-RU" sz="2800" dirty="0" smtClean="0"/>
              <a:t>, </a:t>
            </a:r>
            <a:r>
              <a:rPr lang="ru-RU" sz="2800" dirty="0"/>
              <a:t>которая эти данные </a:t>
            </a:r>
            <a:r>
              <a:rPr lang="ru-RU" sz="2800" dirty="0" smtClean="0"/>
              <a:t>использует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ru-RU" sz="2800" b="1" dirty="0" smtClean="0"/>
              <a:t>программа зависит </a:t>
            </a:r>
            <a:r>
              <a:rPr lang="ru-RU" sz="2800" dirty="0" smtClean="0"/>
              <a:t>от структуры данных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ru-RU" sz="2800" dirty="0"/>
              <a:t>с</a:t>
            </a:r>
            <a:r>
              <a:rPr lang="ru-RU" sz="2800" dirty="0" smtClean="0"/>
              <a:t>ложно реализовать </a:t>
            </a:r>
            <a:r>
              <a:rPr lang="ru-RU" sz="2800" b="1" dirty="0" smtClean="0"/>
              <a:t>взаимосвязи</a:t>
            </a:r>
            <a:r>
              <a:rPr lang="ru-RU" sz="2800" dirty="0" smtClean="0"/>
              <a:t> между данными из разных файлов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ru-RU" sz="2800" dirty="0"/>
              <a:t>б</a:t>
            </a:r>
            <a:r>
              <a:rPr lang="ru-RU" sz="2800" dirty="0" smtClean="0"/>
              <a:t>ольшие проблемы при </a:t>
            </a:r>
            <a:r>
              <a:rPr lang="ru-RU" sz="2800" b="1" dirty="0" smtClean="0"/>
              <a:t>совместном использовании</a:t>
            </a:r>
            <a:r>
              <a:rPr lang="ru-RU" sz="2800" dirty="0" smtClean="0"/>
              <a:t> одних и тех же файлов многими программами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ru-RU" sz="2800" b="1" dirty="0"/>
              <a:t>д</a:t>
            </a:r>
            <a:r>
              <a:rPr lang="ru-RU" sz="2800" b="1" dirty="0" smtClean="0"/>
              <a:t>ублирование данных</a:t>
            </a:r>
            <a:r>
              <a:rPr lang="ru-RU" sz="2800" dirty="0" smtClean="0"/>
              <a:t> при решении разных задач, использующих схожую информацию</a:t>
            </a:r>
            <a:endParaRPr lang="ru-RU" sz="2800" dirty="0"/>
          </a:p>
        </p:txBody>
      </p:sp>
      <p:sp>
        <p:nvSpPr>
          <p:cNvPr id="8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83458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Лекция </a:t>
            </a: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1.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С</a:t>
            </a:r>
            <a:r>
              <a:rPr lang="ru-RU" sz="2000" dirty="0">
                <a:solidFill>
                  <a:schemeClr val="tx1"/>
                </a:solidFill>
              </a:rPr>
              <a:t>истемы хранения и управления данными</a:t>
            </a:r>
            <a:r>
              <a:rPr lang="ru-RU" sz="2000" dirty="0" smtClean="0">
                <a:solidFill>
                  <a:schemeClr val="tx1"/>
                </a:solidFill>
              </a:rPr>
              <a:t/>
            </a:r>
            <a:br>
              <a:rPr lang="ru-RU" sz="2000" dirty="0" smtClean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2960714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4000" b="1" smtClean="0">
                <a:latin typeface="Arial" pitchFamily="34" charset="0"/>
                <a:cs typeface="Arial" pitchFamily="34" charset="0"/>
              </a:rPr>
              <a:t>Пример набора данных</a:t>
            </a:r>
            <a:endParaRPr lang="ru-RU" sz="4000" dirty="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4000" dirty="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40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23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1520" y="1412776"/>
            <a:ext cx="8892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smtClean="0"/>
              <a:t>Информация о сотруднике:</a:t>
            </a:r>
          </a:p>
        </p:txBody>
      </p:sp>
      <p:sp>
        <p:nvSpPr>
          <p:cNvPr id="8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83458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Лекция </a:t>
            </a: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1.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С</a:t>
            </a:r>
            <a:r>
              <a:rPr lang="ru-RU" sz="2000" dirty="0">
                <a:solidFill>
                  <a:schemeClr val="tx1"/>
                </a:solidFill>
              </a:rPr>
              <a:t>истемы хранения и управления данными</a:t>
            </a:r>
            <a:r>
              <a:rPr lang="ru-RU" sz="2000" dirty="0" smtClean="0">
                <a:solidFill>
                  <a:schemeClr val="tx1"/>
                </a:solidFill>
              </a:rPr>
              <a:t/>
            </a:r>
            <a:br>
              <a:rPr lang="ru-RU" sz="2000" dirty="0" smtClean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95536" y="4581128"/>
            <a:ext cx="84969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Использование ИС требует ведения </a:t>
            </a:r>
            <a:r>
              <a:rPr lang="ru-RU" sz="2400" dirty="0" smtClean="0"/>
              <a:t>ключей доступа: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ru-RU" sz="2400" dirty="0"/>
              <a:t>п</a:t>
            </a:r>
            <a:r>
              <a:rPr lang="ru-RU" sz="2400" dirty="0" smtClean="0"/>
              <a:t>о уникальному ключу  (ТАБЕЛЬНЫЙ НОМЕР)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ru-RU" sz="2400" dirty="0"/>
              <a:t>п</a:t>
            </a:r>
            <a:r>
              <a:rPr lang="ru-RU" sz="2400" dirty="0" smtClean="0"/>
              <a:t>о неуникальному ключу (для </a:t>
            </a:r>
            <a:r>
              <a:rPr lang="ru-RU" sz="2400" dirty="0"/>
              <a:t>отбора записей с общим значением поля </a:t>
            </a:r>
            <a:r>
              <a:rPr lang="ru-RU" sz="2400" dirty="0" smtClean="0"/>
              <a:t>НОМЕР ОТДЕЛА) </a:t>
            </a:r>
            <a:endParaRPr lang="ru-R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5496" y="1984772"/>
            <a:ext cx="669674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6088" lvl="0"/>
            <a:r>
              <a:rPr lang="ru-RU" sz="2400" smtClean="0">
                <a:solidFill>
                  <a:srgbClr val="7030A0"/>
                </a:solidFill>
              </a:rPr>
              <a:t>НОМЕР </a:t>
            </a:r>
            <a:r>
              <a:rPr lang="ru-RU" sz="2400">
                <a:solidFill>
                  <a:srgbClr val="7030A0"/>
                </a:solidFill>
              </a:rPr>
              <a:t>ОТДЕЛА</a:t>
            </a:r>
            <a:endParaRPr lang="ru-RU" sz="2400"/>
          </a:p>
          <a:p>
            <a:pPr marL="446088" lvl="0"/>
            <a:r>
              <a:rPr lang="ru-RU" sz="2400">
                <a:solidFill>
                  <a:srgbClr val="7030A0"/>
                </a:solidFill>
              </a:rPr>
              <a:t>НАИМЕНОВАНИЕ ОТДЕЛА</a:t>
            </a:r>
            <a:r>
              <a:rPr lang="ru-RU" sz="2400"/>
              <a:t>     </a:t>
            </a:r>
            <a:endParaRPr lang="ru-RU" sz="2400" smtClean="0"/>
          </a:p>
          <a:p>
            <a:pPr marL="446088" lvl="0"/>
            <a:r>
              <a:rPr lang="ru-RU" sz="2400" smtClean="0">
                <a:solidFill>
                  <a:srgbClr val="7030A0"/>
                </a:solidFill>
              </a:rPr>
              <a:t>ТАБЕЛЬНЫЙ </a:t>
            </a:r>
            <a:r>
              <a:rPr lang="ru-RU" sz="2400">
                <a:solidFill>
                  <a:srgbClr val="7030A0"/>
                </a:solidFill>
              </a:rPr>
              <a:t>НОМЕР</a:t>
            </a:r>
            <a:endParaRPr lang="ru-RU" sz="2400"/>
          </a:p>
          <a:p>
            <a:pPr marL="446088" lvl="0"/>
            <a:r>
              <a:rPr lang="ru-RU" sz="2400">
                <a:solidFill>
                  <a:srgbClr val="7030A0"/>
                </a:solidFill>
              </a:rPr>
              <a:t>ФИО</a:t>
            </a:r>
            <a:r>
              <a:rPr lang="ru-RU" sz="2400"/>
              <a:t>      </a:t>
            </a:r>
            <a:r>
              <a:rPr lang="ru-RU" sz="2400" smtClean="0"/>
              <a:t>      </a:t>
            </a:r>
            <a:r>
              <a:rPr lang="ru-RU" sz="2400"/>
              <a:t>- фамилия, имя и отчество</a:t>
            </a:r>
          </a:p>
          <a:p>
            <a:pPr marL="446088" lvl="0"/>
            <a:r>
              <a:rPr lang="ru-RU" sz="2400">
                <a:solidFill>
                  <a:srgbClr val="7030A0"/>
                </a:solidFill>
              </a:rPr>
              <a:t>НОМЕР ПАСПОРТА</a:t>
            </a:r>
            <a:endParaRPr lang="ru-RU" sz="2400"/>
          </a:p>
          <a:p>
            <a:pPr marL="446088" lvl="0"/>
            <a:r>
              <a:rPr lang="ru-RU" sz="2400" smtClean="0">
                <a:solidFill>
                  <a:srgbClr val="7030A0"/>
                </a:solidFill>
              </a:rPr>
              <a:t>ДОЛЖНОСТЬ</a:t>
            </a:r>
            <a:endParaRPr lang="ru-RU" sz="2400"/>
          </a:p>
        </p:txBody>
      </p:sp>
      <p:sp>
        <p:nvSpPr>
          <p:cNvPr id="9" name="TextBox 8"/>
          <p:cNvSpPr txBox="1"/>
          <p:nvPr/>
        </p:nvSpPr>
        <p:spPr>
          <a:xfrm>
            <a:off x="5292080" y="2348880"/>
            <a:ext cx="3851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400">
                <a:solidFill>
                  <a:srgbClr val="C00000"/>
                </a:solidFill>
              </a:rPr>
              <a:t>-</a:t>
            </a:r>
            <a:r>
              <a:rPr lang="en-US" sz="2400">
                <a:solidFill>
                  <a:srgbClr val="C00000"/>
                </a:solidFill>
              </a:rPr>
              <a:t>&gt;</a:t>
            </a:r>
            <a:r>
              <a:rPr lang="ru-RU" sz="2400" smtClean="0">
                <a:solidFill>
                  <a:srgbClr val="C00000"/>
                </a:solidFill>
              </a:rPr>
              <a:t>Дублирование</a:t>
            </a:r>
            <a:endParaRPr lang="ru-RU" sz="2400"/>
          </a:p>
        </p:txBody>
      </p:sp>
    </p:spTree>
    <p:extLst>
      <p:ext uri="{BB962C8B-B14F-4D97-AF65-F5344CB8AC3E}">
        <p14:creationId xmlns:p14="http://schemas.microsoft.com/office/powerpoint/2010/main" val="2905017284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/>
      <p:bldP spid="3" grpId="0"/>
      <p:bldP spid="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340768"/>
            <a:ext cx="5400600" cy="2223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4000" b="1" smtClean="0">
                <a:latin typeface="Arial" pitchFamily="34" charset="0"/>
                <a:cs typeface="Arial" pitchFamily="34" charset="0"/>
              </a:rPr>
              <a:t>Устранение избыточности</a:t>
            </a:r>
            <a:endParaRPr lang="ru-RU" sz="4000" dirty="0" smtClean="0">
              <a:latin typeface="Arial" pitchFamily="34" charset="0"/>
              <a:cs typeface="Arial" pitchFamily="34" charset="0"/>
            </a:endParaRP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24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1520" y="1023119"/>
            <a:ext cx="8856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ru-RU" sz="2400" dirty="0" smtClean="0"/>
              <a:t>Для </a:t>
            </a:r>
            <a:r>
              <a:rPr lang="ru-RU" sz="2400" b="1" dirty="0"/>
              <a:t>уменьшения избыточности </a:t>
            </a:r>
            <a:r>
              <a:rPr lang="ru-RU" sz="2400" b="1" dirty="0" smtClean="0"/>
              <a:t> будем вести 2 файла</a:t>
            </a:r>
            <a:endParaRPr lang="ru-RU" sz="2400" dirty="0"/>
          </a:p>
        </p:txBody>
      </p:sp>
      <p:sp>
        <p:nvSpPr>
          <p:cNvPr id="8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83458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Лекция </a:t>
            </a: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1</a:t>
            </a: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С</a:t>
            </a:r>
            <a:r>
              <a:rPr lang="ru-RU" sz="2000" dirty="0">
                <a:solidFill>
                  <a:schemeClr val="tx1"/>
                </a:solidFill>
              </a:rPr>
              <a:t>истемы хранения и управления данными</a:t>
            </a:r>
            <a:r>
              <a:rPr lang="ru-RU" sz="2000" dirty="0" smtClean="0">
                <a:solidFill>
                  <a:schemeClr val="tx1"/>
                </a:solidFill>
              </a:rPr>
              <a:t/>
            </a:r>
            <a:br>
              <a:rPr lang="ru-RU" sz="2000" dirty="0" smtClean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23528" y="3429000"/>
            <a:ext cx="8712968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ru-RU" sz="2400" dirty="0"/>
              <a:t>Н</a:t>
            </a:r>
            <a:r>
              <a:rPr lang="ru-RU" sz="2400" dirty="0" smtClean="0"/>
              <a:t>овая </a:t>
            </a:r>
            <a:r>
              <a:rPr lang="ru-RU" sz="2400" b="1" dirty="0"/>
              <a:t>ИС</a:t>
            </a:r>
            <a:r>
              <a:rPr lang="ru-RU" sz="2400" dirty="0"/>
              <a:t> должна обладать </a:t>
            </a:r>
            <a:r>
              <a:rPr lang="ru-RU" sz="2400" b="1" dirty="0" smtClean="0"/>
              <a:t>новыми </a:t>
            </a:r>
            <a:r>
              <a:rPr lang="ru-RU" sz="2400" b="1" dirty="0"/>
              <a:t>свойствами</a:t>
            </a:r>
            <a:r>
              <a:rPr lang="ru-RU" sz="2400" dirty="0"/>
              <a:t>: </a:t>
            </a:r>
            <a:endParaRPr lang="ru-RU" sz="2400" dirty="0" smtClean="0"/>
          </a:p>
          <a:p>
            <a:pPr algn="just"/>
            <a:r>
              <a:rPr lang="ru-RU" sz="2400" b="1" dirty="0"/>
              <a:t> </a:t>
            </a:r>
            <a:r>
              <a:rPr lang="ru-RU" sz="2400" b="1" dirty="0" smtClean="0"/>
              <a:t>             знать структуру и связи наборов  данных</a:t>
            </a:r>
            <a:r>
              <a:rPr lang="ru-RU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ru-RU" sz="2400" dirty="0" smtClean="0"/>
              <a:t> </a:t>
            </a:r>
          </a:p>
          <a:p>
            <a:pPr marL="182563" indent="-182563" algn="just"/>
            <a:r>
              <a:rPr lang="ru-RU" sz="2000" dirty="0" smtClean="0"/>
              <a:t>1) в </a:t>
            </a:r>
            <a:r>
              <a:rPr lang="ru-RU" sz="2000" dirty="0"/>
              <a:t>программу необходимо </a:t>
            </a:r>
            <a:r>
              <a:rPr lang="ru-RU" sz="2000" dirty="0" smtClean="0"/>
              <a:t>заложить</a:t>
            </a:r>
            <a:r>
              <a:rPr lang="ru-RU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ru-RU" sz="2000" dirty="0" smtClean="0"/>
              <a:t> поля </a:t>
            </a:r>
            <a:r>
              <a:rPr lang="ru-RU" sz="2000" i="1" dirty="0" smtClean="0">
                <a:solidFill>
                  <a:srgbClr val="7030A0"/>
                </a:solidFill>
              </a:rPr>
              <a:t>Номер отдела</a:t>
            </a:r>
            <a:r>
              <a:rPr lang="ru-RU" sz="2000" dirty="0" smtClean="0"/>
              <a:t> </a:t>
            </a:r>
            <a:r>
              <a:rPr lang="ru-RU" sz="2000" dirty="0"/>
              <a:t>в файле </a:t>
            </a:r>
            <a:r>
              <a:rPr lang="ru-RU" sz="2000" b="1" dirty="0" smtClean="0"/>
              <a:t>ОТДЕЛ </a:t>
            </a:r>
            <a:r>
              <a:rPr lang="ru-RU" sz="2000" dirty="0" smtClean="0"/>
              <a:t> </a:t>
            </a:r>
            <a:r>
              <a:rPr lang="ru-RU" sz="2000" dirty="0"/>
              <a:t>и </a:t>
            </a:r>
            <a:r>
              <a:rPr lang="ru-RU" sz="2000" dirty="0" smtClean="0"/>
              <a:t> </a:t>
            </a:r>
            <a:r>
              <a:rPr lang="ru-RU" sz="2000" dirty="0"/>
              <a:t>в файле </a:t>
            </a:r>
            <a:r>
              <a:rPr lang="ru-RU" sz="2000" b="1" dirty="0" smtClean="0"/>
              <a:t>СОТРУДНИК</a:t>
            </a:r>
            <a:r>
              <a:rPr lang="ru-RU" sz="2000" dirty="0" smtClean="0"/>
              <a:t> </a:t>
            </a:r>
            <a:r>
              <a:rPr lang="ru-RU" sz="2000" dirty="0"/>
              <a:t>– это одно и </a:t>
            </a:r>
            <a:r>
              <a:rPr lang="ru-RU" sz="2000" dirty="0" smtClean="0"/>
              <a:t>тоже </a:t>
            </a:r>
          </a:p>
          <a:p>
            <a:pPr marL="182563" indent="-182563" algn="just"/>
            <a:r>
              <a:rPr lang="ru-RU" sz="2000" dirty="0" smtClean="0"/>
              <a:t>2) </a:t>
            </a:r>
            <a:r>
              <a:rPr lang="ru-RU" sz="2000" dirty="0"/>
              <a:t>необходимо </a:t>
            </a:r>
            <a:r>
              <a:rPr lang="ru-RU" sz="2000" b="1" dirty="0"/>
              <a:t>поддерживать </a:t>
            </a:r>
            <a:r>
              <a:rPr lang="ru-RU" sz="2000" b="1" dirty="0" smtClean="0"/>
              <a:t>целостность</a:t>
            </a:r>
            <a:r>
              <a:rPr lang="ru-RU" sz="2000" dirty="0" smtClean="0"/>
              <a:t> данных</a:t>
            </a:r>
            <a:r>
              <a:rPr lang="ru-RU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ru-RU" sz="2000" dirty="0" smtClean="0"/>
              <a:t> изменение </a:t>
            </a:r>
            <a:r>
              <a:rPr lang="ru-RU" sz="2000" dirty="0"/>
              <a:t>значения поля в </a:t>
            </a:r>
            <a:r>
              <a:rPr lang="ru-RU" sz="2000" dirty="0" smtClean="0"/>
              <a:t>файле Отдел </a:t>
            </a:r>
            <a:r>
              <a:rPr lang="ru-RU" sz="2000" dirty="0"/>
              <a:t>должно вызывать изменение значения соответствующего поля в некоторых записях </a:t>
            </a:r>
            <a:r>
              <a:rPr lang="ru-RU" sz="2000" dirty="0" smtClean="0"/>
              <a:t>файла Сотрудник </a:t>
            </a:r>
          </a:p>
          <a:p>
            <a:pPr algn="just"/>
            <a:r>
              <a:rPr lang="ru-RU" sz="2000" dirty="0" smtClean="0"/>
              <a:t>                         </a:t>
            </a:r>
            <a:r>
              <a:rPr lang="ru-RU" sz="2000" b="1" dirty="0" smtClean="0"/>
              <a:t>Целостность</a:t>
            </a:r>
            <a:r>
              <a:rPr lang="ru-RU" sz="2000" dirty="0" smtClean="0"/>
              <a:t> - </a:t>
            </a:r>
            <a:r>
              <a:rPr lang="ru-RU" sz="2000" dirty="0"/>
              <a:t>одно из ключевых понятий </a:t>
            </a:r>
            <a:r>
              <a:rPr lang="ru-RU" sz="2000" dirty="0" smtClean="0"/>
              <a:t>БД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83047056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7680" y="1744640"/>
            <a:ext cx="4966688" cy="204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4000" b="1" smtClean="0">
                <a:latin typeface="Arial" pitchFamily="34" charset="0"/>
                <a:cs typeface="Arial" pitchFamily="34" charset="0"/>
              </a:rPr>
              <a:t>Процедурные алгоритмы</a:t>
            </a: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25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1520" y="980728"/>
            <a:ext cx="86409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520825" indent="-1520825" algn="just"/>
            <a:r>
              <a:rPr lang="ru-RU" sz="2400" dirty="0" smtClean="0"/>
              <a:t>Пример.  Определить </a:t>
            </a:r>
            <a:r>
              <a:rPr lang="ru-RU" sz="2400" dirty="0"/>
              <a:t>численность отдела, в котором работает ИВАНОВ ИВАН </a:t>
            </a:r>
            <a:r>
              <a:rPr lang="ru-RU" sz="2400" dirty="0" smtClean="0"/>
              <a:t>ИВАНОВИЧ </a:t>
            </a:r>
            <a:endParaRPr lang="ru-RU" sz="2400" dirty="0"/>
          </a:p>
        </p:txBody>
      </p:sp>
      <p:sp>
        <p:nvSpPr>
          <p:cNvPr id="8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83458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Лекция </a:t>
            </a: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1.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С</a:t>
            </a:r>
            <a:r>
              <a:rPr lang="ru-RU" sz="2000" dirty="0">
                <a:solidFill>
                  <a:schemeClr val="tx1"/>
                </a:solidFill>
              </a:rPr>
              <a:t>истемы хранения и управления данными</a:t>
            </a:r>
            <a:r>
              <a:rPr lang="ru-RU" sz="2000" dirty="0" smtClean="0">
                <a:solidFill>
                  <a:schemeClr val="tx1"/>
                </a:solidFill>
              </a:rPr>
              <a:t/>
            </a:r>
            <a:br>
              <a:rPr lang="ru-RU" sz="2000" dirty="0" smtClean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59532" y="3789040"/>
            <a:ext cx="8424936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Процедурное решение</a:t>
            </a:r>
            <a:r>
              <a:rPr lang="ru-RU" sz="2400" dirty="0"/>
              <a:t> - необходимо организовать два прохода по файлу СОТРУДНИК: </a:t>
            </a:r>
          </a:p>
          <a:p>
            <a:pPr marL="457200" indent="-457200" algn="just">
              <a:spcBef>
                <a:spcPts val="300"/>
              </a:spcBef>
              <a:buFont typeface="+mj-lt"/>
              <a:buAutoNum type="arabicParenR"/>
            </a:pPr>
            <a:r>
              <a:rPr lang="ru-RU" sz="2400" dirty="0"/>
              <a:t>поиск записи о сотруднике по фамилии и запоминание номера отдела</a:t>
            </a:r>
          </a:p>
          <a:p>
            <a:pPr marL="457200" indent="-457200" algn="just">
              <a:spcBef>
                <a:spcPts val="300"/>
              </a:spcBef>
              <a:buFont typeface="+mj-lt"/>
              <a:buAutoNum type="arabicParenR"/>
            </a:pPr>
            <a:r>
              <a:rPr lang="ru-RU" sz="2400" dirty="0"/>
              <a:t>выбор всех записей с указанным номером отдела и подсчет их количества</a:t>
            </a: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503293694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4000" b="1" dirty="0" smtClean="0">
                <a:latin typeface="Arial" pitchFamily="34" charset="0"/>
                <a:cs typeface="Arial" pitchFamily="34" charset="0"/>
              </a:rPr>
              <a:t>Требование декларативности</a:t>
            </a: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26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1520" y="1124744"/>
            <a:ext cx="8727888" cy="6078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b="1" dirty="0"/>
              <a:t>Н</a:t>
            </a:r>
            <a:r>
              <a:rPr lang="ru-RU" sz="2400" b="1" dirty="0" smtClean="0"/>
              <a:t>ужен </a:t>
            </a:r>
            <a:r>
              <a:rPr lang="ru-RU" sz="2400" b="1" dirty="0"/>
              <a:t>язык</a:t>
            </a:r>
            <a:r>
              <a:rPr lang="ru-RU" sz="2400" dirty="0"/>
              <a:t>, который описывал бы запросы на близком к пользователю языке и не требовал описания схемы реализации данного </a:t>
            </a:r>
            <a:r>
              <a:rPr lang="ru-RU" sz="2400" dirty="0" smtClean="0"/>
              <a:t>запроса</a:t>
            </a:r>
          </a:p>
          <a:p>
            <a:pPr algn="just"/>
            <a:endParaRPr lang="ru-RU" sz="400" dirty="0" smtClean="0"/>
          </a:p>
          <a:p>
            <a:pPr algn="just"/>
            <a:r>
              <a:rPr lang="ru-RU" sz="2400" i="1" dirty="0" smtClean="0"/>
              <a:t>Пример запроса для той же задачи</a:t>
            </a:r>
          </a:p>
          <a:p>
            <a:pPr algn="just"/>
            <a:r>
              <a:rPr lang="ru-RU" sz="2400" dirty="0">
                <a:solidFill>
                  <a:srgbClr val="0070C0"/>
                </a:solidFill>
              </a:rPr>
              <a:t>а</a:t>
            </a:r>
            <a:r>
              <a:rPr lang="ru-RU" sz="2400" dirty="0" smtClean="0">
                <a:solidFill>
                  <a:srgbClr val="0070C0"/>
                </a:solidFill>
              </a:rPr>
              <a:t>) на человеческом языке:</a:t>
            </a:r>
          </a:p>
          <a:p>
            <a:pPr algn="just"/>
            <a:r>
              <a:rPr lang="ru-RU" sz="2400" dirty="0" smtClean="0">
                <a:solidFill>
                  <a:srgbClr val="7030A0"/>
                </a:solidFill>
              </a:rPr>
              <a:t>Подсчитать </a:t>
            </a:r>
            <a:r>
              <a:rPr lang="ru-RU" sz="2400" dirty="0">
                <a:solidFill>
                  <a:srgbClr val="7030A0"/>
                </a:solidFill>
              </a:rPr>
              <a:t>и вывести </a:t>
            </a:r>
            <a:r>
              <a:rPr lang="ru-RU" sz="2400" dirty="0" smtClean="0">
                <a:solidFill>
                  <a:srgbClr val="7030A0"/>
                </a:solidFill>
              </a:rPr>
              <a:t>КОЛИЧЕСТВО </a:t>
            </a:r>
            <a:r>
              <a:rPr lang="ru-RU" sz="2400" dirty="0">
                <a:solidFill>
                  <a:srgbClr val="7030A0"/>
                </a:solidFill>
              </a:rPr>
              <a:t>записей </a:t>
            </a:r>
            <a:endParaRPr lang="ru-RU" sz="2400" dirty="0" smtClean="0">
              <a:solidFill>
                <a:srgbClr val="7030A0"/>
              </a:solidFill>
            </a:endParaRPr>
          </a:p>
          <a:p>
            <a:pPr algn="just"/>
            <a:r>
              <a:rPr lang="ru-RU" sz="2400" dirty="0" smtClean="0">
                <a:solidFill>
                  <a:srgbClr val="7030A0"/>
                </a:solidFill>
              </a:rPr>
              <a:t>   в </a:t>
            </a:r>
            <a:r>
              <a:rPr lang="ru-RU" sz="2400" dirty="0">
                <a:solidFill>
                  <a:srgbClr val="7030A0"/>
                </a:solidFill>
              </a:rPr>
              <a:t>ФАЙЛЕ </a:t>
            </a:r>
            <a:r>
              <a:rPr lang="ru-RU" sz="2400" dirty="0" smtClean="0">
                <a:solidFill>
                  <a:srgbClr val="7030A0"/>
                </a:solidFill>
              </a:rPr>
              <a:t>СОТРУДНИК</a:t>
            </a:r>
            <a:endParaRPr lang="ru-RU" sz="2400" dirty="0">
              <a:solidFill>
                <a:srgbClr val="7030A0"/>
              </a:solidFill>
            </a:endParaRPr>
          </a:p>
          <a:p>
            <a:pPr algn="just"/>
            <a:r>
              <a:rPr lang="ru-RU" sz="2400" dirty="0" smtClean="0">
                <a:solidFill>
                  <a:srgbClr val="7030A0"/>
                </a:solidFill>
              </a:rPr>
              <a:t>   ГДЕ   </a:t>
            </a:r>
            <a:r>
              <a:rPr lang="ru-RU" sz="2400" dirty="0">
                <a:solidFill>
                  <a:srgbClr val="7030A0"/>
                </a:solidFill>
              </a:rPr>
              <a:t>Номер отдела= Номер отдела </a:t>
            </a:r>
          </a:p>
          <a:p>
            <a:pPr algn="just"/>
            <a:r>
              <a:rPr lang="ru-RU" sz="2400" dirty="0" smtClean="0">
                <a:solidFill>
                  <a:srgbClr val="7030A0"/>
                </a:solidFill>
              </a:rPr>
              <a:t>            для ФИО=</a:t>
            </a:r>
            <a:r>
              <a:rPr lang="ru-RU" sz="2400" dirty="0">
                <a:solidFill>
                  <a:srgbClr val="7030A0"/>
                </a:solidFill>
                <a:sym typeface="Symbol"/>
              </a:rPr>
              <a:t> </a:t>
            </a:r>
            <a:r>
              <a:rPr lang="ru-RU" sz="2400" dirty="0" smtClean="0">
                <a:solidFill>
                  <a:srgbClr val="7030A0"/>
                </a:solidFill>
                <a:sym typeface="Symbol"/>
              </a:rPr>
              <a:t></a:t>
            </a:r>
            <a:r>
              <a:rPr lang="ru-RU" sz="2400" dirty="0" smtClean="0">
                <a:solidFill>
                  <a:srgbClr val="7030A0"/>
                </a:solidFill>
              </a:rPr>
              <a:t>ИВАНОВ </a:t>
            </a:r>
            <a:r>
              <a:rPr lang="ru-RU" sz="2400" dirty="0">
                <a:solidFill>
                  <a:srgbClr val="7030A0"/>
                </a:solidFill>
              </a:rPr>
              <a:t>ИВАН </a:t>
            </a:r>
            <a:r>
              <a:rPr lang="ru-RU" sz="2400" dirty="0" smtClean="0">
                <a:solidFill>
                  <a:srgbClr val="7030A0"/>
                </a:solidFill>
              </a:rPr>
              <a:t>ИВАНОВИЧ</a:t>
            </a:r>
            <a:r>
              <a:rPr lang="ru-RU" sz="2400" dirty="0" smtClean="0">
                <a:solidFill>
                  <a:srgbClr val="7030A0"/>
                </a:solidFill>
                <a:sym typeface="Symbol"/>
              </a:rPr>
              <a:t></a:t>
            </a:r>
          </a:p>
          <a:p>
            <a:pPr algn="just">
              <a:spcBef>
                <a:spcPts val="600"/>
              </a:spcBef>
            </a:pPr>
            <a:r>
              <a:rPr lang="ru-RU" sz="2400" dirty="0">
                <a:solidFill>
                  <a:srgbClr val="0070C0"/>
                </a:solidFill>
                <a:sym typeface="Symbol"/>
              </a:rPr>
              <a:t>б</a:t>
            </a:r>
            <a:r>
              <a:rPr lang="ru-RU" sz="2400" dirty="0" smtClean="0">
                <a:solidFill>
                  <a:srgbClr val="0070C0"/>
                </a:solidFill>
                <a:sym typeface="Symbol"/>
              </a:rPr>
              <a:t>) на языке </a:t>
            </a:r>
            <a:r>
              <a:rPr lang="en-US" sz="2400" dirty="0" smtClean="0">
                <a:solidFill>
                  <a:srgbClr val="0070C0"/>
                </a:solidFill>
                <a:sym typeface="Symbol"/>
              </a:rPr>
              <a:t>SQL</a:t>
            </a:r>
            <a:endParaRPr lang="ru-RU" sz="2400" dirty="0">
              <a:solidFill>
                <a:srgbClr val="0070C0"/>
              </a:solidFill>
              <a:sym typeface="Symbol"/>
            </a:endParaRPr>
          </a:p>
          <a:p>
            <a:pPr algn="just"/>
            <a:r>
              <a:rPr lang="en-US" sz="2200" dirty="0" smtClean="0">
                <a:solidFill>
                  <a:srgbClr val="7030A0"/>
                </a:solidFill>
                <a:sym typeface="Symbol"/>
              </a:rPr>
              <a:t>SELECT  COUNT(*)</a:t>
            </a:r>
          </a:p>
          <a:p>
            <a:pPr algn="just"/>
            <a:r>
              <a:rPr lang="ru-RU" sz="2200" dirty="0" smtClean="0">
                <a:solidFill>
                  <a:srgbClr val="7030A0"/>
                </a:solidFill>
                <a:sym typeface="Symbol"/>
              </a:rPr>
              <a:t>   </a:t>
            </a:r>
            <a:r>
              <a:rPr lang="en-US" sz="2200" dirty="0" smtClean="0">
                <a:solidFill>
                  <a:srgbClr val="7030A0"/>
                </a:solidFill>
                <a:sym typeface="Symbol"/>
              </a:rPr>
              <a:t>FROM </a:t>
            </a:r>
            <a:r>
              <a:rPr lang="ru-RU" sz="2200" dirty="0" smtClean="0">
                <a:solidFill>
                  <a:srgbClr val="7030A0"/>
                </a:solidFill>
                <a:sym typeface="Symbol"/>
              </a:rPr>
              <a:t>Сотрудник</a:t>
            </a:r>
          </a:p>
          <a:p>
            <a:pPr algn="just"/>
            <a:r>
              <a:rPr lang="ru-RU" sz="2200" dirty="0">
                <a:solidFill>
                  <a:srgbClr val="7030A0"/>
                </a:solidFill>
                <a:sym typeface="Symbol"/>
              </a:rPr>
              <a:t> </a:t>
            </a:r>
            <a:r>
              <a:rPr lang="ru-RU" sz="2200" dirty="0" smtClean="0">
                <a:solidFill>
                  <a:srgbClr val="7030A0"/>
                </a:solidFill>
                <a:sym typeface="Symbol"/>
              </a:rPr>
              <a:t>  </a:t>
            </a:r>
            <a:r>
              <a:rPr lang="en-US" sz="2200" dirty="0" smtClean="0">
                <a:solidFill>
                  <a:srgbClr val="7030A0"/>
                </a:solidFill>
                <a:sym typeface="Symbol"/>
              </a:rPr>
              <a:t>WHERE </a:t>
            </a:r>
            <a:r>
              <a:rPr lang="ru-RU" sz="2200" dirty="0">
                <a:solidFill>
                  <a:srgbClr val="7030A0"/>
                </a:solidFill>
                <a:sym typeface="Symbol"/>
              </a:rPr>
              <a:t>Н</a:t>
            </a:r>
            <a:r>
              <a:rPr lang="ru-RU" sz="2200" dirty="0" smtClean="0">
                <a:solidFill>
                  <a:srgbClr val="7030A0"/>
                </a:solidFill>
                <a:sym typeface="Symbol"/>
              </a:rPr>
              <a:t>омер отдела = (</a:t>
            </a:r>
            <a:r>
              <a:rPr lang="en-US" sz="2200" dirty="0" smtClean="0">
                <a:solidFill>
                  <a:schemeClr val="accent2">
                    <a:lumMod val="50000"/>
                  </a:schemeClr>
                </a:solidFill>
                <a:sym typeface="Symbol"/>
              </a:rPr>
              <a:t>SELECT  </a:t>
            </a:r>
            <a:r>
              <a:rPr lang="ru-RU" sz="2200" dirty="0" smtClean="0">
                <a:solidFill>
                  <a:schemeClr val="accent2">
                    <a:lumMod val="50000"/>
                  </a:schemeClr>
                </a:solidFill>
                <a:sym typeface="Symbol"/>
              </a:rPr>
              <a:t>Номер отдела</a:t>
            </a:r>
          </a:p>
          <a:p>
            <a:pPr algn="just"/>
            <a:r>
              <a:rPr lang="ru-RU" sz="2200" dirty="0" smtClean="0">
                <a:solidFill>
                  <a:schemeClr val="accent2">
                    <a:lumMod val="50000"/>
                  </a:schemeClr>
                </a:solidFill>
                <a:sym typeface="Symbol"/>
              </a:rPr>
              <a:t>                           </a:t>
            </a:r>
            <a:r>
              <a:rPr lang="en-US" sz="2200" dirty="0">
                <a:solidFill>
                  <a:schemeClr val="accent2">
                    <a:lumMod val="50000"/>
                  </a:schemeClr>
                </a:solidFill>
                <a:sym typeface="Symbol"/>
              </a:rPr>
              <a:t>FROM </a:t>
            </a:r>
            <a:r>
              <a:rPr lang="ru-RU" sz="2200" dirty="0" smtClean="0">
                <a:solidFill>
                  <a:schemeClr val="accent2">
                    <a:lumMod val="50000"/>
                  </a:schemeClr>
                </a:solidFill>
                <a:sym typeface="Symbol"/>
              </a:rPr>
              <a:t>Сотрудник </a:t>
            </a:r>
            <a:endParaRPr lang="en-US" sz="2200" dirty="0" smtClean="0">
              <a:solidFill>
                <a:schemeClr val="accent2">
                  <a:lumMod val="50000"/>
                </a:schemeClr>
              </a:solidFill>
              <a:sym typeface="Symbol"/>
            </a:endParaRPr>
          </a:p>
          <a:p>
            <a:pPr algn="just"/>
            <a:r>
              <a:rPr lang="en-US" sz="2200" dirty="0">
                <a:solidFill>
                  <a:schemeClr val="accent2">
                    <a:lumMod val="50000"/>
                  </a:schemeClr>
                </a:solidFill>
                <a:sym typeface="Symbol"/>
              </a:rPr>
              <a:t> </a:t>
            </a:r>
            <a:r>
              <a:rPr lang="en-US" sz="2200" dirty="0" smtClean="0">
                <a:solidFill>
                  <a:schemeClr val="accent2">
                    <a:lumMod val="50000"/>
                  </a:schemeClr>
                </a:solidFill>
                <a:sym typeface="Symbol"/>
              </a:rPr>
              <a:t>                        </a:t>
            </a:r>
            <a:r>
              <a:rPr lang="ru-RU" sz="2200" dirty="0" smtClean="0">
                <a:solidFill>
                  <a:schemeClr val="accent2">
                    <a:lumMod val="50000"/>
                  </a:schemeClr>
                </a:solidFill>
                <a:sym typeface="Symbol"/>
              </a:rPr>
              <a:t>    </a:t>
            </a:r>
            <a:r>
              <a:rPr lang="en-US" sz="2200" dirty="0" smtClean="0">
                <a:solidFill>
                  <a:schemeClr val="accent2">
                    <a:lumMod val="50000"/>
                  </a:schemeClr>
                </a:solidFill>
                <a:sym typeface="Symbol"/>
              </a:rPr>
              <a:t>  WHERE </a:t>
            </a:r>
            <a:r>
              <a:rPr lang="ru-RU" sz="2200" dirty="0" smtClean="0">
                <a:solidFill>
                  <a:schemeClr val="accent2">
                    <a:lumMod val="50000"/>
                  </a:schemeClr>
                </a:solidFill>
              </a:rPr>
              <a:t>ФИО</a:t>
            </a:r>
            <a:r>
              <a:rPr lang="ru-RU" sz="2200" dirty="0">
                <a:solidFill>
                  <a:schemeClr val="accent2">
                    <a:lumMod val="50000"/>
                  </a:schemeClr>
                </a:solidFill>
              </a:rPr>
              <a:t>=</a:t>
            </a:r>
            <a:r>
              <a:rPr lang="ru-RU" sz="2200" dirty="0">
                <a:solidFill>
                  <a:schemeClr val="accent2">
                    <a:lumMod val="50000"/>
                  </a:schemeClr>
                </a:solidFill>
                <a:sym typeface="Symbol"/>
              </a:rPr>
              <a:t> </a:t>
            </a:r>
            <a:r>
              <a:rPr lang="ru-RU" sz="2200" dirty="0">
                <a:solidFill>
                  <a:schemeClr val="accent2">
                    <a:lumMod val="50000"/>
                  </a:schemeClr>
                </a:solidFill>
              </a:rPr>
              <a:t>ИВАНОВ ИВАН ИВАНОВИЧ</a:t>
            </a:r>
            <a:r>
              <a:rPr lang="ru-RU" sz="2200" dirty="0" smtClean="0">
                <a:solidFill>
                  <a:schemeClr val="accent2">
                    <a:lumMod val="50000"/>
                  </a:schemeClr>
                </a:solidFill>
                <a:sym typeface="Symbol"/>
              </a:rPr>
              <a:t></a:t>
            </a:r>
            <a:r>
              <a:rPr lang="ru-RU" sz="2200" dirty="0" smtClean="0">
                <a:solidFill>
                  <a:srgbClr val="7030A0"/>
                </a:solidFill>
                <a:sym typeface="Symbol"/>
              </a:rPr>
              <a:t>)</a:t>
            </a:r>
            <a:endParaRPr lang="ru-RU" sz="2200" dirty="0">
              <a:solidFill>
                <a:srgbClr val="7030A0"/>
              </a:solidFill>
              <a:sym typeface="Symbol"/>
            </a:endParaRPr>
          </a:p>
          <a:p>
            <a:pPr algn="just"/>
            <a:endParaRPr lang="ru-RU" sz="2400" dirty="0"/>
          </a:p>
        </p:txBody>
      </p:sp>
      <p:sp>
        <p:nvSpPr>
          <p:cNvPr id="8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83458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Лекция </a:t>
            </a: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1.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С</a:t>
            </a:r>
            <a:r>
              <a:rPr lang="ru-RU" sz="2000" dirty="0">
                <a:solidFill>
                  <a:schemeClr val="tx1"/>
                </a:solidFill>
              </a:rPr>
              <a:t>истемы хранения и управления данными</a:t>
            </a:r>
            <a:r>
              <a:rPr lang="ru-RU" sz="2000" dirty="0" smtClean="0">
                <a:solidFill>
                  <a:schemeClr val="tx1"/>
                </a:solidFill>
              </a:rPr>
              <a:t/>
            </a:r>
            <a:br>
              <a:rPr lang="ru-RU" sz="2000" dirty="0" smtClean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934277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8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4000" b="1" dirty="0" smtClean="0">
                <a:latin typeface="Arial" pitchFamily="34" charset="0"/>
                <a:cs typeface="Arial" pitchFamily="34" charset="0"/>
              </a:rPr>
              <a:t>Проблема целостности данных</a:t>
            </a: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27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1520" y="1196752"/>
            <a:ext cx="88924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smtClean="0"/>
              <a:t>Пример. Было </a:t>
            </a:r>
            <a:r>
              <a:rPr lang="ru-RU" sz="2400"/>
              <a:t>внесено изменение в поле </a:t>
            </a:r>
            <a:r>
              <a:rPr lang="ru-RU" sz="2400" i="1" smtClean="0">
                <a:solidFill>
                  <a:srgbClr val="7030A0"/>
                </a:solidFill>
              </a:rPr>
              <a:t>Номер отдела</a:t>
            </a:r>
            <a:r>
              <a:rPr lang="ru-RU" sz="2400" smtClean="0"/>
              <a:t> в </a:t>
            </a:r>
            <a:r>
              <a:rPr lang="ru-RU" sz="2400"/>
              <a:t>файле </a:t>
            </a:r>
            <a:r>
              <a:rPr lang="ru-RU" sz="2400" b="1" smtClean="0">
                <a:solidFill>
                  <a:srgbClr val="002060"/>
                </a:solidFill>
              </a:rPr>
              <a:t>ОТДЕЛ</a:t>
            </a:r>
          </a:p>
        </p:txBody>
      </p:sp>
      <p:sp>
        <p:nvSpPr>
          <p:cNvPr id="8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83458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Лекция </a:t>
            </a: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1</a:t>
            </a: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С</a:t>
            </a:r>
            <a:r>
              <a:rPr lang="ru-RU" sz="2000" dirty="0">
                <a:solidFill>
                  <a:schemeClr val="tx1"/>
                </a:solidFill>
              </a:rPr>
              <a:t>истемы хранения и управления данными</a:t>
            </a:r>
            <a:r>
              <a:rPr lang="ru-RU" sz="2000" dirty="0" smtClean="0">
                <a:solidFill>
                  <a:schemeClr val="tx1"/>
                </a:solidFill>
              </a:rPr>
              <a:t/>
            </a:r>
            <a:br>
              <a:rPr lang="ru-RU" sz="2000" dirty="0" smtClean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51520" y="2060848"/>
            <a:ext cx="864096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ru-RU" sz="2400" dirty="0"/>
              <a:t>Для поддержания </a:t>
            </a:r>
            <a:r>
              <a:rPr lang="ru-RU" sz="2400" dirty="0" smtClean="0"/>
              <a:t>целостности </a:t>
            </a:r>
            <a:r>
              <a:rPr lang="ru-RU" sz="2400" dirty="0"/>
              <a:t>данных необходимо внести изменения в </a:t>
            </a:r>
            <a:r>
              <a:rPr lang="ru-RU" sz="2400" dirty="0" smtClean="0"/>
              <a:t>поле </a:t>
            </a:r>
            <a:r>
              <a:rPr lang="ru-RU" sz="2400" i="1" dirty="0">
                <a:solidFill>
                  <a:srgbClr val="7030A0"/>
                </a:solidFill>
              </a:rPr>
              <a:t>Номер отдела</a:t>
            </a:r>
            <a:r>
              <a:rPr lang="ru-RU" sz="2400" dirty="0" smtClean="0"/>
              <a:t> для записей файла </a:t>
            </a:r>
            <a:r>
              <a:rPr lang="ru-RU" sz="2400" b="1" dirty="0" smtClean="0">
                <a:solidFill>
                  <a:srgbClr val="002060"/>
                </a:solidFill>
              </a:rPr>
              <a:t>СОТРУДНИК</a:t>
            </a:r>
            <a:r>
              <a:rPr lang="ru-RU" sz="2400" dirty="0" smtClean="0"/>
              <a:t>,  относящихся к этому отделу. 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ru-RU" sz="2400" dirty="0" smtClean="0"/>
              <a:t>Если при </a:t>
            </a:r>
            <a:r>
              <a:rPr lang="ru-RU" sz="2400" dirty="0"/>
              <a:t>выполнении этой операции произошло отключение питания </a:t>
            </a:r>
            <a:r>
              <a:rPr lang="ru-RU" sz="2400" dirty="0" smtClean="0"/>
              <a:t>или сбой программы, то данные </a:t>
            </a:r>
            <a:r>
              <a:rPr lang="ru-RU" sz="2400" dirty="0"/>
              <a:t>будут находиться в рассогласованном состоянии</a:t>
            </a:r>
            <a:r>
              <a:rPr lang="ru-RU" sz="2400" dirty="0" smtClean="0"/>
              <a:t>.</a:t>
            </a:r>
            <a:endParaRPr lang="ru-RU" sz="2400" dirty="0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08105" y="4365104"/>
            <a:ext cx="5284375" cy="2354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093328809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4000" b="1" smtClean="0">
                <a:latin typeface="Arial" pitchFamily="34" charset="0"/>
                <a:cs typeface="Arial" pitchFamily="34" charset="0"/>
              </a:rPr>
              <a:t>Проблема многопользовательской работы</a:t>
            </a: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28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4908" y="1700808"/>
            <a:ext cx="8640960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ru-RU" sz="2400" dirty="0"/>
              <a:t>Для </a:t>
            </a:r>
            <a:r>
              <a:rPr lang="ru-RU" sz="2400" b="1" dirty="0"/>
              <a:t>обеспечения параллельной работы</a:t>
            </a:r>
            <a:r>
              <a:rPr lang="ru-RU" sz="2400" dirty="0"/>
              <a:t> (с нескольких компьютеров) </a:t>
            </a:r>
            <a:r>
              <a:rPr lang="ru-RU" sz="2400" dirty="0" smtClean="0"/>
              <a:t>в ИС </a:t>
            </a:r>
            <a:r>
              <a:rPr lang="ru-RU" sz="2400" dirty="0"/>
              <a:t>необходимо продумать вопросы поддержания согласованной информации при проведении корректировки </a:t>
            </a:r>
            <a:r>
              <a:rPr lang="ru-RU" sz="2400" dirty="0" smtClean="0"/>
              <a:t>одних и тех же данных различными пользователями. </a:t>
            </a:r>
          </a:p>
          <a:p>
            <a:pPr marL="342900" indent="-342900" algn="just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ru-RU" sz="2400" dirty="0" smtClean="0"/>
              <a:t>Одно из решений: на </a:t>
            </a:r>
            <a:r>
              <a:rPr lang="ru-RU" sz="2400" dirty="0"/>
              <a:t>время внесения изменений в файл </a:t>
            </a:r>
            <a:r>
              <a:rPr lang="ru-RU" sz="2400" b="1" dirty="0" smtClean="0">
                <a:solidFill>
                  <a:srgbClr val="002060"/>
                </a:solidFill>
              </a:rPr>
              <a:t>СОТРУДНИК</a:t>
            </a:r>
            <a:r>
              <a:rPr lang="ru-RU" sz="2400" dirty="0" smtClean="0"/>
              <a:t> </a:t>
            </a:r>
            <a:r>
              <a:rPr lang="ru-RU" sz="2400" dirty="0"/>
              <a:t>необходимо блокировать работу других пользователей с этим файлом. </a:t>
            </a:r>
          </a:p>
        </p:txBody>
      </p:sp>
      <p:sp>
        <p:nvSpPr>
          <p:cNvPr id="8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83458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Лекция </a:t>
            </a: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1</a:t>
            </a: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С</a:t>
            </a:r>
            <a:r>
              <a:rPr lang="ru-RU" sz="2000" dirty="0">
                <a:solidFill>
                  <a:schemeClr val="tx1"/>
                </a:solidFill>
              </a:rPr>
              <a:t>истемы хранения и управления данными</a:t>
            </a:r>
            <a:r>
              <a:rPr lang="ru-RU" sz="2000" dirty="0" smtClean="0">
                <a:solidFill>
                  <a:schemeClr val="tx1"/>
                </a:solidFill>
              </a:rPr>
              <a:t/>
            </a:r>
            <a:br>
              <a:rPr lang="ru-RU" sz="2000" dirty="0" smtClean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5725010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260648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smtClean="0">
                <a:latin typeface="Arial" pitchFamily="34" charset="0"/>
                <a:cs typeface="Arial" pitchFamily="34" charset="0"/>
              </a:rPr>
              <a:t>Требования к системам хранения и управления данными</a:t>
            </a: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29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3528" y="1513235"/>
            <a:ext cx="8352928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buFont typeface="Wingdings" panose="05000000000000000000" pitchFamily="2" charset="2"/>
              <a:buChar char="§"/>
            </a:pPr>
            <a:r>
              <a:rPr lang="ru-RU" sz="2300" b="1" dirty="0" smtClean="0"/>
              <a:t>устранение</a:t>
            </a:r>
            <a:r>
              <a:rPr lang="ru-RU" sz="2300" dirty="0" smtClean="0"/>
              <a:t> </a:t>
            </a:r>
            <a:r>
              <a:rPr lang="ru-RU" sz="2300" b="1" dirty="0">
                <a:solidFill>
                  <a:srgbClr val="7030A0"/>
                </a:solidFill>
              </a:rPr>
              <a:t>избыточности</a:t>
            </a:r>
            <a:r>
              <a:rPr lang="ru-RU" sz="2300" dirty="0"/>
              <a:t> информации</a:t>
            </a:r>
          </a:p>
          <a:p>
            <a:pPr marL="342900" lvl="0" indent="-342900" algn="just">
              <a:buFont typeface="Wingdings" panose="05000000000000000000" pitchFamily="2" charset="2"/>
              <a:buChar char="§"/>
            </a:pPr>
            <a:r>
              <a:rPr lang="ru-RU" sz="2300" b="1" dirty="0"/>
              <a:t>поддержание</a:t>
            </a:r>
            <a:r>
              <a:rPr lang="ru-RU" sz="2300" dirty="0"/>
              <a:t> логически </a:t>
            </a:r>
            <a:r>
              <a:rPr lang="ru-RU" sz="2300" b="1" dirty="0" smtClean="0">
                <a:solidFill>
                  <a:srgbClr val="7030A0"/>
                </a:solidFill>
              </a:rPr>
              <a:t>целостного</a:t>
            </a:r>
            <a:r>
              <a:rPr lang="ru-RU" sz="2300" dirty="0" smtClean="0"/>
              <a:t> набора данных</a:t>
            </a:r>
            <a:endParaRPr lang="ru-RU" sz="2300" dirty="0"/>
          </a:p>
          <a:p>
            <a:pPr marL="342900" lvl="0" indent="-342900" algn="just">
              <a:buFont typeface="Wingdings" panose="05000000000000000000" pitchFamily="2" charset="2"/>
              <a:buChar char="§"/>
            </a:pPr>
            <a:r>
              <a:rPr lang="ru-RU" sz="2300" dirty="0"/>
              <a:t> </a:t>
            </a:r>
            <a:r>
              <a:rPr lang="ru-RU" sz="2300" b="1" dirty="0"/>
              <a:t>обеспечение</a:t>
            </a:r>
            <a:r>
              <a:rPr lang="ru-RU" sz="2300" dirty="0"/>
              <a:t> </a:t>
            </a:r>
            <a:r>
              <a:rPr lang="ru-RU" sz="2300" b="1" dirty="0" smtClean="0">
                <a:solidFill>
                  <a:srgbClr val="7030A0"/>
                </a:solidFill>
              </a:rPr>
              <a:t>декларативного</a:t>
            </a:r>
            <a:r>
              <a:rPr lang="ru-RU" sz="2300" dirty="0" smtClean="0"/>
              <a:t> языка </a:t>
            </a:r>
            <a:r>
              <a:rPr lang="ru-RU" sz="2300" dirty="0"/>
              <a:t>манипулирования </a:t>
            </a:r>
            <a:r>
              <a:rPr lang="ru-RU" sz="2300" dirty="0" smtClean="0"/>
              <a:t>данными </a:t>
            </a:r>
            <a:endParaRPr lang="ru-RU" sz="2300" dirty="0"/>
          </a:p>
          <a:p>
            <a:pPr marL="342900" lvl="0" indent="-342900" algn="just">
              <a:buFont typeface="Wingdings" panose="05000000000000000000" pitchFamily="2" charset="2"/>
              <a:buChar char="§"/>
            </a:pPr>
            <a:r>
              <a:rPr lang="ru-RU" sz="2300" b="1" dirty="0">
                <a:solidFill>
                  <a:srgbClr val="7030A0"/>
                </a:solidFill>
              </a:rPr>
              <a:t>восстановление</a:t>
            </a:r>
            <a:r>
              <a:rPr lang="ru-RU" sz="2300" dirty="0"/>
              <a:t> </a:t>
            </a:r>
            <a:r>
              <a:rPr lang="ru-RU" sz="2300" b="1" dirty="0">
                <a:solidFill>
                  <a:srgbClr val="7030A0"/>
                </a:solidFill>
              </a:rPr>
              <a:t>информации</a:t>
            </a:r>
            <a:r>
              <a:rPr lang="ru-RU" sz="2300" dirty="0"/>
              <a:t> после разного рода </a:t>
            </a:r>
            <a:r>
              <a:rPr lang="ru-RU" sz="2300" dirty="0" smtClean="0"/>
              <a:t>сбоев </a:t>
            </a:r>
            <a:endParaRPr lang="ru-RU" sz="2300" dirty="0"/>
          </a:p>
          <a:p>
            <a:pPr marL="342900" lvl="0" indent="-342900" algn="just">
              <a:buFont typeface="Wingdings" panose="05000000000000000000" pitchFamily="2" charset="2"/>
              <a:buChar char="§"/>
            </a:pPr>
            <a:r>
              <a:rPr lang="ru-RU" sz="2300" dirty="0"/>
              <a:t>реально </a:t>
            </a:r>
            <a:r>
              <a:rPr lang="ru-RU" sz="2300" b="1" dirty="0">
                <a:solidFill>
                  <a:srgbClr val="7030A0"/>
                </a:solidFill>
              </a:rPr>
              <a:t>параллельная</a:t>
            </a:r>
            <a:r>
              <a:rPr lang="ru-RU" sz="2300" dirty="0"/>
              <a:t> </a:t>
            </a:r>
            <a:r>
              <a:rPr lang="ru-RU" sz="2300" b="1" dirty="0">
                <a:solidFill>
                  <a:srgbClr val="7030A0"/>
                </a:solidFill>
              </a:rPr>
              <a:t>работа</a:t>
            </a:r>
            <a:r>
              <a:rPr lang="ru-RU" sz="2300" dirty="0"/>
              <a:t> нескольких </a:t>
            </a:r>
            <a:r>
              <a:rPr lang="ru-RU" sz="2300" dirty="0" smtClean="0"/>
              <a:t>пользователей</a:t>
            </a:r>
            <a:endParaRPr lang="ru-RU" sz="2300" dirty="0"/>
          </a:p>
        </p:txBody>
      </p:sp>
      <p:sp>
        <p:nvSpPr>
          <p:cNvPr id="8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83458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Лекция </a:t>
            </a: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1</a:t>
            </a: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С</a:t>
            </a:r>
            <a:r>
              <a:rPr lang="ru-RU" sz="2000" dirty="0">
                <a:solidFill>
                  <a:schemeClr val="tx1"/>
                </a:solidFill>
              </a:rPr>
              <a:t>истемы хранения и управления данными</a:t>
            </a:r>
            <a:r>
              <a:rPr lang="ru-RU" sz="2000" dirty="0" smtClean="0">
                <a:solidFill>
                  <a:schemeClr val="tx1"/>
                </a:solidFill>
              </a:rPr>
              <a:t/>
            </a:r>
            <a:br>
              <a:rPr lang="ru-RU" sz="2000" dirty="0" smtClean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55576" y="4581128"/>
            <a:ext cx="813690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300" dirty="0" smtClean="0"/>
              <a:t>Программная </a:t>
            </a:r>
            <a:r>
              <a:rPr lang="ru-RU" sz="2300" dirty="0"/>
              <a:t>система, опирающаяся на систему управления данными, обладающую перечисленными свойствами, называется </a:t>
            </a:r>
            <a:endParaRPr lang="ru-RU" sz="2300" dirty="0" smtClean="0"/>
          </a:p>
          <a:p>
            <a:pPr algn="just"/>
            <a:r>
              <a:rPr lang="ru-RU" sz="2300" b="1" i="1" dirty="0" smtClean="0">
                <a:solidFill>
                  <a:srgbClr val="7030A0"/>
                </a:solidFill>
              </a:rPr>
              <a:t>С</a:t>
            </a:r>
            <a:r>
              <a:rPr lang="ru-RU" sz="2300" b="1" i="1" dirty="0" smtClean="0"/>
              <a:t>истемой </a:t>
            </a:r>
            <a:r>
              <a:rPr lang="ru-RU" sz="2300" b="1" i="1" dirty="0" smtClean="0">
                <a:solidFill>
                  <a:srgbClr val="7030A0"/>
                </a:solidFill>
              </a:rPr>
              <a:t>У</a:t>
            </a:r>
            <a:r>
              <a:rPr lang="ru-RU" sz="2300" b="1" i="1" dirty="0" smtClean="0"/>
              <a:t>правления </a:t>
            </a:r>
            <a:r>
              <a:rPr lang="ru-RU" sz="2300" b="1" i="1" dirty="0" smtClean="0">
                <a:solidFill>
                  <a:srgbClr val="7030A0"/>
                </a:solidFill>
              </a:rPr>
              <a:t>Б</a:t>
            </a:r>
            <a:r>
              <a:rPr lang="ru-RU" sz="2300" b="1" i="1" dirty="0" smtClean="0"/>
              <a:t>азами </a:t>
            </a:r>
            <a:r>
              <a:rPr lang="ru-RU" sz="2300" b="1" i="1" dirty="0" smtClean="0">
                <a:solidFill>
                  <a:srgbClr val="7030A0"/>
                </a:solidFill>
              </a:rPr>
              <a:t>Д</a:t>
            </a:r>
            <a:r>
              <a:rPr lang="ru-RU" sz="2300" b="1" i="1" dirty="0" smtClean="0"/>
              <a:t>анных </a:t>
            </a:r>
            <a:r>
              <a:rPr lang="ru-RU" sz="2300" b="1" i="1" dirty="0"/>
              <a:t>(</a:t>
            </a:r>
            <a:r>
              <a:rPr lang="ru-RU" sz="2800" b="1" i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СУБД</a:t>
            </a:r>
            <a:r>
              <a:rPr lang="ru-RU" sz="2300" b="1" i="1" dirty="0" smtClean="0"/>
              <a:t>)</a:t>
            </a:r>
            <a:endParaRPr lang="ru-RU" sz="2300" i="1" dirty="0" smtClean="0"/>
          </a:p>
          <a:p>
            <a:pPr algn="just"/>
            <a:r>
              <a:rPr lang="ru-RU" sz="2300" i="1" dirty="0"/>
              <a:t> </a:t>
            </a:r>
            <a:r>
              <a:rPr lang="ru-RU" sz="2300" i="1" dirty="0" smtClean="0"/>
              <a:t>                           </a:t>
            </a:r>
            <a:r>
              <a:rPr lang="ru-RU" sz="2300" dirty="0" smtClean="0"/>
              <a:t>или</a:t>
            </a:r>
            <a:r>
              <a:rPr lang="ru-RU" sz="2300" i="1" dirty="0" smtClean="0"/>
              <a:t> </a:t>
            </a:r>
            <a:r>
              <a:rPr lang="ru-RU" sz="2300" b="1" i="1" dirty="0" smtClean="0"/>
              <a:t>сервером  баз </a:t>
            </a:r>
            <a:r>
              <a:rPr lang="ru-RU" sz="2300" b="1" dirty="0" smtClean="0"/>
              <a:t> </a:t>
            </a:r>
            <a:r>
              <a:rPr lang="ru-RU" sz="2300" b="1" i="1" dirty="0" smtClean="0"/>
              <a:t>данных</a:t>
            </a:r>
            <a:endParaRPr lang="ru-RU" sz="2300" b="1" i="1" dirty="0"/>
          </a:p>
        </p:txBody>
      </p:sp>
    </p:spTree>
    <p:extLst>
      <p:ext uri="{BB962C8B-B14F-4D97-AF65-F5344CB8AC3E}">
        <p14:creationId xmlns:p14="http://schemas.microsoft.com/office/powerpoint/2010/main" val="655405110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smtClean="0">
                <a:latin typeface="Arial" pitchFamily="34" charset="0"/>
                <a:cs typeface="Arial" pitchFamily="34" charset="0"/>
              </a:rPr>
              <a:t>СУБД</a:t>
            </a: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30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1520" y="1045760"/>
            <a:ext cx="8691312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ru-RU" sz="2400" b="1" dirty="0" smtClean="0"/>
              <a:t>Цель СУБ</a:t>
            </a:r>
            <a:r>
              <a:rPr lang="ru-RU" sz="2400" dirty="0" smtClean="0"/>
              <a:t>Д </a:t>
            </a:r>
            <a:r>
              <a:rPr lang="ru-RU" sz="2400" dirty="0"/>
              <a:t>— </a:t>
            </a:r>
            <a:r>
              <a:rPr lang="ru-RU" sz="2400" dirty="0" smtClean="0"/>
              <a:t>организация </a:t>
            </a:r>
            <a:r>
              <a:rPr lang="ru-RU" sz="2400" b="1" i="1" dirty="0" smtClean="0"/>
              <a:t>централизованного доступа</a:t>
            </a:r>
            <a:r>
              <a:rPr lang="ru-RU" sz="2400" dirty="0" smtClean="0"/>
              <a:t>   к данным </a:t>
            </a:r>
          </a:p>
          <a:p>
            <a:pPr lvl="0" algn="just"/>
            <a:r>
              <a:rPr lang="ru-RU" sz="2400" dirty="0" smtClean="0"/>
              <a:t>Т.е</a:t>
            </a:r>
            <a:r>
              <a:rPr lang="ru-RU" sz="2400" dirty="0"/>
              <a:t>. все запросы на получение или изменение данных от клиентских приложений </a:t>
            </a:r>
            <a:r>
              <a:rPr lang="ru-RU" sz="2400" dirty="0" smtClean="0"/>
              <a:t>посылаются по сети  к СУБД, а СУБД отправляет обратно результаты </a:t>
            </a:r>
          </a:p>
          <a:p>
            <a:pPr lvl="0" algn="just">
              <a:spcBef>
                <a:spcPts val="1200"/>
              </a:spcBef>
            </a:pPr>
            <a:r>
              <a:rPr lang="ru-RU" sz="2400" dirty="0" smtClean="0"/>
              <a:t>СУБД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342900" lvl="0" indent="-342900" algn="just">
              <a:buFont typeface="Wingdings" panose="05000000000000000000" pitchFamily="2" charset="2"/>
              <a:buChar char="§"/>
            </a:pPr>
            <a:r>
              <a:rPr lang="ru-RU" sz="2400" dirty="0" smtClean="0"/>
              <a:t>имеет </a:t>
            </a:r>
            <a:r>
              <a:rPr lang="ru-RU" sz="2400" dirty="0"/>
              <a:t>набор </a:t>
            </a:r>
            <a:r>
              <a:rPr lang="ru-RU" sz="2400" dirty="0" smtClean="0"/>
              <a:t>команд для записи </a:t>
            </a:r>
            <a:r>
              <a:rPr lang="ru-RU" sz="2400" dirty="0"/>
              <a:t>и </a:t>
            </a:r>
            <a:r>
              <a:rPr lang="ru-RU" sz="2400" dirty="0" smtClean="0"/>
              <a:t>получения данных</a:t>
            </a:r>
            <a:endParaRPr lang="ru-RU" sz="2400" b="1" dirty="0"/>
          </a:p>
          <a:p>
            <a:pPr marL="342900" lvl="0" indent="-342900" algn="just">
              <a:buFont typeface="Wingdings" panose="05000000000000000000" pitchFamily="2" charset="2"/>
              <a:buChar char="§"/>
            </a:pPr>
            <a:r>
              <a:rPr lang="ru-RU" sz="2400" dirty="0" smtClean="0"/>
              <a:t>работает </a:t>
            </a:r>
            <a:r>
              <a:rPr lang="ru-RU" sz="2400" dirty="0"/>
              <a:t>с файловой системой </a:t>
            </a:r>
            <a:r>
              <a:rPr lang="ru-RU" sz="2400" dirty="0" smtClean="0"/>
              <a:t>(операционной системы или собственной)</a:t>
            </a:r>
            <a:endParaRPr lang="ru-RU" sz="2400" b="1" dirty="0"/>
          </a:p>
          <a:p>
            <a:pPr marL="342900" lvl="0" indent="-342900" algn="just">
              <a:buFont typeface="Wingdings" panose="05000000000000000000" pitchFamily="2" charset="2"/>
              <a:buChar char="§"/>
            </a:pPr>
            <a:r>
              <a:rPr lang="ru-RU" sz="2400" dirty="0" smtClean="0"/>
              <a:t>предоставляет </a:t>
            </a:r>
            <a:r>
              <a:rPr lang="ru-RU" sz="2400" dirty="0"/>
              <a:t>механизмы разграничения доступа к </a:t>
            </a:r>
            <a:r>
              <a:rPr lang="ru-RU" sz="2400" dirty="0" smtClean="0"/>
              <a:t>данным</a:t>
            </a:r>
            <a:endParaRPr lang="ru-RU" sz="2400" b="1" dirty="0"/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ru-RU" sz="2400" dirty="0" smtClean="0"/>
              <a:t>решает </a:t>
            </a:r>
            <a:r>
              <a:rPr lang="ru-RU" sz="2400" dirty="0"/>
              <a:t>задачи одновременного доступа к данным</a:t>
            </a:r>
            <a:endParaRPr lang="ru-RU" sz="2300" dirty="0"/>
          </a:p>
        </p:txBody>
      </p:sp>
      <p:sp>
        <p:nvSpPr>
          <p:cNvPr id="8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83458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Лекция </a:t>
            </a: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1</a:t>
            </a: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С</a:t>
            </a:r>
            <a:r>
              <a:rPr lang="ru-RU" sz="2000" dirty="0">
                <a:solidFill>
                  <a:schemeClr val="tx1"/>
                </a:solidFill>
              </a:rPr>
              <a:t>истемы хранения и управления данными</a:t>
            </a:r>
            <a:r>
              <a:rPr lang="ru-RU" sz="2000" dirty="0" smtClean="0">
                <a:solidFill>
                  <a:schemeClr val="tx1"/>
                </a:solidFill>
              </a:rPr>
              <a:t/>
            </a:r>
            <a:br>
              <a:rPr lang="ru-RU" sz="2000" dirty="0" smtClean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1396144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Использование СУБД</a:t>
            </a: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31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1520" y="1220559"/>
            <a:ext cx="86913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0850" lvl="0" indent="-450850" algn="just">
              <a:buFont typeface="Wingdings" panose="05000000000000000000" pitchFamily="2" charset="2"/>
              <a:buChar char="q"/>
            </a:pPr>
            <a:r>
              <a:rPr lang="ru-RU" sz="2400" dirty="0" smtClean="0"/>
              <a:t>СУБД - </a:t>
            </a:r>
            <a:r>
              <a:rPr lang="ru-RU" sz="2400" dirty="0"/>
              <a:t>сосредоточена на работе с </a:t>
            </a:r>
            <a:r>
              <a:rPr lang="ru-RU" sz="2400" dirty="0" smtClean="0"/>
              <a:t>данными</a:t>
            </a:r>
          </a:p>
          <a:p>
            <a:pPr marL="450850" lvl="0" indent="-450850" algn="just">
              <a:buFont typeface="Wingdings" panose="05000000000000000000" pitchFamily="2" charset="2"/>
              <a:buChar char="q"/>
            </a:pPr>
            <a:r>
              <a:rPr lang="ru-RU" sz="2400" dirty="0" smtClean="0"/>
              <a:t>Клиентские приложения - могут </a:t>
            </a:r>
            <a:r>
              <a:rPr lang="ru-RU" sz="2400" dirty="0"/>
              <a:t>посылать запросы к </a:t>
            </a:r>
            <a:r>
              <a:rPr lang="ru-RU" sz="2400" dirty="0" smtClean="0"/>
              <a:t>СУБД на получение и изменение данных</a:t>
            </a:r>
            <a:endParaRPr lang="ru-RU" sz="2300" dirty="0"/>
          </a:p>
        </p:txBody>
      </p:sp>
      <p:sp>
        <p:nvSpPr>
          <p:cNvPr id="8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83458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Лекция </a:t>
            </a: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1</a:t>
            </a: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С</a:t>
            </a:r>
            <a:r>
              <a:rPr lang="ru-RU" sz="2000" dirty="0">
                <a:solidFill>
                  <a:schemeClr val="tx1"/>
                </a:solidFill>
              </a:rPr>
              <a:t>истемы хранения и управления данными</a:t>
            </a:r>
            <a:r>
              <a:rPr lang="ru-RU" sz="2000" dirty="0" smtClean="0">
                <a:solidFill>
                  <a:schemeClr val="tx1"/>
                </a:solidFill>
              </a:rPr>
              <a:t/>
            </a:r>
            <a:br>
              <a:rPr lang="ru-RU" sz="2000" dirty="0" smtClean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2622932"/>
            <a:ext cx="7884368" cy="3830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28675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3600" b="1" dirty="0" smtClean="0">
                <a:latin typeface="Arial" pitchFamily="34" charset="0"/>
                <a:cs typeface="Arial" pitchFamily="34" charset="0"/>
              </a:rPr>
              <a:t>Трехуровневая архитектура БД  </a:t>
            </a:r>
            <a:r>
              <a:rPr lang="en-US" sz="3600" b="1" dirty="0" smtClean="0">
                <a:latin typeface="Arial" pitchFamily="34" charset="0"/>
                <a:cs typeface="Arial" pitchFamily="34" charset="0"/>
              </a:rPr>
              <a:t>ANSI</a:t>
            </a: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32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83458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Лекция </a:t>
            </a: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1</a:t>
            </a: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С</a:t>
            </a:r>
            <a:r>
              <a:rPr lang="ru-RU" sz="2000" dirty="0">
                <a:solidFill>
                  <a:schemeClr val="tx1"/>
                </a:solidFill>
              </a:rPr>
              <a:t>истемы хранения и управления данными</a:t>
            </a:r>
            <a:r>
              <a:rPr lang="ru-RU" sz="2000" dirty="0" smtClean="0">
                <a:solidFill>
                  <a:schemeClr val="tx1"/>
                </a:solidFill>
              </a:rPr>
              <a:t/>
            </a:r>
            <a:br>
              <a:rPr lang="ru-RU" sz="2000" dirty="0" smtClean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179752"/>
            <a:ext cx="7707610" cy="53882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15594484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260648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4000" b="1" dirty="0" smtClean="0">
                <a:latin typeface="Arial" pitchFamily="34" charset="0"/>
                <a:cs typeface="Arial" pitchFamily="34" charset="0"/>
              </a:rPr>
              <a:t>Функции СУБД</a:t>
            </a:r>
            <a:endParaRPr lang="ru-RU" sz="4000" dirty="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4000" dirty="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40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33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04664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Лекция </a:t>
            </a:r>
            <a:r>
              <a:rPr lang="ru-RU" sz="1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1</a:t>
            </a:r>
            <a:r>
              <a:rPr lang="ru-RU" sz="1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С</a:t>
            </a:r>
            <a:r>
              <a:rPr lang="ru-RU" sz="1800" dirty="0">
                <a:solidFill>
                  <a:schemeClr val="tx1"/>
                </a:solidFill>
              </a:rPr>
              <a:t>истемы хранения и управления данными</a:t>
            </a:r>
            <a:r>
              <a:rPr lang="ru-RU" sz="1800" dirty="0" smtClean="0">
                <a:solidFill>
                  <a:srgbClr val="0070C0"/>
                </a:solidFill>
              </a:rPr>
              <a:t/>
            </a:r>
            <a:br>
              <a:rPr lang="ru-RU" sz="1800" dirty="0" smtClean="0">
                <a:solidFill>
                  <a:srgbClr val="0070C0"/>
                </a:solidFill>
              </a:rPr>
            </a:br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51520" y="836712"/>
            <a:ext cx="864096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ru-RU" sz="2000" b="1" dirty="0" smtClean="0">
                <a:solidFill>
                  <a:srgbClr val="00B050"/>
                </a:solidFill>
              </a:rPr>
              <a:t>Основные</a:t>
            </a:r>
          </a:p>
          <a:p>
            <a:pPr marL="342900" lvl="0" indent="-342900" algn="just">
              <a:buFont typeface="Wingdings" panose="05000000000000000000" pitchFamily="2" charset="2"/>
              <a:buChar char="§"/>
            </a:pPr>
            <a:r>
              <a:rPr lang="ru-RU" sz="2000" b="1" dirty="0" smtClean="0"/>
              <a:t>определение </a:t>
            </a:r>
            <a:r>
              <a:rPr lang="ru-RU" sz="2000" b="1" dirty="0"/>
              <a:t>данных </a:t>
            </a:r>
            <a:r>
              <a:rPr lang="ru-RU" sz="2000" dirty="0"/>
              <a:t>– описание хранимых данных (структур данных</a:t>
            </a:r>
            <a:r>
              <a:rPr lang="ru-RU" sz="2000" dirty="0" smtClean="0"/>
              <a:t>)</a:t>
            </a:r>
            <a:endParaRPr lang="ru-RU" sz="2000" dirty="0"/>
          </a:p>
          <a:p>
            <a:pPr marL="342900" lvl="0" indent="-342900" algn="just">
              <a:buFont typeface="Wingdings" panose="05000000000000000000" pitchFamily="2" charset="2"/>
              <a:buChar char="§"/>
            </a:pPr>
            <a:r>
              <a:rPr lang="ru-RU" sz="2000" b="1" dirty="0"/>
              <a:t>обработка данных </a:t>
            </a:r>
            <a:r>
              <a:rPr lang="ru-RU" sz="2000" dirty="0"/>
              <a:t>– обработка запросов пользователя на выборку, добавление, изменение и удаление данных в </a:t>
            </a:r>
            <a:r>
              <a:rPr lang="ru-RU" sz="2000" dirty="0" smtClean="0"/>
              <a:t>БД</a:t>
            </a:r>
          </a:p>
          <a:p>
            <a:pPr lvl="0" algn="just"/>
            <a:r>
              <a:rPr lang="ru-RU" sz="2000" b="1" dirty="0" smtClean="0">
                <a:solidFill>
                  <a:srgbClr val="7030A0"/>
                </a:solidFill>
              </a:rPr>
              <a:t>Обеспечивающие</a:t>
            </a:r>
            <a:endParaRPr lang="ru-RU" sz="2000" b="1" dirty="0">
              <a:solidFill>
                <a:srgbClr val="7030A0"/>
              </a:solidFill>
            </a:endParaRPr>
          </a:p>
          <a:p>
            <a:pPr marL="342900" lvl="0" indent="-342900" algn="just">
              <a:buFont typeface="Wingdings" panose="05000000000000000000" pitchFamily="2" charset="2"/>
              <a:buChar char="§"/>
            </a:pPr>
            <a:r>
              <a:rPr lang="ru-RU" sz="2000" b="1" dirty="0"/>
              <a:t>обеспечение безопасного и надежного хранения </a:t>
            </a:r>
            <a:r>
              <a:rPr lang="ru-RU" sz="2000" dirty="0"/>
              <a:t>данных во внешней памяти, контроль пользовательских запросов и предотвращение попыток </a:t>
            </a:r>
            <a:r>
              <a:rPr lang="ru-RU" sz="2000" dirty="0" smtClean="0"/>
              <a:t>несанкционированного доступа</a:t>
            </a:r>
            <a:endParaRPr lang="ru-RU" sz="2000" dirty="0"/>
          </a:p>
          <a:p>
            <a:pPr marL="342900" lvl="0" indent="-342900" algn="just">
              <a:buFont typeface="Wingdings" panose="05000000000000000000" pitchFamily="2" charset="2"/>
              <a:buChar char="§"/>
            </a:pPr>
            <a:r>
              <a:rPr lang="ru-RU" sz="2000" b="1" dirty="0"/>
              <a:t>обеспечение целостности </a:t>
            </a:r>
            <a:r>
              <a:rPr lang="ru-RU" sz="2000" dirty="0"/>
              <a:t>(правильности) данных в любой момент </a:t>
            </a:r>
            <a:r>
              <a:rPr lang="ru-RU" sz="2000" dirty="0" smtClean="0"/>
              <a:t>времени</a:t>
            </a:r>
            <a:endParaRPr lang="ru-RU" sz="2000" dirty="0"/>
          </a:p>
          <a:p>
            <a:pPr marL="342900" lvl="0" indent="-342900" algn="just">
              <a:buFont typeface="Wingdings" panose="05000000000000000000" pitchFamily="2" charset="2"/>
              <a:buChar char="§"/>
            </a:pPr>
            <a:r>
              <a:rPr lang="ru-RU" sz="2000" b="1" dirty="0"/>
              <a:t>обеспечение параллельной работы многих пользователей</a:t>
            </a:r>
            <a:r>
              <a:rPr lang="ru-RU" sz="2000" dirty="0"/>
              <a:t> и согласованности операций, выполняемых несколькими пользователями одновременно с одним и тем же фрагментом </a:t>
            </a:r>
            <a:r>
              <a:rPr lang="ru-RU" sz="2000" dirty="0" smtClean="0"/>
              <a:t>данных</a:t>
            </a:r>
            <a:endParaRPr lang="ru-RU" sz="2000" dirty="0"/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ru-RU" sz="2000" b="1" dirty="0"/>
              <a:t>восстановление данных </a:t>
            </a:r>
            <a:r>
              <a:rPr lang="ru-RU" sz="2000" dirty="0"/>
              <a:t>после любого программного или аппаратного сбоя и ведение архива</a:t>
            </a:r>
          </a:p>
        </p:txBody>
      </p:sp>
    </p:spTree>
    <p:extLst>
      <p:ext uri="{BB962C8B-B14F-4D97-AF65-F5344CB8AC3E}">
        <p14:creationId xmlns:p14="http://schemas.microsoft.com/office/powerpoint/2010/main" val="171971513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4000" b="1" smtClean="0">
                <a:latin typeface="Arial" pitchFamily="34" charset="0"/>
                <a:cs typeface="Arial" pitchFamily="34" charset="0"/>
              </a:rPr>
              <a:t>Назначение  СУБД</a:t>
            </a:r>
            <a:endParaRPr lang="ru-RU" sz="400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400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400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34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04664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Лекция </a:t>
            </a:r>
            <a:r>
              <a:rPr lang="ru-RU" sz="1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1</a:t>
            </a:r>
            <a:r>
              <a:rPr lang="ru-RU" sz="1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С</a:t>
            </a:r>
            <a:r>
              <a:rPr lang="ru-RU" sz="1800" dirty="0">
                <a:solidFill>
                  <a:schemeClr val="tx1"/>
                </a:solidFill>
              </a:rPr>
              <a:t>истемы хранения и управления данными</a:t>
            </a:r>
            <a:r>
              <a:rPr lang="ru-RU" sz="1800" dirty="0" smtClean="0">
                <a:solidFill>
                  <a:srgbClr val="0070C0"/>
                </a:solidFill>
              </a:rPr>
              <a:t/>
            </a:r>
            <a:br>
              <a:rPr lang="ru-RU" sz="1800" dirty="0" smtClean="0">
                <a:solidFill>
                  <a:srgbClr val="0070C0"/>
                </a:solidFill>
              </a:rPr>
            </a:br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1520" y="1124744"/>
            <a:ext cx="8640960" cy="49705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</a:pPr>
            <a:r>
              <a:rPr lang="ru-RU" sz="2600" b="1" dirty="0"/>
              <a:t>Н</a:t>
            </a:r>
            <a:r>
              <a:rPr lang="ru-RU" sz="2600" b="1" dirty="0" smtClean="0"/>
              <a:t>азначение </a:t>
            </a:r>
            <a:r>
              <a:rPr lang="ru-RU" sz="2600" b="1" dirty="0"/>
              <a:t>СУБД</a:t>
            </a:r>
            <a:r>
              <a:rPr lang="ru-RU" sz="2600" dirty="0"/>
              <a:t> </a:t>
            </a:r>
            <a:r>
              <a:rPr lang="ru-RU" sz="2600" dirty="0" smtClean="0"/>
              <a:t> - предоставление </a:t>
            </a:r>
            <a:r>
              <a:rPr lang="ru-RU" sz="2600" dirty="0"/>
              <a:t>пользовательского интерфейса </a:t>
            </a:r>
            <a:r>
              <a:rPr lang="ru-RU" sz="2600" dirty="0" smtClean="0"/>
              <a:t>для работы с </a:t>
            </a:r>
            <a:r>
              <a:rPr lang="ru-RU" sz="2600" dirty="0"/>
              <a:t>БД</a:t>
            </a:r>
            <a:r>
              <a:rPr lang="ru-RU" sz="2600" dirty="0" smtClean="0"/>
              <a:t>.</a:t>
            </a:r>
          </a:p>
          <a:p>
            <a:pPr algn="just">
              <a:spcBef>
                <a:spcPts val="600"/>
              </a:spcBef>
            </a:pPr>
            <a:r>
              <a:rPr lang="ru-RU" sz="2600" i="1" dirty="0" smtClean="0"/>
              <a:t>Пользовательский </a:t>
            </a:r>
            <a:r>
              <a:rPr lang="ru-RU" sz="2600" i="1" dirty="0"/>
              <a:t>интерфейс</a:t>
            </a:r>
            <a:r>
              <a:rPr lang="ru-RU" sz="2600" dirty="0"/>
              <a:t> – это некоторая граница в системе, ниже которой для пользователя ничего не видно. Пользователь находится всегда на уровне внешнего представления данных.</a:t>
            </a:r>
          </a:p>
          <a:p>
            <a:pPr algn="just"/>
            <a:r>
              <a:rPr lang="ru-RU" sz="2600" dirty="0"/>
              <a:t>В отличии от СУБД </a:t>
            </a:r>
            <a:r>
              <a:rPr lang="ru-RU" sz="2600" dirty="0" smtClean="0"/>
              <a:t>в файловых системах пользователь </a:t>
            </a:r>
            <a:r>
              <a:rPr lang="ru-RU" sz="2600" dirty="0"/>
              <a:t>«ближе к диску</a:t>
            </a:r>
            <a:r>
              <a:rPr lang="ru-RU" sz="2600" dirty="0" smtClean="0"/>
              <a:t>» и  может </a:t>
            </a:r>
          </a:p>
          <a:p>
            <a:pPr marL="987425" indent="-457200">
              <a:buFont typeface="Wingdings" panose="05000000000000000000" pitchFamily="2" charset="2"/>
              <a:buChar char="§"/>
            </a:pPr>
            <a:r>
              <a:rPr lang="ru-RU" sz="2600" dirty="0" smtClean="0"/>
              <a:t>создавать </a:t>
            </a:r>
            <a:r>
              <a:rPr lang="ru-RU" sz="2600" dirty="0"/>
              <a:t>и уничтожать хранимые </a:t>
            </a:r>
            <a:r>
              <a:rPr lang="ru-RU" sz="2600" dirty="0" smtClean="0"/>
              <a:t>файлы</a:t>
            </a:r>
          </a:p>
          <a:p>
            <a:pPr marL="987425" indent="-457200">
              <a:buFont typeface="Wingdings" panose="05000000000000000000" pitchFamily="2" charset="2"/>
              <a:buChar char="§"/>
            </a:pPr>
            <a:r>
              <a:rPr lang="ru-RU" sz="2600" dirty="0" smtClean="0"/>
              <a:t>выполнять </a:t>
            </a:r>
            <a:r>
              <a:rPr lang="ru-RU" sz="2600" dirty="0"/>
              <a:t>простые операции </a:t>
            </a:r>
            <a:r>
              <a:rPr lang="ru-RU" sz="2600" dirty="0" smtClean="0"/>
              <a:t>выборки</a:t>
            </a:r>
          </a:p>
          <a:p>
            <a:pPr marL="987425" indent="-457200">
              <a:buFont typeface="Wingdings" panose="05000000000000000000" pitchFamily="2" charset="2"/>
              <a:buChar char="§"/>
            </a:pPr>
            <a:r>
              <a:rPr lang="ru-RU" sz="2600" dirty="0" smtClean="0"/>
              <a:t>обновлять записи файлов</a:t>
            </a:r>
            <a:endParaRPr lang="ru-RU" sz="2600" dirty="0"/>
          </a:p>
        </p:txBody>
      </p:sp>
    </p:spTree>
    <p:extLst>
      <p:ext uri="{BB962C8B-B14F-4D97-AF65-F5344CB8AC3E}">
        <p14:creationId xmlns:p14="http://schemas.microsoft.com/office/powerpoint/2010/main" val="2466303396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4000" b="1" smtClean="0">
                <a:latin typeface="Arial" pitchFamily="34" charset="0"/>
                <a:cs typeface="Arial" pitchFamily="34" charset="0"/>
              </a:rPr>
              <a:t>Администратор БД</a:t>
            </a:r>
            <a:endParaRPr lang="ru-RU" sz="400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400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400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35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04664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Лекция </a:t>
            </a:r>
            <a:r>
              <a:rPr lang="ru-RU" sz="1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1</a:t>
            </a:r>
            <a:r>
              <a:rPr lang="ru-RU" sz="1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С</a:t>
            </a:r>
            <a:r>
              <a:rPr lang="ru-RU" sz="1800" dirty="0">
                <a:solidFill>
                  <a:schemeClr val="tx1"/>
                </a:solidFill>
              </a:rPr>
              <a:t>истемы хранения и управления данными</a:t>
            </a:r>
            <a:r>
              <a:rPr lang="ru-RU" sz="1800" dirty="0" smtClean="0">
                <a:solidFill>
                  <a:srgbClr val="0070C0"/>
                </a:solidFill>
              </a:rPr>
              <a:t/>
            </a:r>
            <a:br>
              <a:rPr lang="ru-RU" sz="1800" dirty="0" smtClean="0">
                <a:solidFill>
                  <a:srgbClr val="0070C0"/>
                </a:solidFill>
              </a:rPr>
            </a:br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79512" y="1400284"/>
            <a:ext cx="8712968" cy="4909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ru-RU" sz="2800" dirty="0" smtClean="0"/>
              <a:t>При </a:t>
            </a:r>
            <a:r>
              <a:rPr lang="ru-RU" sz="2800" dirty="0"/>
              <a:t>централизованном управлении </a:t>
            </a:r>
            <a:r>
              <a:rPr lang="ru-RU" sz="2800" dirty="0" smtClean="0"/>
              <a:t>данными на предприятии </a:t>
            </a:r>
            <a:r>
              <a:rPr lang="ru-RU" sz="2800" dirty="0"/>
              <a:t>должен быть человек, который несет основную ответственность за данные </a:t>
            </a:r>
            <a:r>
              <a:rPr lang="ru-RU" sz="2800" dirty="0" smtClean="0"/>
              <a:t>предприятия </a:t>
            </a:r>
          </a:p>
          <a:p>
            <a:pPr marL="457200" indent="-45720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ru-RU" sz="2800" b="1" dirty="0" smtClean="0"/>
              <a:t>Администратор БД (АБД) </a:t>
            </a:r>
            <a:r>
              <a:rPr lang="ru-RU" sz="2800" dirty="0" smtClean="0"/>
              <a:t>– </a:t>
            </a:r>
            <a:r>
              <a:rPr lang="ru-RU" sz="2800" dirty="0"/>
              <a:t>это специалист в области информационных технологий, работа которого заключается в создании БД, обеспечении технического обслуживания (сопровождения), определении прав пользователей по работе с </a:t>
            </a:r>
            <a:r>
              <a:rPr lang="ru-RU" sz="2800" dirty="0" smtClean="0"/>
              <a:t>данными </a:t>
            </a:r>
            <a:endParaRPr lang="ru-RU" sz="2800" dirty="0"/>
          </a:p>
          <a:p>
            <a:pPr lvl="0" algn="just"/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765399888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4000" b="1" smtClean="0">
                <a:latin typeface="Arial" pitchFamily="34" charset="0"/>
                <a:cs typeface="Arial" pitchFamily="34" charset="0"/>
              </a:rPr>
              <a:t>Функции администратора БД</a:t>
            </a:r>
            <a:endParaRPr lang="ru-RU" sz="400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400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400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36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04664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Лекция </a:t>
            </a:r>
            <a:r>
              <a:rPr lang="ru-RU" sz="1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1</a:t>
            </a:r>
            <a:r>
              <a:rPr lang="ru-RU" sz="1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С</a:t>
            </a:r>
            <a:r>
              <a:rPr lang="ru-RU" sz="1800" dirty="0">
                <a:solidFill>
                  <a:schemeClr val="tx1"/>
                </a:solidFill>
              </a:rPr>
              <a:t>истемы хранения и управления данными</a:t>
            </a:r>
            <a:r>
              <a:rPr lang="ru-RU" sz="1800" dirty="0" smtClean="0">
                <a:solidFill>
                  <a:srgbClr val="0070C0"/>
                </a:solidFill>
              </a:rPr>
              <a:t/>
            </a:r>
            <a:br>
              <a:rPr lang="ru-RU" sz="1800" dirty="0" smtClean="0">
                <a:solidFill>
                  <a:srgbClr val="0070C0"/>
                </a:solidFill>
              </a:rPr>
            </a:br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79512" y="1052736"/>
            <a:ext cx="8784976" cy="5088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>
              <a:spcBef>
                <a:spcPts val="1200"/>
              </a:spcBef>
              <a:buFont typeface="+mj-lt"/>
              <a:buAutoNum type="arabicParenR"/>
            </a:pPr>
            <a:r>
              <a:rPr lang="ru-RU" sz="2800" dirty="0"/>
              <a:t>Определение концептуальной схемы БД</a:t>
            </a:r>
          </a:p>
          <a:p>
            <a:pPr marL="263525" algn="just">
              <a:spcBef>
                <a:spcPts val="400"/>
              </a:spcBef>
            </a:pPr>
            <a:r>
              <a:rPr lang="ru-RU" sz="2800" dirty="0"/>
              <a:t>Администратор решает, какие данные необходимо сохранять в БД. Этот процесс называют </a:t>
            </a:r>
            <a:r>
              <a:rPr lang="ru-RU" sz="2800" b="1" dirty="0"/>
              <a:t>логическим проектированием</a:t>
            </a:r>
            <a:r>
              <a:rPr lang="ru-RU" sz="2800" dirty="0"/>
              <a:t> БД</a:t>
            </a:r>
          </a:p>
          <a:p>
            <a:pPr marL="457200" lvl="0" indent="-457200" algn="just">
              <a:spcBef>
                <a:spcPts val="1200"/>
              </a:spcBef>
              <a:buFont typeface="+mj-lt"/>
              <a:buAutoNum type="arabicParenR" startAt="2"/>
            </a:pPr>
            <a:r>
              <a:rPr lang="ru-RU" sz="2800" dirty="0"/>
              <a:t>Определение внутренней схемы БД</a:t>
            </a:r>
          </a:p>
          <a:p>
            <a:pPr marL="263525" algn="just">
              <a:spcBef>
                <a:spcPts val="400"/>
              </a:spcBef>
            </a:pPr>
            <a:r>
              <a:rPr lang="ru-RU" sz="2800" dirty="0"/>
              <a:t>Администратор решает, какие данные должны быть представлены в хранимой БД. Этот процесс называют </a:t>
            </a:r>
            <a:r>
              <a:rPr lang="ru-RU" sz="2800" b="1" dirty="0"/>
              <a:t>физическим проектированием</a:t>
            </a:r>
            <a:r>
              <a:rPr lang="ru-RU" sz="2800" dirty="0"/>
              <a:t> БД. После завершения физического проектирования АБД с помощью языка </a:t>
            </a:r>
            <a:r>
              <a:rPr lang="en-US" sz="2800" dirty="0"/>
              <a:t>DDL</a:t>
            </a:r>
            <a:r>
              <a:rPr lang="ru-RU" sz="2800" dirty="0"/>
              <a:t> генерирует </a:t>
            </a:r>
            <a:r>
              <a:rPr lang="ru-RU" sz="2800" dirty="0" smtClean="0"/>
              <a:t>БД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028387528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4000" b="1" smtClean="0">
                <a:latin typeface="Arial" pitchFamily="34" charset="0"/>
                <a:cs typeface="Arial" pitchFamily="34" charset="0"/>
              </a:rPr>
              <a:t>Функции администратора БД</a:t>
            </a:r>
            <a:endParaRPr lang="ru-RU" sz="400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400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400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37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04664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Лекция </a:t>
            </a:r>
            <a:r>
              <a:rPr lang="ru-RU" sz="1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1</a:t>
            </a:r>
            <a:r>
              <a:rPr lang="ru-RU" sz="1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С</a:t>
            </a:r>
            <a:r>
              <a:rPr lang="ru-RU" sz="1800" dirty="0">
                <a:solidFill>
                  <a:schemeClr val="tx1"/>
                </a:solidFill>
              </a:rPr>
              <a:t>истемы хранения и управления данными</a:t>
            </a:r>
            <a:r>
              <a:rPr lang="ru-RU" sz="1800" dirty="0" smtClean="0">
                <a:solidFill>
                  <a:srgbClr val="0070C0"/>
                </a:solidFill>
              </a:rPr>
              <a:t/>
            </a:r>
            <a:br>
              <a:rPr lang="ru-RU" sz="1800" dirty="0" smtClean="0">
                <a:solidFill>
                  <a:srgbClr val="0070C0"/>
                </a:solidFill>
              </a:rPr>
            </a:br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1520" y="1260043"/>
            <a:ext cx="8640960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 algn="just">
              <a:spcBef>
                <a:spcPts val="1200"/>
              </a:spcBef>
              <a:buFont typeface="+mj-lt"/>
              <a:buAutoNum type="arabicParenR" startAt="3"/>
            </a:pPr>
            <a:r>
              <a:rPr lang="ru-RU" sz="2800" dirty="0" smtClean="0"/>
              <a:t>Определение </a:t>
            </a:r>
            <a:r>
              <a:rPr lang="ru-RU" sz="2800" dirty="0"/>
              <a:t>правил безопасности и целостности данных</a:t>
            </a:r>
          </a:p>
          <a:p>
            <a:pPr marL="457200" indent="-457200" algn="just">
              <a:spcBef>
                <a:spcPts val="1200"/>
              </a:spcBef>
              <a:buFont typeface="+mj-lt"/>
              <a:buAutoNum type="arabicParenR" startAt="3"/>
            </a:pPr>
            <a:r>
              <a:rPr lang="ru-RU" sz="2800" dirty="0" smtClean="0"/>
              <a:t>Определение прав </a:t>
            </a:r>
            <a:r>
              <a:rPr lang="ru-RU" sz="2800" dirty="0"/>
              <a:t>пользователей на доступ к данным</a:t>
            </a:r>
          </a:p>
          <a:p>
            <a:pPr marL="457200" lvl="0" indent="-457200" algn="just">
              <a:spcBef>
                <a:spcPts val="1200"/>
              </a:spcBef>
              <a:buFont typeface="+mj-lt"/>
              <a:buAutoNum type="arabicParenR" startAt="3"/>
            </a:pPr>
            <a:r>
              <a:rPr lang="ru-RU" sz="2800" dirty="0"/>
              <a:t>Определение процедур резервного копирования и восстановления данных и выполнение этих процедур</a:t>
            </a:r>
          </a:p>
          <a:p>
            <a:pPr marL="457200" lvl="0" indent="-457200" algn="just">
              <a:spcBef>
                <a:spcPts val="1200"/>
              </a:spcBef>
              <a:buFont typeface="+mj-lt"/>
              <a:buAutoNum type="arabicParenR" startAt="3"/>
            </a:pPr>
            <a:r>
              <a:rPr lang="ru-RU" sz="2800" dirty="0"/>
              <a:t>Управление производительностью БД и реагирование на изменяющиеся требования</a:t>
            </a:r>
          </a:p>
          <a:p>
            <a:pPr lvl="0" algn="just"/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211175300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4000" b="1" smtClean="0">
                <a:latin typeface="Arial" pitchFamily="34" charset="0"/>
                <a:cs typeface="Arial" pitchFamily="34" charset="0"/>
              </a:rPr>
              <a:t>Структура СУБД</a:t>
            </a:r>
            <a:endParaRPr lang="ru-RU" sz="400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400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400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38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04664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Лекция </a:t>
            </a:r>
            <a:r>
              <a:rPr lang="ru-RU" sz="1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1</a:t>
            </a:r>
            <a:r>
              <a:rPr lang="ru-RU" sz="1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С</a:t>
            </a:r>
            <a:r>
              <a:rPr lang="ru-RU" sz="1800" dirty="0">
                <a:solidFill>
                  <a:schemeClr val="tx1"/>
                </a:solidFill>
              </a:rPr>
              <a:t>истемы хранения и управления данными</a:t>
            </a:r>
            <a:r>
              <a:rPr lang="ru-RU" sz="1800" dirty="0" smtClean="0">
                <a:solidFill>
                  <a:srgbClr val="0070C0"/>
                </a:solidFill>
              </a:rPr>
              <a:t/>
            </a:r>
            <a:br>
              <a:rPr lang="ru-RU" sz="1800" dirty="0" smtClean="0">
                <a:solidFill>
                  <a:srgbClr val="0070C0"/>
                </a:solidFill>
              </a:rPr>
            </a:br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1520" y="1260043"/>
            <a:ext cx="8640960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ru-RU" sz="2800" i="1" dirty="0"/>
              <a:t>В</a:t>
            </a:r>
            <a:r>
              <a:rPr lang="ru-RU" sz="2800" i="1" dirty="0" smtClean="0"/>
              <a:t> </a:t>
            </a:r>
            <a:r>
              <a:rPr lang="ru-RU" sz="2800" i="1" dirty="0"/>
              <a:t>современной реляционной СУБД можно </a:t>
            </a:r>
            <a:r>
              <a:rPr lang="ru-RU" sz="2800" i="1" dirty="0" smtClean="0"/>
              <a:t>выделить</a:t>
            </a:r>
            <a:r>
              <a:rPr lang="ru-RU" sz="2800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ru-RU" sz="2800" dirty="0" smtClean="0"/>
              <a:t> </a:t>
            </a:r>
          </a:p>
          <a:p>
            <a:pPr marL="514350" lvl="0" indent="-514350" algn="just">
              <a:spcBef>
                <a:spcPts val="1200"/>
              </a:spcBef>
              <a:buFont typeface="+mj-lt"/>
              <a:buAutoNum type="arabicParenR"/>
            </a:pPr>
            <a:r>
              <a:rPr lang="ru-RU" sz="2800" dirty="0" smtClean="0"/>
              <a:t> внутреннюю </a:t>
            </a:r>
            <a:r>
              <a:rPr lang="ru-RU" sz="2800" dirty="0"/>
              <a:t>часть - </a:t>
            </a:r>
            <a:r>
              <a:rPr lang="ru-RU" sz="2800" b="1" dirty="0"/>
              <a:t>ядро СУБД</a:t>
            </a:r>
            <a:r>
              <a:rPr lang="ru-RU" sz="2800" dirty="0"/>
              <a:t> (часто его называют </a:t>
            </a:r>
            <a:r>
              <a:rPr lang="ru-RU" sz="2800" dirty="0" err="1"/>
              <a:t>DataBase</a:t>
            </a:r>
            <a:r>
              <a:rPr lang="ru-RU" sz="2800" dirty="0"/>
              <a:t> </a:t>
            </a:r>
            <a:r>
              <a:rPr lang="ru-RU" sz="2800" dirty="0" err="1"/>
              <a:t>Engine</a:t>
            </a:r>
            <a:r>
              <a:rPr lang="ru-RU" sz="2800" dirty="0" smtClean="0"/>
              <a:t>) </a:t>
            </a:r>
          </a:p>
          <a:p>
            <a:pPr marL="514350" lvl="0" indent="-514350" algn="just">
              <a:spcBef>
                <a:spcPts val="1200"/>
              </a:spcBef>
              <a:buFont typeface="+mj-lt"/>
              <a:buAutoNum type="arabicParenR"/>
            </a:pPr>
            <a:r>
              <a:rPr lang="ru-RU" sz="2800" dirty="0" smtClean="0"/>
              <a:t> </a:t>
            </a:r>
            <a:r>
              <a:rPr lang="ru-RU" sz="2800" b="1" dirty="0" smtClean="0"/>
              <a:t>компилятор </a:t>
            </a:r>
            <a:r>
              <a:rPr lang="ru-RU" sz="2800" b="1" dirty="0"/>
              <a:t>языка БД</a:t>
            </a:r>
            <a:r>
              <a:rPr lang="ru-RU" sz="2800" dirty="0"/>
              <a:t> </a:t>
            </a:r>
            <a:r>
              <a:rPr lang="ru-RU" sz="2800" dirty="0" smtClean="0"/>
              <a:t>(SQL) с оптимизатором</a:t>
            </a:r>
          </a:p>
          <a:p>
            <a:pPr marL="514350" lvl="0" indent="-514350" algn="just">
              <a:spcBef>
                <a:spcPts val="1200"/>
              </a:spcBef>
              <a:buFont typeface="+mj-lt"/>
              <a:buAutoNum type="arabicParenR"/>
            </a:pPr>
            <a:r>
              <a:rPr lang="ru-RU" sz="2800" dirty="0" smtClean="0"/>
              <a:t> </a:t>
            </a:r>
            <a:r>
              <a:rPr lang="ru-RU" sz="2800" b="1" dirty="0" smtClean="0"/>
              <a:t>набор  служебных утилит</a:t>
            </a:r>
            <a:endParaRPr lang="ru-RU" sz="2800" b="1" dirty="0"/>
          </a:p>
        </p:txBody>
      </p:sp>
    </p:spTree>
    <p:extLst>
      <p:ext uri="{BB962C8B-B14F-4D97-AF65-F5344CB8AC3E}">
        <p14:creationId xmlns:p14="http://schemas.microsoft.com/office/powerpoint/2010/main" val="3246943887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4000" b="1" smtClean="0">
                <a:latin typeface="Arial" pitchFamily="34" charset="0"/>
                <a:cs typeface="Arial" pitchFamily="34" charset="0"/>
              </a:rPr>
              <a:t>Ядро СУБД</a:t>
            </a:r>
            <a:endParaRPr lang="ru-RU" sz="400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400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400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39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04664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Лекция </a:t>
            </a:r>
            <a:r>
              <a:rPr lang="ru-RU" sz="1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1</a:t>
            </a:r>
            <a:r>
              <a:rPr lang="ru-RU" sz="1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С</a:t>
            </a:r>
            <a:r>
              <a:rPr lang="ru-RU" sz="1800" dirty="0">
                <a:solidFill>
                  <a:schemeClr val="tx1"/>
                </a:solidFill>
              </a:rPr>
              <a:t>истемы хранения и управления данными</a:t>
            </a:r>
            <a:r>
              <a:rPr lang="ru-RU" sz="1800" dirty="0" smtClean="0">
                <a:solidFill>
                  <a:srgbClr val="0070C0"/>
                </a:solidFill>
              </a:rPr>
              <a:t/>
            </a:r>
            <a:br>
              <a:rPr lang="ru-RU" sz="1800" dirty="0" smtClean="0">
                <a:solidFill>
                  <a:srgbClr val="0070C0"/>
                </a:solidFill>
              </a:rPr>
            </a:br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3528" y="980728"/>
            <a:ext cx="864096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800"/>
              <a:t>Ядро СУБД является основной резидентной частью СУБД и обладает собственным интерфейсом, не доступным пользователям напрямую</a:t>
            </a:r>
            <a:endParaRPr lang="ru-RU" sz="2800" b="1"/>
          </a:p>
          <a:p>
            <a:pPr lvl="0" algn="just"/>
            <a:r>
              <a:rPr lang="ru-RU" sz="2800" smtClean="0"/>
              <a:t>Ядро СУБД отвечает за</a:t>
            </a:r>
            <a:r>
              <a:rPr lang="ru-RU" sz="280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ru-RU" sz="2800" smtClean="0"/>
              <a:t> </a:t>
            </a:r>
          </a:p>
          <a:p>
            <a:pPr marL="457200" lvl="0" indent="-457200" algn="just">
              <a:buFont typeface="Wingdings" panose="05000000000000000000" pitchFamily="2" charset="2"/>
              <a:buChar char="§"/>
            </a:pPr>
            <a:r>
              <a:rPr lang="ru-RU" sz="2800" smtClean="0"/>
              <a:t>управление </a:t>
            </a:r>
            <a:r>
              <a:rPr lang="ru-RU" sz="2800"/>
              <a:t>данными во внешней </a:t>
            </a:r>
            <a:r>
              <a:rPr lang="ru-RU" sz="2800" smtClean="0"/>
              <a:t>памяти (</a:t>
            </a:r>
            <a:r>
              <a:rPr lang="ru-RU" sz="2800"/>
              <a:t>менеджер </a:t>
            </a:r>
            <a:r>
              <a:rPr lang="ru-RU" sz="2800" smtClean="0"/>
              <a:t>данных) </a:t>
            </a:r>
          </a:p>
          <a:p>
            <a:pPr marL="457200" lvl="0" indent="-457200" algn="just">
              <a:buFont typeface="Wingdings" panose="05000000000000000000" pitchFamily="2" charset="2"/>
              <a:buChar char="§"/>
            </a:pPr>
            <a:r>
              <a:rPr lang="ru-RU" sz="2800" smtClean="0"/>
              <a:t>управление </a:t>
            </a:r>
            <a:r>
              <a:rPr lang="ru-RU" sz="2800"/>
              <a:t>буферами оперативной </a:t>
            </a:r>
            <a:r>
              <a:rPr lang="ru-RU" sz="2800" smtClean="0"/>
              <a:t>памяти (</a:t>
            </a:r>
            <a:r>
              <a:rPr lang="ru-RU" sz="2800"/>
              <a:t>менеджер </a:t>
            </a:r>
            <a:r>
              <a:rPr lang="ru-RU" sz="2800" smtClean="0"/>
              <a:t>буферов)</a:t>
            </a:r>
          </a:p>
          <a:p>
            <a:pPr marL="457200" lvl="0" indent="-457200" algn="just">
              <a:buFont typeface="Wingdings" panose="05000000000000000000" pitchFamily="2" charset="2"/>
              <a:buChar char="§"/>
            </a:pPr>
            <a:r>
              <a:rPr lang="ru-RU" sz="2800" smtClean="0"/>
              <a:t> </a:t>
            </a:r>
            <a:r>
              <a:rPr lang="ru-RU" sz="2800"/>
              <a:t>управление транзакциями </a:t>
            </a:r>
            <a:r>
              <a:rPr lang="ru-RU" sz="2800" smtClean="0"/>
              <a:t>(</a:t>
            </a:r>
            <a:r>
              <a:rPr lang="ru-RU" sz="2800"/>
              <a:t>менеджер </a:t>
            </a:r>
            <a:r>
              <a:rPr lang="ru-RU" sz="2800" smtClean="0"/>
              <a:t>транзакций)</a:t>
            </a:r>
          </a:p>
          <a:p>
            <a:pPr marL="457200" lvl="0" indent="-457200" algn="just">
              <a:buFont typeface="Wingdings" panose="05000000000000000000" pitchFamily="2" charset="2"/>
              <a:buChar char="§"/>
            </a:pPr>
            <a:r>
              <a:rPr lang="ru-RU" sz="2800" smtClean="0"/>
              <a:t>ведение журналов (</a:t>
            </a:r>
            <a:r>
              <a:rPr lang="ru-RU" sz="2800"/>
              <a:t>менеджер </a:t>
            </a:r>
            <a:r>
              <a:rPr lang="ru-RU" sz="2800" smtClean="0"/>
              <a:t>журнала)</a:t>
            </a:r>
            <a:endParaRPr lang="ru-RU" sz="2800" b="1" dirty="0"/>
          </a:p>
        </p:txBody>
      </p:sp>
    </p:spTree>
    <p:extLst>
      <p:ext uri="{BB962C8B-B14F-4D97-AF65-F5344CB8AC3E}">
        <p14:creationId xmlns:p14="http://schemas.microsoft.com/office/powerpoint/2010/main" val="2162975842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260648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4000" b="1" dirty="0" smtClean="0">
                <a:latin typeface="Arial" pitchFamily="34" charset="0"/>
                <a:cs typeface="Arial" pitchFamily="34" charset="0"/>
              </a:rPr>
              <a:t>Компилятор  СУБД</a:t>
            </a:r>
            <a:endParaRPr lang="ru-RU" sz="4000" dirty="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4000" dirty="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40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40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04664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Лекция </a:t>
            </a:r>
            <a:r>
              <a:rPr lang="ru-RU" sz="1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1</a:t>
            </a:r>
            <a:r>
              <a:rPr lang="ru-RU" sz="1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С</a:t>
            </a:r>
            <a:r>
              <a:rPr lang="ru-RU" sz="1800" dirty="0">
                <a:solidFill>
                  <a:schemeClr val="tx1"/>
                </a:solidFill>
              </a:rPr>
              <a:t>истемы хранения и управления данными</a:t>
            </a:r>
            <a:r>
              <a:rPr lang="ru-RU" sz="1800" dirty="0" smtClean="0">
                <a:solidFill>
                  <a:srgbClr val="0070C0"/>
                </a:solidFill>
              </a:rPr>
              <a:t/>
            </a:r>
            <a:br>
              <a:rPr lang="ru-RU" sz="1800" dirty="0" smtClean="0">
                <a:solidFill>
                  <a:srgbClr val="0070C0"/>
                </a:solidFill>
              </a:rPr>
            </a:br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79512" y="908720"/>
            <a:ext cx="8856984" cy="53655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spcBef>
                <a:spcPts val="400"/>
              </a:spcBef>
              <a:buFont typeface="Wingdings" panose="05000000000000000000" pitchFamily="2" charset="2"/>
              <a:buChar char="q"/>
            </a:pPr>
            <a:r>
              <a:rPr lang="ru-RU" sz="2800" b="1" dirty="0" smtClean="0"/>
              <a:t>Основная функция</a:t>
            </a:r>
            <a:r>
              <a:rPr lang="ru-RU" sz="2800" dirty="0" smtClean="0"/>
              <a:t> </a:t>
            </a:r>
            <a:r>
              <a:rPr lang="ru-RU" sz="2800" dirty="0"/>
              <a:t>компилятора языка БД </a:t>
            </a:r>
            <a:r>
              <a:rPr lang="ru-RU" sz="2800" dirty="0" smtClean="0"/>
              <a:t>-  перевод </a:t>
            </a:r>
            <a:r>
              <a:rPr lang="ru-RU" sz="2800" dirty="0"/>
              <a:t>операторов языка БД </a:t>
            </a:r>
            <a:r>
              <a:rPr lang="en-US" sz="2800" dirty="0"/>
              <a:t>SQL</a:t>
            </a:r>
            <a:r>
              <a:rPr lang="ru-RU" sz="2800" dirty="0"/>
              <a:t>  в некоторую выполняемую </a:t>
            </a:r>
            <a:r>
              <a:rPr lang="ru-RU" sz="2800" dirty="0" smtClean="0"/>
              <a:t>программу на внутреннем </a:t>
            </a:r>
            <a:r>
              <a:rPr lang="ru-RU" sz="2800" dirty="0"/>
              <a:t>машинно-независимом коде</a:t>
            </a:r>
            <a:r>
              <a:rPr lang="ru-RU" sz="2800" dirty="0" smtClean="0"/>
              <a:t>.</a:t>
            </a:r>
          </a:p>
          <a:p>
            <a:pPr marL="457200" indent="-457200" algn="just">
              <a:spcBef>
                <a:spcPts val="400"/>
              </a:spcBef>
              <a:buFont typeface="Wingdings" panose="05000000000000000000" pitchFamily="2" charset="2"/>
              <a:buChar char="q"/>
            </a:pPr>
            <a:r>
              <a:rPr lang="ru-RU" sz="2800" dirty="0" smtClean="0"/>
              <a:t>Основная проблема </a:t>
            </a:r>
            <a:r>
              <a:rPr lang="ru-RU" sz="2800" dirty="0"/>
              <a:t>реляционных СУБД </a:t>
            </a:r>
            <a:r>
              <a:rPr lang="ru-RU" sz="2800" dirty="0" smtClean="0"/>
              <a:t>– декларативные запросы. Компилятор </a:t>
            </a:r>
            <a:r>
              <a:rPr lang="ru-RU" sz="2800" dirty="0"/>
              <a:t>должен решить, </a:t>
            </a:r>
            <a:r>
              <a:rPr lang="ru-RU" sz="2800" dirty="0" smtClean="0"/>
              <a:t>как выполнять </a:t>
            </a:r>
            <a:r>
              <a:rPr lang="ru-RU" sz="2800" dirty="0"/>
              <a:t>оператор </a:t>
            </a:r>
            <a:r>
              <a:rPr lang="ru-RU" sz="2800" dirty="0" smtClean="0"/>
              <a:t>запроса прежде</a:t>
            </a:r>
            <a:r>
              <a:rPr lang="ru-RU" sz="2800" dirty="0"/>
              <a:t>, чем </a:t>
            </a:r>
            <a:r>
              <a:rPr lang="ru-RU" sz="2800" dirty="0" smtClean="0"/>
              <a:t>создать программный код </a:t>
            </a:r>
          </a:p>
          <a:p>
            <a:pPr marL="457200" indent="-457200" algn="just">
              <a:spcBef>
                <a:spcPts val="400"/>
              </a:spcBef>
              <a:buFont typeface="Wingdings" panose="05000000000000000000" pitchFamily="2" charset="2"/>
              <a:buChar char="q"/>
            </a:pPr>
            <a:r>
              <a:rPr lang="ru-RU" sz="2800" dirty="0" smtClean="0"/>
              <a:t>Применяются </a:t>
            </a:r>
            <a:r>
              <a:rPr lang="ru-RU" sz="2800" dirty="0"/>
              <a:t>достаточно сложные методы оптимизации </a:t>
            </a:r>
            <a:r>
              <a:rPr lang="ru-RU" sz="2800" dirty="0" smtClean="0"/>
              <a:t>оператора запроса. </a:t>
            </a:r>
            <a:r>
              <a:rPr lang="ru-RU" sz="2800" dirty="0"/>
              <a:t>Результатом компиляции является выполняемая </a:t>
            </a:r>
            <a:r>
              <a:rPr lang="ru-RU" sz="2800" dirty="0" smtClean="0"/>
              <a:t>программа</a:t>
            </a:r>
            <a:endParaRPr lang="ru-RU" sz="2800" b="1" dirty="0"/>
          </a:p>
        </p:txBody>
      </p:sp>
    </p:spTree>
    <p:extLst>
      <p:ext uri="{BB962C8B-B14F-4D97-AF65-F5344CB8AC3E}">
        <p14:creationId xmlns:p14="http://schemas.microsoft.com/office/powerpoint/2010/main" val="4146389469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332656"/>
            <a:ext cx="9144000" cy="576064"/>
          </a:xfrm>
        </p:spPr>
        <p:txBody>
          <a:bodyPr rtlCol="0">
            <a:noAutofit/>
          </a:bodyPr>
          <a:lstStyle/>
          <a:p>
            <a:pPr marL="6350" indent="-6350" algn="ct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ru-RU" sz="4000" b="1" smtClean="0">
                <a:latin typeface="Arial" pitchFamily="34" charset="0"/>
                <a:cs typeface="Arial" pitchFamily="34" charset="0"/>
              </a:rPr>
              <a:t>Утилиты  СУБД</a:t>
            </a:r>
            <a:endParaRPr lang="ru-RU" sz="400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endParaRPr lang="ru-RU" sz="4000" smtClean="0">
              <a:latin typeface="Arial" pitchFamily="34" charset="0"/>
              <a:cs typeface="Arial" pitchFamily="34" charset="0"/>
            </a:endParaRPr>
          </a:p>
          <a:p>
            <a:pPr marL="903288" indent="-544513" algn="ctr">
              <a:lnSpc>
                <a:spcPct val="150000"/>
              </a:lnSpc>
              <a:spcBef>
                <a:spcPts val="1200"/>
              </a:spcBef>
              <a:buClrTx/>
              <a:buSzPct val="100000"/>
              <a:buNone/>
              <a:defRPr/>
            </a:pPr>
            <a:r>
              <a:rPr lang="ru-RU" sz="400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indent="1279525" algn="ctr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0" y="6381328"/>
            <a:ext cx="755576" cy="476672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41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04664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Autofit/>
          </a:bodyPr>
          <a:lstStyle/>
          <a:p>
            <a:pPr algn="r">
              <a:defRPr/>
            </a:pPr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Лекция </a:t>
            </a:r>
            <a:r>
              <a:rPr lang="ru-RU" sz="1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1</a:t>
            </a:r>
            <a:r>
              <a:rPr lang="ru-RU" sz="1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С</a:t>
            </a:r>
            <a:r>
              <a:rPr lang="ru-RU" sz="1800" dirty="0">
                <a:solidFill>
                  <a:schemeClr val="tx1"/>
                </a:solidFill>
              </a:rPr>
              <a:t>истемы хранения и управления данными</a:t>
            </a:r>
            <a:r>
              <a:rPr lang="ru-RU" sz="1800" dirty="0" smtClean="0">
                <a:solidFill>
                  <a:srgbClr val="0070C0"/>
                </a:solidFill>
              </a:rPr>
              <a:t/>
            </a:r>
            <a:br>
              <a:rPr lang="ru-RU" sz="1800" dirty="0" smtClean="0">
                <a:solidFill>
                  <a:srgbClr val="0070C0"/>
                </a:solidFill>
              </a:rPr>
            </a:br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3528" y="1289273"/>
            <a:ext cx="8640960" cy="3795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400"/>
              </a:spcBef>
            </a:pPr>
            <a:r>
              <a:rPr lang="ru-RU" sz="2800" b="1" dirty="0"/>
              <a:t>У</a:t>
            </a:r>
            <a:r>
              <a:rPr lang="ru-RU" sz="2800" b="1" dirty="0" smtClean="0"/>
              <a:t>тилиты </a:t>
            </a:r>
            <a:r>
              <a:rPr lang="ru-RU" sz="2800" dirty="0" smtClean="0"/>
              <a:t>выполняют служебные </a:t>
            </a:r>
            <a:r>
              <a:rPr lang="ru-RU" sz="2800" dirty="0"/>
              <a:t>процедуры, которые слишком неудобно выполнять с использованием языка </a:t>
            </a:r>
            <a:r>
              <a:rPr lang="ru-RU" sz="2800" dirty="0" smtClean="0"/>
              <a:t>БД:</a:t>
            </a:r>
          </a:p>
          <a:p>
            <a:pPr marL="457200" indent="-457200" algn="just">
              <a:spcBef>
                <a:spcPts val="400"/>
              </a:spcBef>
              <a:buFont typeface="Wingdings" panose="05000000000000000000" pitchFamily="2" charset="2"/>
              <a:buChar char="§"/>
            </a:pPr>
            <a:r>
              <a:rPr lang="ru-RU" sz="2800" dirty="0" smtClean="0"/>
              <a:t>загрузка </a:t>
            </a:r>
            <a:r>
              <a:rPr lang="ru-RU" sz="2800" dirty="0"/>
              <a:t>и </a:t>
            </a:r>
            <a:r>
              <a:rPr lang="ru-RU" sz="2800" dirty="0" smtClean="0"/>
              <a:t>выгрузка БД </a:t>
            </a:r>
          </a:p>
          <a:p>
            <a:pPr marL="457200" indent="-457200" algn="just">
              <a:spcBef>
                <a:spcPts val="400"/>
              </a:spcBef>
              <a:buFont typeface="Wingdings" panose="05000000000000000000" pitchFamily="2" charset="2"/>
              <a:buChar char="§"/>
            </a:pPr>
            <a:r>
              <a:rPr lang="ru-RU" sz="2800" dirty="0" smtClean="0"/>
              <a:t>создание архива (</a:t>
            </a:r>
            <a:r>
              <a:rPr lang="ru-RU" sz="2800" dirty="0" err="1" smtClean="0"/>
              <a:t>бэкапа</a:t>
            </a:r>
            <a:r>
              <a:rPr lang="ru-RU" sz="2800" dirty="0" smtClean="0"/>
              <a:t>)</a:t>
            </a:r>
          </a:p>
          <a:p>
            <a:pPr marL="457200" indent="-457200" algn="just">
              <a:spcBef>
                <a:spcPts val="400"/>
              </a:spcBef>
              <a:buFont typeface="Wingdings" panose="05000000000000000000" pitchFamily="2" charset="2"/>
              <a:buChar char="§"/>
            </a:pPr>
            <a:r>
              <a:rPr lang="ru-RU" sz="2800" dirty="0" smtClean="0"/>
              <a:t>сбор статистики </a:t>
            </a:r>
          </a:p>
          <a:p>
            <a:pPr marL="457200" indent="-457200" algn="just">
              <a:spcBef>
                <a:spcPts val="400"/>
              </a:spcBef>
              <a:buFont typeface="Wingdings" panose="05000000000000000000" pitchFamily="2" charset="2"/>
              <a:buChar char="§"/>
            </a:pPr>
            <a:r>
              <a:rPr lang="ru-RU" sz="2800" dirty="0" smtClean="0"/>
              <a:t>глобальная проверка </a:t>
            </a:r>
            <a:r>
              <a:rPr lang="ru-RU" sz="2800" dirty="0"/>
              <a:t>целостности БД и </a:t>
            </a:r>
            <a:r>
              <a:rPr lang="ru-RU" sz="2800" dirty="0" smtClean="0"/>
              <a:t>др. </a:t>
            </a:r>
          </a:p>
          <a:p>
            <a:pPr algn="just">
              <a:spcBef>
                <a:spcPts val="400"/>
              </a:spcBef>
            </a:pPr>
            <a:endParaRPr lang="ru-RU" sz="2800" b="1" dirty="0"/>
          </a:p>
        </p:txBody>
      </p:sp>
    </p:spTree>
    <p:extLst>
      <p:ext uri="{BB962C8B-B14F-4D97-AF65-F5344CB8AC3E}">
        <p14:creationId xmlns:p14="http://schemas.microsoft.com/office/powerpoint/2010/main" val="3845594100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0" y="685800"/>
            <a:ext cx="8964488" cy="6172200"/>
          </a:xfrm>
        </p:spPr>
        <p:txBody>
          <a:bodyPr rtlCol="0">
            <a:noAutofit/>
          </a:bodyPr>
          <a:lstStyle/>
          <a:p>
            <a:pPr indent="0" algn="just" fontAlgn="auto">
              <a:spcAft>
                <a:spcPts val="0"/>
              </a:spcAft>
              <a:buFont typeface="Wingdings 3" charset="2"/>
              <a:buNone/>
              <a:defRPr/>
            </a:pPr>
            <a:endParaRPr lang="ru-RU" sz="24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985838" algn="just" fontAlgn="auto">
              <a:spcAft>
                <a:spcPts val="0"/>
              </a:spcAft>
              <a:buFont typeface="Wingdings 3" charset="2"/>
              <a:buChar char=""/>
              <a:defRPr/>
            </a:pPr>
            <a:endParaRPr lang="ru-RU" sz="2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indent="1279525" algn="just" fontAlgn="auto">
              <a:spcBef>
                <a:spcPts val="0"/>
              </a:spcBef>
              <a:spcAft>
                <a:spcPts val="0"/>
              </a:spcAft>
              <a:buFont typeface="Wingdings 3" charset="2"/>
              <a:buChar char=""/>
              <a:defRPr/>
            </a:pPr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251520" y="6309320"/>
            <a:ext cx="648072" cy="365125"/>
          </a:xfrm>
        </p:spPr>
        <p:txBody>
          <a:bodyPr/>
          <a:lstStyle/>
          <a:p>
            <a:fld id="{477C6408-58B5-49CB-97DF-A65222F75CBE}" type="slidenum">
              <a:rPr lang="ru-RU" sz="2800" b="1" smtClean="0">
                <a:latin typeface="Times New Roman" pitchFamily="18" charset="0"/>
                <a:cs typeface="Times New Roman" pitchFamily="18" charset="0"/>
              </a:rPr>
              <a:pPr/>
              <a:t>42</a:t>
            </a:fld>
            <a:endParaRPr lang="ru-RU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Объект 4"/>
          <p:cNvSpPr txBox="1">
            <a:spLocks/>
          </p:cNvSpPr>
          <p:nvPr/>
        </p:nvSpPr>
        <p:spPr>
          <a:xfrm>
            <a:off x="152400" y="838200"/>
            <a:ext cx="8964488" cy="6172200"/>
          </a:xfrm>
          <a:prstGeom prst="rect">
            <a:avLst/>
          </a:prstGeom>
        </p:spPr>
        <p:txBody>
          <a:bodyPr vert="horz" rtlCol="0">
            <a:noAutofit/>
          </a:bodyPr>
          <a:lstStyle/>
          <a:p>
            <a:pPr marL="365760" marR="0" lvl="0" indent="0" algn="just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None/>
              <a:tabLst/>
              <a:defRPr/>
            </a:pPr>
            <a:endParaRPr kumimoji="0" lang="ru-RU" sz="2400" b="1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985838" marR="0" lvl="0" indent="-256032" algn="just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Char char=""/>
              <a:tabLst/>
              <a:defRPr/>
            </a:pPr>
            <a:endParaRPr kumimoji="0" lang="ru-RU" sz="2400" b="1" i="0" u="none" strike="noStrike" kern="1200" cap="none" spc="0" normalizeH="0" baseline="0" noProof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5760" marR="0" lvl="0" indent="1279525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charset="2"/>
              <a:buChar char="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0" y="404664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smtClean="0"/>
              <a:t>ВОПРОСЫ К ЛЕКЦИИ</a:t>
            </a:r>
            <a:endParaRPr lang="ru-RU" sz="3600" b="1"/>
          </a:p>
        </p:txBody>
      </p:sp>
      <p:sp>
        <p:nvSpPr>
          <p:cNvPr id="10" name="TextBox 9"/>
          <p:cNvSpPr txBox="1"/>
          <p:nvPr/>
        </p:nvSpPr>
        <p:spPr>
          <a:xfrm>
            <a:off x="251520" y="1124744"/>
            <a:ext cx="871296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dirty="0" smtClean="0"/>
              <a:t>1. Какие направления использования вычислит. техники ?</a:t>
            </a:r>
            <a:endParaRPr lang="ru-RU" sz="2200" dirty="0"/>
          </a:p>
        </p:txBody>
      </p:sp>
      <p:sp>
        <p:nvSpPr>
          <p:cNvPr id="12" name="TextBox 11"/>
          <p:cNvSpPr txBox="1"/>
          <p:nvPr/>
        </p:nvSpPr>
        <p:spPr>
          <a:xfrm>
            <a:off x="251520" y="1484784"/>
            <a:ext cx="871296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smtClean="0"/>
              <a:t>2. Укажите основные функции информационной системы ?</a:t>
            </a:r>
            <a:endParaRPr lang="ru-RU" sz="2200"/>
          </a:p>
        </p:txBody>
      </p:sp>
      <p:sp>
        <p:nvSpPr>
          <p:cNvPr id="13" name="TextBox 12"/>
          <p:cNvSpPr txBox="1"/>
          <p:nvPr/>
        </p:nvSpPr>
        <p:spPr>
          <a:xfrm>
            <a:off x="251520" y="1916832"/>
            <a:ext cx="871296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smtClean="0"/>
              <a:t>3. Каковы требования к устройствам хранения данных ? </a:t>
            </a:r>
            <a:endParaRPr lang="ru-RU" sz="2200"/>
          </a:p>
        </p:txBody>
      </p:sp>
      <p:sp>
        <p:nvSpPr>
          <p:cNvPr id="15" name="TextBox 14"/>
          <p:cNvSpPr txBox="1"/>
          <p:nvPr/>
        </p:nvSpPr>
        <p:spPr>
          <a:xfrm>
            <a:off x="251520" y="2348880"/>
            <a:ext cx="871296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4013" indent="-354013"/>
            <a:r>
              <a:rPr lang="ru-RU" sz="2200" smtClean="0"/>
              <a:t>4. Дайте определение файла . . .…</a:t>
            </a:r>
            <a:endParaRPr lang="ru-RU" sz="2200"/>
          </a:p>
        </p:txBody>
      </p:sp>
      <p:sp>
        <p:nvSpPr>
          <p:cNvPr id="16" name="TextBox 15"/>
          <p:cNvSpPr txBox="1"/>
          <p:nvPr/>
        </p:nvSpPr>
        <p:spPr>
          <a:xfrm>
            <a:off x="251520" y="2852936"/>
            <a:ext cx="871296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4013" indent="-354013"/>
            <a:r>
              <a:rPr lang="ru-RU" sz="2200" smtClean="0"/>
              <a:t>5. Какие имеются уровни доступа к файлам данных </a:t>
            </a:r>
            <a:r>
              <a:rPr lang="en-US" sz="2200" smtClean="0"/>
              <a:t>?</a:t>
            </a:r>
            <a:endParaRPr lang="ru-RU" sz="2200"/>
          </a:p>
        </p:txBody>
      </p:sp>
      <p:sp>
        <p:nvSpPr>
          <p:cNvPr id="17" name="TextBox 16"/>
          <p:cNvSpPr txBox="1"/>
          <p:nvPr/>
        </p:nvSpPr>
        <p:spPr>
          <a:xfrm>
            <a:off x="251520" y="3284984"/>
            <a:ext cx="87129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4013" indent="-354013"/>
            <a:r>
              <a:rPr lang="ru-RU" sz="2200" smtClean="0"/>
              <a:t>6. Перечислите недостатки файловых систем управления данными </a:t>
            </a:r>
            <a:r>
              <a:rPr lang="en-US" sz="2200" smtClean="0"/>
              <a:t>?</a:t>
            </a:r>
            <a:endParaRPr lang="ru-RU" sz="2200"/>
          </a:p>
        </p:txBody>
      </p:sp>
      <p:sp>
        <p:nvSpPr>
          <p:cNvPr id="18" name="TextBox 17"/>
          <p:cNvSpPr txBox="1"/>
          <p:nvPr/>
        </p:nvSpPr>
        <p:spPr>
          <a:xfrm>
            <a:off x="251520" y="3955703"/>
            <a:ext cx="87129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4013" indent="-354013"/>
            <a:r>
              <a:rPr lang="ru-RU" sz="2200"/>
              <a:t>7</a:t>
            </a:r>
            <a:r>
              <a:rPr lang="ru-RU" sz="2200" smtClean="0"/>
              <a:t>. Перечислите требования к программным системам хранения и управления данными . . . </a:t>
            </a:r>
            <a:endParaRPr lang="ru-RU" sz="2200"/>
          </a:p>
        </p:txBody>
      </p:sp>
      <p:sp>
        <p:nvSpPr>
          <p:cNvPr id="19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83458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Лекция </a:t>
            </a: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1</a:t>
            </a: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С</a:t>
            </a:r>
            <a:r>
              <a:rPr lang="ru-RU" sz="2000" dirty="0">
                <a:solidFill>
                  <a:schemeClr val="tx1"/>
                </a:solidFill>
              </a:rPr>
              <a:t>истемы хранения и управления данными</a:t>
            </a:r>
            <a:r>
              <a:rPr lang="ru-RU" sz="2000" dirty="0" smtClean="0">
                <a:solidFill>
                  <a:schemeClr val="tx1"/>
                </a:solidFill>
              </a:rPr>
              <a:t/>
            </a:r>
            <a:br>
              <a:rPr lang="ru-RU" sz="2000" dirty="0" smtClean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  <a:t/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51520" y="4654297"/>
            <a:ext cx="871296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4013" indent="-354013"/>
            <a:r>
              <a:rPr lang="en-US" sz="2200" smtClean="0"/>
              <a:t>8</a:t>
            </a:r>
            <a:r>
              <a:rPr lang="ru-RU" sz="2200" smtClean="0"/>
              <a:t>. Укажите уровни архитектуры БД </a:t>
            </a:r>
            <a:r>
              <a:rPr lang="en-US" sz="2200" smtClean="0"/>
              <a:t>ANSI</a:t>
            </a:r>
            <a:r>
              <a:rPr lang="ru-RU" sz="2200" smtClean="0"/>
              <a:t> </a:t>
            </a:r>
            <a:r>
              <a:rPr lang="en-US" sz="2200" smtClean="0"/>
              <a:t>. . .</a:t>
            </a:r>
            <a:endParaRPr lang="ru-RU" sz="2200"/>
          </a:p>
        </p:txBody>
      </p:sp>
      <p:sp>
        <p:nvSpPr>
          <p:cNvPr id="21" name="TextBox 20"/>
          <p:cNvSpPr txBox="1"/>
          <p:nvPr/>
        </p:nvSpPr>
        <p:spPr>
          <a:xfrm>
            <a:off x="251520" y="5085184"/>
            <a:ext cx="871296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4013" indent="-354013"/>
            <a:r>
              <a:rPr lang="ru-RU" sz="2200" smtClean="0"/>
              <a:t>9. Укажите основные функции СУБД </a:t>
            </a:r>
            <a:r>
              <a:rPr lang="en-US" sz="2200" smtClean="0"/>
              <a:t>. . .</a:t>
            </a:r>
            <a:endParaRPr lang="ru-RU" sz="2200"/>
          </a:p>
        </p:txBody>
      </p:sp>
      <p:sp>
        <p:nvSpPr>
          <p:cNvPr id="22" name="TextBox 21"/>
          <p:cNvSpPr txBox="1"/>
          <p:nvPr/>
        </p:nvSpPr>
        <p:spPr>
          <a:xfrm>
            <a:off x="251520" y="5590401"/>
            <a:ext cx="871296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4013" indent="-354013"/>
            <a:r>
              <a:rPr lang="ru-RU" sz="2200" smtClean="0"/>
              <a:t>10. Какие компоненты входят в состав СУБД ?</a:t>
            </a:r>
            <a:endParaRPr lang="ru-RU" sz="2200"/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p:transition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5" grpId="0"/>
      <p:bldP spid="16" grpId="0"/>
      <p:bldP spid="17" grpId="0"/>
      <p:bldP spid="18" grpId="0"/>
      <p:bldP spid="20" grpId="0"/>
      <p:bldP spid="21" grpId="0"/>
      <p:bldP spid="2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 descr="kartinka-spasibo-za-vnimanie-dlya-prezentatsij-6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941" y="1"/>
            <a:ext cx="9134059" cy="6865470"/>
          </a:xfrm>
          <a:prstGeom prst="rect">
            <a:avLst/>
          </a:prstGeom>
        </p:spPr>
      </p:pic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79512" y="692696"/>
            <a:ext cx="8712968" cy="5688632"/>
          </a:xfrm>
        </p:spPr>
        <p:txBody>
          <a:bodyPr rtlCol="0">
            <a:noAutofit/>
          </a:bodyPr>
          <a:lstStyle/>
          <a:p>
            <a:pPr marL="6350" indent="-6350" algn="ctr">
              <a:spcBef>
                <a:spcPts val="0"/>
              </a:spcBef>
              <a:buNone/>
              <a:defRPr/>
            </a:pPr>
            <a:endParaRPr lang="ru-RU" sz="2400" smtClean="0"/>
          </a:p>
          <a:p>
            <a:pPr marL="6350" indent="-6350" algn="ctr">
              <a:lnSpc>
                <a:spcPct val="150000"/>
              </a:lnSpc>
              <a:spcBef>
                <a:spcPts val="0"/>
              </a:spcBef>
              <a:buNone/>
              <a:defRPr/>
            </a:pPr>
            <a:endParaRPr lang="ru-RU" sz="3600" b="1" smtClean="0">
              <a:solidFill>
                <a:srgbClr val="002060"/>
              </a:solidFill>
            </a:endParaRPr>
          </a:p>
          <a:p>
            <a:pPr marL="6350" indent="-6350" algn="ctr">
              <a:spcBef>
                <a:spcPts val="0"/>
              </a:spcBef>
              <a:buNone/>
              <a:defRPr/>
            </a:pPr>
            <a:endParaRPr lang="ru-RU" sz="2000" b="1" smtClean="0">
              <a:latin typeface="Arial" pitchFamily="34" charset="0"/>
              <a:cs typeface="Arial" pitchFamily="34" charset="0"/>
            </a:endParaRPr>
          </a:p>
          <a:p>
            <a:pPr marL="6350" indent="-6350" algn="ctr">
              <a:spcBef>
                <a:spcPts val="0"/>
              </a:spcBef>
              <a:buNone/>
              <a:defRPr/>
            </a:pPr>
            <a:endParaRPr lang="ru-RU" sz="240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ru-RU" sz="2400" b="1" smtClean="0">
                <a:latin typeface="Arial" pitchFamily="34" charset="0"/>
                <a:cs typeface="Arial" pitchFamily="34" charset="0"/>
              </a:rPr>
              <a:t> </a:t>
            </a:r>
            <a:endParaRPr lang="ru-RU" sz="2400" smtClean="0">
              <a:latin typeface="Arial" pitchFamily="34" charset="0"/>
              <a:cs typeface="Arial" pitchFamily="34" charset="0"/>
            </a:endParaRPr>
          </a:p>
          <a:p>
            <a:pPr marL="6350" indent="-6350" algn="ctr">
              <a:spcBef>
                <a:spcPts val="0"/>
              </a:spcBef>
              <a:buNone/>
              <a:defRPr/>
            </a:pPr>
            <a:endParaRPr lang="ru-RU" sz="2400" smtClean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4428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Открытая">
  <a:themeElements>
    <a:clrScheme name="Открытая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Открытая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Открытая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2085</TotalTime>
  <Words>2016</Words>
  <Application>Microsoft Office PowerPoint</Application>
  <PresentationFormat>Экран (4:3)</PresentationFormat>
  <Paragraphs>366</Paragraphs>
  <Slides>43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43</vt:i4>
      </vt:variant>
    </vt:vector>
  </HeadingPairs>
  <TitlesOfParts>
    <vt:vector size="44" baseType="lpstr">
      <vt:lpstr>Открытая</vt:lpstr>
      <vt:lpstr>Лекция 1</vt:lpstr>
      <vt:lpstr>       Лекция 1. Системы хранения и управления данными  </vt:lpstr>
      <vt:lpstr>       Лекция 1. Системы хранения и управления данными  </vt:lpstr>
      <vt:lpstr>   Лекция 1. Системы хранения и управления данными  </vt:lpstr>
      <vt:lpstr>       Лекция 1. Системы хранения и управления данными  </vt:lpstr>
      <vt:lpstr>       Лекция 1. Системы хранения и управления данными  </vt:lpstr>
      <vt:lpstr>       Лекция 1. Системы хранения и управления данными  </vt:lpstr>
      <vt:lpstr>       Лекция 1. Системы хранения и управления данными  </vt:lpstr>
      <vt:lpstr>       Лекция 1. Системы хранения и управления данными  </vt:lpstr>
      <vt:lpstr>       Лекция 1. Системы хранения и управления данными  </vt:lpstr>
      <vt:lpstr>   Лекция 1. Системы хранения и управления данными  </vt:lpstr>
      <vt:lpstr>                    Лекция 1. Системы хранения и управления данными  </vt:lpstr>
      <vt:lpstr>       Лекция 1. Системы хранения и управления данными  </vt:lpstr>
      <vt:lpstr>       Лекция 1. Системы хранения и управления данными  </vt:lpstr>
      <vt:lpstr>       Лекция 1. Системы хранения и управления данными  </vt:lpstr>
      <vt:lpstr>       Лекция 1. Системы хранения и управления данными  </vt:lpstr>
      <vt:lpstr>       Лекция 1. Системы хранения и управления данными  </vt:lpstr>
      <vt:lpstr>       Лекция 1. Системы хранения и управления данными  </vt:lpstr>
      <vt:lpstr>       Лекция 1. Системы хранения и управления данными  </vt:lpstr>
      <vt:lpstr>       Лекция 1. Системы хранения и управления данными  </vt:lpstr>
      <vt:lpstr>       Лекция 1. Системы хранения и управления данными  </vt:lpstr>
      <vt:lpstr>       Лекция 1. Системы хранения и управления данными  </vt:lpstr>
      <vt:lpstr>       Лекция 1. Системы хранения и управления данными  </vt:lpstr>
      <vt:lpstr>       Лекция 1. Системы хранения и управления данными  </vt:lpstr>
      <vt:lpstr>       Лекция 1. Системы хранения и управления данными  </vt:lpstr>
      <vt:lpstr>       Лекция 1. Системы хранения и управления данными  </vt:lpstr>
      <vt:lpstr>       Лекция 1. Системы хранения и управления данными  </vt:lpstr>
      <vt:lpstr>       Лекция 1. Системы хранения и управления данными  </vt:lpstr>
      <vt:lpstr>       Лекция 1. Системы хранения и управления данными  </vt:lpstr>
      <vt:lpstr>       Лекция 1. Системы хранения и управления данными  </vt:lpstr>
      <vt:lpstr>       Лекция 1. Системы хранения и управления данными  </vt:lpstr>
      <vt:lpstr>       Лекция 1. Системы хранения и управления данными  </vt:lpstr>
      <vt:lpstr>   Лекция 1. Системы хранения и управления данными  </vt:lpstr>
      <vt:lpstr>   Лекция 1. Системы хранения и управления данными  </vt:lpstr>
      <vt:lpstr>   Лекция 1. Системы хранения и управления данными  </vt:lpstr>
      <vt:lpstr>   Лекция 1. Системы хранения и управления данными  </vt:lpstr>
      <vt:lpstr>   Лекция 1. Системы хранения и управления данными  </vt:lpstr>
      <vt:lpstr>   Лекция 1. Системы хранения и управления данными  </vt:lpstr>
      <vt:lpstr>   Лекция 1. Системы хранения и управления данными  </vt:lpstr>
      <vt:lpstr>   Лекция 1. Системы хранения и управления данными  </vt:lpstr>
      <vt:lpstr>   Лекция 1. Системы хранения и управления данными  </vt:lpstr>
      <vt:lpstr>       Лекция 1. Системы хранения и управления данными  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</dc:title>
  <dc:creator>MON</dc:creator>
  <cp:lastModifiedBy>*</cp:lastModifiedBy>
  <cp:revision>198</cp:revision>
  <dcterms:created xsi:type="dcterms:W3CDTF">2020-10-04T20:01:59Z</dcterms:created>
  <dcterms:modified xsi:type="dcterms:W3CDTF">2025-06-29T19:00:33Z</dcterms:modified>
</cp:coreProperties>
</file>