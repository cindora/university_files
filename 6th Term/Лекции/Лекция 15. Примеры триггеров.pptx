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3"/>
  </p:notesMasterIdLst>
  <p:sldIdLst>
    <p:sldId id="256" r:id="rId2"/>
    <p:sldId id="508" r:id="rId3"/>
    <p:sldId id="509" r:id="rId4"/>
    <p:sldId id="540" r:id="rId5"/>
    <p:sldId id="510" r:id="rId6"/>
    <p:sldId id="561" r:id="rId7"/>
    <p:sldId id="511" r:id="rId8"/>
    <p:sldId id="529" r:id="rId9"/>
    <p:sldId id="541" r:id="rId10"/>
    <p:sldId id="512" r:id="rId11"/>
    <p:sldId id="530" r:id="rId12"/>
    <p:sldId id="531" r:id="rId13"/>
    <p:sldId id="542" r:id="rId14"/>
    <p:sldId id="543" r:id="rId15"/>
    <p:sldId id="556" r:id="rId16"/>
    <p:sldId id="544" r:id="rId17"/>
    <p:sldId id="545" r:id="rId18"/>
    <p:sldId id="546" r:id="rId19"/>
    <p:sldId id="547" r:id="rId20"/>
    <p:sldId id="548" r:id="rId21"/>
    <p:sldId id="550" r:id="rId22"/>
    <p:sldId id="551" r:id="rId23"/>
    <p:sldId id="549" r:id="rId24"/>
    <p:sldId id="552" r:id="rId25"/>
    <p:sldId id="519" r:id="rId26"/>
    <p:sldId id="520" r:id="rId27"/>
    <p:sldId id="521" r:id="rId28"/>
    <p:sldId id="533" r:id="rId29"/>
    <p:sldId id="532" r:id="rId30"/>
    <p:sldId id="534" r:id="rId31"/>
    <p:sldId id="553" r:id="rId32"/>
    <p:sldId id="524" r:id="rId33"/>
    <p:sldId id="555" r:id="rId34"/>
    <p:sldId id="525" r:id="rId35"/>
    <p:sldId id="557" r:id="rId36"/>
    <p:sldId id="539" r:id="rId37"/>
    <p:sldId id="558" r:id="rId38"/>
    <p:sldId id="559" r:id="rId39"/>
    <p:sldId id="560" r:id="rId40"/>
    <p:sldId id="554" r:id="rId41"/>
    <p:sldId id="300" r:id="rId4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03" autoAdjust="0"/>
  </p:normalViewPr>
  <p:slideViewPr>
    <p:cSldViewPr>
      <p:cViewPr varScale="1">
        <p:scale>
          <a:sx n="85" d="100"/>
          <a:sy n="85" d="100"/>
        </p:scale>
        <p:origin x="-66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4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2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33</a:t>
            </a:fld>
            <a:endParaRPr lang="ru-R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34</a:t>
            </a:fld>
            <a:endParaRPr lang="ru-R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35</a:t>
            </a:fld>
            <a:endParaRPr lang="ru-R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36</a:t>
            </a:fld>
            <a:endParaRPr lang="ru-R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38</a:t>
            </a:fld>
            <a:endParaRPr lang="ru-RU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39</a:t>
            </a:fld>
            <a:endParaRPr lang="ru-R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40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13.12.2025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8208912" cy="2160240"/>
          </a:xfrm>
        </p:spPr>
        <p:txBody>
          <a:bodyPr>
            <a:normAutofit fontScale="92500" lnSpcReduction="20000"/>
          </a:bodyPr>
          <a:lstStyle/>
          <a:p>
            <a:pPr algn="ctr">
              <a:spcBef>
                <a:spcPct val="0"/>
              </a:spcBef>
            </a:pPr>
            <a:r>
              <a:rPr lang="ru-RU" sz="5400" b="1" dirty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en-US" sz="5400" b="1" dirty="0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ru-RU" sz="5400" b="1" dirty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7</a:t>
            </a:r>
            <a:endParaRPr lang="en-US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endParaRPr lang="ru-RU" sz="1000" b="1" dirty="0" smtClean="0"/>
          </a:p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Примеры использования триггеров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400" b="1" dirty="0" smtClean="0"/>
              <a:t>Схема данных «Учет продаж»</a:t>
            </a:r>
            <a:endParaRPr lang="ru-RU" sz="3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7" y="1340768"/>
            <a:ext cx="897423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72204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dirty="0" smtClean="0"/>
              <a:t>1.</a:t>
            </a:r>
            <a:r>
              <a:rPr lang="ru-RU" sz="3400" dirty="0" smtClean="0"/>
              <a:t> </a:t>
            </a:r>
            <a:r>
              <a:rPr lang="ru-RU" sz="3000" b="1" dirty="0" smtClean="0"/>
              <a:t>Заполнение полей перед вводом в таблицу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052736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Колонки, значения которых не заполняются или не доступны в пользовательском интерфейсе, можно заполнить в триггере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79512" y="2276872"/>
            <a:ext cx="88924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>
              <a:buFont typeface="Wingdings" panose="05000000000000000000" pitchFamily="2" charset="2"/>
              <a:buChar char="q"/>
            </a:pPr>
            <a:r>
              <a:rPr lang="ru-RU" sz="2400" dirty="0" smtClean="0"/>
              <a:t>Это необходимо делать в триггере для момента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endParaRPr lang="ru-RU" sz="2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3140968"/>
            <a:ext cx="88924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>
              <a:buFont typeface="Wingdings" panose="05000000000000000000" pitchFamily="2" charset="2"/>
              <a:buChar char="q"/>
            </a:pPr>
            <a:r>
              <a:rPr lang="ru-RU" sz="2400" dirty="0" smtClean="0"/>
              <a:t>В примере предусмотрим заполнение следующих колонок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803275" indent="-163513">
              <a:buFont typeface="Wingdings" pitchFamily="2" charset="2"/>
              <a:buChar char="§"/>
            </a:pPr>
            <a:r>
              <a:rPr lang="ru-RU" sz="2400" dirty="0" smtClean="0"/>
              <a:t>   </a:t>
            </a:r>
            <a:r>
              <a:rPr lang="ru-RU" sz="2400" b="1" dirty="0" smtClean="0">
                <a:solidFill>
                  <a:srgbClr val="7030A0"/>
                </a:solidFill>
              </a:rPr>
              <a:t>дата операции</a:t>
            </a:r>
            <a:r>
              <a:rPr lang="ru-RU" sz="2400" dirty="0" smtClean="0"/>
              <a:t>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2400" dirty="0" smtClean="0"/>
              <a:t> </a:t>
            </a:r>
            <a:r>
              <a:rPr lang="ru-RU" sz="2400" dirty="0" smtClean="0"/>
              <a:t>- текущая дата</a:t>
            </a:r>
          </a:p>
          <a:p>
            <a:pPr marL="803275" indent="-163513">
              <a:buFont typeface="Wingdings" pitchFamily="2" charset="2"/>
              <a:buChar char="§"/>
            </a:pPr>
            <a:r>
              <a:rPr lang="ru-RU" sz="2400" dirty="0" smtClean="0"/>
              <a:t>   </a:t>
            </a:r>
            <a:r>
              <a:rPr lang="ru-RU" sz="2400" b="1" dirty="0" smtClean="0">
                <a:solidFill>
                  <a:srgbClr val="7030A0"/>
                </a:solidFill>
              </a:rPr>
              <a:t>номер документа</a:t>
            </a:r>
            <a:r>
              <a:rPr lang="ru-RU" sz="2400" dirty="0" smtClean="0"/>
              <a:t>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NDOC</a:t>
            </a:r>
            <a:r>
              <a:rPr lang="en-US" sz="2400" dirty="0" smtClean="0"/>
              <a:t> </a:t>
            </a:r>
            <a:r>
              <a:rPr lang="ru-RU" sz="2400" dirty="0" smtClean="0"/>
              <a:t> - используем правило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1254125"/>
            <a:r>
              <a:rPr lang="ru-RU" sz="2400" dirty="0" smtClean="0"/>
              <a:t>   увеличение номера последнего документа    </a:t>
            </a:r>
          </a:p>
          <a:p>
            <a:pPr marL="1254125"/>
            <a:r>
              <a:rPr lang="ru-RU" sz="2400" dirty="0"/>
              <a:t> </a:t>
            </a:r>
            <a:r>
              <a:rPr lang="ru-RU" sz="2400" dirty="0" smtClean="0"/>
              <a:t>  текущего года на 1</a:t>
            </a:r>
          </a:p>
          <a:p>
            <a:pPr marL="803275" indent="-163513">
              <a:buFont typeface="Wingdings" pitchFamily="2" charset="2"/>
              <a:buChar char="§"/>
            </a:pPr>
            <a:r>
              <a:rPr lang="ru-RU" sz="2400" b="1" dirty="0" smtClean="0"/>
              <a:t>   </a:t>
            </a:r>
            <a:r>
              <a:rPr lang="ru-RU" sz="2400" b="1" dirty="0" smtClean="0">
                <a:solidFill>
                  <a:srgbClr val="7030A0"/>
                </a:solidFill>
              </a:rPr>
              <a:t>время</a:t>
            </a:r>
            <a:r>
              <a:rPr lang="ru-RU" sz="2400" dirty="0" smtClean="0"/>
              <a:t>  внесения изменений  </a:t>
            </a:r>
          </a:p>
          <a:p>
            <a:pPr marL="803275" indent="-163513">
              <a:buFont typeface="Wingdings" pitchFamily="2" charset="2"/>
              <a:buChar char="§"/>
            </a:pPr>
            <a:r>
              <a:rPr lang="ru-RU" sz="2400" b="1" dirty="0"/>
              <a:t> </a:t>
            </a:r>
            <a:r>
              <a:rPr lang="ru-RU" sz="2400" b="1" dirty="0" smtClean="0"/>
              <a:t>  </a:t>
            </a:r>
            <a:r>
              <a:rPr lang="ru-RU" sz="2400" b="1" dirty="0" smtClean="0">
                <a:solidFill>
                  <a:srgbClr val="7030A0"/>
                </a:solidFill>
              </a:rPr>
              <a:t>пользователя</a:t>
            </a:r>
            <a:r>
              <a:rPr lang="ru-RU" sz="2400" dirty="0" smtClean="0"/>
              <a:t>,  который эти изменения произвел      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016163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dirty="0" smtClean="0"/>
              <a:t>1.</a:t>
            </a:r>
            <a:r>
              <a:rPr lang="ru-RU" sz="3400" dirty="0" smtClean="0"/>
              <a:t> </a:t>
            </a:r>
            <a:r>
              <a:rPr lang="ru-RU" sz="3000" b="1" dirty="0" smtClean="0"/>
              <a:t>Заполнение полей перед вводом в таблицу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052736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Добавим в таблицу </a:t>
            </a:r>
            <a:r>
              <a:rPr lang="en-US" sz="2400" dirty="0" smtClean="0"/>
              <a:t>Book </a:t>
            </a:r>
            <a:r>
              <a:rPr lang="ru-RU" sz="2400" dirty="0" smtClean="0"/>
              <a:t>колонки для записи текущей временной метки добавления (изменения) данных и текущего пользователя, который эти изменения внес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251520" y="2708920"/>
            <a:ext cx="864096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book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add column 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user_modify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book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 column 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time_modify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timestamp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689" y="4236739"/>
            <a:ext cx="3672408" cy="2590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79596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smtClean="0"/>
              <a:t>1.</a:t>
            </a:r>
            <a:r>
              <a:rPr lang="ru-RU" sz="3000" smtClean="0"/>
              <a:t> </a:t>
            </a:r>
            <a:r>
              <a:rPr lang="ru-RU" sz="3000" b="1" smtClean="0"/>
              <a:t>Заполнение полей перед вводом в таблицу</a:t>
            </a:r>
            <a:endParaRPr lang="ru-RU" sz="300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784" y="1395928"/>
            <a:ext cx="864096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book_fill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$$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-- </a:t>
            </a:r>
            <a:r>
              <a:rPr lang="ru-RU" sz="2200" b="1" dirty="0">
                <a:latin typeface="Courier New" pitchFamily="49" charset="0"/>
                <a:cs typeface="Courier New" pitchFamily="49" charset="0"/>
              </a:rPr>
              <a:t>определение для документа текущей даты</a:t>
            </a:r>
          </a:p>
          <a:p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if(new.dat is null) then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new.dat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=current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date;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end if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 .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0872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536504"/>
            <a:ext cx="2733942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30498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smtClean="0"/>
              <a:t>1.</a:t>
            </a:r>
            <a:r>
              <a:rPr lang="ru-RU" sz="3000" smtClean="0"/>
              <a:t> </a:t>
            </a:r>
            <a:r>
              <a:rPr lang="ru-RU" sz="3000" b="1" smtClean="0"/>
              <a:t>Заполнение полей перед вводом в таблицу</a:t>
            </a:r>
            <a:endParaRPr lang="ru-RU" sz="300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784" y="1395928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book_fill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$$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 . 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</a:t>
            </a:r>
            <a:endParaRPr lang="ru-RU" sz="20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-- </a:t>
            </a:r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определение номера документа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new.ndoc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is null then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new.ndoc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=COALESCE(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(SELECT max(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ndoc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 FROM BOOK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WHERE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>
                <a:solidFill>
                  <a:srgbClr val="0070C0"/>
                </a:solidFill>
              </a:rPr>
              <a:t>'year',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)=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>
                <a:solidFill>
                  <a:srgbClr val="0070C0"/>
                </a:solidFill>
              </a:rPr>
              <a:t>'year',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new.dat)),0)+1;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end if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ru-RU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 . .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0872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536504"/>
            <a:ext cx="2733942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821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smtClean="0"/>
              <a:t>1.</a:t>
            </a:r>
            <a:r>
              <a:rPr lang="ru-RU" sz="3000" smtClean="0"/>
              <a:t> </a:t>
            </a:r>
            <a:r>
              <a:rPr lang="ru-RU" sz="3000" b="1" smtClean="0"/>
              <a:t>Заполнение полей перед вводом в таблицу</a:t>
            </a:r>
            <a:endParaRPr lang="ru-RU" sz="300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455742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book_fill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RETURNS trigger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 . . </a:t>
            </a:r>
          </a:p>
          <a:p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--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Протоколирование изменений</a:t>
            </a:r>
          </a:p>
          <a:p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--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1) </a:t>
            </a:r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пользователя текущего соединения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new.user_modify</a:t>
            </a: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current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 -- 2) </a:t>
            </a:r>
            <a:r>
              <a:rPr lang="ru-RU" sz="2200" b="1" dirty="0" smtClean="0">
                <a:latin typeface="Courier New" pitchFamily="49" charset="0"/>
                <a:cs typeface="Courier New" pitchFamily="49" charset="0"/>
              </a:rPr>
              <a:t>время последнего изменения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new.time_modify</a:t>
            </a: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CURRENT_TIMESTAMP;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END;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483" y="4581128"/>
            <a:ext cx="293344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9512" y="90872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 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32867507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dirty="0" smtClean="0"/>
              <a:t>1.</a:t>
            </a:r>
            <a:r>
              <a:rPr lang="ru-RU" sz="3400" b="1" dirty="0" smtClean="0"/>
              <a:t> Заполнение полей</a:t>
            </a:r>
            <a:endParaRPr lang="ru-RU" sz="3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052736"/>
            <a:ext cx="87129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 </a:t>
            </a:r>
            <a:r>
              <a:rPr lang="ru-RU" sz="2600" b="1" dirty="0" smtClean="0"/>
              <a:t>Триггер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9552" y="1723128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tib_book_fill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UPDATE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ON book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tf_book_fill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712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dirty="0" smtClean="0"/>
              <a:t>1.</a:t>
            </a:r>
            <a:r>
              <a:rPr lang="ru-RU" sz="3400" b="1" dirty="0" smtClean="0"/>
              <a:t> Заполнение полей</a:t>
            </a:r>
            <a:endParaRPr lang="ru-RU" sz="3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052736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 </a:t>
            </a:r>
            <a:r>
              <a:rPr lang="ru-RU" sz="2400" b="1" dirty="0" smtClean="0"/>
              <a:t>Проверка</a:t>
            </a:r>
            <a:endParaRPr lang="ru-RU" sz="2600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2051720" y="1484784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book 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pokup_kod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(3)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2" y="2646204"/>
            <a:ext cx="8631237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2204864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До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4077072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После</a:t>
            </a:r>
            <a:endParaRPr lang="ru-RU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4509120"/>
            <a:ext cx="8612187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540307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2.</a:t>
            </a:r>
            <a:r>
              <a:rPr lang="ru-RU" sz="3600" dirty="0" smtClean="0"/>
              <a:t> </a:t>
            </a:r>
            <a:r>
              <a:rPr lang="ru-RU" sz="3600" b="1" dirty="0" smtClean="0"/>
              <a:t>Контроль вводимых данных</a:t>
            </a:r>
            <a:endParaRPr lang="ru-RU" sz="3600" dirty="0" smtClean="0"/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770" y="1340768"/>
            <a:ext cx="856895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Значение некоторых колонок, заполненных в пользовательском интерфейсе, необходимо подвергнуть дополнительному контролю </a:t>
            </a:r>
            <a:endParaRPr lang="en-US" sz="2400" dirty="0" smtClean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400" dirty="0" smtClean="0"/>
              <a:t>Это необходимо делать в триггере для момента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BEFORE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В примере предусмотрим контроль колонок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536575" algn="just"/>
            <a:r>
              <a:rPr lang="ru-RU" sz="2400" i="1" dirty="0"/>
              <a:t>Д</a:t>
            </a:r>
            <a:r>
              <a:rPr lang="ru-RU" sz="2400" i="1" dirty="0" smtClean="0"/>
              <a:t>ата операции не может превышать текущую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При нарушении правил и ограничений инициируется пользовательская исключительная ситуация  оператором </a:t>
            </a:r>
          </a:p>
          <a:p>
            <a:pPr algn="just"/>
            <a:r>
              <a:rPr lang="ru-RU" sz="2400" i="1" dirty="0" smtClean="0"/>
              <a:t>           </a:t>
            </a:r>
            <a:r>
              <a:rPr lang="en-US" sz="2400" b="1" i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raise</a:t>
            </a:r>
            <a:r>
              <a:rPr lang="ru-RU" sz="2400" b="1" i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i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exception</a:t>
            </a:r>
            <a:r>
              <a:rPr lang="ru-RU" sz="2400" b="1" i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'текст сообщения об ошибке'</a:t>
            </a:r>
            <a:endParaRPr lang="ru-RU" sz="2400" b="1" spc="-100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4350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306502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254451" y="1772816"/>
            <a:ext cx="90364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book_check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trigger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$$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638"/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--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Дата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продажи 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не больше текущей</a:t>
            </a:r>
          </a:p>
          <a:p>
            <a:pPr marL="274638"/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 new.DAT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current_date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then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raise exception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400" b="1" spc="-1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spc="-1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'Дата </a:t>
            </a:r>
            <a:r>
              <a:rPr lang="ru-RU" sz="2400" b="1" spc="-1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операции не может превышать текущую'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sz="2400" b="1" spc="-100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end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$$;</a:t>
            </a:r>
            <a:endParaRPr lang="ru-RU" sz="24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2.</a:t>
            </a:r>
            <a:r>
              <a:rPr lang="ru-RU" sz="3600" dirty="0" smtClean="0"/>
              <a:t> </a:t>
            </a:r>
            <a:r>
              <a:rPr lang="ru-RU" sz="3600" b="1" dirty="0" smtClean="0"/>
              <a:t>Контроль вводимых данных</a:t>
            </a:r>
            <a:endParaRPr lang="ru-RU" sz="3600" dirty="0" smtClean="0"/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6761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39568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9552" y="2066072"/>
            <a:ext cx="6480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tib_book_check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ON book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tf_book_check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2.</a:t>
            </a:r>
            <a:r>
              <a:rPr lang="ru-RU" sz="3600" dirty="0" smtClean="0"/>
              <a:t> </a:t>
            </a:r>
            <a:r>
              <a:rPr lang="ru-RU" sz="3600" b="1" dirty="0" smtClean="0"/>
              <a:t>Контроль вводимых данных</a:t>
            </a:r>
            <a:endParaRPr lang="ru-RU" sz="3600" dirty="0" smtClean="0"/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6699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268760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Проверка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331640" y="1789365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book 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pokup_kod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(3,current_date+1)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552" y="3128194"/>
            <a:ext cx="3996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Результат</a:t>
            </a:r>
            <a:endParaRPr lang="ru-RU" sz="24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645024"/>
            <a:ext cx="8136034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0" y="404664"/>
            <a:ext cx="9144000" cy="576064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350" indent="-6350" algn="ctr">
              <a:buFont typeface="Wingdings 3"/>
              <a:buNone/>
              <a:defRPr/>
            </a:pPr>
            <a:r>
              <a:rPr lang="ru-RU" sz="3600" b="1" smtClean="0"/>
              <a:t>2.</a:t>
            </a:r>
            <a:r>
              <a:rPr lang="ru-RU" sz="3600" smtClean="0"/>
              <a:t> </a:t>
            </a:r>
            <a:r>
              <a:rPr lang="ru-RU" sz="3600" b="1" smtClean="0"/>
              <a:t>Контроль вводимых данных</a:t>
            </a:r>
            <a:endParaRPr lang="ru-RU" sz="3600" smtClean="0"/>
          </a:p>
          <a:p>
            <a:pPr marL="6350" indent="-6350" algn="ctr">
              <a:buFont typeface="Wingdings 3"/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576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3. Аудит в отдельной таблице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85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 smtClean="0"/>
              <a:t>Будем протоколировать операции изменения данных в таблице Ассортимент продаж (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en-US" sz="2200" dirty="0" smtClean="0"/>
              <a:t>) </a:t>
            </a:r>
            <a:r>
              <a:rPr lang="ru-RU" sz="2200" dirty="0" smtClean="0"/>
              <a:t>в отдельной таблице  </a:t>
            </a:r>
            <a:r>
              <a:rPr lang="en-US" sz="2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endParaRPr lang="en-US" sz="2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9054"/>
            <a:ext cx="6264696" cy="398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68481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3. Аудит в отдельной таблице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856895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spc="-100" dirty="0" smtClean="0">
                <a:latin typeface="+mj-lt"/>
                <a:cs typeface="Courier New" pitchFamily="49" charset="0"/>
              </a:rPr>
              <a:t>Создадим таблицу</a:t>
            </a:r>
          </a:p>
          <a:p>
            <a:pPr marL="1071563" algn="just"/>
            <a:endParaRPr lang="en-US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71563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bigserial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NULL,</a:t>
            </a: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character(1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spc="-100" dirty="0" smtClean="0">
                <a:latin typeface="+mj-lt"/>
                <a:cs typeface="Courier New" panose="02070309020205020404" pitchFamily="49" charset="0"/>
              </a:rPr>
              <a:t>-- </a:t>
            </a:r>
            <a:r>
              <a:rPr lang="ru-RU" sz="2200" spc="-100" dirty="0" smtClean="0">
                <a:latin typeface="+mj-lt"/>
                <a:cs typeface="Courier New" panose="02070309020205020404" pitchFamily="49" charset="0"/>
              </a:rPr>
              <a:t>команда  </a:t>
            </a:r>
            <a:r>
              <a:rPr lang="en-US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I/U/D</a:t>
            </a: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user_oper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text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200" spc="-100" dirty="0" smtClean="0">
                <a:cs typeface="Courier New" panose="02070309020205020404" pitchFamily="49" charset="0"/>
              </a:rPr>
              <a:t>-- пользователь</a:t>
            </a:r>
            <a:endParaRPr lang="en-US" sz="2200" spc="-100" dirty="0" smtClean="0"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time_oper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 NOT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spc="-100" dirty="0" smtClean="0">
                <a:cs typeface="Courier New" panose="02070309020205020404" pitchFamily="49" charset="0"/>
              </a:rPr>
              <a:t>-- время</a:t>
            </a:r>
            <a:endParaRPr lang="en-US" sz="2200" spc="-100" dirty="0" smtClean="0"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integer NOT NULL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</a:t>
            </a:r>
            <a:r>
              <a:rPr lang="en-US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-- 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значения</a:t>
            </a:r>
            <a:r>
              <a:rPr lang="en-US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</a:p>
          <a:p>
            <a:pPr marL="725488"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prod_kod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integer,   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-- колонок</a:t>
            </a:r>
            <a:endParaRPr lang="en-US" sz="2200" spc="-100" dirty="0" smtClean="0">
              <a:solidFill>
                <a:srgbClr val="C00000"/>
              </a:solidFill>
              <a:latin typeface="+mj-lt"/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numeric(10,2),   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-- изменяемой </a:t>
            </a:r>
            <a:endParaRPr lang="en-US" sz="2200" spc="-100" dirty="0" smtClean="0">
              <a:solidFill>
                <a:srgbClr val="C00000"/>
              </a:solidFill>
              <a:latin typeface="+mj-lt"/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numeric(8,1),   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-- строки</a:t>
            </a:r>
            <a:endParaRPr lang="en-US" sz="2200" spc="-100" dirty="0" smtClean="0">
              <a:solidFill>
                <a:srgbClr val="C00000"/>
              </a:solidFill>
              <a:latin typeface="+mj-lt"/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NOT NULL,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-- таблицы </a:t>
            </a:r>
            <a:r>
              <a:rPr lang="en-US" sz="2400" b="1" spc="-1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ru-RU" sz="2200" spc="-100" dirty="0" smtClean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endParaRPr lang="en-US" sz="2200" spc="-100" dirty="0" smtClean="0">
              <a:solidFill>
                <a:srgbClr val="C00000"/>
              </a:solidFill>
              <a:latin typeface="+mj-lt"/>
              <a:cs typeface="Courier New" panose="02070309020205020404" pitchFamily="49" charset="0"/>
            </a:endParaRPr>
          </a:p>
          <a:p>
            <a:pPr marL="725488"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PRIMARY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 (id))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8491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3. Аудит в отдельной таблице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764704"/>
            <a:ext cx="924562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/>
              <a:t>Триггерная функция</a:t>
            </a:r>
            <a:endParaRPr lang="ru-RU" sz="2200" b="1" spc="-100" dirty="0" smtClean="0">
              <a:latin typeface="+mj-lt"/>
              <a:cs typeface="Courier New" pitchFamily="49" charset="0"/>
            </a:endParaRPr>
          </a:p>
          <a:p>
            <a:pPr marL="173038" algn="just"/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algn="just"/>
            <a:r>
              <a:rPr lang="ru-RU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  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algn="just"/>
            <a:r>
              <a:rPr lang="ru-RU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algn="just"/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BEGIN</a:t>
            </a:r>
            <a:endParaRPr lang="ru-RU" sz="21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algn="just"/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(TG_OP = 'DELETE') THEN         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'D', 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now(), OLD.*;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/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(TG_OP = 'UPDATE') THEN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ru-RU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</a:t>
            </a:r>
            <a:r>
              <a:rPr lang="en-US" sz="21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'U',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now(), NEW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(TG_OP = 'INSERT') THEN           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ru-RU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628650"/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'I', </a:t>
            </a:r>
            <a:r>
              <a:rPr lang="en-US" sz="21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now(), NEW.*; 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en-US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1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8650"/>
            <a:r>
              <a:rPr lang="ru-RU" sz="21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sz="21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null; END; $$</a:t>
            </a:r>
            <a:endParaRPr lang="ru-RU" sz="21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845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3. Аудит в отдельной таблице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9245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Триггер</a:t>
            </a:r>
            <a:endParaRPr lang="en-US" sz="2400" b="1" dirty="0" smtClean="0"/>
          </a:p>
          <a:p>
            <a:pPr algn="just"/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tiuda_kart_audit</a:t>
            </a:r>
            <a:endParaRPr lang="en-US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 INSERT OR DELETE OR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pPr algn="just"/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   </a:t>
            </a:r>
            <a:endParaRPr lang="en-US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EXECUTE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7770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600" b="1" dirty="0" smtClean="0"/>
              <a:t>3. Аудит в отдельной таблице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92456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/>
              <a:t>Проверка</a:t>
            </a:r>
            <a:endParaRPr lang="en-US" sz="2200" b="1" dirty="0" smtClean="0"/>
          </a:p>
          <a:p>
            <a:pPr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INTO kart(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book_id,prod_kod,cena,kol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values(10,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100.0,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5);</a:t>
            </a:r>
          </a:p>
          <a:p>
            <a:pPr algn="just">
              <a:spcBef>
                <a:spcPts val="600"/>
              </a:spcBef>
            </a:pP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UPDATE </a:t>
            </a:r>
            <a:r>
              <a:rPr lang="nn-NO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   set cena=200.0   WHERE </a:t>
            </a: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kart_id=23;</a:t>
            </a:r>
          </a:p>
          <a:p>
            <a:pPr algn="just">
              <a:spcBef>
                <a:spcPts val="600"/>
              </a:spcBef>
            </a:pP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DELETE FROM kart </a:t>
            </a:r>
            <a:r>
              <a:rPr lang="nn-NO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kart_id=23</a:t>
            </a: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nn-NO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62" y="4437112"/>
            <a:ext cx="8844488" cy="1913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7544" y="3462099"/>
            <a:ext cx="6338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Результат</a:t>
            </a:r>
            <a:endParaRPr lang="en-US" sz="2400" b="1" dirty="0" smtClean="0"/>
          </a:p>
          <a:p>
            <a:r>
              <a:rPr lang="nn-NO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SELECT </a:t>
            </a:r>
            <a:r>
              <a:rPr lang="nn-NO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from </a:t>
            </a:r>
            <a:r>
              <a:rPr lang="nn-NO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3232355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 smtClean="0"/>
              <a:t>4. Триггер </a:t>
            </a:r>
            <a:r>
              <a:rPr lang="en-US" sz="3200" b="1" dirty="0" smtClean="0"/>
              <a:t>INSTEAD OF </a:t>
            </a:r>
            <a:r>
              <a:rPr lang="ru-RU" sz="3200" b="1" dirty="0" smtClean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980728"/>
            <a:ext cx="856895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Будем протоколировать операции изменения данных в таблице Ассортимент продаж (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en-US" sz="2200" dirty="0" smtClean="0"/>
              <a:t>) </a:t>
            </a:r>
            <a:r>
              <a:rPr lang="ru-RU" sz="2200" dirty="0" smtClean="0"/>
              <a:t>в отдельной таблице  </a:t>
            </a:r>
            <a:r>
              <a:rPr lang="en-US" sz="2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ru-RU" sz="2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>
                <a:latin typeface="+mj-lt"/>
                <a:cs typeface="Courier New" panose="02070309020205020404" pitchFamily="49" charset="0"/>
              </a:rPr>
              <a:t>Изменения будем вносить через представление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spc="-100" dirty="0" smtClean="0">
                <a:latin typeface="+mj-lt"/>
                <a:cs typeface="Courier New" pitchFamily="49" charset="0"/>
              </a:rPr>
              <a:t>Создадим  представление</a:t>
            </a: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VIEW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kart_v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SELECT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k.kart_id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k.prod_kod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k.kol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k.cena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k.kol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k.cena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stoim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k.book_id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JOIN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prod.product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/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k.prod_kod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p.prod_kod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4408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 smtClean="0"/>
              <a:t>4. Триггер </a:t>
            </a:r>
            <a:r>
              <a:rPr lang="en-US" sz="3200" b="1" dirty="0" smtClean="0"/>
              <a:t>INSTEAD OF </a:t>
            </a:r>
            <a:r>
              <a:rPr lang="ru-RU" sz="3200" b="1" dirty="0" smtClean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Триггерная функция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512" y="1586409"/>
            <a:ext cx="924562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FUNCTION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prod.tf_kart_v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(TG_OP = 'DELETE') THEN        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kart WHERE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OLD.kart_id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         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FOUND THEN RETURN NULL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END IF;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INSERT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 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time_oper,kart_id,prod_kod,cena,kol,book_id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	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('D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OLD.kart_id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OLD.prod_kod,OLD.cena,OLD.kol,OLD.book_id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        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OLD;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62287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 smtClean="0"/>
              <a:t>4. Триггер </a:t>
            </a:r>
            <a:r>
              <a:rPr lang="en-US" sz="3200" b="1" dirty="0" smtClean="0"/>
              <a:t>INSTEAD OF </a:t>
            </a:r>
            <a:r>
              <a:rPr lang="ru-RU" sz="3200" b="1" dirty="0" smtClean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980728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Триггерная функция  (продолжение)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512" y="1412776"/>
            <a:ext cx="924562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FUNCTION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prod.tf_kart_v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 . .</a:t>
            </a: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(TG_OP = 'UPDATE') THEN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	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prod_kod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new.pr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od_kod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		   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new.kol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			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new.cena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new.kart_id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FOUND THEN RETURN NULL; END IF;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INSERT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			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VALUES('U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new.kart_id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new.prod_kod,new.cena,new.kol,new.book_id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       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NEW;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543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 smtClean="0"/>
              <a:t>4. Триггер </a:t>
            </a:r>
            <a:r>
              <a:rPr lang="en-US" sz="3200" b="1" dirty="0" smtClean="0"/>
              <a:t>INSTEAD OF </a:t>
            </a:r>
            <a:r>
              <a:rPr lang="ru-RU" sz="3200" b="1" dirty="0" smtClean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980728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Триггерная функция  (продолжение)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7504" y="1412776"/>
            <a:ext cx="924562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FUNCTION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prod.tf_kart_v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 . .</a:t>
            </a: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(TG_OP =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'INSERT')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insert_return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INSERT INTO </a:t>
            </a:r>
            <a:endParaRPr lang="en-US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kart(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book_id,prod_kod,kol,cena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		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VALUES(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NEW.book_id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NEW.prod_kod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	      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new.kol,new.cena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			  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RETURNING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endParaRPr lang="en-US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select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into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new.kart_id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2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from 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insert_return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endParaRPr lang="en-US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INSERT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		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		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VALUES('I',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new.kart_id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new.prod_kod,new.cena,new.kol,new.book_id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     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RETURN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NEW;        </a:t>
            </a:r>
            <a:endParaRPr lang="en-US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END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IF;    END;$BODY$;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3382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 smtClean="0"/>
              <a:t>4. Триггер </a:t>
            </a:r>
            <a:r>
              <a:rPr lang="en-US" sz="3200" b="1" dirty="0" smtClean="0"/>
              <a:t>INSTEAD OF </a:t>
            </a:r>
            <a:r>
              <a:rPr lang="ru-RU" sz="3200" b="1" dirty="0" smtClean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Триггер</a:t>
            </a:r>
            <a:endParaRPr lang="ru-RU" sz="24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2122" y="1889812"/>
            <a:ext cx="79208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kart_v_audit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INSTEAD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INSERT OR DELETE OR UPDATE   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prod.kart_v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prod.tf_kart_v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7486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200" b="1" dirty="0"/>
              <a:t>4. Триггер </a:t>
            </a:r>
            <a:r>
              <a:rPr lang="en-US" sz="3200" b="1" dirty="0"/>
              <a:t>INSTEAD OF </a:t>
            </a:r>
            <a:r>
              <a:rPr lang="ru-RU" sz="3200" b="1" dirty="0"/>
              <a:t>для представления</a:t>
            </a:r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1124744"/>
            <a:ext cx="92456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/>
              <a:t>Проверка</a:t>
            </a:r>
            <a:endParaRPr lang="en-US" sz="2200" b="1" dirty="0" smtClean="0"/>
          </a:p>
          <a:p>
            <a:pPr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INTO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kart_v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book_id,prod_kod,cena,kol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values(9,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150.0,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15);</a:t>
            </a:r>
          </a:p>
          <a:p>
            <a:pPr algn="just">
              <a:spcBef>
                <a:spcPts val="600"/>
              </a:spcBef>
            </a:pP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UPDATE kart_v   </a:t>
            </a:r>
            <a:r>
              <a:rPr lang="nn-NO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cena=300.0   </a:t>
            </a:r>
            <a:r>
              <a:rPr lang="nn-NO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kart_id=24;</a:t>
            </a:r>
          </a:p>
          <a:p>
            <a:pPr algn="just">
              <a:spcBef>
                <a:spcPts val="600"/>
              </a:spcBef>
            </a:pP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DELETE FROM kart_v </a:t>
            </a:r>
            <a:r>
              <a:rPr lang="nn-NO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nn-NO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kart_id=24;</a:t>
            </a:r>
            <a:endParaRPr lang="nn-NO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4928" y="3356992"/>
            <a:ext cx="6149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Результат</a:t>
            </a:r>
            <a:endParaRPr lang="en-US" sz="2400" b="1" dirty="0" smtClean="0"/>
          </a:p>
          <a:p>
            <a:r>
              <a:rPr lang="nn-NO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SELECT </a:t>
            </a:r>
            <a:r>
              <a:rPr lang="nn-NO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from </a:t>
            </a:r>
            <a:r>
              <a:rPr lang="nn-NO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08" y="4257674"/>
            <a:ext cx="8884492" cy="187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0055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en-US" sz="3000" b="1" dirty="0" smtClean="0"/>
              <a:t>5</a:t>
            </a:r>
            <a:r>
              <a:rPr lang="ru-RU" sz="3000" b="1" dirty="0" smtClean="0"/>
              <a:t>. Вычисление агрегатных значений</a:t>
            </a:r>
            <a:endParaRPr lang="ru-RU" sz="3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980728"/>
            <a:ext cx="8712968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 В рассматриваемой схеме данных в таблице </a:t>
            </a:r>
            <a:r>
              <a:rPr lang="ru-RU" sz="2200" i="1" dirty="0" smtClean="0"/>
              <a:t>Книга движения</a:t>
            </a:r>
            <a:r>
              <a:rPr lang="ru-RU" sz="2200" dirty="0" smtClean="0"/>
              <a:t> </a:t>
            </a:r>
            <a:r>
              <a:rPr lang="en-US" sz="2200" b="1" dirty="0" smtClean="0">
                <a:solidFill>
                  <a:schemeClr val="bg2">
                    <a:lumMod val="25000"/>
                  </a:schemeClr>
                </a:solidFill>
                <a:latin typeface="Courier New" pitchFamily="49" charset="0"/>
                <a:cs typeface="Courier New" pitchFamily="49" charset="0"/>
              </a:rPr>
              <a:t>BOOK</a:t>
            </a:r>
            <a:r>
              <a:rPr lang="en-US" sz="2200" dirty="0" smtClean="0"/>
              <a:t> </a:t>
            </a:r>
            <a:r>
              <a:rPr lang="ru-RU" sz="2200" dirty="0" smtClean="0"/>
              <a:t>имеется вычисляемая колонка </a:t>
            </a:r>
            <a:r>
              <a:rPr lang="en-US" sz="2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OTAL</a:t>
            </a:r>
            <a:r>
              <a:rPr lang="ru-RU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STOIM</a:t>
            </a:r>
            <a:r>
              <a:rPr lang="ru-RU" sz="2200" dirty="0" smtClean="0"/>
              <a:t>, которая рассчитывается по колонкам</a:t>
            </a:r>
            <a:r>
              <a:rPr lang="en-US" sz="2200" dirty="0" smtClean="0"/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KOL</a:t>
            </a:r>
            <a:r>
              <a:rPr lang="en-US" sz="2200" dirty="0" smtClean="0"/>
              <a:t> </a:t>
            </a:r>
            <a:r>
              <a:rPr lang="ru-RU" sz="2200" dirty="0" smtClean="0"/>
              <a:t>и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CENA</a:t>
            </a:r>
            <a:r>
              <a:rPr lang="en-US" sz="2200" dirty="0" smtClean="0"/>
              <a:t> </a:t>
            </a:r>
            <a:r>
              <a:rPr lang="ru-RU" sz="2200" dirty="0" smtClean="0"/>
              <a:t>в строках  подчиненной таблицы </a:t>
            </a:r>
            <a:r>
              <a:rPr lang="en-US" sz="2200" b="1" dirty="0" smtClean="0">
                <a:solidFill>
                  <a:schemeClr val="bg2">
                    <a:lumMod val="25000"/>
                  </a:schemeClr>
                </a:solidFill>
                <a:latin typeface="Courier New" pitchFamily="49" charset="0"/>
                <a:cs typeface="Courier New" pitchFamily="49" charset="0"/>
              </a:rPr>
              <a:t>KART</a:t>
            </a:r>
            <a:endParaRPr lang="ru-RU" sz="2200" b="1" dirty="0" smtClean="0">
              <a:solidFill>
                <a:schemeClr val="bg2">
                  <a:lumMod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dirty="0" smtClean="0"/>
              <a:t>          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BOOK.TOTAL_STOIM</a:t>
            </a:r>
            <a:r>
              <a:rPr lang="en-US" sz="2200" dirty="0" smtClean="0"/>
              <a:t>=</a:t>
            </a:r>
            <a:r>
              <a:rPr lang="en-US" sz="3600" b="1" dirty="0" smtClean="0"/>
              <a:t>∑</a:t>
            </a:r>
            <a:r>
              <a:rPr lang="ru-RU" sz="3600" b="1" dirty="0" smtClean="0"/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KART.CENA * KART.KOL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BOOK_ID</a:t>
            </a:r>
            <a:r>
              <a:rPr lang="ru-RU" sz="1200" dirty="0" smtClean="0"/>
              <a:t>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 smtClean="0"/>
              <a:t>Изменения колонки 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OTAL</a:t>
            </a:r>
            <a:r>
              <a:rPr lang="ru-RU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STOIM</a:t>
            </a:r>
            <a:r>
              <a:rPr lang="en-US" sz="2200" dirty="0" smtClean="0"/>
              <a:t> </a:t>
            </a:r>
            <a:r>
              <a:rPr lang="ru-RU" sz="2200" dirty="0" smtClean="0"/>
              <a:t>должны выполняться </a:t>
            </a:r>
            <a:r>
              <a:rPr lang="ru-RU" sz="2200" b="1" dirty="0" smtClean="0"/>
              <a:t>после</a:t>
            </a:r>
            <a:r>
              <a:rPr lang="ru-RU" sz="2200" dirty="0" smtClean="0"/>
              <a:t> любых изменениях в строках подчиненной таблицы </a:t>
            </a:r>
            <a:r>
              <a:rPr lang="en-US" sz="2200" b="1" dirty="0" smtClean="0">
                <a:solidFill>
                  <a:schemeClr val="bg2">
                    <a:lumMod val="25000"/>
                  </a:schemeClr>
                </a:solidFill>
                <a:latin typeface="Courier New" pitchFamily="49" charset="0"/>
                <a:cs typeface="Courier New" pitchFamily="49" charset="0"/>
              </a:rPr>
              <a:t>KART</a:t>
            </a:r>
            <a:r>
              <a:rPr lang="en-US" sz="2200" dirty="0" smtClean="0"/>
              <a:t> </a:t>
            </a:r>
            <a:r>
              <a:rPr lang="ru-RU" sz="2200" dirty="0" smtClean="0"/>
              <a:t>(добавления строки, изменение строки, удаления строки) с таким же идентификатором внешнего ключа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BOOK</a:t>
            </a:r>
            <a:r>
              <a:rPr lang="ru-RU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ID</a:t>
            </a:r>
            <a:endParaRPr lang="ru-RU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704" y="4826636"/>
            <a:ext cx="7357964" cy="213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21554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000" b="1" dirty="0" smtClean="0"/>
              <a:t>5. </a:t>
            </a:r>
            <a:r>
              <a:rPr lang="ru-RU" sz="3000" b="1" dirty="0"/>
              <a:t>Вычисление агрегатных значений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980728"/>
            <a:ext cx="892899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Триггер, изменяющий агрегатное значение, должен активизироваться в </a:t>
            </a:r>
            <a:r>
              <a:rPr lang="ru-RU" sz="2400" b="1" dirty="0" smtClean="0"/>
              <a:t>момент после фиксации изменений</a:t>
            </a:r>
            <a:r>
              <a:rPr lang="ru-RU" sz="2400" dirty="0" smtClean="0"/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AFTER</a:t>
            </a:r>
            <a:r>
              <a:rPr lang="ru-RU" sz="2400" dirty="0" smtClean="0"/>
              <a:t> в подчиненной таблице 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Это логично, т.к. изменения вычисляемого поля производятся в другой таблице, и они должны произойти только после полной фиксации изменений в подчиненной таблице 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Колонки таблицы и </a:t>
            </a:r>
            <a:r>
              <a:rPr lang="ru-RU" sz="2400" dirty="0" err="1" smtClean="0"/>
              <a:t>псевдострок</a:t>
            </a:r>
            <a:r>
              <a:rPr lang="ru-RU" sz="2400" dirty="0" smtClean="0"/>
              <a:t> для получения определенного результата подставляются в функцию 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coalesce</a:t>
            </a:r>
            <a:r>
              <a:rPr lang="ru-RU" sz="2400" dirty="0" smtClean="0"/>
              <a:t>, и если значения данных колонок будут неопределенными (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ru-RU" sz="2400" dirty="0" smtClean="0"/>
              <a:t>), вместо них в вычисляемые выражения будет подставляться </a:t>
            </a:r>
            <a:r>
              <a:rPr lang="ru-RU" sz="3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ru-RU" sz="30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3824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5. </a:t>
            </a:r>
            <a:r>
              <a:rPr lang="ru-RU" sz="3000" b="1" dirty="0"/>
              <a:t>Вычисление агрегатных значений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056" y="1628800"/>
            <a:ext cx="871296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kart_calc_field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trigger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endParaRPr lang="en-US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TG_OP = 'INSERT' THEN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UPDATE BOOK 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set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total_stoim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coalesce(total_stoim,0)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+coalesce(NEW.price,0)*coalesce(NEW.kol,0)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WHERE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 . . </a:t>
            </a:r>
            <a:endParaRPr lang="ru-RU" sz="20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24744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018014"/>
            <a:ext cx="6353868" cy="1839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13715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5. </a:t>
            </a:r>
            <a:r>
              <a:rPr lang="ru-RU" sz="3000" b="1" dirty="0"/>
              <a:t>Вычисление агрегатных значений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056" y="1412776"/>
            <a:ext cx="871296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kart_calc_field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. . </a:t>
            </a: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TG_OP = 'UPDATE' THEN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UPDATE BOOK 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set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total_stoim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coalesce(total_stoim,0)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-coalesce(OLD.price,0)*coalesce(OLD.kol,0)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+coalesce(NEW.price,0)*coalesce(NEW.kol,0)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WHERE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 . .</a:t>
            </a:r>
            <a:endParaRPr lang="ru-RU" sz="2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80728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  <a:r>
              <a:rPr lang="en-US" sz="2400" b="1" dirty="0" smtClean="0"/>
              <a:t> (</a:t>
            </a:r>
            <a:r>
              <a:rPr lang="ru-RU" sz="2400" b="1" dirty="0" smtClean="0"/>
              <a:t>продолжение)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708" y="4859874"/>
            <a:ext cx="6899960" cy="199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775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5. </a:t>
            </a:r>
            <a:r>
              <a:rPr lang="ru-RU" sz="3000" b="1" dirty="0"/>
              <a:t>Вычисление агрегатных значений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056" y="1412776"/>
            <a:ext cx="871296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kart_calc_field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TG_OP = 'DELETE' THEN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UPDATE BOOK 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set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total_stoim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coalesce(total_stoim,0)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-coalesce(OLD.price,0)*coalesce(OLD.kol,0)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WHERE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OLD.book_id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END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NULL; 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;$$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80728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 (продолжение)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967" y="4941168"/>
            <a:ext cx="6619235" cy="191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54651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5. </a:t>
            </a:r>
            <a:r>
              <a:rPr lang="ru-RU" sz="3000" b="1" dirty="0"/>
              <a:t>Вычисление агрегатных значений</a:t>
            </a:r>
            <a:endParaRPr lang="ru-RU" sz="30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052736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98884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mtClean="0"/>
          </a:p>
          <a:p>
            <a:r>
              <a:rPr lang="ru-RU" smtClean="0"/>
              <a:t> </a:t>
            </a:r>
            <a:r>
              <a:rPr lang="en-US" smtClean="0"/>
              <a:t> </a:t>
            </a:r>
            <a:endParaRPr lang="ru-RU" smtClean="0"/>
          </a:p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9552" y="1723128"/>
            <a:ext cx="77048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ta_kart_calc_field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OR UPDATE OR DELETE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ON kart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ROW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tf_kart_calc_field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538" y="3933056"/>
            <a:ext cx="7357964" cy="213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5904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dirty="0"/>
              <a:t>5. </a:t>
            </a:r>
            <a:r>
              <a:rPr lang="ru-RU" sz="3200" b="1" dirty="0"/>
              <a:t>Вычисление агрегатных значений</a:t>
            </a:r>
            <a:endParaRPr lang="ru-RU" sz="3200" dirty="0"/>
          </a:p>
          <a:p>
            <a:pPr marL="6350" lvl="0" indent="-6350" algn="ctr">
              <a:buNone/>
              <a:defRPr/>
            </a:pPr>
            <a:endParaRPr lang="ru-RU" sz="3200" b="1" dirty="0"/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087" y="908720"/>
            <a:ext cx="92456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/>
              <a:t>Проверка</a:t>
            </a:r>
            <a:endParaRPr lang="en-US" sz="2200" b="1" dirty="0" smtClean="0"/>
          </a:p>
          <a:p>
            <a:pPr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book_id,user_modify,time_modify,total_stoim</a:t>
            </a:r>
            <a:endParaRPr lang="en-US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prod.book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=10;</a:t>
            </a:r>
            <a:endParaRPr lang="en-US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924944"/>
            <a:ext cx="4470412" cy="11079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kart</a:t>
            </a: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book_id,prod_kod,cena,kol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values(10,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100.0,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04" y="4193212"/>
            <a:ext cx="4362908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kart</a:t>
            </a: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20</a:t>
            </a: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512" y="5539879"/>
            <a:ext cx="4290900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kart</a:t>
            </a: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26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362" y="1916832"/>
            <a:ext cx="4653418" cy="85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216442"/>
            <a:ext cx="4465306" cy="788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410813"/>
            <a:ext cx="4465305" cy="80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637" y="5539879"/>
            <a:ext cx="4398868" cy="84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Стрелка вправо с вырезом 5"/>
          <p:cNvSpPr/>
          <p:nvPr/>
        </p:nvSpPr>
        <p:spPr>
          <a:xfrm>
            <a:off x="4455087" y="3610753"/>
            <a:ext cx="490812" cy="394311"/>
          </a:xfrm>
          <a:prstGeom prst="notch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с вырезом 18"/>
          <p:cNvSpPr/>
          <p:nvPr/>
        </p:nvSpPr>
        <p:spPr>
          <a:xfrm>
            <a:off x="4427984" y="4762881"/>
            <a:ext cx="490812" cy="394311"/>
          </a:xfrm>
          <a:prstGeom prst="notch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право с вырезом 19"/>
          <p:cNvSpPr/>
          <p:nvPr/>
        </p:nvSpPr>
        <p:spPr>
          <a:xfrm>
            <a:off x="4355976" y="5915009"/>
            <a:ext cx="490812" cy="394311"/>
          </a:xfrm>
          <a:prstGeom prst="notch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углом 9"/>
          <p:cNvSpPr/>
          <p:nvPr/>
        </p:nvSpPr>
        <p:spPr>
          <a:xfrm rot="10800000" flipH="1">
            <a:off x="3847978" y="2024844"/>
            <a:ext cx="634828" cy="640124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952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6" grpId="0" animBg="1"/>
      <p:bldP spid="19" grpId="0" animBg="1"/>
      <p:bldP spid="20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6. </a:t>
            </a:r>
            <a:r>
              <a:rPr lang="ru-RU" sz="3000" b="1" dirty="0" smtClean="0"/>
              <a:t>Операторный триггер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883161"/>
            <a:ext cx="885698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300" dirty="0" smtClean="0"/>
              <a:t>Триггеры уровня оператора (</a:t>
            </a:r>
            <a:r>
              <a:rPr lang="en-US" sz="2300" dirty="0" smtClean="0"/>
              <a:t>FOR STATEMENT) </a:t>
            </a:r>
            <a:r>
              <a:rPr lang="ru-RU" sz="2300" dirty="0" smtClean="0"/>
              <a:t>активизируются один раз на выполнение оператора изменения данных при любом количестве строк, которые этот оператор затрагивает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300" dirty="0"/>
              <a:t>Триггеры </a:t>
            </a:r>
            <a:r>
              <a:rPr lang="en-US" sz="2300" dirty="0" smtClean="0"/>
              <a:t>AFTER </a:t>
            </a:r>
            <a:r>
              <a:rPr lang="ru-RU" sz="2300" dirty="0" smtClean="0"/>
              <a:t>могут </a:t>
            </a:r>
            <a:r>
              <a:rPr lang="ru-RU" sz="2300" dirty="0"/>
              <a:t>использовать </a:t>
            </a:r>
            <a:r>
              <a:rPr lang="ru-RU" sz="2300" i="1" dirty="0"/>
              <a:t>таблицы переходов (</a:t>
            </a:r>
            <a:r>
              <a:rPr lang="ru-RU" sz="2300" i="1" dirty="0" err="1"/>
              <a:t>transition</a:t>
            </a:r>
            <a:r>
              <a:rPr lang="ru-RU" sz="2300" i="1" dirty="0"/>
              <a:t> </a:t>
            </a:r>
            <a:r>
              <a:rPr lang="ru-RU" sz="2300" i="1" dirty="0" err="1"/>
              <a:t>tables</a:t>
            </a:r>
            <a:r>
              <a:rPr lang="ru-RU" sz="2300" i="1" dirty="0"/>
              <a:t>) </a:t>
            </a:r>
            <a:r>
              <a:rPr lang="ru-RU" sz="2300" dirty="0"/>
              <a:t>для проверки всего набора строк, </a:t>
            </a:r>
            <a:r>
              <a:rPr lang="ru-RU" sz="2300" dirty="0" smtClean="0"/>
              <a:t>измен</a:t>
            </a:r>
            <a:r>
              <a:rPr lang="ru-RU" sz="2300" dirty="0"/>
              <a:t>е</a:t>
            </a:r>
            <a:r>
              <a:rPr lang="ru-RU" sz="2300" dirty="0" smtClean="0"/>
              <a:t>нных оператором</a:t>
            </a:r>
          </a:p>
          <a:p>
            <a:pPr marL="354013" algn="just">
              <a:spcBef>
                <a:spcPts val="300"/>
              </a:spcBef>
            </a:pPr>
            <a:r>
              <a:rPr lang="ru-RU" sz="2300" dirty="0" smtClean="0"/>
              <a:t>Таблицы переходов хранят прежние и новые значения строк изменяемой таблицы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300" dirty="0" smtClean="0"/>
              <a:t>Команда</a:t>
            </a:r>
            <a:r>
              <a:rPr lang="ru-RU" sz="2300" dirty="0"/>
              <a:t> CREATE TRIGGER присваивает имена одной или обеим таблицам переходов, после чего функция может обращаться к этим именам, как к временным таблицам, доступным только для </a:t>
            </a:r>
            <a:r>
              <a:rPr lang="ru-RU" sz="2300" dirty="0" smtClean="0"/>
              <a:t>чтения</a:t>
            </a:r>
          </a:p>
          <a:p>
            <a:pPr>
              <a:spcBef>
                <a:spcPts val="300"/>
              </a:spcBef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REFERENCING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{OLD|NEW}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lang="ru-RU" sz="22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мя</a:t>
            </a:r>
            <a:r>
              <a:rPr lang="en-US" sz="22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200" b="1" i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таблицы_переходов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28834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3400" dirty="0" smtClean="0"/>
              <a:t>6. </a:t>
            </a:r>
            <a:r>
              <a:rPr lang="ru-RU" sz="3000" b="1" dirty="0" smtClean="0"/>
              <a:t>Операторный триггер</a:t>
            </a:r>
            <a:endParaRPr lang="ru-RU" sz="3000" dirty="0" smtClean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04" y="1052736"/>
            <a:ext cx="8856984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200" dirty="0" smtClean="0"/>
              <a:t>Создадим триггер уровня оператора </a:t>
            </a:r>
            <a:endParaRPr lang="en-US" sz="2200" dirty="0" smtClean="0"/>
          </a:p>
          <a:p>
            <a:pPr algn="just">
              <a:spcBef>
                <a:spcPts val="600"/>
              </a:spcBef>
            </a:pPr>
            <a:r>
              <a:rPr lang="ru-RU" sz="2200" dirty="0" smtClean="0"/>
              <a:t>для протоколирования изменения данных в таблице </a:t>
            </a:r>
            <a:r>
              <a:rPr lang="en-US" sz="2200" dirty="0" smtClean="0"/>
              <a:t>kart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 smtClean="0"/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9054"/>
            <a:ext cx="6264696" cy="398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811442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700803"/>
            <a:ext cx="921702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prod.tf_kart_audit_stm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trigger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'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  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  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(TG_OP = 'DELETE') THEN        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         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'D',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 o.*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old_table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 выбор из таблицы переходов</a:t>
            </a:r>
            <a:endParaRPr lang="en-US" sz="2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. . .   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09937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3184782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599758"/>
            <a:ext cx="921702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FUNCTION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prod.tf_kart_audit_stm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ELSIF (TG_OP = 'UPDATE') THEN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INSERT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'U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n.* FROM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ELSIF (TG_OP = 'INSERT') THEN           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kart_audit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oper,user_oper,time_oper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kart_id,prod_kod,cena,kol,book_id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'I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22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current_user,now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n.* FROM </a:t>
            </a:r>
            <a:r>
              <a:rPr lang="en-US" sz="22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n;       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IF; 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NULL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37929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 Триггерная функция 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287422191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871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Вместо </a:t>
            </a:r>
            <a:r>
              <a:rPr lang="ru-RU" sz="2400" dirty="0"/>
              <a:t>триггера, срабатывающего для каждой строки, </a:t>
            </a:r>
            <a:r>
              <a:rPr lang="ru-RU" sz="2400" dirty="0" smtClean="0"/>
              <a:t>создадим </a:t>
            </a:r>
            <a:r>
              <a:rPr lang="ru-RU" sz="2400" dirty="0"/>
              <a:t>триггер, срабатывающий один раз для оператора </a:t>
            </a:r>
            <a:r>
              <a:rPr lang="ru-RU" sz="2400" dirty="0" smtClean="0"/>
              <a:t>изменения данных</a:t>
            </a:r>
          </a:p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Это </a:t>
            </a:r>
            <a:r>
              <a:rPr lang="ru-RU" sz="2400" dirty="0"/>
              <a:t>может быть значительно быстрее, чем подход с использованием триггера для строк, когда вызывающий оператор изменяет множество </a:t>
            </a:r>
            <a:r>
              <a:rPr lang="ru-RU" sz="2400" dirty="0" smtClean="0"/>
              <a:t>строк</a:t>
            </a:r>
          </a:p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400" dirty="0"/>
              <a:t>Д</a:t>
            </a:r>
            <a:r>
              <a:rPr lang="ru-RU" sz="2400" dirty="0" smtClean="0"/>
              <a:t>ля </a:t>
            </a:r>
            <a:r>
              <a:rPr lang="ru-RU" sz="2400" dirty="0"/>
              <a:t>каждого типа события необходимо создавать </a:t>
            </a:r>
            <a:r>
              <a:rPr lang="ru-RU" sz="2400" dirty="0" smtClean="0"/>
              <a:t>отдельный триггер, </a:t>
            </a:r>
            <a:r>
              <a:rPr lang="ru-RU" sz="2400" dirty="0"/>
              <a:t>так как </a:t>
            </a:r>
            <a:r>
              <a:rPr lang="ru-RU" sz="2400" dirty="0" smtClean="0"/>
              <a:t>таблицы переходов в REFERENCING</a:t>
            </a:r>
            <a:r>
              <a:rPr lang="ru-RU" sz="2400" dirty="0"/>
              <a:t> в каждом случае должны быть </a:t>
            </a:r>
            <a:r>
              <a:rPr lang="ru-RU" sz="2400" dirty="0" smtClean="0"/>
              <a:t>разными </a:t>
            </a:r>
            <a:endParaRPr lang="en-US" sz="2400" dirty="0" smtClean="0"/>
          </a:p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Все триггеры будут использовать одну </a:t>
            </a:r>
            <a:r>
              <a:rPr lang="ru-RU" sz="2400" smtClean="0"/>
              <a:t>триггерную функцию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6078041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984772"/>
            <a:ext cx="8964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tda_kart_audit_stm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AFTER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REFERENCING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 TABLE AS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old_table</a:t>
            </a:r>
            <a:r>
              <a:rPr lang="ru-RU" sz="20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--</a:t>
            </a:r>
            <a:r>
              <a:rPr lang="ru-RU" b="1" dirty="0" smtClean="0">
                <a:latin typeface="+mj-lt"/>
                <a:cs typeface="Courier New" panose="02070309020205020404" pitchFamily="49" charset="0"/>
              </a:rPr>
              <a:t>таблица переходов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STATEMENT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prod.tf_kart_audit_stm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340768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Триггеры для события</a:t>
            </a:r>
            <a:r>
              <a:rPr lang="en-US" sz="2400" b="1" dirty="0" smtClean="0"/>
              <a:t> </a:t>
            </a:r>
            <a:r>
              <a:rPr lang="ru-RU" sz="2400" b="1" dirty="0" smtClean="0"/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ru-RU" sz="2400" b="1" dirty="0" smtClean="0"/>
              <a:t>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0437809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984772"/>
            <a:ext cx="8856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tia_kart_audit_stm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AFTER INSERT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REFERENCING NEW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AS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7030A0"/>
                </a:solidFill>
                <a:cs typeface="Courier New" panose="02070309020205020404" pitchFamily="49" charset="0"/>
              </a:rPr>
              <a:t>--</a:t>
            </a:r>
            <a:r>
              <a:rPr lang="ru-RU" b="1" dirty="0">
                <a:cs typeface="Courier New" panose="02070309020205020404" pitchFamily="49" charset="0"/>
              </a:rPr>
              <a:t>таблица переходов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STATEMENT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prod.tf_kart_audit_stm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340768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Триггеры для события</a:t>
            </a:r>
            <a:r>
              <a:rPr lang="en-US" sz="2400" b="1" dirty="0" smtClean="0"/>
              <a:t> </a:t>
            </a:r>
            <a:r>
              <a:rPr lang="ru-RU" sz="2400" b="1" dirty="0" smtClean="0"/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ru-RU" sz="2400" b="1" dirty="0" smtClean="0"/>
              <a:t>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3604507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indent="-6350" algn="ctr">
              <a:buNone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975480"/>
            <a:ext cx="88569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tua_kart_audit_stm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AFTER UPDATE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REFERENCING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 TABLE AS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old_table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srgbClr val="7030A0"/>
                </a:solidFill>
                <a:cs typeface="Courier New" panose="02070309020205020404" pitchFamily="49" charset="0"/>
              </a:rPr>
              <a:t>--</a:t>
            </a:r>
            <a:r>
              <a:rPr lang="ru-RU" sz="2000" b="1" dirty="0" smtClean="0">
                <a:cs typeface="Courier New" panose="02070309020205020404" pitchFamily="49" charset="0"/>
              </a:rPr>
              <a:t>таблицы</a:t>
            </a:r>
            <a:endParaRPr lang="en-US" sz="20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NEW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AS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000" b="1" dirty="0" smtClean="0">
                <a:cs typeface="Courier New" panose="02070309020205020404" pitchFamily="49" charset="0"/>
              </a:rPr>
              <a:t>переходов</a:t>
            </a:r>
            <a:r>
              <a:rPr lang="en-US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ru-RU" sz="20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 STATEMENT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prod.tf_kart_audit_stm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340768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Триггеры для события</a:t>
            </a:r>
            <a:r>
              <a:rPr lang="en-US" sz="2400" b="1" dirty="0" smtClean="0"/>
              <a:t> </a:t>
            </a:r>
            <a:r>
              <a:rPr lang="ru-RU" sz="2400" b="1" dirty="0" smtClean="0"/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PDATE</a:t>
            </a:r>
            <a:r>
              <a:rPr lang="ru-RU" sz="2400" b="1" dirty="0" smtClean="0"/>
              <a:t> 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73239857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lvl="0" indent="-6350" algn="ctr">
              <a:buNone/>
              <a:defRPr/>
            </a:pPr>
            <a:r>
              <a:rPr lang="ru-RU" sz="4000" dirty="0"/>
              <a:t>6. </a:t>
            </a:r>
            <a:r>
              <a:rPr lang="ru-RU" sz="3600" b="1" dirty="0"/>
              <a:t>Операторный триггер</a:t>
            </a:r>
            <a:endParaRPr lang="ru-RU" sz="3600" dirty="0"/>
          </a:p>
          <a:p>
            <a:pPr marL="6350" lvl="0" indent="-6350" algn="ctr">
              <a:buNone/>
              <a:defRPr/>
            </a:pPr>
            <a:endParaRPr lang="ru-RU" sz="3200" b="1" dirty="0"/>
          </a:p>
          <a:p>
            <a:pPr marL="6350" indent="-6350" algn="ctr">
              <a:buNone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Триггеры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928" y="980728"/>
            <a:ext cx="924562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/>
              <a:t>Проверка</a:t>
            </a:r>
            <a:endParaRPr lang="en-US" sz="2200" b="1" dirty="0" smtClean="0"/>
          </a:p>
          <a:p>
            <a:pPr>
              <a:spcBef>
                <a:spcPts val="600"/>
              </a:spcBef>
            </a:pPr>
            <a:r>
              <a:rPr lang="ru-RU" sz="2400" spc="-100" dirty="0" smtClean="0">
                <a:cs typeface="Courier New" panose="02070309020205020404" pitchFamily="49" charset="0"/>
              </a:rPr>
              <a:t>В таблице 3 записи с кодом продукции 3.</a:t>
            </a:r>
          </a:p>
          <a:p>
            <a:r>
              <a:rPr lang="ru-RU" sz="2400" spc="-100" dirty="0" smtClean="0">
                <a:cs typeface="Courier New" panose="02070309020205020404" pitchFamily="49" charset="0"/>
              </a:rPr>
              <a:t>Увеличим количество в этих записях в 2 раза  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kart</a:t>
            </a:r>
          </a:p>
          <a:p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set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prod_kod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endParaRPr lang="en-US" sz="22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4928" y="3429000"/>
            <a:ext cx="564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Результат</a:t>
            </a:r>
            <a:endParaRPr lang="ru-RU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60" y="4276920"/>
            <a:ext cx="8918156" cy="20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6151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13665</TotalTime>
  <Words>1781</Words>
  <Application>Microsoft Office PowerPoint</Application>
  <PresentationFormat>Экран (4:3)</PresentationFormat>
  <Paragraphs>505</Paragraphs>
  <Slides>41</Slides>
  <Notes>39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2" baseType="lpstr">
      <vt:lpstr>Открытая</vt:lpstr>
      <vt:lpstr>Презентация PowerPoint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  Триггеры 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1100</cp:revision>
  <dcterms:created xsi:type="dcterms:W3CDTF">2020-10-04T20:01:59Z</dcterms:created>
  <dcterms:modified xsi:type="dcterms:W3CDTF">2025-12-12T22:09:57Z</dcterms:modified>
</cp:coreProperties>
</file>